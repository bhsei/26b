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7" r:id="rId16"/>
    <p:sldId id="268" r:id="rId15"/>
    <p:sldId id="269" r:id="rId14"/>
    <p:sldId id="270" r:id="rId22"/>
    <p:sldId id="271" r:id="rId23"/>
    <p:sldId id="264" r:id="rId10"/>
    <p:sldId id="265" r:id="rId11"/>
    <p:sldId id="266" r:id="rId1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7" roundtripDataSignature="AMtx7mgpSMrjdZsP0kbcAT2goiJGEdWcn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3563D48-E419-461C-BD84-96CC8D14F9AA}">
  <a:tblStyle styleId="{43563D48-E419-461C-BD84-96CC8D14F9AA}"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66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slide" Target="slides/slide14.xml"/><Relationship Id="rId15" Type="http://schemas.openxmlformats.org/officeDocument/2006/relationships/slide" Target="slides/slide13.xml"/><Relationship Id="rId16" Type="http://schemas.openxmlformats.org/officeDocument/2006/relationships/slide" Target="slides/slide12.xml"/><Relationship Id="rId17" Type="http://customschemas.google.com/relationships/presentationmetadata" Target="metadata"/><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5.xml"/><Relationship Id="rId23"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bar"/>
        <c:grouping val="stacked"/>
        <c:varyColors val="1"/>
        <c:ser>
          <c:idx val="0"/>
          <c:order val="0"/>
          <c:tx>
            <c:strRef>
              <c:f>Sheet1!$B$1</c:f>
              <c:strCache>
                <c:ptCount val="1"/>
                <c:pt idx="0">
                  <c:v>Passed</c:v>
                </c:pt>
              </c:strCache>
            </c:strRef>
          </c:tx>
          <c:spPr>
            <a:solidFill>
              <a:srgbClr val="1F8A5B"/>
            </a:solidFill>
          </c:spPr>
          <c:invertIfNegative val="1"/>
          <c:dLbls>
            <c:numFmt formatCode="0;;;" sourceLinked="0"/>
            <c:spPr>
              <a:noFill/>
              <a:ln>
                <a:noFill/>
              </a:ln>
              <a:effectLst/>
            </c:spPr>
            <c:txPr>
              <a:bodyPr/>
              <a:lstStyle/>
              <a:p>
                <a:pPr>
                  <a:defRPr sz="1200" b="1">
                    <a:solidFill>
                      <a:srgbClr val="FFFFFF"/>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3.6 AI/ML (6)</c:v>
                </c:pt>
                <c:pt idx="1">
                  <c:v>3.5 Design &amp; implementation (7)</c:v>
                </c:pt>
                <c:pt idx="2">
                  <c:v>3.4 Compliance (2)</c:v>
                </c:pt>
                <c:pt idx="3">
                  <c:v>3.3 Quality of service (13)</c:v>
                </c:pt>
                <c:pt idx="4">
                  <c:v>3.2 Functional (11)</c:v>
                </c:pt>
                <c:pt idx="5">
                  <c:v>3.1 External interfaces (6)</c:v>
                </c:pt>
              </c:strCache>
            </c:strRef>
          </c:cat>
          <c:val>
            <c:numRef>
              <c:f>Sheet1!$B$2:$B$7</c:f>
              <c:numCache>
                <c:formatCode>General</c:formatCode>
                <c:ptCount val="6"/>
                <c:pt idx="0">
                  <c:v>2</c:v>
                </c:pt>
                <c:pt idx="1">
                  <c:v>2</c:v>
                </c:pt>
                <c:pt idx="2">
                  <c:v>0</c:v>
                </c:pt>
                <c:pt idx="3">
                  <c:v>6</c:v>
                </c:pt>
                <c:pt idx="4">
                  <c:v>7</c:v>
                </c:pt>
                <c:pt idx="5">
                  <c:v>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9D61-422C-8202-9BBE7CC5DA0D}"/>
            </c:ext>
          </c:extLst>
        </c:ser>
        <c:ser>
          <c:idx val="1"/>
          <c:order val="1"/>
          <c:tx>
            <c:strRef>
              <c:f>Sheet1!$C$1</c:f>
              <c:strCache>
                <c:ptCount val="1"/>
                <c:pt idx="0">
                  <c:v>In progress</c:v>
                </c:pt>
              </c:strCache>
            </c:strRef>
          </c:tx>
          <c:spPr>
            <a:solidFill>
              <a:srgbClr val="255CF0"/>
            </a:solidFill>
          </c:spPr>
          <c:invertIfNegative val="1"/>
          <c:dLbls>
            <c:numFmt formatCode="0;;;" sourceLinked="0"/>
            <c:spPr>
              <a:noFill/>
              <a:ln>
                <a:noFill/>
              </a:ln>
              <a:effectLst/>
            </c:spPr>
            <c:txPr>
              <a:bodyPr/>
              <a:lstStyle/>
              <a:p>
                <a:pPr>
                  <a:defRPr sz="1200" b="1">
                    <a:solidFill>
                      <a:srgbClr val="FFFFFF"/>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3.6 AI/ML (6)</c:v>
                </c:pt>
                <c:pt idx="1">
                  <c:v>3.5 Design &amp; implementation (7)</c:v>
                </c:pt>
                <c:pt idx="2">
                  <c:v>3.4 Compliance (2)</c:v>
                </c:pt>
                <c:pt idx="3">
                  <c:v>3.3 Quality of service (13)</c:v>
                </c:pt>
                <c:pt idx="4">
                  <c:v>3.2 Functional (11)</c:v>
                </c:pt>
                <c:pt idx="5">
                  <c:v>3.1 External interfaces (6)</c:v>
                </c:pt>
              </c:strCache>
            </c:strRef>
          </c:cat>
          <c:val>
            <c:numRef>
              <c:f>Sheet1!$C$2:$C$7</c:f>
              <c:numCache>
                <c:formatCode>General</c:formatCode>
                <c:ptCount val="6"/>
                <c:pt idx="0">
                  <c:v>1</c:v>
                </c:pt>
                <c:pt idx="1">
                  <c:v>3</c:v>
                </c:pt>
                <c:pt idx="2">
                  <c:v>1</c:v>
                </c:pt>
                <c:pt idx="3">
                  <c:v>3</c:v>
                </c:pt>
                <c:pt idx="4">
                  <c:v>0</c:v>
                </c:pt>
                <c:pt idx="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9D61-422C-8202-9BBE7CC5DA0D}"/>
            </c:ext>
          </c:extLst>
        </c:ser>
        <c:ser>
          <c:idx val="2"/>
          <c:order val="2"/>
          <c:tx>
            <c:strRef>
              <c:f>Sheet1!$D$1</c:f>
              <c:strCache>
                <c:ptCount val="1"/>
                <c:pt idx="0">
                  <c:v>Manual check not run</c:v>
                </c:pt>
              </c:strCache>
            </c:strRef>
          </c:tx>
          <c:spPr>
            <a:solidFill>
              <a:srgbClr val="A8B6C7"/>
            </a:solidFill>
          </c:spPr>
          <c:invertIfNegative val="1"/>
          <c:dLbls>
            <c:numFmt formatCode="0;;;" sourceLinked="0"/>
            <c:spPr>
              <a:noFill/>
              <a:ln>
                <a:noFill/>
              </a:ln>
              <a:effectLst/>
            </c:spPr>
            <c:txPr>
              <a:bodyPr/>
              <a:lstStyle/>
              <a:p>
                <a:pPr>
                  <a:defRPr sz="1200" b="1">
                    <a:solidFill>
                      <a:srgbClr val="FFFFFF"/>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3.6 AI/ML (6)</c:v>
                </c:pt>
                <c:pt idx="1">
                  <c:v>3.5 Design &amp; implementation (7)</c:v>
                </c:pt>
                <c:pt idx="2">
                  <c:v>3.4 Compliance (2)</c:v>
                </c:pt>
                <c:pt idx="3">
                  <c:v>3.3 Quality of service (13)</c:v>
                </c:pt>
                <c:pt idx="4">
                  <c:v>3.2 Functional (11)</c:v>
                </c:pt>
                <c:pt idx="5">
                  <c:v>3.1 External interfaces (6)</c:v>
                </c:pt>
              </c:strCache>
            </c:strRef>
          </c:cat>
          <c:val>
            <c:numRef>
              <c:f>Sheet1!$D$2:$D$7</c:f>
              <c:numCache>
                <c:formatCode>General</c:formatCode>
                <c:ptCount val="6"/>
                <c:pt idx="0">
                  <c:v>1</c:v>
                </c:pt>
                <c:pt idx="1">
                  <c:v>0</c:v>
                </c:pt>
                <c:pt idx="2">
                  <c:v>0</c:v>
                </c:pt>
                <c:pt idx="3">
                  <c:v>0</c:v>
                </c:pt>
                <c:pt idx="4">
                  <c:v>2</c:v>
                </c:pt>
                <c:pt idx="5">
                  <c:v>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9D61-422C-8202-9BBE7CC5DA0D}"/>
            </c:ext>
          </c:extLst>
        </c:ser>
        <c:ser>
          <c:idx val="3"/>
          <c:order val="3"/>
          <c:tx>
            <c:strRef>
              <c:f>Sheet1!$E$1</c:f>
              <c:strCache>
                <c:ptCount val="1"/>
                <c:pt idx="0">
                  <c:v>Not started</c:v>
                </c:pt>
              </c:strCache>
            </c:strRef>
          </c:tx>
          <c:spPr>
            <a:solidFill>
              <a:srgbClr val="647080"/>
            </a:solidFill>
          </c:spPr>
          <c:invertIfNegative val="1"/>
          <c:dLbls>
            <c:numFmt formatCode="0;;;" sourceLinked="0"/>
            <c:spPr>
              <a:noFill/>
              <a:ln>
                <a:noFill/>
              </a:ln>
              <a:effectLst/>
            </c:spPr>
            <c:txPr>
              <a:bodyPr/>
              <a:lstStyle/>
              <a:p>
                <a:pPr>
                  <a:defRPr sz="1200" b="1">
                    <a:solidFill>
                      <a:srgbClr val="FFFFFF"/>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3.6 AI/ML (6)</c:v>
                </c:pt>
                <c:pt idx="1">
                  <c:v>3.5 Design &amp; implementation (7)</c:v>
                </c:pt>
                <c:pt idx="2">
                  <c:v>3.4 Compliance (2)</c:v>
                </c:pt>
                <c:pt idx="3">
                  <c:v>3.3 Quality of service (13)</c:v>
                </c:pt>
                <c:pt idx="4">
                  <c:v>3.2 Functional (11)</c:v>
                </c:pt>
                <c:pt idx="5">
                  <c:v>3.1 External interfaces (6)</c:v>
                </c:pt>
              </c:strCache>
            </c:strRef>
          </c:cat>
          <c:val>
            <c:numRef>
              <c:f>Sheet1!$E$2:$E$7</c:f>
              <c:numCache>
                <c:formatCode>General</c:formatCode>
                <c:ptCount val="6"/>
                <c:pt idx="0">
                  <c:v>2</c:v>
                </c:pt>
                <c:pt idx="1">
                  <c:v>2</c:v>
                </c:pt>
                <c:pt idx="2">
                  <c:v>1</c:v>
                </c:pt>
                <c:pt idx="3">
                  <c:v>4</c:v>
                </c:pt>
                <c:pt idx="4">
                  <c:v>2</c:v>
                </c:pt>
                <c:pt idx="5">
                  <c:v>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9D61-422C-8202-9BBE7CC5DA0D}"/>
            </c:ext>
          </c:extLst>
        </c:ser>
        <c:dLbls>
          <c:dLblPos val="ctr"/>
          <c:showLegendKey val="0"/>
          <c:showVal val="1"/>
          <c:showCatName val="0"/>
          <c:showSerName val="0"/>
          <c:showPercent val="0"/>
          <c:showBubbleSize val="0"/>
        </c:dLbls>
        <c:gapWidth val="60"/>
        <c:overlap val="100"/>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A8B6C7"/>
            </a:solidFill>
          </a:ln>
        </c:spPr>
        <c:txPr>
          <a:bodyPr/>
          <a:lstStyle/>
          <a:p>
            <a:pPr>
              <a:defRPr sz="1200">
                <a:solidFill>
                  <a:srgbClr val="13263A"/>
                </a:solidFill>
                <a:latin typeface="Arial"/>
              </a:defRPr>
            </a:pPr>
            <a:endParaRPr lang="en-US"/>
          </a:p>
        </c:txPr>
        <c:crossAx val="-2113994440"/>
        <c:crosses val="autoZero"/>
        <c:auto val="1"/>
        <c:lblAlgn val="ctr"/>
        <c:lblOffset val="100"/>
        <c:noMultiLvlLbl val="0"/>
      </c:catAx>
      <c:valAx>
        <c:axId val="-2113994440"/>
        <c:scaling>
          <c:orientation val="minMax"/>
        </c:scaling>
        <c:delete val="1"/>
        <c:axPos val="b"/>
        <c:numFmt formatCode="General" sourceLinked="1"/>
        <c:majorTickMark val="out"/>
        <c:minorTickMark val="none"/>
        <c:tickLblPos val="nextTo"/>
        <c:crossAx val="-2068027336"/>
        <c:crosses val="autoZero"/>
        <c:crossBetween val="between"/>
      </c:valAx>
    </c:plotArea>
    <c:legend>
      <c:legendPos val="b"/>
      <c:overlay val="0"/>
      <c:txPr>
        <a:bodyPr/>
        <a:lstStyle/>
        <a:p>
          <a:pPr>
            <a:defRPr sz="1200">
              <a:solidFill>
                <a:srgbClr val="13263A"/>
              </a:solidFill>
              <a:latin typeface="Arial"/>
            </a:defRPr>
          </a:pPr>
          <a:endParaRPr lang="en-US"/>
        </a:p>
      </c:txPr>
    </c:legend>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 name="Google Shape;6;n"/>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 name="Google Shape;13;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ru-RU" sz="1200" b="0" i="0" u="none" strike="noStrike" cap="none"/>
              <a:t>Timing: 15 seconds. Weekly progress report for week 3: technical progress, deliverables (Assignment 1, the SRS) and team management. Total about 10 minutes.</a:t>
            </a:r>
            <a:endParaRPr/>
          </a:p>
        </p:txBody>
      </p:sp>
      <p:sp>
        <p:nvSpPr>
          <p:cNvPr id="14" name="Google Shape;14;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
        <p:cNvGrpSpPr/>
        <p:nvPr/>
      </p:nvGrpSpPr>
      <p:grpSpPr>
        <a:xfrm>
          <a:off x="0" y="0"/>
          <a:ext cx="0" cy="0"/>
          <a:chOff x="0" y="0"/>
          <a:chExt cx="0" cy="0"/>
        </a:xfrm>
      </p:grpSpPr>
      <p:sp>
        <p:nvSpPr>
          <p:cNvPr id="22" name="Google Shape;22;p1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 name="Google Shape;23;p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ru-RU" sz="1200" b="0" i="0" u="none" strike="noStrike" cap="none"/>
              <a:t>Timing: 20 seconds. We follow the three-part structure: technical progress, deliverables, and team collaboration and management.</a:t>
            </a:r>
            <a:endParaRPr/>
          </a:p>
        </p:txBody>
      </p:sp>
      <p:sp>
        <p:nvSpPr>
          <p:cNvPr id="24" name="Google Shape;24;p1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1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 name="Google Shape;48;p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ru-RU" sz="1200" b="0" i="0" u="none" strike="noStrike" cap="none"/>
              <a:t>Timing: 50 seconds. The Context-aware AAC Board is a new standalone web application; Cboard is only inspiration. The user adds context, the backend asks a replaceable sentence provider for up to three complete English sentences, and nothing is spoken until the user confirms. Requests, suggestions and feedback are stored for evaluation.</a:t>
            </a:r>
            <a:endParaRPr/>
          </a:p>
        </p:txBody>
      </p:sp>
      <p:sp>
        <p:nvSpPr>
          <p:cNvPr id="49" name="Google Shape;49;p1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hf959529d77c4dfc_1_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3" name="Google Shape;83;hf959529d77c4dfc_1_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ru-RU" sz="1200" b="0" i="0" u="none" strike="noStrike" cap="none"/>
              <a:t>Timing: 50 seconds. The Context-aware AAC Board is a new standalone web application; Cboard is only inspiration. The user adds context, the backend asks a replaceable sentence provider for up to three complete English sentences, and nothing is spoken until the user confirms. Requests, suggestions and feedback are stored for evaluation.</a:t>
            </a:r>
            <a:endParaRPr/>
          </a:p>
        </p:txBody>
      </p:sp>
      <p:sp>
        <p:nvSpPr>
          <p:cNvPr id="84" name="Google Shape;84;hf959529d77c4dfc_1_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1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0" name="Google Shape;90;p1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ru-RU" sz="1200" b="0" i="0" u="none" strike="noStrike" cap="none"/>
              <a:t>Timing: 1 minute 15 seconds. The backend starter v0.1 is the foundation. It already validates input and photos, generates suggestions with a mock provider (fixed water/coffee templates, not AI), records feedback and survives restarts. 26 pytest cases, Ruff and the migration check passed on Linux with SQLite. Not verified yet: live PostgreSQL, Windows, real speech audio and browser click-through. Missing on purpose: real AI, our own frontend, authentication and deployment.</a:t>
            </a:r>
            <a:endParaRPr/>
          </a:p>
        </p:txBody>
      </p:sp>
      <p:sp>
        <p:nvSpPr>
          <p:cNvPr id="91" name="Google Shape;91;p1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1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1" name="Google Shape;111;p1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ru-RU" sz="1200" b="0" i="0" u="none" strike="noStrike" cap="none"/>
              <a:t>Timing: 1 minute 15 seconds. The SRS has 45 requirements with IDs REQ-AREA-NNN, grouped in the six IEEE areas. 19 pass their tests, 5 of them only partly (mock or backend only). 8 are in progress, 6 are implemented in the demo page but the manual check has not been run, and 12 are not started. Most of the open work is in quality of service, design and implementation, and AI/ML.</a:t>
            </a:r>
            <a:endParaRPr/>
          </a:p>
        </p:txBody>
      </p:sp>
      <p:sp>
        <p:nvSpPr>
          <p:cNvPr id="112" name="Google Shape;112;p1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1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9" name="Google Shape;129;p1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ru-RU" sz="1200" b="0" i="0" u="none" strike="noStrike" cap="none"/>
              <a:t>Timing: 1 minute 15 seconds. The SRS follows the IEEE-based template. Version 0.1 was drafted from the proposal and the backend starter; version 0.2 redefined the product as standalone, with Cboard only as inspiration. All five sections are drafted: 45 requirements, each with a verification method and status. Course milestones are recorded in 3.5.8 and the context diagram is in Mermaid so GitHub renders it. Ten decisions are still TBD.</a:t>
            </a:r>
            <a:endParaRPr/>
          </a:p>
        </p:txBody>
      </p:sp>
      <p:sp>
        <p:nvSpPr>
          <p:cNvPr id="130" name="Google Shape;130;p1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4" name="Google Shape;164;p1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ru-RU" sz="1200" b="0" i="0" u="none" strike="noStrike" cap="none"/>
              <a:t>Timing: 1 minute 15 seconds. The remaining requirements are grouped by when they are needed. Increment 1 is the cafe scenario in our own frontend with the real AI provider. Security and deployment requirements must be done before any public trial; consent and licensing before real users. Increment 2 adds more everyday situations. The mobile version stays optional.</a:t>
            </a:r>
            <a:endParaRPr/>
          </a:p>
        </p:txBody>
      </p:sp>
      <p:sp>
        <p:nvSpPr>
          <p:cNvPr id="165" name="Google Shape;165;p1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2" name="Google Shape;192;p1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ru-RU" sz="1200" b="0" i="0" u="none" strike="noStrike" cap="none"/>
              <a:t>Timing: 1 minute 15 seconds. The remaining SRS work is split by the ownership in SRS 2.6: each owner closes the TBD values and open issues of their own area, and shared items are done by everyone. Before submission in Week 7 we run the cross-team peer review through GitHub Issues. Dates for the individual steps are still to be agreed (open issue 10).</a:t>
            </a:r>
            <a:endParaRPr/>
          </a:p>
        </p:txBody>
      </p:sp>
      <p:sp>
        <p:nvSpPr>
          <p:cNvPr id="193" name="Google Shape;193;p1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2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8" name="Google Shape;208;p2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ru-RU" sz="1200" b="0" i="0" u="none" strike="noStrike" cap="none"/>
              <a:t>Timing: 1 minute. We work on main in bhsei/26B, one commit per document with the course message format, peer reviews as GitHub Issues, and CI on every push. The first experimental tasks come from TEAM_NEXT_STEPS and are adapted to the standalone frontend: each owner has one small, checkable task, and all of us define the first usability scenario and evaluation set.</a:t>
            </a:r>
            <a:endParaRPr/>
          </a:p>
        </p:txBody>
      </p:sp>
      <p:sp>
        <p:nvSpPr>
          <p:cNvPr id="209" name="Google Shape;209;p2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h62fd3f37f23572d3_3_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9" name="Google Shape;229;h62fd3f37f23572d3_3_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ru-RU" sz="1200" b="0" i="0" u="none" strike="noStrike" cap="none"/>
              <a:t>Timing: 15 seconds. Thank the audience and take questions.</a:t>
            </a:r>
            <a:endParaRPr/>
          </a:p>
        </p:txBody>
      </p:sp>
      <p:sp>
        <p:nvSpPr>
          <p:cNvPr id="230" name="Google Shape;230;h62fd3f37f23572d3_3_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about 1 minute. Before choosing a model we measured the development laptop. It has 7.3 GB of RAM, but with normal apps open only 0.92 GB is free, and there is no NVIDIA GPU, only integrated Radeon graphics. The API budget is zero. This rules out PyTorch models, which need 4 to 5 GB just for the weights of a 2B model, and any local model of 4B parameters or more. What remains is a hosted vision model on a free tier as the main option, and a very small quantized local model only as an offline backup, switched off by default.</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about 1 minute 15 seconds. We compared the options that accept images and have a free path, using the providers' official pages. Gemini Flash is the main choice: free tier, photo and text in one call, nothing to load locally. GLM-4.6V-Flash from Z.ai is the backup because Gemini is not available from mainland China. The 2B local model stays as an offline backup. Groq, Mistral and Alibaba have unclear or temporary free access, so they are reserve options. OpenRouter allows only 50 free requests a day, GitHub Models was retired in July, and PyTorch or larger local models do not fit in memory. Each request is one call with the photo at low resolution and the lowest thinking level, about 450 tokens in total.</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about 1 minute. This is the first real call to Gemini. The user is in a café, selects the water symbol and adds a photo. For the test we used a drawn, synthetic café scene, never a real photo, because free-tier inputs may be used by Google. The image on the left is exactly what was sent: 384 by 288 pixels. Gemini 3.5 Flash returned three short requests for water. The call took about 10 seconds and used 412 input tokens, 266 of them for the photo, 36 output tokens and no thinking tokens. Nothing is spoken until the user picks one and confirms.</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about 1 minute. Two more cases from the same run. Without a photo, the water symbol still gives three polite requests, using 146 input tokens. The negation case matters most for our users: coffee plus the sentence I do not want sugar. All three suggestions keep the negation, so the model did not turn it into a request for sugar. This is the guardrail from REQ-ML-003. These three cases are the first entries of the evaluation set; the full set will add wrong scene hints, ambiguous photos, prompt injection and regeneration.</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about 1 minute 15 seconds. We wrote two scripts: one for the example calls and one that measures the rate limits. Google does not send rate-limit headers, so the script sends tiny requests and reads the limits from Google's own 429 answers. Findings: Gemini 2.5 Flash is closed to new keys, so we moved to 3.5 Flash. The free tier allows 5 requests per minute and only 20 per day. A photo costs 266 tokens at low resolution instead of about 1,120. Calls took between 1.4 and 26 seconds through our network, and one request in ten hit a temporary overload. Twenty requests a day is too few for a 30 to 40 case evaluation, so the next step is to check the Flash-Lite quota and add the GLM backup, then connect the provider to the backend.</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3263A"/>
        </a:solidFill>
        <a:effectLst/>
      </p:bgPr>
    </p:bg>
    <p:spTree>
      <p:nvGrpSpPr>
        <p:cNvPr id="1" name="Shape 15"/>
        <p:cNvGrpSpPr/>
        <p:nvPr/>
      </p:nvGrpSpPr>
      <p:grpSpPr>
        <a:xfrm>
          <a:off x="0" y="0"/>
          <a:ext cx="0" cy="0"/>
          <a:chOff x="0" y="0"/>
          <a:chExt cx="0" cy="0"/>
        </a:xfrm>
      </p:grpSpPr>
      <p:sp>
        <p:nvSpPr>
          <p:cNvPr id="16" name="Google Shape;16;p1"/>
          <p:cNvSpPr/>
          <p:nvPr/>
        </p:nvSpPr>
        <p:spPr>
          <a:xfrm>
            <a:off x="609600" y="457200"/>
            <a:ext cx="10953750" cy="762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FFFFF"/>
              </a:buClr>
              <a:buSzPts val="3300"/>
              <a:buFont typeface="Arial"/>
              <a:buNone/>
            </a:pPr>
            <a:r>
              <a:rPr lang="ru-RU" sz="3300" b="1" i="0" u="none" strike="noStrike" cap="none">
                <a:solidFill>
                  <a:srgbClr val="FFFFFF"/>
                </a:solidFill>
                <a:latin typeface="Arial"/>
                <a:ea typeface="Arial"/>
                <a:cs typeface="Arial"/>
                <a:sym typeface="Arial"/>
              </a:rPr>
              <a:t>B - The Outliers</a:t>
            </a:r>
            <a:endParaRPr sz="1400" b="0" i="0" u="none" strike="noStrike" cap="none">
              <a:solidFill>
                <a:srgbClr val="000000"/>
              </a:solidFill>
              <a:latin typeface="Arial"/>
              <a:ea typeface="Arial"/>
              <a:cs typeface="Arial"/>
              <a:sym typeface="Arial"/>
            </a:endParaRPr>
          </a:p>
        </p:txBody>
      </p:sp>
      <p:sp>
        <p:nvSpPr>
          <p:cNvPr id="17" name="Google Shape;17;p1"/>
          <p:cNvSpPr/>
          <p:nvPr/>
        </p:nvSpPr>
        <p:spPr>
          <a:xfrm>
            <a:off x="11049000" y="6248400"/>
            <a:ext cx="533400" cy="28575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A8B6C7"/>
              </a:buClr>
              <a:buSzPts val="1350"/>
              <a:buFont typeface="Arial"/>
              <a:buNone/>
            </a:pPr>
            <a:r>
              <a:rPr lang="ru-RU" sz="1350" b="0" i="0" u="none" strike="noStrike" cap="none">
                <a:solidFill>
                  <a:srgbClr val="A8B6C7"/>
                </a:solidFill>
                <a:latin typeface="Arial"/>
                <a:ea typeface="Arial"/>
                <a:cs typeface="Arial"/>
                <a:sym typeface="Arial"/>
              </a:rPr>
              <a:t>01</a:t>
            </a:r>
            <a:endParaRPr sz="1400" b="0" i="0" u="none" strike="noStrike" cap="none">
              <a:solidFill>
                <a:srgbClr val="000000"/>
              </a:solidFill>
              <a:latin typeface="Arial"/>
              <a:ea typeface="Arial"/>
              <a:cs typeface="Arial"/>
              <a:sym typeface="Arial"/>
            </a:endParaRPr>
          </a:p>
        </p:txBody>
      </p:sp>
      <p:sp>
        <p:nvSpPr>
          <p:cNvPr id="18" name="Google Shape;18;p1"/>
          <p:cNvSpPr/>
          <p:nvPr/>
        </p:nvSpPr>
        <p:spPr>
          <a:xfrm>
            <a:off x="647700" y="1638300"/>
            <a:ext cx="9906000" cy="47625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A9BFFB"/>
              </a:buClr>
              <a:buSzPts val="2100"/>
              <a:buFont typeface="Arial"/>
              <a:buNone/>
            </a:pPr>
            <a:r>
              <a:rPr lang="ru-RU" sz="2100" b="0" i="0" u="none" strike="noStrike" cap="none">
                <a:solidFill>
                  <a:srgbClr val="A9BFFB"/>
                </a:solidFill>
                <a:latin typeface="Arial"/>
                <a:ea typeface="Arial"/>
                <a:cs typeface="Arial"/>
                <a:sym typeface="Arial"/>
              </a:rPr>
              <a:t>Software Engineering Project  ·  Weekly Progress Report W0</a:t>
            </a:r>
            <a:r>
              <a:rPr lang="ru-RU" sz="2100">
                <a:solidFill>
                  <a:srgbClr val="A9BFFB"/>
                </a:solidFill>
              </a:rPr>
              <a:t>6</a:t>
            </a:r>
            <a:endParaRPr sz="1400" b="0" i="0" u="none" strike="noStrike" cap="none">
              <a:solidFill>
                <a:srgbClr val="000000"/>
              </a:solidFill>
              <a:latin typeface="Arial"/>
              <a:ea typeface="Arial"/>
              <a:cs typeface="Arial"/>
              <a:sym typeface="Arial"/>
            </a:endParaRPr>
          </a:p>
        </p:txBody>
      </p:sp>
      <p:sp>
        <p:nvSpPr>
          <p:cNvPr id="19" name="Google Shape;19;p1"/>
          <p:cNvSpPr/>
          <p:nvPr/>
        </p:nvSpPr>
        <p:spPr>
          <a:xfrm>
            <a:off x="628650" y="2619375"/>
            <a:ext cx="10858500" cy="13335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FFFFF"/>
              </a:buClr>
              <a:buSzPts val="3825"/>
              <a:buFont typeface="Arial"/>
              <a:buNone/>
            </a:pPr>
            <a:r>
              <a:rPr lang="ru-RU" sz="3825" b="0" i="0" u="none" strike="noStrike" cap="none">
                <a:solidFill>
                  <a:srgbClr val="FFFFFF"/>
                </a:solidFill>
                <a:latin typeface="Arial"/>
                <a:ea typeface="Arial"/>
                <a:cs typeface="Arial"/>
                <a:sym typeface="Arial"/>
              </a:rPr>
              <a:t>Context-aware AAC board</a:t>
            </a:r>
            <a:endParaRPr sz="1400" b="0" i="0" u="none" strike="noStrike" cap="none">
              <a:solidFill>
                <a:srgbClr val="000000"/>
              </a:solidFill>
              <a:latin typeface="Arial"/>
              <a:ea typeface="Arial"/>
              <a:cs typeface="Arial"/>
              <a:sym typeface="Arial"/>
            </a:endParaRPr>
          </a:p>
        </p:txBody>
      </p:sp>
      <p:sp>
        <p:nvSpPr>
          <p:cNvPr id="20" name="Google Shape;20;p1"/>
          <p:cNvSpPr/>
          <p:nvPr/>
        </p:nvSpPr>
        <p:spPr>
          <a:xfrm>
            <a:off x="647700" y="5629275"/>
            <a:ext cx="10191750" cy="419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A8B6C7"/>
              </a:buClr>
              <a:buSzPts val="1725"/>
              <a:buFont typeface="Arial"/>
              <a:buNone/>
            </a:pPr>
            <a:r>
              <a:rPr lang="ru-RU" sz="1725" b="0" i="0" u="none" strike="noStrike" cap="none">
                <a:solidFill>
                  <a:srgbClr val="A8B6C7"/>
                </a:solidFill>
                <a:latin typeface="Arial"/>
                <a:ea typeface="Arial"/>
                <a:cs typeface="Arial"/>
                <a:sym typeface="Arial"/>
              </a:rPr>
              <a:t>Veronika, Jiahui, Thibaut and Abid</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4F0"/>
        </a:solidFill>
        <a:effectLst/>
      </p:bgPr>
    </p:bg>
    <p:spTree>
      <p:nvGrpSpPr>
        <p:cNvPr id="1" name="Shape 25"/>
        <p:cNvGrpSpPr/>
        <p:nvPr/>
      </p:nvGrpSpPr>
      <p:grpSpPr>
        <a:xfrm>
          <a:off x="0" y="0"/>
          <a:ext cx="0" cy="0"/>
          <a:chOff x="0" y="0"/>
          <a:chExt cx="0" cy="0"/>
        </a:xfrm>
      </p:grpSpPr>
      <p:sp>
        <p:nvSpPr>
          <p:cNvPr id="26" name="Google Shape;26;p12"/>
          <p:cNvSpPr txBox="1"/>
          <p:nvPr/>
        </p:nvSpPr>
        <p:spPr>
          <a:xfrm>
            <a:off x="612648" y="457200"/>
            <a:ext cx="10954512" cy="758952"/>
          </a:xfrm>
          <a:prstGeom prst="rect">
            <a:avLst/>
          </a:prstGeom>
          <a:noFill/>
          <a:ln>
            <a:noFill/>
          </a:ln>
        </p:spPr>
        <p:txBody>
          <a:bodyPr spcFirstLastPara="1" wrap="square" lIns="45700" tIns="27425" rIns="45700" bIns="27425" anchor="ctr" anchorCtr="0">
            <a:spAutoFit/>
          </a:bodyPr>
          <a:lstStyle/>
          <a:p>
            <a:pPr marL="0" marR="0" lvl="0" indent="0" algn="l" rtl="0">
              <a:lnSpc>
                <a:spcPct val="100000"/>
              </a:lnSpc>
              <a:spcBef>
                <a:spcPts val="0"/>
              </a:spcBef>
              <a:spcAft>
                <a:spcPts val="0"/>
              </a:spcAft>
              <a:buNone/>
            </a:pPr>
            <a:r>
              <a:rPr lang="ru-RU" sz="3300" b="1" i="0" u="none" strike="noStrike" cap="none">
                <a:solidFill>
                  <a:srgbClr val="13263A"/>
                </a:solidFill>
                <a:latin typeface="Arial"/>
                <a:ea typeface="Arial"/>
                <a:cs typeface="Arial"/>
                <a:sym typeface="Arial"/>
              </a:rPr>
              <a:t>Progress report outline</a:t>
            </a:r>
            <a:endParaRPr/>
          </a:p>
        </p:txBody>
      </p:sp>
      <p:sp>
        <p:nvSpPr>
          <p:cNvPr id="27" name="Google Shape;27;p12"/>
          <p:cNvSpPr txBox="1"/>
          <p:nvPr/>
        </p:nvSpPr>
        <p:spPr>
          <a:xfrm>
            <a:off x="11045952" y="6245352"/>
            <a:ext cx="530352" cy="283464"/>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350" b="0" i="0" u="none" strike="noStrike" cap="none">
                <a:solidFill>
                  <a:srgbClr val="647080"/>
                </a:solidFill>
                <a:latin typeface="Arial"/>
                <a:ea typeface="Arial"/>
                <a:cs typeface="Arial"/>
                <a:sym typeface="Arial"/>
              </a:rPr>
              <a:t>02</a:t>
            </a:r>
            <a:endParaRPr/>
          </a:p>
        </p:txBody>
      </p:sp>
      <p:sp>
        <p:nvSpPr>
          <p:cNvPr id="28" name="Google Shape;28;p12"/>
          <p:cNvSpPr/>
          <p:nvPr/>
        </p:nvSpPr>
        <p:spPr>
          <a:xfrm>
            <a:off x="630936" y="2103120"/>
            <a:ext cx="3429000" cy="3383280"/>
          </a:xfrm>
          <a:prstGeom prst="rect">
            <a:avLst/>
          </a:prstGeom>
          <a:solidFill>
            <a:srgbClr val="FFFFFF"/>
          </a:solidFill>
          <a:ln w="9525" cap="flat" cmpd="sng">
            <a:solidFill>
              <a:srgbClr val="A8B6C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 name="Google Shape;29;p12"/>
          <p:cNvSpPr txBox="1"/>
          <p:nvPr/>
        </p:nvSpPr>
        <p:spPr>
          <a:xfrm>
            <a:off x="859536" y="2286000"/>
            <a:ext cx="1371600" cy="82296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4000" b="1" i="0" u="none" strike="noStrike" cap="none">
                <a:solidFill>
                  <a:srgbClr val="255CF0"/>
                </a:solidFill>
                <a:latin typeface="Arial"/>
                <a:ea typeface="Arial"/>
                <a:cs typeface="Arial"/>
                <a:sym typeface="Arial"/>
              </a:rPr>
              <a:t>01</a:t>
            </a:r>
            <a:endParaRPr/>
          </a:p>
        </p:txBody>
      </p:sp>
      <p:sp>
        <p:nvSpPr>
          <p:cNvPr id="30" name="Google Shape;30;p12"/>
          <p:cNvSpPr txBox="1"/>
          <p:nvPr/>
        </p:nvSpPr>
        <p:spPr>
          <a:xfrm>
            <a:off x="859536" y="3154680"/>
            <a:ext cx="3017520" cy="41148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2000" b="1" i="0" u="none" strike="noStrike" cap="none">
                <a:solidFill>
                  <a:srgbClr val="13263A"/>
                </a:solidFill>
                <a:latin typeface="Arial"/>
                <a:ea typeface="Arial"/>
                <a:cs typeface="Arial"/>
                <a:sym typeface="Arial"/>
              </a:rPr>
              <a:t>Technical progress</a:t>
            </a:r>
            <a:endParaRPr/>
          </a:p>
        </p:txBody>
      </p:sp>
      <p:sp>
        <p:nvSpPr>
          <p:cNvPr id="31" name="Google Shape;31;p12"/>
          <p:cNvSpPr txBox="1"/>
          <p:nvPr/>
        </p:nvSpPr>
        <p:spPr>
          <a:xfrm>
            <a:off x="859536" y="3566160"/>
            <a:ext cx="3017520" cy="36576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500" b="0" i="0" u="none" strike="noStrike" cap="none">
                <a:solidFill>
                  <a:srgbClr val="647080"/>
                </a:solidFill>
                <a:latin typeface="Arial"/>
                <a:ea typeface="Arial"/>
                <a:cs typeface="Arial"/>
                <a:sym typeface="Arial"/>
              </a:rPr>
              <a:t>System development</a:t>
            </a:r>
            <a:endParaRPr/>
          </a:p>
        </p:txBody>
      </p:sp>
      <p:sp>
        <p:nvSpPr>
          <p:cNvPr id="32" name="Google Shape;32;p12"/>
          <p:cNvSpPr txBox="1"/>
          <p:nvPr/>
        </p:nvSpPr>
        <p:spPr>
          <a:xfrm>
            <a:off x="859536" y="4069080"/>
            <a:ext cx="3017520" cy="91440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400" b="0" i="0" u="none" strike="noStrike" cap="none">
                <a:solidFill>
                  <a:srgbClr val="13263A"/>
                </a:solidFill>
                <a:latin typeface="Arial"/>
                <a:ea typeface="Arial"/>
                <a:cs typeface="Arial"/>
                <a:sym typeface="Arial"/>
              </a:rPr>
              <a:t>Requirements, existing foundation and the AI provider: hardware limits and model research</a:t>
            </a:r>
            <a:endParaRPr/>
          </a:p>
        </p:txBody>
      </p:sp>
      <p:sp>
        <p:nvSpPr>
          <p:cNvPr id="33" name="Google Shape;33;p12"/>
          <p:cNvSpPr txBox="1"/>
          <p:nvPr/>
        </p:nvSpPr>
        <p:spPr>
          <a:xfrm>
            <a:off x="859536" y="5029200"/>
            <a:ext cx="3017520" cy="32004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400" b="1" i="0" u="none" strike="noStrike" cap="none">
                <a:solidFill>
                  <a:srgbClr val="255CF0"/>
                </a:solidFill>
                <a:latin typeface="Arial"/>
                <a:ea typeface="Arial"/>
                <a:cs typeface="Arial"/>
                <a:sym typeface="Arial"/>
              </a:rPr>
              <a:t>≈ 4.5 min</a:t>
            </a:r>
            <a:endParaRPr/>
          </a:p>
        </p:txBody>
      </p:sp>
      <p:sp>
        <p:nvSpPr>
          <p:cNvPr id="34" name="Google Shape;34;p12"/>
          <p:cNvSpPr/>
          <p:nvPr/>
        </p:nvSpPr>
        <p:spPr>
          <a:xfrm>
            <a:off x="4379975" y="2103120"/>
            <a:ext cx="3429000" cy="3383280"/>
          </a:xfrm>
          <a:prstGeom prst="rect">
            <a:avLst/>
          </a:prstGeom>
          <a:solidFill>
            <a:srgbClr val="FFFFFF"/>
          </a:solidFill>
          <a:ln w="9525" cap="flat" cmpd="sng">
            <a:solidFill>
              <a:srgbClr val="A8B6C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5" name="Google Shape;35;p12"/>
          <p:cNvSpPr txBox="1"/>
          <p:nvPr/>
        </p:nvSpPr>
        <p:spPr>
          <a:xfrm>
            <a:off x="4608575" y="2286000"/>
            <a:ext cx="1371600" cy="82296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4000" b="1" i="0" u="none" strike="noStrike" cap="none">
                <a:solidFill>
                  <a:srgbClr val="255CF0"/>
                </a:solidFill>
                <a:latin typeface="Arial"/>
                <a:ea typeface="Arial"/>
                <a:cs typeface="Arial"/>
                <a:sym typeface="Arial"/>
              </a:rPr>
              <a:t>02</a:t>
            </a:r>
            <a:endParaRPr/>
          </a:p>
        </p:txBody>
      </p:sp>
      <p:sp>
        <p:nvSpPr>
          <p:cNvPr id="36" name="Google Shape;36;p12"/>
          <p:cNvSpPr txBox="1"/>
          <p:nvPr/>
        </p:nvSpPr>
        <p:spPr>
          <a:xfrm>
            <a:off x="4608575" y="3154680"/>
            <a:ext cx="3017520" cy="41148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2000" b="1" i="0" u="none" strike="noStrike" cap="none">
                <a:solidFill>
                  <a:srgbClr val="13263A"/>
                </a:solidFill>
                <a:latin typeface="Arial"/>
                <a:ea typeface="Arial"/>
                <a:cs typeface="Arial"/>
                <a:sym typeface="Arial"/>
              </a:rPr>
              <a:t>Experimental progress</a:t>
            </a:r>
            <a:endParaRPr/>
          </a:p>
        </p:txBody>
      </p:sp>
      <p:sp>
        <p:nvSpPr>
          <p:cNvPr id="37" name="Google Shape;37;p12"/>
          <p:cNvSpPr txBox="1"/>
          <p:nvPr/>
        </p:nvSpPr>
        <p:spPr>
          <a:xfrm>
            <a:off x="4608575" y="3566160"/>
            <a:ext cx="3017520" cy="36576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500" b="0" i="0" u="none" strike="noStrike" cap="none">
                <a:solidFill>
                  <a:srgbClr val="647080"/>
                </a:solidFill>
                <a:latin typeface="Arial"/>
                <a:ea typeface="Arial"/>
                <a:cs typeface="Arial"/>
                <a:sym typeface="Arial"/>
              </a:rPr>
              <a:t>Deliverables</a:t>
            </a:r>
            <a:endParaRPr/>
          </a:p>
        </p:txBody>
      </p:sp>
      <p:sp>
        <p:nvSpPr>
          <p:cNvPr id="38" name="Google Shape;38;p12"/>
          <p:cNvSpPr txBox="1"/>
          <p:nvPr/>
        </p:nvSpPr>
        <p:spPr>
          <a:xfrm>
            <a:off x="4608575" y="4069080"/>
            <a:ext cx="3017520" cy="91440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400" b="0" i="0" u="none" strike="noStrike" cap="none">
                <a:solidFill>
                  <a:srgbClr val="13263A"/>
                </a:solidFill>
                <a:latin typeface="Arial"/>
                <a:ea typeface="Arial"/>
                <a:cs typeface="Arial"/>
                <a:sym typeface="Arial"/>
              </a:rPr>
              <a:t>First Gemini probes, completed SRS content and the remaining Assignment 1 work</a:t>
            </a:r>
            <a:endParaRPr/>
          </a:p>
        </p:txBody>
      </p:sp>
      <p:sp>
        <p:nvSpPr>
          <p:cNvPr id="39" name="Google Shape;39;p12"/>
          <p:cNvSpPr txBox="1"/>
          <p:nvPr/>
        </p:nvSpPr>
        <p:spPr>
          <a:xfrm>
            <a:off x="4608575" y="5029200"/>
            <a:ext cx="3017520" cy="32004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400" b="1" i="0" u="none" strike="noStrike" cap="none">
                <a:solidFill>
                  <a:srgbClr val="255CF0"/>
                </a:solidFill>
                <a:latin typeface="Arial"/>
                <a:ea typeface="Arial"/>
                <a:cs typeface="Arial"/>
                <a:sym typeface="Arial"/>
              </a:rPr>
              <a:t>≈ 2.5 min</a:t>
            </a:r>
            <a:endParaRPr/>
          </a:p>
        </p:txBody>
      </p:sp>
      <p:sp>
        <p:nvSpPr>
          <p:cNvPr id="40" name="Google Shape;40;p12"/>
          <p:cNvSpPr/>
          <p:nvPr/>
        </p:nvSpPr>
        <p:spPr>
          <a:xfrm>
            <a:off x="8129015" y="2103120"/>
            <a:ext cx="3429000" cy="3383280"/>
          </a:xfrm>
          <a:prstGeom prst="rect">
            <a:avLst/>
          </a:prstGeom>
          <a:solidFill>
            <a:srgbClr val="FFFFFF"/>
          </a:solidFill>
          <a:ln w="9525" cap="flat" cmpd="sng">
            <a:solidFill>
              <a:srgbClr val="A8B6C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1" name="Google Shape;41;p12"/>
          <p:cNvSpPr txBox="1"/>
          <p:nvPr/>
        </p:nvSpPr>
        <p:spPr>
          <a:xfrm>
            <a:off x="8357615" y="2286000"/>
            <a:ext cx="1371600" cy="82296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4000" b="1" i="0" u="none" strike="noStrike" cap="none">
                <a:solidFill>
                  <a:srgbClr val="255CF0"/>
                </a:solidFill>
                <a:latin typeface="Arial"/>
                <a:ea typeface="Arial"/>
                <a:cs typeface="Arial"/>
                <a:sym typeface="Arial"/>
              </a:rPr>
              <a:t>03</a:t>
            </a:r>
            <a:endParaRPr/>
          </a:p>
        </p:txBody>
      </p:sp>
      <p:sp>
        <p:nvSpPr>
          <p:cNvPr id="42" name="Google Shape;42;p12"/>
          <p:cNvSpPr txBox="1"/>
          <p:nvPr/>
        </p:nvSpPr>
        <p:spPr>
          <a:xfrm>
            <a:off x="8357615" y="3154680"/>
            <a:ext cx="3017520" cy="41148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2000" b="1" i="0" u="none" strike="noStrike" cap="none">
                <a:solidFill>
                  <a:srgbClr val="13263A"/>
                </a:solidFill>
                <a:latin typeface="Arial"/>
                <a:ea typeface="Arial"/>
                <a:cs typeface="Arial"/>
                <a:sym typeface="Arial"/>
              </a:rPr>
              <a:t>Project progress</a:t>
            </a:r>
            <a:endParaRPr/>
          </a:p>
        </p:txBody>
      </p:sp>
      <p:sp>
        <p:nvSpPr>
          <p:cNvPr id="43" name="Google Shape;43;p12"/>
          <p:cNvSpPr txBox="1"/>
          <p:nvPr/>
        </p:nvSpPr>
        <p:spPr>
          <a:xfrm>
            <a:off x="8357615" y="3566160"/>
            <a:ext cx="3017520" cy="36576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500" b="0" i="0" u="none" strike="noStrike" cap="none">
                <a:solidFill>
                  <a:srgbClr val="647080"/>
                </a:solidFill>
                <a:latin typeface="Arial"/>
                <a:ea typeface="Arial"/>
                <a:cs typeface="Arial"/>
                <a:sym typeface="Arial"/>
              </a:rPr>
              <a:t>Team collaboration and management</a:t>
            </a:r>
            <a:endParaRPr/>
          </a:p>
        </p:txBody>
      </p:sp>
      <p:sp>
        <p:nvSpPr>
          <p:cNvPr id="44" name="Google Shape;44;p12"/>
          <p:cNvSpPr txBox="1"/>
          <p:nvPr/>
        </p:nvSpPr>
        <p:spPr>
          <a:xfrm>
            <a:off x="8357615" y="4069080"/>
            <a:ext cx="3017520" cy="91440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400" b="0" i="0" u="none" strike="noStrike" cap="none">
                <a:solidFill>
                  <a:srgbClr val="13263A"/>
                </a:solidFill>
                <a:latin typeface="Arial"/>
                <a:ea typeface="Arial"/>
                <a:cs typeface="Arial"/>
                <a:sym typeface="Arial"/>
              </a:rPr>
              <a:t>Roles, responsibilities and the allocation of experimental tasks</a:t>
            </a:r>
            <a:endParaRPr/>
          </a:p>
        </p:txBody>
      </p:sp>
      <p:sp>
        <p:nvSpPr>
          <p:cNvPr id="45" name="Google Shape;45;p12"/>
          <p:cNvSpPr txBox="1"/>
          <p:nvPr/>
        </p:nvSpPr>
        <p:spPr>
          <a:xfrm>
            <a:off x="8357615" y="5029200"/>
            <a:ext cx="3017520" cy="32004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400" b="1" i="0" u="none" strike="noStrike" cap="none">
                <a:solidFill>
                  <a:srgbClr val="255CF0"/>
                </a:solidFill>
                <a:latin typeface="Arial"/>
                <a:ea typeface="Arial"/>
                <a:cs typeface="Arial"/>
                <a:sym typeface="Arial"/>
              </a:rPr>
              <a:t>≈ 2 min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4F0"/>
        </a:solidFill>
        <a:effectLst/>
      </p:bgPr>
    </p:bg>
    <p:spTree>
      <p:nvGrpSpPr>
        <p:cNvPr id="1" name="Shape 50"/>
        <p:cNvGrpSpPr/>
        <p:nvPr/>
      </p:nvGrpSpPr>
      <p:grpSpPr>
        <a:xfrm>
          <a:off x="0" y="0"/>
          <a:ext cx="0" cy="0"/>
          <a:chOff x="0" y="0"/>
          <a:chExt cx="0" cy="0"/>
        </a:xfrm>
      </p:grpSpPr>
      <p:sp>
        <p:nvSpPr>
          <p:cNvPr id="51" name="Google Shape;51;p13"/>
          <p:cNvSpPr txBox="1"/>
          <p:nvPr/>
        </p:nvSpPr>
        <p:spPr>
          <a:xfrm>
            <a:off x="612648" y="457200"/>
            <a:ext cx="10954512" cy="758952"/>
          </a:xfrm>
          <a:prstGeom prst="rect">
            <a:avLst/>
          </a:prstGeom>
          <a:noFill/>
          <a:ln>
            <a:noFill/>
          </a:ln>
        </p:spPr>
        <p:txBody>
          <a:bodyPr spcFirstLastPara="1" wrap="square" lIns="45700" tIns="27425" rIns="45700" bIns="27425" anchor="ctr" anchorCtr="0">
            <a:spAutoFit/>
          </a:bodyPr>
          <a:lstStyle/>
          <a:p>
            <a:pPr marL="0" marR="0" lvl="0" indent="0" algn="l" rtl="0">
              <a:lnSpc>
                <a:spcPct val="100000"/>
              </a:lnSpc>
              <a:spcBef>
                <a:spcPts val="0"/>
              </a:spcBef>
              <a:spcAft>
                <a:spcPts val="0"/>
              </a:spcAft>
              <a:buNone/>
            </a:pPr>
            <a:r>
              <a:rPr lang="ru-RU" sz="3300" b="1" i="0" u="none" strike="noStrike" cap="none" dirty="0">
                <a:solidFill>
                  <a:srgbClr val="13263A"/>
                </a:solidFill>
                <a:latin typeface="Arial"/>
                <a:ea typeface="Arial"/>
                <a:cs typeface="Arial"/>
                <a:sym typeface="Arial"/>
              </a:rPr>
              <a:t>System requirements overview</a:t>
            </a:r>
            <a:endParaRPr dirty="0"/>
          </a:p>
        </p:txBody>
      </p:sp>
      <p:sp>
        <p:nvSpPr>
          <p:cNvPr id="52" name="Google Shape;52;p13"/>
          <p:cNvSpPr txBox="1"/>
          <p:nvPr/>
        </p:nvSpPr>
        <p:spPr>
          <a:xfrm>
            <a:off x="11045952" y="6245352"/>
            <a:ext cx="530352" cy="283464"/>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350" b="0" i="0" u="none" strike="noStrike" cap="none">
                <a:solidFill>
                  <a:srgbClr val="647080"/>
                </a:solidFill>
                <a:latin typeface="Arial"/>
                <a:ea typeface="Arial"/>
                <a:cs typeface="Arial"/>
                <a:sym typeface="Arial"/>
              </a:rPr>
              <a:t>03</a:t>
            </a:r>
            <a:endParaRPr/>
          </a:p>
        </p:txBody>
      </p:sp>
      <p:sp>
        <p:nvSpPr>
          <p:cNvPr id="53" name="Google Shape;53;p13"/>
          <p:cNvSpPr txBox="1"/>
          <p:nvPr/>
        </p:nvSpPr>
        <p:spPr>
          <a:xfrm>
            <a:off x="630936" y="1216152"/>
            <a:ext cx="10570464" cy="41148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800" b="0" i="0" u="none" strike="noStrike" cap="none">
                <a:solidFill>
                  <a:srgbClr val="647080"/>
                </a:solidFill>
                <a:latin typeface="Arial"/>
                <a:ea typeface="Arial"/>
                <a:cs typeface="Arial"/>
                <a:sym typeface="Arial"/>
              </a:rPr>
              <a:t>01  Technical progress  ·  what the system must do</a:t>
            </a:r>
            <a:endParaRPr/>
          </a:p>
        </p:txBody>
      </p:sp>
      <p:sp>
        <p:nvSpPr>
          <p:cNvPr id="54" name="Google Shape;54;p13"/>
          <p:cNvSpPr txBox="1"/>
          <p:nvPr/>
        </p:nvSpPr>
        <p:spPr>
          <a:xfrm>
            <a:off x="630936" y="1783080"/>
            <a:ext cx="5943600" cy="384048"/>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650" b="1" i="0" u="none" strike="noStrike" cap="none">
                <a:solidFill>
                  <a:srgbClr val="255CF0"/>
                </a:solidFill>
                <a:latin typeface="Arial"/>
                <a:ea typeface="Arial"/>
                <a:cs typeface="Arial"/>
                <a:sym typeface="Arial"/>
              </a:rPr>
              <a:t>ARCHITECTURE (SRS 2.1)</a:t>
            </a:r>
            <a:endParaRPr/>
          </a:p>
        </p:txBody>
      </p:sp>
      <p:sp>
        <p:nvSpPr>
          <p:cNvPr id="55" name="Google Shape;55;p13"/>
          <p:cNvSpPr/>
          <p:nvPr/>
        </p:nvSpPr>
        <p:spPr>
          <a:xfrm>
            <a:off x="630936" y="2697480"/>
            <a:ext cx="1097280" cy="822960"/>
          </a:xfrm>
          <a:prstGeom prst="rect">
            <a:avLst/>
          </a:prstGeom>
          <a:solidFill>
            <a:srgbClr val="E6EAF0"/>
          </a:solidFill>
          <a:ln w="9525" cap="flat" cmpd="sng">
            <a:solidFill>
              <a:srgbClr val="647080"/>
            </a:solidFill>
            <a:prstDash val="solid"/>
            <a:round/>
            <a:headEnd type="none" w="sm" len="sm"/>
            <a:tailEnd type="none" w="sm" len="sm"/>
          </a:ln>
        </p:spPr>
        <p:txBody>
          <a:bodyPr spcFirstLastPara="1" wrap="square" lIns="109725" tIns="54850" rIns="109725" bIns="54850" anchor="ctr" anchorCtr="0">
            <a:noAutofit/>
          </a:bodyPr>
          <a:lstStyle/>
          <a:p>
            <a:pPr marL="0" marR="0" lvl="0" indent="0" algn="ctr" rtl="0">
              <a:lnSpc>
                <a:spcPct val="100000"/>
              </a:lnSpc>
              <a:spcBef>
                <a:spcPts val="0"/>
              </a:spcBef>
              <a:spcAft>
                <a:spcPts val="0"/>
              </a:spcAft>
              <a:buNone/>
            </a:pPr>
            <a:r>
              <a:rPr lang="ru-RU" sz="1400" b="1" i="0" u="none" strike="noStrike" cap="none">
                <a:solidFill>
                  <a:srgbClr val="13263A"/>
                </a:solidFill>
                <a:latin typeface="Arial"/>
                <a:ea typeface="Arial"/>
                <a:cs typeface="Arial"/>
                <a:sym typeface="Arial"/>
              </a:rPr>
              <a:t>User</a:t>
            </a:r>
            <a:endParaRPr/>
          </a:p>
          <a:p>
            <a:pPr marL="0" marR="0" lvl="0" indent="0" algn="ctr" rtl="0">
              <a:lnSpc>
                <a:spcPct val="100000"/>
              </a:lnSpc>
              <a:spcBef>
                <a:spcPts val="0"/>
              </a:spcBef>
              <a:spcAft>
                <a:spcPts val="0"/>
              </a:spcAft>
              <a:buNone/>
            </a:pPr>
            <a:r>
              <a:rPr lang="ru-RU" sz="1150" b="0" i="0" u="none" strike="noStrike" cap="none">
                <a:solidFill>
                  <a:srgbClr val="13263A"/>
                </a:solidFill>
                <a:latin typeface="Arial"/>
                <a:ea typeface="Arial"/>
                <a:cs typeface="Arial"/>
                <a:sym typeface="Arial"/>
              </a:rPr>
              <a:t>AAC user</a:t>
            </a:r>
            <a:endParaRPr/>
          </a:p>
        </p:txBody>
      </p:sp>
      <p:sp>
        <p:nvSpPr>
          <p:cNvPr id="56" name="Google Shape;56;p13"/>
          <p:cNvSpPr/>
          <p:nvPr/>
        </p:nvSpPr>
        <p:spPr>
          <a:xfrm>
            <a:off x="2103120" y="2697480"/>
            <a:ext cx="1645920" cy="822960"/>
          </a:xfrm>
          <a:prstGeom prst="rect">
            <a:avLst/>
          </a:prstGeom>
          <a:solidFill>
            <a:srgbClr val="13263A"/>
          </a:solidFill>
          <a:ln>
            <a:noFill/>
          </a:ln>
        </p:spPr>
        <p:txBody>
          <a:bodyPr spcFirstLastPara="1" wrap="square" lIns="109725" tIns="54850" rIns="109725" bIns="54850" anchor="ctr" anchorCtr="0">
            <a:noAutofit/>
          </a:bodyPr>
          <a:lstStyle/>
          <a:p>
            <a:pPr marL="0" marR="0" lvl="0" indent="0" algn="ctr" rtl="0">
              <a:lnSpc>
                <a:spcPct val="100000"/>
              </a:lnSpc>
              <a:spcBef>
                <a:spcPts val="0"/>
              </a:spcBef>
              <a:spcAft>
                <a:spcPts val="0"/>
              </a:spcAft>
              <a:buNone/>
            </a:pPr>
            <a:r>
              <a:rPr lang="ru-RU" sz="1400" b="1" i="0" u="none" strike="noStrike" cap="none">
                <a:solidFill>
                  <a:srgbClr val="FFFFFF"/>
                </a:solidFill>
                <a:latin typeface="Arial"/>
                <a:ea typeface="Arial"/>
                <a:cs typeface="Arial"/>
                <a:sym typeface="Arial"/>
              </a:rPr>
              <a:t>Frontend</a:t>
            </a:r>
            <a:endParaRPr/>
          </a:p>
          <a:p>
            <a:pPr marL="0" marR="0" lvl="0" indent="0" algn="ctr" rtl="0">
              <a:lnSpc>
                <a:spcPct val="100000"/>
              </a:lnSpc>
              <a:spcBef>
                <a:spcPts val="0"/>
              </a:spcBef>
              <a:spcAft>
                <a:spcPts val="0"/>
              </a:spcAft>
              <a:buNone/>
            </a:pPr>
            <a:r>
              <a:rPr lang="ru-RU" sz="1150" b="0" i="0" u="none" strike="noStrike" cap="none">
                <a:solidFill>
                  <a:srgbClr val="FFFFFF"/>
                </a:solidFill>
                <a:latin typeface="Arial"/>
                <a:ea typeface="Arial"/>
                <a:cs typeface="Arial"/>
                <a:sym typeface="Arial"/>
              </a:rPr>
              <a:t>React, browser</a:t>
            </a:r>
            <a:endParaRPr/>
          </a:p>
        </p:txBody>
      </p:sp>
      <p:sp>
        <p:nvSpPr>
          <p:cNvPr id="57" name="Google Shape;57;p13"/>
          <p:cNvSpPr/>
          <p:nvPr/>
        </p:nvSpPr>
        <p:spPr>
          <a:xfrm>
            <a:off x="4663440" y="2697480"/>
            <a:ext cx="1645920" cy="822960"/>
          </a:xfrm>
          <a:prstGeom prst="rect">
            <a:avLst/>
          </a:prstGeom>
          <a:solidFill>
            <a:srgbClr val="13263A"/>
          </a:solidFill>
          <a:ln>
            <a:noFill/>
          </a:ln>
        </p:spPr>
        <p:txBody>
          <a:bodyPr spcFirstLastPara="1" wrap="square" lIns="109725" tIns="54850" rIns="109725" bIns="54850" anchor="ctr" anchorCtr="0">
            <a:noAutofit/>
          </a:bodyPr>
          <a:lstStyle/>
          <a:p>
            <a:pPr marL="0" marR="0" lvl="0" indent="0" algn="ctr" rtl="0">
              <a:lnSpc>
                <a:spcPct val="100000"/>
              </a:lnSpc>
              <a:spcBef>
                <a:spcPts val="0"/>
              </a:spcBef>
              <a:spcAft>
                <a:spcPts val="0"/>
              </a:spcAft>
              <a:buNone/>
            </a:pPr>
            <a:r>
              <a:rPr lang="ru-RU" sz="1400" b="1" i="0" u="none" strike="noStrike" cap="none">
                <a:solidFill>
                  <a:srgbClr val="FFFFFF"/>
                </a:solidFill>
                <a:latin typeface="Arial"/>
                <a:ea typeface="Arial"/>
                <a:cs typeface="Arial"/>
                <a:sym typeface="Arial"/>
              </a:rPr>
              <a:t>Backend API</a:t>
            </a:r>
            <a:endParaRPr/>
          </a:p>
          <a:p>
            <a:pPr marL="0" marR="0" lvl="0" indent="0" algn="ctr" rtl="0">
              <a:lnSpc>
                <a:spcPct val="100000"/>
              </a:lnSpc>
              <a:spcBef>
                <a:spcPts val="0"/>
              </a:spcBef>
              <a:spcAft>
                <a:spcPts val="0"/>
              </a:spcAft>
              <a:buNone/>
            </a:pPr>
            <a:r>
              <a:rPr lang="ru-RU" sz="1150" b="0" i="0" u="none" strike="noStrike" cap="none">
                <a:solidFill>
                  <a:srgbClr val="FFFFFF"/>
                </a:solidFill>
                <a:latin typeface="Arial"/>
                <a:ea typeface="Arial"/>
                <a:cs typeface="Arial"/>
                <a:sym typeface="Arial"/>
              </a:rPr>
              <a:t>FastAPI</a:t>
            </a:r>
            <a:endParaRPr/>
          </a:p>
        </p:txBody>
      </p:sp>
      <p:sp>
        <p:nvSpPr>
          <p:cNvPr id="58" name="Google Shape;58;p13"/>
          <p:cNvSpPr/>
          <p:nvPr/>
        </p:nvSpPr>
        <p:spPr>
          <a:xfrm>
            <a:off x="2103120" y="4251960"/>
            <a:ext cx="1645920" cy="822960"/>
          </a:xfrm>
          <a:prstGeom prst="rect">
            <a:avLst/>
          </a:prstGeom>
          <a:solidFill>
            <a:srgbClr val="E6EAF0"/>
          </a:solidFill>
          <a:ln w="9525" cap="flat" cmpd="sng">
            <a:solidFill>
              <a:srgbClr val="647080"/>
            </a:solidFill>
            <a:prstDash val="solid"/>
            <a:round/>
            <a:headEnd type="none" w="sm" len="sm"/>
            <a:tailEnd type="none" w="sm" len="sm"/>
          </a:ln>
        </p:spPr>
        <p:txBody>
          <a:bodyPr spcFirstLastPara="1" wrap="square" lIns="109725" tIns="54850" rIns="109725" bIns="54850" anchor="ctr" anchorCtr="0">
            <a:noAutofit/>
          </a:bodyPr>
          <a:lstStyle/>
          <a:p>
            <a:pPr marL="0" marR="0" lvl="0" indent="0" algn="ctr" rtl="0">
              <a:lnSpc>
                <a:spcPct val="100000"/>
              </a:lnSpc>
              <a:spcBef>
                <a:spcPts val="0"/>
              </a:spcBef>
              <a:spcAft>
                <a:spcPts val="0"/>
              </a:spcAft>
              <a:buNone/>
            </a:pPr>
            <a:r>
              <a:rPr lang="ru-RU" sz="1400" b="1" i="0" u="none" strike="noStrike" cap="none">
                <a:solidFill>
                  <a:srgbClr val="13263A"/>
                </a:solidFill>
                <a:latin typeface="Arial"/>
                <a:ea typeface="Arial"/>
                <a:cs typeface="Arial"/>
                <a:sym typeface="Arial"/>
              </a:rPr>
              <a:t>Speech output</a:t>
            </a:r>
            <a:endParaRPr/>
          </a:p>
          <a:p>
            <a:pPr marL="0" marR="0" lvl="0" indent="0" algn="ctr" rtl="0">
              <a:lnSpc>
                <a:spcPct val="100000"/>
              </a:lnSpc>
              <a:spcBef>
                <a:spcPts val="0"/>
              </a:spcBef>
              <a:spcAft>
                <a:spcPts val="0"/>
              </a:spcAft>
              <a:buNone/>
            </a:pPr>
            <a:r>
              <a:rPr lang="ru-RU" sz="1150" b="0" i="0" u="none" strike="noStrike" cap="none">
                <a:solidFill>
                  <a:srgbClr val="13263A"/>
                </a:solidFill>
                <a:latin typeface="Arial"/>
                <a:ea typeface="Arial"/>
                <a:cs typeface="Arial"/>
                <a:sym typeface="Arial"/>
              </a:rPr>
              <a:t>English voice</a:t>
            </a:r>
            <a:endParaRPr/>
          </a:p>
        </p:txBody>
      </p:sp>
      <p:sp>
        <p:nvSpPr>
          <p:cNvPr id="59" name="Google Shape;59;p13"/>
          <p:cNvSpPr/>
          <p:nvPr/>
        </p:nvSpPr>
        <p:spPr>
          <a:xfrm>
            <a:off x="3977639" y="4251960"/>
            <a:ext cx="1783080" cy="822960"/>
          </a:xfrm>
          <a:prstGeom prst="rect">
            <a:avLst/>
          </a:prstGeom>
          <a:solidFill>
            <a:srgbClr val="E6EAF0"/>
          </a:solidFill>
          <a:ln w="9525" cap="flat" cmpd="sng">
            <a:solidFill>
              <a:srgbClr val="647080"/>
            </a:solidFill>
            <a:prstDash val="solid"/>
            <a:round/>
            <a:headEnd type="none" w="sm" len="sm"/>
            <a:tailEnd type="none" w="sm" len="sm"/>
          </a:ln>
        </p:spPr>
        <p:txBody>
          <a:bodyPr spcFirstLastPara="1" wrap="square" lIns="109725" tIns="54850" rIns="109725" bIns="54850" anchor="ctr" anchorCtr="0">
            <a:noAutofit/>
          </a:bodyPr>
          <a:lstStyle/>
          <a:p>
            <a:pPr marL="0" marR="0" lvl="0" indent="0" algn="ctr" rtl="0">
              <a:lnSpc>
                <a:spcPct val="100000"/>
              </a:lnSpc>
              <a:spcBef>
                <a:spcPts val="0"/>
              </a:spcBef>
              <a:spcAft>
                <a:spcPts val="0"/>
              </a:spcAft>
              <a:buNone/>
            </a:pPr>
            <a:r>
              <a:rPr lang="ru-RU" sz="1400" b="1" i="0" u="none" strike="noStrike" cap="none">
                <a:solidFill>
                  <a:srgbClr val="13263A"/>
                </a:solidFill>
                <a:latin typeface="Arial"/>
                <a:ea typeface="Arial"/>
                <a:cs typeface="Arial"/>
                <a:sym typeface="Arial"/>
              </a:rPr>
              <a:t>Sentence provider</a:t>
            </a:r>
            <a:endParaRPr/>
          </a:p>
          <a:p>
            <a:pPr marL="0" marR="0" lvl="0" indent="0" algn="ctr" rtl="0">
              <a:lnSpc>
                <a:spcPct val="100000"/>
              </a:lnSpc>
              <a:spcBef>
                <a:spcPts val="0"/>
              </a:spcBef>
              <a:spcAft>
                <a:spcPts val="0"/>
              </a:spcAft>
              <a:buNone/>
            </a:pPr>
            <a:r>
              <a:rPr lang="ru-RU" sz="1150" b="0" i="0" u="none" strike="noStrike" cap="none">
                <a:solidFill>
                  <a:srgbClr val="13263A"/>
                </a:solidFill>
                <a:latin typeface="Arial"/>
                <a:ea typeface="Arial"/>
                <a:cs typeface="Arial"/>
                <a:sym typeface="Arial"/>
              </a:rPr>
              <a:t>mock now; VLM/LLM later</a:t>
            </a:r>
            <a:endParaRPr/>
          </a:p>
        </p:txBody>
      </p:sp>
      <p:sp>
        <p:nvSpPr>
          <p:cNvPr id="60" name="Google Shape;60;p13"/>
          <p:cNvSpPr/>
          <p:nvPr/>
        </p:nvSpPr>
        <p:spPr>
          <a:xfrm>
            <a:off x="5989320" y="4251960"/>
            <a:ext cx="1280160" cy="822960"/>
          </a:xfrm>
          <a:prstGeom prst="rect">
            <a:avLst/>
          </a:prstGeom>
          <a:solidFill>
            <a:srgbClr val="E6EAF0"/>
          </a:solidFill>
          <a:ln w="9525" cap="flat" cmpd="sng">
            <a:solidFill>
              <a:srgbClr val="647080"/>
            </a:solidFill>
            <a:prstDash val="solid"/>
            <a:round/>
            <a:headEnd type="none" w="sm" len="sm"/>
            <a:tailEnd type="none" w="sm" len="sm"/>
          </a:ln>
        </p:spPr>
        <p:txBody>
          <a:bodyPr spcFirstLastPara="1" wrap="square" lIns="109725" tIns="54850" rIns="109725" bIns="54850" anchor="ctr" anchorCtr="0">
            <a:noAutofit/>
          </a:bodyPr>
          <a:lstStyle/>
          <a:p>
            <a:pPr marL="0" marR="0" lvl="0" indent="0" algn="ctr" rtl="0">
              <a:lnSpc>
                <a:spcPct val="100000"/>
              </a:lnSpc>
              <a:spcBef>
                <a:spcPts val="0"/>
              </a:spcBef>
              <a:spcAft>
                <a:spcPts val="0"/>
              </a:spcAft>
              <a:buNone/>
            </a:pPr>
            <a:r>
              <a:rPr lang="ru-RU" sz="1400" b="1" i="0" u="none" strike="noStrike" cap="none">
                <a:solidFill>
                  <a:srgbClr val="13263A"/>
                </a:solidFill>
                <a:latin typeface="Arial"/>
                <a:ea typeface="Arial"/>
                <a:cs typeface="Arial"/>
                <a:sym typeface="Arial"/>
              </a:rPr>
              <a:t>Database</a:t>
            </a:r>
            <a:endParaRPr/>
          </a:p>
          <a:p>
            <a:pPr marL="0" marR="0" lvl="0" indent="0" algn="ctr" rtl="0">
              <a:lnSpc>
                <a:spcPct val="100000"/>
              </a:lnSpc>
              <a:spcBef>
                <a:spcPts val="0"/>
              </a:spcBef>
              <a:spcAft>
                <a:spcPts val="0"/>
              </a:spcAft>
              <a:buNone/>
            </a:pPr>
            <a:r>
              <a:rPr lang="ru-RU" sz="1150" b="0" i="0" u="none" strike="noStrike" cap="none">
                <a:solidFill>
                  <a:srgbClr val="13263A"/>
                </a:solidFill>
                <a:latin typeface="Arial"/>
                <a:ea typeface="Arial"/>
                <a:cs typeface="Arial"/>
                <a:sym typeface="Arial"/>
              </a:rPr>
              <a:t>SQLite / PostgreSQL</a:t>
            </a:r>
            <a:endParaRPr/>
          </a:p>
        </p:txBody>
      </p:sp>
      <p:cxnSp>
        <p:nvCxnSpPr>
          <p:cNvPr id="61" name="Google Shape;61;p13"/>
          <p:cNvCxnSpPr/>
          <p:nvPr/>
        </p:nvCxnSpPr>
        <p:spPr>
          <a:xfrm>
            <a:off x="1728216" y="3108960"/>
            <a:ext cx="374904" cy="0"/>
          </a:xfrm>
          <a:prstGeom prst="straightConnector1">
            <a:avLst/>
          </a:prstGeom>
          <a:noFill/>
          <a:ln w="19050" cap="flat" cmpd="sng">
            <a:solidFill>
              <a:srgbClr val="647080"/>
            </a:solidFill>
            <a:prstDash val="solid"/>
            <a:round/>
            <a:headEnd type="none" w="sm" len="sm"/>
            <a:tailEnd type="triangle" w="med" len="med"/>
          </a:ln>
          <a:effectLst>
            <a:outerShdw blurRad="40000" dist="20000" dir="5400000" rotWithShape="0">
              <a:srgbClr val="000000">
                <a:alpha val="38039"/>
              </a:srgbClr>
            </a:outerShdw>
          </a:effectLst>
        </p:spPr>
      </p:cxnSp>
      <p:cxnSp>
        <p:nvCxnSpPr>
          <p:cNvPr id="62" name="Google Shape;62;p13"/>
          <p:cNvCxnSpPr/>
          <p:nvPr/>
        </p:nvCxnSpPr>
        <p:spPr>
          <a:xfrm>
            <a:off x="3749039" y="3108960"/>
            <a:ext cx="914401" cy="0"/>
          </a:xfrm>
          <a:prstGeom prst="straightConnector1">
            <a:avLst/>
          </a:prstGeom>
          <a:noFill/>
          <a:ln w="19050" cap="flat" cmpd="sng">
            <a:solidFill>
              <a:srgbClr val="647080"/>
            </a:solidFill>
            <a:prstDash val="solid"/>
            <a:round/>
            <a:headEnd type="none" w="sm" len="sm"/>
            <a:tailEnd type="triangle" w="med" len="med"/>
          </a:ln>
          <a:effectLst>
            <a:outerShdw blurRad="40000" dist="20000" dir="5400000" rotWithShape="0">
              <a:srgbClr val="000000">
                <a:alpha val="38039"/>
              </a:srgbClr>
            </a:outerShdw>
          </a:effectLst>
        </p:spPr>
      </p:cxnSp>
      <p:sp>
        <p:nvSpPr>
          <p:cNvPr id="63" name="Google Shape;63;p13"/>
          <p:cNvSpPr txBox="1"/>
          <p:nvPr/>
        </p:nvSpPr>
        <p:spPr>
          <a:xfrm>
            <a:off x="3749039" y="2743200"/>
            <a:ext cx="914400" cy="274320"/>
          </a:xfrm>
          <a:prstGeom prst="rect">
            <a:avLst/>
          </a:prstGeom>
          <a:noFill/>
          <a:ln>
            <a:noFill/>
          </a:ln>
        </p:spPr>
        <p:txBody>
          <a:bodyPr spcFirstLastPara="1" wrap="square" lIns="45700" tIns="27425" rIns="45700" bIns="27425" anchor="t" anchorCtr="0">
            <a:spAutoFit/>
          </a:bodyPr>
          <a:lstStyle/>
          <a:p>
            <a:pPr marL="0" marR="0" lvl="0" indent="0" algn="ctr" rtl="0">
              <a:lnSpc>
                <a:spcPct val="100000"/>
              </a:lnSpc>
              <a:spcBef>
                <a:spcPts val="0"/>
              </a:spcBef>
              <a:spcAft>
                <a:spcPts val="0"/>
              </a:spcAft>
              <a:buNone/>
            </a:pPr>
            <a:r>
              <a:rPr lang="ru-RU" sz="1000" b="0" i="0" u="none" strike="noStrike" cap="none">
                <a:solidFill>
                  <a:srgbClr val="647080"/>
                </a:solidFill>
                <a:latin typeface="Arial"/>
                <a:ea typeface="Arial"/>
                <a:cs typeface="Arial"/>
                <a:sym typeface="Arial"/>
              </a:rPr>
              <a:t>HTTP/JSON</a:t>
            </a:r>
            <a:endParaRPr/>
          </a:p>
        </p:txBody>
      </p:sp>
      <p:cxnSp>
        <p:nvCxnSpPr>
          <p:cNvPr id="64" name="Google Shape;64;p13"/>
          <p:cNvCxnSpPr/>
          <p:nvPr/>
        </p:nvCxnSpPr>
        <p:spPr>
          <a:xfrm>
            <a:off x="2926080" y="3520440"/>
            <a:ext cx="0" cy="731520"/>
          </a:xfrm>
          <a:prstGeom prst="straightConnector1">
            <a:avLst/>
          </a:prstGeom>
          <a:noFill/>
          <a:ln w="19050" cap="flat" cmpd="sng">
            <a:solidFill>
              <a:srgbClr val="647080"/>
            </a:solidFill>
            <a:prstDash val="solid"/>
            <a:round/>
            <a:headEnd type="none" w="sm" len="sm"/>
            <a:tailEnd type="triangle" w="med" len="med"/>
          </a:ln>
          <a:effectLst>
            <a:outerShdw blurRad="40000" dist="20000" dir="5400000" rotWithShape="0">
              <a:srgbClr val="000000">
                <a:alpha val="38039"/>
              </a:srgbClr>
            </a:outerShdw>
          </a:effectLst>
        </p:spPr>
      </p:cxnSp>
      <p:cxnSp>
        <p:nvCxnSpPr>
          <p:cNvPr id="65" name="Google Shape;65;p13"/>
          <p:cNvCxnSpPr/>
          <p:nvPr/>
        </p:nvCxnSpPr>
        <p:spPr>
          <a:xfrm flipH="1">
            <a:off x="4892040" y="3520440"/>
            <a:ext cx="320040" cy="731520"/>
          </a:xfrm>
          <a:prstGeom prst="straightConnector1">
            <a:avLst/>
          </a:prstGeom>
          <a:noFill/>
          <a:ln w="19050" cap="flat" cmpd="sng">
            <a:solidFill>
              <a:srgbClr val="647080"/>
            </a:solidFill>
            <a:prstDash val="solid"/>
            <a:round/>
            <a:headEnd type="none" w="sm" len="sm"/>
            <a:tailEnd type="triangle" w="med" len="med"/>
          </a:ln>
          <a:effectLst>
            <a:outerShdw blurRad="40000" dist="20000" dir="5400000" rotWithShape="0">
              <a:srgbClr val="000000">
                <a:alpha val="38039"/>
              </a:srgbClr>
            </a:outerShdw>
          </a:effectLst>
        </p:spPr>
      </p:cxnSp>
      <p:cxnSp>
        <p:nvCxnSpPr>
          <p:cNvPr id="66" name="Google Shape;66;p13"/>
          <p:cNvCxnSpPr/>
          <p:nvPr/>
        </p:nvCxnSpPr>
        <p:spPr>
          <a:xfrm>
            <a:off x="5852160" y="3520440"/>
            <a:ext cx="548640" cy="731520"/>
          </a:xfrm>
          <a:prstGeom prst="straightConnector1">
            <a:avLst/>
          </a:prstGeom>
          <a:noFill/>
          <a:ln w="19050" cap="flat" cmpd="sng">
            <a:solidFill>
              <a:srgbClr val="647080"/>
            </a:solidFill>
            <a:prstDash val="solid"/>
            <a:round/>
            <a:headEnd type="none" w="sm" len="sm"/>
            <a:tailEnd type="triangle" w="med" len="med"/>
          </a:ln>
          <a:effectLst>
            <a:outerShdw blurRad="40000" dist="20000" dir="5400000" rotWithShape="0">
              <a:srgbClr val="000000">
                <a:alpha val="38039"/>
              </a:srgbClr>
            </a:outerShdw>
          </a:effectLst>
        </p:spPr>
      </p:cxnSp>
      <p:sp>
        <p:nvSpPr>
          <p:cNvPr id="67" name="Google Shape;67;p13"/>
          <p:cNvSpPr txBox="1"/>
          <p:nvPr/>
        </p:nvSpPr>
        <p:spPr>
          <a:xfrm>
            <a:off x="7406640" y="1783080"/>
            <a:ext cx="4206240" cy="384048"/>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650" b="1" i="0" u="none" strike="noStrike" cap="none">
                <a:solidFill>
                  <a:srgbClr val="255CF0"/>
                </a:solidFill>
                <a:latin typeface="Arial"/>
                <a:ea typeface="Arial"/>
                <a:cs typeface="Arial"/>
                <a:sym typeface="Arial"/>
              </a:rPr>
              <a:t>PRODUCT FUNCTIONS (SRS 2.2)</a:t>
            </a:r>
            <a:endParaRPr/>
          </a:p>
        </p:txBody>
      </p:sp>
      <p:sp>
        <p:nvSpPr>
          <p:cNvPr id="68" name="Google Shape;68;p13"/>
          <p:cNvSpPr txBox="1"/>
          <p:nvPr/>
        </p:nvSpPr>
        <p:spPr>
          <a:xfrm>
            <a:off x="7406640" y="2286000"/>
            <a:ext cx="411480" cy="45720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400" b="1" i="0" u="none" strike="noStrike" cap="none">
                <a:solidFill>
                  <a:srgbClr val="255CF0"/>
                </a:solidFill>
                <a:latin typeface="Arial"/>
                <a:ea typeface="Arial"/>
                <a:cs typeface="Arial"/>
                <a:sym typeface="Arial"/>
              </a:rPr>
              <a:t>01</a:t>
            </a:r>
            <a:endParaRPr/>
          </a:p>
        </p:txBody>
      </p:sp>
      <p:sp>
        <p:nvSpPr>
          <p:cNvPr id="69" name="Google Shape;69;p13"/>
          <p:cNvSpPr txBox="1"/>
          <p:nvPr/>
        </p:nvSpPr>
        <p:spPr>
          <a:xfrm>
            <a:off x="7818120" y="2286000"/>
            <a:ext cx="3749039" cy="50292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400" b="1" i="0" u="none" strike="noStrike" cap="none">
                <a:solidFill>
                  <a:srgbClr val="13263A"/>
                </a:solidFill>
                <a:latin typeface="Arial"/>
                <a:ea typeface="Arial"/>
                <a:cs typeface="Arial"/>
                <a:sym typeface="Arial"/>
              </a:rPr>
              <a:t>Add context</a:t>
            </a:r>
            <a:endParaRPr/>
          </a:p>
          <a:p>
            <a:pPr marL="0" marR="0" lvl="0" indent="0" algn="l" rtl="0">
              <a:lnSpc>
                <a:spcPct val="100000"/>
              </a:lnSpc>
              <a:spcBef>
                <a:spcPts val="0"/>
              </a:spcBef>
              <a:spcAft>
                <a:spcPts val="0"/>
              </a:spcAft>
              <a:buNone/>
            </a:pPr>
            <a:r>
              <a:rPr lang="ru-RU" sz="1200" b="0" i="0" u="none" strike="noStrike" cap="none">
                <a:solidFill>
                  <a:srgbClr val="647080"/>
                </a:solidFill>
                <a:latin typeface="Arial"/>
                <a:ea typeface="Arial"/>
                <a:cs typeface="Arial"/>
                <a:sym typeface="Arial"/>
              </a:rPr>
              <a:t>symbols / intent text, scene hint, optional photo</a:t>
            </a:r>
            <a:endParaRPr/>
          </a:p>
        </p:txBody>
      </p:sp>
      <p:sp>
        <p:nvSpPr>
          <p:cNvPr id="70" name="Google Shape;70;p13"/>
          <p:cNvSpPr txBox="1"/>
          <p:nvPr/>
        </p:nvSpPr>
        <p:spPr>
          <a:xfrm>
            <a:off x="7406640" y="2834640"/>
            <a:ext cx="411480" cy="45720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400" b="1" i="0" u="none" strike="noStrike" cap="none">
                <a:solidFill>
                  <a:srgbClr val="255CF0"/>
                </a:solidFill>
                <a:latin typeface="Arial"/>
                <a:ea typeface="Arial"/>
                <a:cs typeface="Arial"/>
                <a:sym typeface="Arial"/>
              </a:rPr>
              <a:t>02</a:t>
            </a:r>
            <a:endParaRPr/>
          </a:p>
        </p:txBody>
      </p:sp>
      <p:sp>
        <p:nvSpPr>
          <p:cNvPr id="71" name="Google Shape;71;p13"/>
          <p:cNvSpPr txBox="1"/>
          <p:nvPr/>
        </p:nvSpPr>
        <p:spPr>
          <a:xfrm>
            <a:off x="7818120" y="2834640"/>
            <a:ext cx="3749039" cy="50292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400" b="1" i="0" u="none" strike="noStrike" cap="none">
                <a:solidFill>
                  <a:srgbClr val="13263A"/>
                </a:solidFill>
                <a:latin typeface="Arial"/>
                <a:ea typeface="Arial"/>
                <a:cs typeface="Arial"/>
                <a:sym typeface="Arial"/>
              </a:rPr>
              <a:t>Generate</a:t>
            </a:r>
            <a:endParaRPr/>
          </a:p>
          <a:p>
            <a:pPr marL="0" marR="0" lvl="0" indent="0" algn="l" rtl="0">
              <a:lnSpc>
                <a:spcPct val="100000"/>
              </a:lnSpc>
              <a:spcBef>
                <a:spcPts val="0"/>
              </a:spcBef>
              <a:spcAft>
                <a:spcPts val="0"/>
              </a:spcAft>
              <a:buNone/>
            </a:pPr>
            <a:r>
              <a:rPr lang="ru-RU" sz="1200" b="0" i="0" u="none" strike="noStrike" cap="none">
                <a:solidFill>
                  <a:srgbClr val="647080"/>
                </a:solidFill>
                <a:latin typeface="Arial"/>
                <a:ea typeface="Arial"/>
                <a:cs typeface="Arial"/>
                <a:sym typeface="Arial"/>
              </a:rPr>
              <a:t>up to three complete English sentences</a:t>
            </a:r>
            <a:endParaRPr/>
          </a:p>
        </p:txBody>
      </p:sp>
      <p:sp>
        <p:nvSpPr>
          <p:cNvPr id="72" name="Google Shape;72;p13"/>
          <p:cNvSpPr txBox="1"/>
          <p:nvPr/>
        </p:nvSpPr>
        <p:spPr>
          <a:xfrm>
            <a:off x="7406640" y="3383280"/>
            <a:ext cx="411480" cy="45720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400" b="1" i="0" u="none" strike="noStrike" cap="none">
                <a:solidFill>
                  <a:srgbClr val="255CF0"/>
                </a:solidFill>
                <a:latin typeface="Arial"/>
                <a:ea typeface="Arial"/>
                <a:cs typeface="Arial"/>
                <a:sym typeface="Arial"/>
              </a:rPr>
              <a:t>03</a:t>
            </a:r>
            <a:endParaRPr/>
          </a:p>
        </p:txBody>
      </p:sp>
      <p:sp>
        <p:nvSpPr>
          <p:cNvPr id="73" name="Google Shape;73;p13"/>
          <p:cNvSpPr txBox="1"/>
          <p:nvPr/>
        </p:nvSpPr>
        <p:spPr>
          <a:xfrm>
            <a:off x="7818120" y="3383280"/>
            <a:ext cx="3749039" cy="50292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400" b="1" i="0" u="none" strike="noStrike" cap="none">
                <a:solidFill>
                  <a:srgbClr val="13263A"/>
                </a:solidFill>
                <a:latin typeface="Arial"/>
                <a:ea typeface="Arial"/>
                <a:cs typeface="Arial"/>
                <a:sym typeface="Arial"/>
              </a:rPr>
              <a:t>Choose &amp; speak</a:t>
            </a:r>
            <a:endParaRPr/>
          </a:p>
          <a:p>
            <a:pPr marL="0" marR="0" lvl="0" indent="0" algn="l" rtl="0">
              <a:lnSpc>
                <a:spcPct val="100000"/>
              </a:lnSpc>
              <a:spcBef>
                <a:spcPts val="0"/>
              </a:spcBef>
              <a:spcAft>
                <a:spcPts val="0"/>
              </a:spcAft>
              <a:buNone/>
            </a:pPr>
            <a:r>
              <a:rPr lang="ru-RU" sz="1200" b="0" i="0" u="none" strike="noStrike" cap="none">
                <a:solidFill>
                  <a:srgbClr val="647080"/>
                </a:solidFill>
                <a:latin typeface="Arial"/>
                <a:ea typeface="Arial"/>
                <a:cs typeface="Arial"/>
                <a:sym typeface="Arial"/>
              </a:rPr>
              <a:t>spoken only after explicit confirmation</a:t>
            </a:r>
            <a:endParaRPr/>
          </a:p>
        </p:txBody>
      </p:sp>
      <p:sp>
        <p:nvSpPr>
          <p:cNvPr id="74" name="Google Shape;74;p13"/>
          <p:cNvSpPr txBox="1"/>
          <p:nvPr/>
        </p:nvSpPr>
        <p:spPr>
          <a:xfrm>
            <a:off x="7406640" y="3931920"/>
            <a:ext cx="411480" cy="45720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400" b="1" i="0" u="none" strike="noStrike" cap="none">
                <a:solidFill>
                  <a:srgbClr val="255CF0"/>
                </a:solidFill>
                <a:latin typeface="Arial"/>
                <a:ea typeface="Arial"/>
                <a:cs typeface="Arial"/>
                <a:sym typeface="Arial"/>
              </a:rPr>
              <a:t>04</a:t>
            </a:r>
            <a:endParaRPr/>
          </a:p>
        </p:txBody>
      </p:sp>
      <p:sp>
        <p:nvSpPr>
          <p:cNvPr id="75" name="Google Shape;75;p13"/>
          <p:cNvSpPr txBox="1"/>
          <p:nvPr/>
        </p:nvSpPr>
        <p:spPr>
          <a:xfrm>
            <a:off x="7818120" y="3931920"/>
            <a:ext cx="3749039" cy="50292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400" b="1" i="0" u="none" strike="noStrike" cap="none">
                <a:solidFill>
                  <a:srgbClr val="13263A"/>
                </a:solidFill>
                <a:latin typeface="Arial"/>
                <a:ea typeface="Arial"/>
                <a:cs typeface="Arial"/>
                <a:sym typeface="Arial"/>
              </a:rPr>
              <a:t>Reject &amp; regenerate</a:t>
            </a:r>
            <a:endParaRPr/>
          </a:p>
          <a:p>
            <a:pPr marL="0" marR="0" lvl="0" indent="0" algn="l" rtl="0">
              <a:lnSpc>
                <a:spcPct val="100000"/>
              </a:lnSpc>
              <a:spcBef>
                <a:spcPts val="0"/>
              </a:spcBef>
              <a:spcAft>
                <a:spcPts val="0"/>
              </a:spcAft>
              <a:buNone/>
            </a:pPr>
            <a:r>
              <a:rPr lang="ru-RU" sz="1200" b="0" i="0" u="none" strike="noStrike" cap="none">
                <a:solidFill>
                  <a:srgbClr val="647080"/>
                </a:solidFill>
                <a:latin typeface="Arial"/>
                <a:ea typeface="Arial"/>
                <a:cs typeface="Arial"/>
                <a:sym typeface="Arial"/>
              </a:rPr>
              <a:t>new options, no repeats</a:t>
            </a:r>
            <a:endParaRPr/>
          </a:p>
        </p:txBody>
      </p:sp>
      <p:sp>
        <p:nvSpPr>
          <p:cNvPr id="76" name="Google Shape;76;p13"/>
          <p:cNvSpPr txBox="1"/>
          <p:nvPr/>
        </p:nvSpPr>
        <p:spPr>
          <a:xfrm>
            <a:off x="7406640" y="4480560"/>
            <a:ext cx="411480" cy="45720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400" b="1" i="0" u="none" strike="noStrike" cap="none">
                <a:solidFill>
                  <a:srgbClr val="255CF0"/>
                </a:solidFill>
                <a:latin typeface="Arial"/>
                <a:ea typeface="Arial"/>
                <a:cs typeface="Arial"/>
                <a:sym typeface="Arial"/>
              </a:rPr>
              <a:t>05</a:t>
            </a:r>
            <a:endParaRPr/>
          </a:p>
        </p:txBody>
      </p:sp>
      <p:sp>
        <p:nvSpPr>
          <p:cNvPr id="77" name="Google Shape;77;p13"/>
          <p:cNvSpPr txBox="1"/>
          <p:nvPr/>
        </p:nvSpPr>
        <p:spPr>
          <a:xfrm>
            <a:off x="7818120" y="4480560"/>
            <a:ext cx="3749039" cy="50292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400" b="1" i="0" u="none" strike="noStrike" cap="none">
                <a:solidFill>
                  <a:srgbClr val="13263A"/>
                </a:solidFill>
                <a:latin typeface="Arial"/>
                <a:ea typeface="Arial"/>
                <a:cs typeface="Arial"/>
                <a:sym typeface="Arial"/>
              </a:rPr>
              <a:t>Keep records</a:t>
            </a:r>
            <a:endParaRPr/>
          </a:p>
          <a:p>
            <a:pPr marL="0" marR="0" lvl="0" indent="0" algn="l" rtl="0">
              <a:lnSpc>
                <a:spcPct val="100000"/>
              </a:lnSpc>
              <a:spcBef>
                <a:spcPts val="0"/>
              </a:spcBef>
              <a:spcAft>
                <a:spcPts val="0"/>
              </a:spcAft>
              <a:buNone/>
            </a:pPr>
            <a:r>
              <a:rPr lang="ru-RU" sz="1200" b="0" i="0" u="none" strike="noStrike" cap="none">
                <a:solidFill>
                  <a:srgbClr val="647080"/>
                </a:solidFill>
                <a:latin typeface="Arial"/>
                <a:ea typeface="Arial"/>
                <a:cs typeface="Arial"/>
                <a:sym typeface="Arial"/>
              </a:rPr>
              <a:t>requests, suggestions, feedback</a:t>
            </a:r>
            <a:endParaRPr/>
          </a:p>
        </p:txBody>
      </p:sp>
      <p:sp>
        <p:nvSpPr>
          <p:cNvPr id="78" name="Google Shape;78;p13"/>
          <p:cNvSpPr txBox="1"/>
          <p:nvPr/>
        </p:nvSpPr>
        <p:spPr>
          <a:xfrm>
            <a:off x="7406640" y="5029200"/>
            <a:ext cx="411480" cy="45720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400" b="1" i="0" u="none" strike="noStrike" cap="none">
                <a:solidFill>
                  <a:srgbClr val="255CF0"/>
                </a:solidFill>
                <a:latin typeface="Arial"/>
                <a:ea typeface="Arial"/>
                <a:cs typeface="Arial"/>
                <a:sym typeface="Arial"/>
              </a:rPr>
              <a:t>06</a:t>
            </a:r>
            <a:endParaRPr/>
          </a:p>
        </p:txBody>
      </p:sp>
      <p:sp>
        <p:nvSpPr>
          <p:cNvPr id="79" name="Google Shape;79;p13"/>
          <p:cNvSpPr txBox="1"/>
          <p:nvPr/>
        </p:nvSpPr>
        <p:spPr>
          <a:xfrm>
            <a:off x="7818120" y="5029200"/>
            <a:ext cx="3749039" cy="50292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400" b="1" i="0" u="none" strike="noStrike" cap="none">
                <a:solidFill>
                  <a:srgbClr val="13263A"/>
                </a:solidFill>
                <a:latin typeface="Arial"/>
                <a:ea typeface="Arial"/>
                <a:cs typeface="Arial"/>
                <a:sym typeface="Arial"/>
              </a:rPr>
              <a:t>Operate</a:t>
            </a:r>
            <a:endParaRPr/>
          </a:p>
          <a:p>
            <a:pPr marL="0" marR="0" lvl="0" indent="0" algn="l" rtl="0">
              <a:lnSpc>
                <a:spcPct val="100000"/>
              </a:lnSpc>
              <a:spcBef>
                <a:spcPts val="0"/>
              </a:spcBef>
              <a:spcAft>
                <a:spcPts val="0"/>
              </a:spcAft>
              <a:buNone/>
            </a:pPr>
            <a:r>
              <a:rPr lang="ru-RU" sz="1200" b="0" i="0" u="none" strike="noStrike" cap="none">
                <a:solidFill>
                  <a:srgbClr val="647080"/>
                </a:solidFill>
                <a:latin typeface="Arial"/>
                <a:ea typeface="Arial"/>
                <a:cs typeface="Arial"/>
                <a:sym typeface="Arial"/>
              </a:rPr>
              <a:t>health / readiness, configuration</a:t>
            </a:r>
            <a:endParaRPr/>
          </a:p>
        </p:txBody>
      </p:sp>
      <p:sp>
        <p:nvSpPr>
          <p:cNvPr id="80" name="Google Shape;80;p13"/>
          <p:cNvSpPr txBox="1"/>
          <p:nvPr/>
        </p:nvSpPr>
        <p:spPr>
          <a:xfrm>
            <a:off x="630936" y="5669280"/>
            <a:ext cx="6583680" cy="36576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400" b="1" i="0" u="none" strike="noStrike" cap="none">
                <a:solidFill>
                  <a:srgbClr val="255CF0"/>
                </a:solidFill>
                <a:latin typeface="Arial"/>
                <a:ea typeface="Arial"/>
                <a:cs typeface="Arial"/>
                <a:sym typeface="Arial"/>
              </a:rPr>
              <a:t>English only  ·  web first, mobile optional  ·  AI behind one interface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4F0"/>
        </a:solidFill>
        <a:effectLst/>
      </p:bgPr>
    </p:bg>
    <p:spTree>
      <p:nvGrpSpPr>
        <p:cNvPr id="1" name="Shape 85"/>
        <p:cNvGrpSpPr/>
        <p:nvPr/>
      </p:nvGrpSpPr>
      <p:grpSpPr>
        <a:xfrm>
          <a:off x="0" y="0"/>
          <a:ext cx="0" cy="0"/>
          <a:chOff x="0" y="0"/>
          <a:chExt cx="0" cy="0"/>
        </a:xfrm>
      </p:grpSpPr>
      <p:sp>
        <p:nvSpPr>
          <p:cNvPr id="86" name="Google Shape;86;hf959529d77c4dfc_1_0"/>
          <p:cNvSpPr txBox="1"/>
          <p:nvPr/>
        </p:nvSpPr>
        <p:spPr>
          <a:xfrm>
            <a:off x="612648" y="457200"/>
            <a:ext cx="10954500" cy="563400"/>
          </a:xfrm>
          <a:prstGeom prst="rect">
            <a:avLst/>
          </a:prstGeom>
          <a:noFill/>
          <a:ln>
            <a:noFill/>
          </a:ln>
        </p:spPr>
        <p:txBody>
          <a:bodyPr spcFirstLastPara="1" wrap="square" lIns="45700" tIns="27425" rIns="45700" bIns="27425" anchor="ctr" anchorCtr="0">
            <a:spAutoFit/>
          </a:bodyPr>
          <a:lstStyle/>
          <a:p>
            <a:pPr marL="0" marR="0" lvl="0" indent="0" algn="l" rtl="0">
              <a:lnSpc>
                <a:spcPct val="100000"/>
              </a:lnSpc>
              <a:spcBef>
                <a:spcPts val="0"/>
              </a:spcBef>
              <a:spcAft>
                <a:spcPts val="0"/>
              </a:spcAft>
              <a:buNone/>
            </a:pPr>
            <a:r>
              <a:rPr lang="ru-RU" sz="3300" b="1">
                <a:solidFill>
                  <a:srgbClr val="13263A"/>
                </a:solidFill>
              </a:rPr>
              <a:t>CBOARD: Source of inspiration</a:t>
            </a:r>
            <a:endParaRPr/>
          </a:p>
        </p:txBody>
      </p:sp>
      <p:pic>
        <p:nvPicPr>
          <p:cNvPr id="87" name="Google Shape;87;hf959529d77c4dfc_1_0"/>
          <p:cNvPicPr preferRelativeResize="0"/>
          <p:nvPr/>
        </p:nvPicPr>
        <p:blipFill>
          <a:blip r:embed="rId3">
            <a:alphaModFix/>
          </a:blip>
          <a:stretch>
            <a:fillRect/>
          </a:stretch>
        </p:blipFill>
        <p:spPr>
          <a:xfrm>
            <a:off x="257238" y="1366252"/>
            <a:ext cx="11677513" cy="500464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4F0"/>
        </a:solidFill>
        <a:effectLst/>
      </p:bgPr>
    </p:bg>
    <p:spTree>
      <p:nvGrpSpPr>
        <p:cNvPr id="1" name="Shape 92"/>
        <p:cNvGrpSpPr/>
        <p:nvPr/>
      </p:nvGrpSpPr>
      <p:grpSpPr>
        <a:xfrm>
          <a:off x="0" y="0"/>
          <a:ext cx="0" cy="0"/>
          <a:chOff x="0" y="0"/>
          <a:chExt cx="0" cy="0"/>
        </a:xfrm>
      </p:grpSpPr>
      <p:sp>
        <p:nvSpPr>
          <p:cNvPr id="93" name="Google Shape;93;p14"/>
          <p:cNvSpPr txBox="1"/>
          <p:nvPr/>
        </p:nvSpPr>
        <p:spPr>
          <a:xfrm>
            <a:off x="612648" y="457200"/>
            <a:ext cx="10954512" cy="758952"/>
          </a:xfrm>
          <a:prstGeom prst="rect">
            <a:avLst/>
          </a:prstGeom>
          <a:noFill/>
          <a:ln>
            <a:noFill/>
          </a:ln>
        </p:spPr>
        <p:txBody>
          <a:bodyPr spcFirstLastPara="1" wrap="square" lIns="45700" tIns="27425" rIns="45700" bIns="27425" anchor="ctr" anchorCtr="0">
            <a:spAutoFit/>
          </a:bodyPr>
          <a:lstStyle/>
          <a:p>
            <a:pPr marL="0" marR="0" lvl="0" indent="0" algn="l" rtl="0">
              <a:lnSpc>
                <a:spcPct val="100000"/>
              </a:lnSpc>
              <a:spcBef>
                <a:spcPts val="0"/>
              </a:spcBef>
              <a:spcAft>
                <a:spcPts val="0"/>
              </a:spcAft>
              <a:buNone/>
            </a:pPr>
            <a:r>
              <a:rPr lang="ru-RU" sz="3300" b="1" i="0" u="none" strike="noStrike" cap="none">
                <a:solidFill>
                  <a:srgbClr val="13263A"/>
                </a:solidFill>
                <a:latin typeface="Arial"/>
                <a:ea typeface="Arial"/>
                <a:cs typeface="Arial"/>
                <a:sym typeface="Arial"/>
              </a:rPr>
              <a:t>Existing foundation: backend starter v0.1</a:t>
            </a:r>
            <a:endParaRPr/>
          </a:p>
        </p:txBody>
      </p:sp>
      <p:sp>
        <p:nvSpPr>
          <p:cNvPr id="94" name="Google Shape;94;p14"/>
          <p:cNvSpPr txBox="1"/>
          <p:nvPr/>
        </p:nvSpPr>
        <p:spPr>
          <a:xfrm>
            <a:off x="11045952" y="6245352"/>
            <a:ext cx="530352" cy="283464"/>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350" b="0" i="0" u="none" strike="noStrike" cap="none">
                <a:solidFill>
                  <a:srgbClr val="647080"/>
                </a:solidFill>
                <a:latin typeface="Arial"/>
                <a:ea typeface="Arial"/>
                <a:cs typeface="Arial"/>
                <a:sym typeface="Arial"/>
              </a:rPr>
              <a:t>04</a:t>
            </a:r>
            <a:endParaRPr/>
          </a:p>
        </p:txBody>
      </p:sp>
      <p:sp>
        <p:nvSpPr>
          <p:cNvPr id="95" name="Google Shape;95;p14"/>
          <p:cNvSpPr txBox="1"/>
          <p:nvPr/>
        </p:nvSpPr>
        <p:spPr>
          <a:xfrm>
            <a:off x="630936" y="1216152"/>
            <a:ext cx="10570464" cy="41148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800" b="0" i="0" u="none" strike="noStrike" cap="none">
                <a:solidFill>
                  <a:srgbClr val="647080"/>
                </a:solidFill>
                <a:latin typeface="Arial"/>
                <a:ea typeface="Arial"/>
                <a:cs typeface="Arial"/>
                <a:sym typeface="Arial"/>
              </a:rPr>
              <a:t>01  Technical progress  ·  what already runs</a:t>
            </a:r>
            <a:endParaRPr/>
          </a:p>
        </p:txBody>
      </p:sp>
      <p:sp>
        <p:nvSpPr>
          <p:cNvPr id="96" name="Google Shape;96;p14"/>
          <p:cNvSpPr/>
          <p:nvPr/>
        </p:nvSpPr>
        <p:spPr>
          <a:xfrm>
            <a:off x="630936" y="1783080"/>
            <a:ext cx="3429000" cy="1234440"/>
          </a:xfrm>
          <a:prstGeom prst="rect">
            <a:avLst/>
          </a:prstGeom>
          <a:solidFill>
            <a:srgbClr val="FFFFFF"/>
          </a:solidFill>
          <a:ln w="9525" cap="flat" cmpd="sng">
            <a:solidFill>
              <a:srgbClr val="A8B6C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7" name="Google Shape;97;p14"/>
          <p:cNvSpPr txBox="1"/>
          <p:nvPr/>
        </p:nvSpPr>
        <p:spPr>
          <a:xfrm>
            <a:off x="813815" y="1828800"/>
            <a:ext cx="3108960" cy="68580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3600" b="1" i="0" u="none" strike="noStrike" cap="none">
                <a:solidFill>
                  <a:srgbClr val="255CF0"/>
                </a:solidFill>
                <a:latin typeface="Arial"/>
                <a:ea typeface="Arial"/>
                <a:cs typeface="Arial"/>
                <a:sym typeface="Arial"/>
              </a:rPr>
              <a:t>6</a:t>
            </a:r>
            <a:endParaRPr/>
          </a:p>
        </p:txBody>
      </p:sp>
      <p:sp>
        <p:nvSpPr>
          <p:cNvPr id="98" name="Google Shape;98;p14"/>
          <p:cNvSpPr txBox="1"/>
          <p:nvPr/>
        </p:nvSpPr>
        <p:spPr>
          <a:xfrm>
            <a:off x="813815" y="2542032"/>
            <a:ext cx="3108960" cy="36576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400" b="0" i="0" u="none" strike="noStrike" cap="none">
                <a:solidFill>
                  <a:srgbClr val="647080"/>
                </a:solidFill>
                <a:latin typeface="Arial"/>
                <a:ea typeface="Arial"/>
                <a:cs typeface="Arial"/>
                <a:sym typeface="Arial"/>
              </a:rPr>
              <a:t>API endpoints (API v0.1)</a:t>
            </a:r>
            <a:endParaRPr/>
          </a:p>
        </p:txBody>
      </p:sp>
      <p:sp>
        <p:nvSpPr>
          <p:cNvPr id="99" name="Google Shape;99;p14"/>
          <p:cNvSpPr/>
          <p:nvPr/>
        </p:nvSpPr>
        <p:spPr>
          <a:xfrm>
            <a:off x="4379975" y="1783080"/>
            <a:ext cx="3429000" cy="1234440"/>
          </a:xfrm>
          <a:prstGeom prst="rect">
            <a:avLst/>
          </a:prstGeom>
          <a:solidFill>
            <a:srgbClr val="FFFFFF"/>
          </a:solidFill>
          <a:ln w="9525" cap="flat" cmpd="sng">
            <a:solidFill>
              <a:srgbClr val="A8B6C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0" name="Google Shape;100;p14"/>
          <p:cNvSpPr txBox="1"/>
          <p:nvPr/>
        </p:nvSpPr>
        <p:spPr>
          <a:xfrm>
            <a:off x="4562855" y="1828800"/>
            <a:ext cx="3108960" cy="68580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3600" b="1" i="0" u="none" strike="noStrike" cap="none">
                <a:solidFill>
                  <a:srgbClr val="255CF0"/>
                </a:solidFill>
                <a:latin typeface="Arial"/>
                <a:ea typeface="Arial"/>
                <a:cs typeface="Arial"/>
                <a:sym typeface="Arial"/>
              </a:rPr>
              <a:t>26</a:t>
            </a:r>
            <a:endParaRPr/>
          </a:p>
        </p:txBody>
      </p:sp>
      <p:sp>
        <p:nvSpPr>
          <p:cNvPr id="101" name="Google Shape;101;p14"/>
          <p:cNvSpPr txBox="1"/>
          <p:nvPr/>
        </p:nvSpPr>
        <p:spPr>
          <a:xfrm>
            <a:off x="4562855" y="2542032"/>
            <a:ext cx="3108960" cy="36576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400" b="0" i="0" u="none" strike="noStrike" cap="none">
                <a:solidFill>
                  <a:srgbClr val="647080"/>
                </a:solidFill>
                <a:latin typeface="Arial"/>
                <a:ea typeface="Arial"/>
                <a:cs typeface="Arial"/>
                <a:sym typeface="Arial"/>
              </a:rPr>
              <a:t>automated test cases passed</a:t>
            </a:r>
            <a:endParaRPr/>
          </a:p>
        </p:txBody>
      </p:sp>
      <p:sp>
        <p:nvSpPr>
          <p:cNvPr id="102" name="Google Shape;102;p14"/>
          <p:cNvSpPr/>
          <p:nvPr/>
        </p:nvSpPr>
        <p:spPr>
          <a:xfrm>
            <a:off x="8129015" y="1783080"/>
            <a:ext cx="3429000" cy="1234440"/>
          </a:xfrm>
          <a:prstGeom prst="rect">
            <a:avLst/>
          </a:prstGeom>
          <a:solidFill>
            <a:srgbClr val="FFFFFF"/>
          </a:solidFill>
          <a:ln w="9525" cap="flat" cmpd="sng">
            <a:solidFill>
              <a:srgbClr val="A8B6C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3" name="Google Shape;103;p14"/>
          <p:cNvSpPr txBox="1"/>
          <p:nvPr/>
        </p:nvSpPr>
        <p:spPr>
          <a:xfrm>
            <a:off x="8311895" y="1828800"/>
            <a:ext cx="3108960" cy="68580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3600" b="1" i="0" u="none" strike="noStrike" cap="none">
                <a:solidFill>
                  <a:srgbClr val="255CF0"/>
                </a:solidFill>
                <a:latin typeface="Arial"/>
                <a:ea typeface="Arial"/>
                <a:cs typeface="Arial"/>
                <a:sym typeface="Arial"/>
              </a:rPr>
              <a:t>19 / 45</a:t>
            </a:r>
            <a:endParaRPr/>
          </a:p>
        </p:txBody>
      </p:sp>
      <p:sp>
        <p:nvSpPr>
          <p:cNvPr id="104" name="Google Shape;104;p14"/>
          <p:cNvSpPr txBox="1"/>
          <p:nvPr/>
        </p:nvSpPr>
        <p:spPr>
          <a:xfrm>
            <a:off x="8311895" y="2542032"/>
            <a:ext cx="3108960" cy="36576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400" b="0" i="0" u="none" strike="noStrike" cap="none">
                <a:solidFill>
                  <a:srgbClr val="647080"/>
                </a:solidFill>
                <a:latin typeface="Arial"/>
                <a:ea typeface="Arial"/>
                <a:cs typeface="Arial"/>
                <a:sym typeface="Arial"/>
              </a:rPr>
              <a:t>requirements passed (5 partly)</a:t>
            </a:r>
            <a:endParaRPr/>
          </a:p>
        </p:txBody>
      </p:sp>
      <p:sp>
        <p:nvSpPr>
          <p:cNvPr id="105" name="Google Shape;105;p14"/>
          <p:cNvSpPr txBox="1"/>
          <p:nvPr/>
        </p:nvSpPr>
        <p:spPr>
          <a:xfrm>
            <a:off x="630936" y="3246120"/>
            <a:ext cx="5303520" cy="384048"/>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650" b="1" i="0" u="none" strike="noStrike" cap="none">
                <a:solidFill>
                  <a:srgbClr val="255CF0"/>
                </a:solidFill>
                <a:latin typeface="Arial"/>
                <a:ea typeface="Arial"/>
                <a:cs typeface="Arial"/>
                <a:sym typeface="Arial"/>
              </a:rPr>
              <a:t>WHAT WORKS</a:t>
            </a:r>
            <a:endParaRPr/>
          </a:p>
        </p:txBody>
      </p:sp>
      <p:sp>
        <p:nvSpPr>
          <p:cNvPr id="106" name="Google Shape;106;p14"/>
          <p:cNvSpPr txBox="1"/>
          <p:nvPr/>
        </p:nvSpPr>
        <p:spPr>
          <a:xfrm>
            <a:off x="630936" y="3657600"/>
            <a:ext cx="5303520" cy="219456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500" b="1" i="0" u="none" strike="noStrike" cap="none">
                <a:solidFill>
                  <a:srgbClr val="1F8A5B"/>
                </a:solidFill>
                <a:latin typeface="Arial"/>
                <a:ea typeface="Arial"/>
                <a:cs typeface="Arial"/>
                <a:sym typeface="Arial"/>
              </a:rPr>
              <a:t>✓  </a:t>
            </a:r>
            <a:r>
              <a:rPr lang="ru-RU" sz="1500" b="0" i="0" u="none" strike="noStrike" cap="none">
                <a:solidFill>
                  <a:srgbClr val="13263A"/>
                </a:solidFill>
                <a:latin typeface="Arial"/>
                <a:ea typeface="Arial"/>
                <a:cs typeface="Arial"/>
                <a:sym typeface="Arial"/>
              </a:rPr>
              <a:t>Input validation: symbols, intent, scene hint</a:t>
            </a:r>
            <a:endParaRPr/>
          </a:p>
          <a:p>
            <a:pPr marL="0" marR="0" lvl="0" indent="0" algn="l" rtl="0">
              <a:lnSpc>
                <a:spcPct val="100000"/>
              </a:lnSpc>
              <a:spcBef>
                <a:spcPts val="500"/>
              </a:spcBef>
              <a:spcAft>
                <a:spcPts val="0"/>
              </a:spcAft>
              <a:buNone/>
            </a:pPr>
            <a:r>
              <a:rPr lang="ru-RU" sz="1500" b="1" i="0" u="none" strike="noStrike" cap="none">
                <a:solidFill>
                  <a:srgbClr val="1F8A5B"/>
                </a:solidFill>
                <a:latin typeface="Arial"/>
                <a:ea typeface="Arial"/>
                <a:cs typeface="Arial"/>
                <a:sym typeface="Arial"/>
              </a:rPr>
              <a:t>✓  </a:t>
            </a:r>
            <a:r>
              <a:rPr lang="ru-RU" sz="1500" b="0" i="0" u="none" strike="noStrike" cap="none">
                <a:solidFill>
                  <a:srgbClr val="13263A"/>
                </a:solidFill>
                <a:latin typeface="Arial"/>
                <a:ea typeface="Arial"/>
                <a:cs typeface="Arial"/>
                <a:sym typeface="Arial"/>
              </a:rPr>
              <a:t>Photo check, resize and metadata removal</a:t>
            </a:r>
            <a:endParaRPr/>
          </a:p>
          <a:p>
            <a:pPr marL="0" marR="0" lvl="0" indent="0" algn="l" rtl="0">
              <a:lnSpc>
                <a:spcPct val="100000"/>
              </a:lnSpc>
              <a:spcBef>
                <a:spcPts val="500"/>
              </a:spcBef>
              <a:spcAft>
                <a:spcPts val="0"/>
              </a:spcAft>
              <a:buNone/>
            </a:pPr>
            <a:r>
              <a:rPr lang="ru-RU" sz="1500" b="1" i="0" u="none" strike="noStrike" cap="none">
                <a:solidFill>
                  <a:srgbClr val="1F8A5B"/>
                </a:solidFill>
                <a:latin typeface="Arial"/>
                <a:ea typeface="Arial"/>
                <a:cs typeface="Arial"/>
                <a:sym typeface="Arial"/>
              </a:rPr>
              <a:t>✓  </a:t>
            </a:r>
            <a:r>
              <a:rPr lang="ru-RU" sz="1500" b="0" i="0" u="none" strike="noStrike" cap="none">
                <a:solidFill>
                  <a:srgbClr val="13263A"/>
                </a:solidFill>
                <a:latin typeface="Arial"/>
                <a:ea typeface="Arial"/>
                <a:cs typeface="Arial"/>
                <a:sym typeface="Arial"/>
              </a:rPr>
              <a:t>Mock suggestions, accept / reject, no repeats</a:t>
            </a:r>
            <a:endParaRPr/>
          </a:p>
          <a:p>
            <a:pPr marL="0" marR="0" lvl="0" indent="0" algn="l" rtl="0">
              <a:lnSpc>
                <a:spcPct val="100000"/>
              </a:lnSpc>
              <a:spcBef>
                <a:spcPts val="500"/>
              </a:spcBef>
              <a:spcAft>
                <a:spcPts val="0"/>
              </a:spcAft>
              <a:buNone/>
            </a:pPr>
            <a:r>
              <a:rPr lang="ru-RU" sz="1500" b="1" i="0" u="none" strike="noStrike" cap="none">
                <a:solidFill>
                  <a:srgbClr val="1F8A5B"/>
                </a:solidFill>
                <a:latin typeface="Arial"/>
                <a:ea typeface="Arial"/>
                <a:cs typeface="Arial"/>
                <a:sym typeface="Arial"/>
              </a:rPr>
              <a:t>✓  </a:t>
            </a:r>
            <a:r>
              <a:rPr lang="ru-RU" sz="1500" b="0" i="0" u="none" strike="noStrike" cap="none">
                <a:solidFill>
                  <a:srgbClr val="13263A"/>
                </a:solidFill>
                <a:latin typeface="Arial"/>
                <a:ea typeface="Arial"/>
                <a:cs typeface="Arial"/>
                <a:sym typeface="Arial"/>
              </a:rPr>
              <a:t>Persistence with Alembic migrations (SQLite)</a:t>
            </a:r>
            <a:endParaRPr/>
          </a:p>
          <a:p>
            <a:pPr marL="0" marR="0" lvl="0" indent="0" algn="l" rtl="0">
              <a:lnSpc>
                <a:spcPct val="100000"/>
              </a:lnSpc>
              <a:spcBef>
                <a:spcPts val="500"/>
              </a:spcBef>
              <a:spcAft>
                <a:spcPts val="0"/>
              </a:spcAft>
              <a:buNone/>
            </a:pPr>
            <a:r>
              <a:rPr lang="ru-RU" sz="1500" b="1" i="0" u="none" strike="noStrike" cap="none">
                <a:solidFill>
                  <a:srgbClr val="1F8A5B"/>
                </a:solidFill>
                <a:latin typeface="Arial"/>
                <a:ea typeface="Arial"/>
                <a:cs typeface="Arial"/>
                <a:sym typeface="Arial"/>
              </a:rPr>
              <a:t>✓  </a:t>
            </a:r>
            <a:r>
              <a:rPr lang="ru-RU" sz="1500" b="0" i="0" u="none" strike="noStrike" cap="none">
                <a:solidFill>
                  <a:srgbClr val="13263A"/>
                </a:solidFill>
                <a:latin typeface="Arial"/>
                <a:ea typeface="Arial"/>
                <a:cs typeface="Arial"/>
                <a:sym typeface="Arial"/>
              </a:rPr>
              <a:t>/health and /ready checks; CI on every push</a:t>
            </a:r>
            <a:endParaRPr/>
          </a:p>
        </p:txBody>
      </p:sp>
      <p:sp>
        <p:nvSpPr>
          <p:cNvPr id="107" name="Google Shape;107;p14"/>
          <p:cNvSpPr txBox="1"/>
          <p:nvPr/>
        </p:nvSpPr>
        <p:spPr>
          <a:xfrm>
            <a:off x="6400800" y="3246120"/>
            <a:ext cx="5212080" cy="384048"/>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650" b="1" i="0" u="none" strike="noStrike" cap="none">
                <a:solidFill>
                  <a:srgbClr val="255CF0"/>
                </a:solidFill>
                <a:latin typeface="Arial"/>
                <a:ea typeface="Arial"/>
                <a:cs typeface="Arial"/>
                <a:sym typeface="Arial"/>
              </a:rPr>
              <a:t>NOT YET DONE</a:t>
            </a:r>
            <a:endParaRPr/>
          </a:p>
        </p:txBody>
      </p:sp>
      <p:sp>
        <p:nvSpPr>
          <p:cNvPr id="108" name="Google Shape;108;p14"/>
          <p:cNvSpPr txBox="1"/>
          <p:nvPr/>
        </p:nvSpPr>
        <p:spPr>
          <a:xfrm>
            <a:off x="6400800" y="3657600"/>
            <a:ext cx="5212080" cy="219456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500" b="1" i="0" u="none" strike="noStrike" cap="none">
                <a:solidFill>
                  <a:srgbClr val="255CF0"/>
                </a:solidFill>
                <a:latin typeface="Arial"/>
                <a:ea typeface="Arial"/>
                <a:cs typeface="Arial"/>
                <a:sym typeface="Arial"/>
              </a:rPr>
              <a:t>○  </a:t>
            </a:r>
            <a:r>
              <a:rPr lang="ru-RU" sz="1500" b="0" i="0" u="none" strike="noStrike" cap="none">
                <a:solidFill>
                  <a:srgbClr val="13263A"/>
                </a:solidFill>
                <a:latin typeface="Arial"/>
                <a:ea typeface="Arial"/>
                <a:cs typeface="Arial"/>
                <a:sym typeface="Arial"/>
              </a:rPr>
              <a:t>Real AI provider (mock only, not AI)</a:t>
            </a:r>
            <a:endParaRPr/>
          </a:p>
          <a:p>
            <a:pPr marL="0" marR="0" lvl="0" indent="0" algn="l" rtl="0">
              <a:lnSpc>
                <a:spcPct val="100000"/>
              </a:lnSpc>
              <a:spcBef>
                <a:spcPts val="500"/>
              </a:spcBef>
              <a:spcAft>
                <a:spcPts val="0"/>
              </a:spcAft>
              <a:buNone/>
            </a:pPr>
            <a:r>
              <a:rPr lang="ru-RU" sz="1500" b="1" i="0" u="none" strike="noStrike" cap="none">
                <a:solidFill>
                  <a:srgbClr val="255CF0"/>
                </a:solidFill>
                <a:latin typeface="Arial"/>
                <a:ea typeface="Arial"/>
                <a:cs typeface="Arial"/>
                <a:sym typeface="Arial"/>
              </a:rPr>
              <a:t>○  </a:t>
            </a:r>
            <a:r>
              <a:rPr lang="ru-RU" sz="1500" b="0" i="0" u="none" strike="noStrike" cap="none">
                <a:solidFill>
                  <a:srgbClr val="13263A"/>
                </a:solidFill>
                <a:latin typeface="Arial"/>
                <a:ea typeface="Arial"/>
                <a:cs typeface="Arial"/>
                <a:sym typeface="Arial"/>
              </a:rPr>
              <a:t>Team web frontend (only a demo test page)</a:t>
            </a:r>
            <a:endParaRPr/>
          </a:p>
          <a:p>
            <a:pPr marL="0" marR="0" lvl="0" indent="0" algn="l" rtl="0">
              <a:lnSpc>
                <a:spcPct val="100000"/>
              </a:lnSpc>
              <a:spcBef>
                <a:spcPts val="500"/>
              </a:spcBef>
              <a:spcAft>
                <a:spcPts val="0"/>
              </a:spcAft>
              <a:buNone/>
            </a:pPr>
            <a:r>
              <a:rPr lang="ru-RU" sz="1500" b="1" i="0" u="none" strike="noStrike" cap="none">
                <a:solidFill>
                  <a:srgbClr val="255CF0"/>
                </a:solidFill>
                <a:latin typeface="Arial"/>
                <a:ea typeface="Arial"/>
                <a:cs typeface="Arial"/>
                <a:sym typeface="Arial"/>
              </a:rPr>
              <a:t>○  </a:t>
            </a:r>
            <a:r>
              <a:rPr lang="ru-RU" sz="1500" b="0" i="0" u="none" strike="noStrike" cap="none">
                <a:solidFill>
                  <a:srgbClr val="13263A"/>
                </a:solidFill>
                <a:latin typeface="Arial"/>
                <a:ea typeface="Arial"/>
                <a:cs typeface="Arial"/>
                <a:sym typeface="Arial"/>
              </a:rPr>
              <a:t>Authentication and user ownership</a:t>
            </a:r>
            <a:endParaRPr/>
          </a:p>
          <a:p>
            <a:pPr marL="0" marR="0" lvl="0" indent="0" algn="l" rtl="0">
              <a:lnSpc>
                <a:spcPct val="100000"/>
              </a:lnSpc>
              <a:spcBef>
                <a:spcPts val="500"/>
              </a:spcBef>
              <a:spcAft>
                <a:spcPts val="0"/>
              </a:spcAft>
              <a:buNone/>
            </a:pPr>
            <a:r>
              <a:rPr lang="ru-RU" sz="1500" b="1" i="0" u="none" strike="noStrike" cap="none">
                <a:solidFill>
                  <a:srgbClr val="255CF0"/>
                </a:solidFill>
                <a:latin typeface="Arial"/>
                <a:ea typeface="Arial"/>
                <a:cs typeface="Arial"/>
                <a:sym typeface="Arial"/>
              </a:rPr>
              <a:t>○  </a:t>
            </a:r>
            <a:r>
              <a:rPr lang="ru-RU" sz="1500" b="0" i="0" u="none" strike="noStrike" cap="none">
                <a:solidFill>
                  <a:srgbClr val="13263A"/>
                </a:solidFill>
                <a:latin typeface="Arial"/>
                <a:ea typeface="Arial"/>
                <a:cs typeface="Arial"/>
                <a:sym typeface="Arial"/>
              </a:rPr>
              <a:t>Docker Compose deployment and hosting</a:t>
            </a:r>
            <a:endParaRPr/>
          </a:p>
          <a:p>
            <a:pPr marL="0" marR="0" lvl="0" indent="0" algn="l" rtl="0">
              <a:lnSpc>
                <a:spcPct val="100000"/>
              </a:lnSpc>
              <a:spcBef>
                <a:spcPts val="500"/>
              </a:spcBef>
              <a:spcAft>
                <a:spcPts val="0"/>
              </a:spcAft>
              <a:buNone/>
            </a:pPr>
            <a:r>
              <a:rPr lang="ru-RU" sz="1500" b="1" i="0" u="none" strike="noStrike" cap="none">
                <a:solidFill>
                  <a:srgbClr val="255CF0"/>
                </a:solidFill>
                <a:latin typeface="Arial"/>
                <a:ea typeface="Arial"/>
                <a:cs typeface="Arial"/>
                <a:sym typeface="Arial"/>
              </a:rPr>
              <a:t>○  </a:t>
            </a:r>
            <a:r>
              <a:rPr lang="ru-RU" sz="1500" b="0" i="0" u="none" strike="noStrike" cap="none">
                <a:solidFill>
                  <a:srgbClr val="13263A"/>
                </a:solidFill>
                <a:latin typeface="Arial"/>
                <a:ea typeface="Arial"/>
                <a:cs typeface="Arial"/>
                <a:sym typeface="Arial"/>
              </a:rPr>
              <a:t>Live PostgreSQL and Windows verification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4F0"/>
        </a:solidFill>
        <a:effectLst/>
      </p:bgPr>
    </p:bg>
    <p:spTree>
      <p:nvGrpSpPr>
        <p:cNvPr id="1" name="Shape 113"/>
        <p:cNvGrpSpPr/>
        <p:nvPr/>
      </p:nvGrpSpPr>
      <p:grpSpPr>
        <a:xfrm>
          <a:off x="0" y="0"/>
          <a:ext cx="0" cy="0"/>
          <a:chOff x="0" y="0"/>
          <a:chExt cx="0" cy="0"/>
        </a:xfrm>
      </p:grpSpPr>
      <p:sp>
        <p:nvSpPr>
          <p:cNvPr id="114" name="Google Shape;114;p15"/>
          <p:cNvSpPr txBox="1"/>
          <p:nvPr/>
        </p:nvSpPr>
        <p:spPr>
          <a:xfrm>
            <a:off x="612648" y="457200"/>
            <a:ext cx="10954512" cy="758952"/>
          </a:xfrm>
          <a:prstGeom prst="rect">
            <a:avLst/>
          </a:prstGeom>
          <a:noFill/>
          <a:ln>
            <a:noFill/>
          </a:ln>
        </p:spPr>
        <p:txBody>
          <a:bodyPr spcFirstLastPara="1" wrap="square" lIns="45700" tIns="27425" rIns="45700" bIns="27425" anchor="ctr" anchorCtr="0">
            <a:spAutoFit/>
          </a:bodyPr>
          <a:lstStyle/>
          <a:p>
            <a:pPr marL="0" marR="0" lvl="0" indent="0" algn="l" rtl="0">
              <a:lnSpc>
                <a:spcPct val="100000"/>
              </a:lnSpc>
              <a:spcBef>
                <a:spcPts val="0"/>
              </a:spcBef>
              <a:spcAft>
                <a:spcPts val="0"/>
              </a:spcAft>
              <a:buNone/>
            </a:pPr>
            <a:r>
              <a:rPr lang="ru-RU" sz="3300" b="1" i="0" u="none" strike="noStrike" cap="none">
                <a:solidFill>
                  <a:srgbClr val="13263A"/>
                </a:solidFill>
                <a:latin typeface="Arial"/>
                <a:ea typeface="Arial"/>
                <a:cs typeface="Arial"/>
                <a:sym typeface="Arial"/>
              </a:rPr>
              <a:t>45 requirements in six areas</a:t>
            </a:r>
            <a:endParaRPr/>
          </a:p>
        </p:txBody>
      </p:sp>
      <p:sp>
        <p:nvSpPr>
          <p:cNvPr id="115" name="Google Shape;115;p15"/>
          <p:cNvSpPr txBox="1"/>
          <p:nvPr/>
        </p:nvSpPr>
        <p:spPr>
          <a:xfrm>
            <a:off x="11045952" y="6245352"/>
            <a:ext cx="530352" cy="283464"/>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350" b="0" i="0" u="none" strike="noStrike" cap="none">
                <a:solidFill>
                  <a:srgbClr val="647080"/>
                </a:solidFill>
                <a:latin typeface="Arial"/>
                <a:ea typeface="Arial"/>
                <a:cs typeface="Arial"/>
                <a:sym typeface="Arial"/>
              </a:rPr>
              <a:t>05</a:t>
            </a:r>
            <a:endParaRPr/>
          </a:p>
        </p:txBody>
      </p:sp>
      <p:sp>
        <p:nvSpPr>
          <p:cNvPr id="116" name="Google Shape;116;p15"/>
          <p:cNvSpPr txBox="1"/>
          <p:nvPr/>
        </p:nvSpPr>
        <p:spPr>
          <a:xfrm>
            <a:off x="630936" y="1216152"/>
            <a:ext cx="10570464" cy="41148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800" b="0" i="0" u="none" strike="noStrike" cap="none">
                <a:solidFill>
                  <a:srgbClr val="647080"/>
                </a:solidFill>
                <a:latin typeface="Arial"/>
                <a:ea typeface="Arial"/>
                <a:cs typeface="Arial"/>
                <a:sym typeface="Arial"/>
              </a:rPr>
              <a:t>01  Technical progress  ·  classification and current status (SRS 3 and 4)</a:t>
            </a:r>
            <a:endParaRPr/>
          </a:p>
        </p:txBody>
      </p:sp>
      <p:graphicFrame>
        <p:nvGraphicFramePr>
          <p:cNvPr id="117" name="Google Shape;117;p15"/>
          <p:cNvGraphicFramePr/>
          <p:nvPr/>
        </p:nvGraphicFramePr>
        <p:xfrm>
          <a:off x="457200" y="1737360"/>
          <a:ext cx="7589520" cy="4343400"/>
        </p:xfrm>
        <a:graphic>
          <a:graphicData uri="http://schemas.openxmlformats.org/drawingml/2006/chart">
            <c:chart xmlns:c="http://schemas.openxmlformats.org/drawingml/2006/chart" xmlns:r="http://schemas.openxmlformats.org/officeDocument/2006/relationships" r:id="rId3"/>
          </a:graphicData>
        </a:graphic>
      </p:graphicFrame>
      <p:sp>
        <p:nvSpPr>
          <p:cNvPr id="118" name="Google Shape;118;p15"/>
          <p:cNvSpPr txBox="1"/>
          <p:nvPr/>
        </p:nvSpPr>
        <p:spPr>
          <a:xfrm>
            <a:off x="8503920" y="1828800"/>
            <a:ext cx="1280160" cy="68580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3600" b="1" i="0" u="none" strike="noStrike" cap="none">
                <a:solidFill>
                  <a:srgbClr val="1F8A5B"/>
                </a:solidFill>
                <a:latin typeface="Arial"/>
                <a:ea typeface="Arial"/>
                <a:cs typeface="Arial"/>
                <a:sym typeface="Arial"/>
              </a:rPr>
              <a:t>19</a:t>
            </a:r>
            <a:endParaRPr/>
          </a:p>
        </p:txBody>
      </p:sp>
      <p:sp>
        <p:nvSpPr>
          <p:cNvPr id="119" name="Google Shape;119;p15"/>
          <p:cNvSpPr txBox="1"/>
          <p:nvPr/>
        </p:nvSpPr>
        <p:spPr>
          <a:xfrm>
            <a:off x="9692640" y="1993392"/>
            <a:ext cx="1920240" cy="45720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400" b="0" i="0" u="none" strike="noStrike" cap="none">
                <a:solidFill>
                  <a:srgbClr val="647080"/>
                </a:solidFill>
                <a:latin typeface="Arial"/>
                <a:ea typeface="Arial"/>
                <a:cs typeface="Arial"/>
                <a:sym typeface="Arial"/>
              </a:rPr>
              <a:t>passed</a:t>
            </a:r>
            <a:endParaRPr/>
          </a:p>
        </p:txBody>
      </p:sp>
      <p:sp>
        <p:nvSpPr>
          <p:cNvPr id="120" name="Google Shape;120;p15"/>
          <p:cNvSpPr txBox="1"/>
          <p:nvPr/>
        </p:nvSpPr>
        <p:spPr>
          <a:xfrm>
            <a:off x="8503920" y="2834640"/>
            <a:ext cx="1280160" cy="68580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3600" b="1" i="0" u="none" strike="noStrike" cap="none">
                <a:solidFill>
                  <a:srgbClr val="255CF0"/>
                </a:solidFill>
                <a:latin typeface="Arial"/>
                <a:ea typeface="Arial"/>
                <a:cs typeface="Arial"/>
                <a:sym typeface="Arial"/>
              </a:rPr>
              <a:t>8</a:t>
            </a:r>
            <a:endParaRPr/>
          </a:p>
        </p:txBody>
      </p:sp>
      <p:sp>
        <p:nvSpPr>
          <p:cNvPr id="121" name="Google Shape;121;p15"/>
          <p:cNvSpPr txBox="1"/>
          <p:nvPr/>
        </p:nvSpPr>
        <p:spPr>
          <a:xfrm>
            <a:off x="9692640" y="2999232"/>
            <a:ext cx="1920240" cy="45720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400" b="0" i="0" u="none" strike="noStrike" cap="none">
                <a:solidFill>
                  <a:srgbClr val="647080"/>
                </a:solidFill>
                <a:latin typeface="Arial"/>
                <a:ea typeface="Arial"/>
                <a:cs typeface="Arial"/>
                <a:sym typeface="Arial"/>
              </a:rPr>
              <a:t>in progress</a:t>
            </a:r>
            <a:endParaRPr/>
          </a:p>
        </p:txBody>
      </p:sp>
      <p:sp>
        <p:nvSpPr>
          <p:cNvPr id="122" name="Google Shape;122;p15"/>
          <p:cNvSpPr txBox="1"/>
          <p:nvPr/>
        </p:nvSpPr>
        <p:spPr>
          <a:xfrm>
            <a:off x="8503920" y="3840480"/>
            <a:ext cx="1280160" cy="68580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3600" b="1" i="0" u="none" strike="noStrike" cap="none">
                <a:solidFill>
                  <a:srgbClr val="647080"/>
                </a:solidFill>
                <a:latin typeface="Arial"/>
                <a:ea typeface="Arial"/>
                <a:cs typeface="Arial"/>
                <a:sym typeface="Arial"/>
              </a:rPr>
              <a:t>6</a:t>
            </a:r>
            <a:endParaRPr/>
          </a:p>
        </p:txBody>
      </p:sp>
      <p:sp>
        <p:nvSpPr>
          <p:cNvPr id="123" name="Google Shape;123;p15"/>
          <p:cNvSpPr txBox="1"/>
          <p:nvPr/>
        </p:nvSpPr>
        <p:spPr>
          <a:xfrm>
            <a:off x="9692640" y="4005072"/>
            <a:ext cx="1920240" cy="45720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400" b="0" i="0" u="none" strike="noStrike" cap="none">
                <a:solidFill>
                  <a:srgbClr val="647080"/>
                </a:solidFill>
                <a:latin typeface="Arial"/>
                <a:ea typeface="Arial"/>
                <a:cs typeface="Arial"/>
                <a:sym typeface="Arial"/>
              </a:rPr>
              <a:t>manual check not run</a:t>
            </a:r>
            <a:endParaRPr/>
          </a:p>
        </p:txBody>
      </p:sp>
      <p:sp>
        <p:nvSpPr>
          <p:cNvPr id="124" name="Google Shape;124;p15"/>
          <p:cNvSpPr txBox="1"/>
          <p:nvPr/>
        </p:nvSpPr>
        <p:spPr>
          <a:xfrm>
            <a:off x="8503920" y="4846320"/>
            <a:ext cx="1280160" cy="68580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3600" b="1" i="0" u="none" strike="noStrike" cap="none">
                <a:solidFill>
                  <a:srgbClr val="13263A"/>
                </a:solidFill>
                <a:latin typeface="Arial"/>
                <a:ea typeface="Arial"/>
                <a:cs typeface="Arial"/>
                <a:sym typeface="Arial"/>
              </a:rPr>
              <a:t>12</a:t>
            </a:r>
            <a:endParaRPr/>
          </a:p>
        </p:txBody>
      </p:sp>
      <p:sp>
        <p:nvSpPr>
          <p:cNvPr id="125" name="Google Shape;125;p15"/>
          <p:cNvSpPr txBox="1"/>
          <p:nvPr/>
        </p:nvSpPr>
        <p:spPr>
          <a:xfrm>
            <a:off x="9692640" y="5010912"/>
            <a:ext cx="1920240" cy="45720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400" b="0" i="0" u="none" strike="noStrike" cap="none">
                <a:solidFill>
                  <a:srgbClr val="647080"/>
                </a:solidFill>
                <a:latin typeface="Arial"/>
                <a:ea typeface="Arial"/>
                <a:cs typeface="Arial"/>
                <a:sym typeface="Arial"/>
              </a:rPr>
              <a:t>not started</a:t>
            </a:r>
            <a:endParaRPr/>
          </a:p>
        </p:txBody>
      </p:sp>
      <p:sp>
        <p:nvSpPr>
          <p:cNvPr id="126" name="Google Shape;126;p15"/>
          <p:cNvSpPr txBox="1"/>
          <p:nvPr/>
        </p:nvSpPr>
        <p:spPr>
          <a:xfrm>
            <a:off x="8503920" y="5852160"/>
            <a:ext cx="3108960" cy="27432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100" b="0" i="0" u="none" strike="noStrike" cap="none">
                <a:solidFill>
                  <a:srgbClr val="647080"/>
                </a:solidFill>
                <a:latin typeface="Arial"/>
                <a:ea typeface="Arial"/>
                <a:cs typeface="Arial"/>
                <a:sym typeface="Arial"/>
              </a:rPr>
              <a:t>Source: SRS 4, Verification table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4F0"/>
        </a:solidFill>
        <a:effectLst/>
      </p:bgPr>
    </p:bg>
    <p:spTree>
      <p:nvGrpSpPr>
        <p:cNvPr id="1" name="Shape 131"/>
        <p:cNvGrpSpPr/>
        <p:nvPr/>
      </p:nvGrpSpPr>
      <p:grpSpPr>
        <a:xfrm>
          <a:off x="0" y="0"/>
          <a:ext cx="0" cy="0"/>
          <a:chOff x="0" y="0"/>
          <a:chExt cx="0" cy="0"/>
        </a:xfrm>
      </p:grpSpPr>
      <p:sp>
        <p:nvSpPr>
          <p:cNvPr id="132" name="Google Shape;132;p17"/>
          <p:cNvSpPr txBox="1"/>
          <p:nvPr/>
        </p:nvSpPr>
        <p:spPr>
          <a:xfrm>
            <a:off x="612648" y="457200"/>
            <a:ext cx="10954512" cy="758952"/>
          </a:xfrm>
          <a:prstGeom prst="rect">
            <a:avLst/>
          </a:prstGeom>
          <a:noFill/>
          <a:ln>
            <a:noFill/>
          </a:ln>
        </p:spPr>
        <p:txBody>
          <a:bodyPr spcFirstLastPara="1" wrap="square" lIns="45700" tIns="27425" rIns="45700" bIns="27425" anchor="ctr" anchorCtr="0">
            <a:spAutoFit/>
          </a:bodyPr>
          <a:lstStyle/>
          <a:p>
            <a:pPr marL="0" marR="0" lvl="0" indent="0" algn="l" rtl="0">
              <a:lnSpc>
                <a:spcPct val="100000"/>
              </a:lnSpc>
              <a:spcBef>
                <a:spcPts val="0"/>
              </a:spcBef>
              <a:spcAft>
                <a:spcPts val="0"/>
              </a:spcAft>
              <a:buNone/>
            </a:pPr>
            <a:r>
              <a:rPr lang="ru-RU" sz="3300" b="1" i="0" u="none" strike="noStrike" cap="none">
                <a:solidFill>
                  <a:srgbClr val="13263A"/>
                </a:solidFill>
                <a:latin typeface="Arial"/>
                <a:ea typeface="Arial"/>
                <a:cs typeface="Arial"/>
                <a:sym typeface="Arial"/>
              </a:rPr>
              <a:t>Assignment 1: SRS completed so far</a:t>
            </a:r>
            <a:endParaRPr/>
          </a:p>
        </p:txBody>
      </p:sp>
      <p:sp>
        <p:nvSpPr>
          <p:cNvPr id="133" name="Google Shape;133;p17"/>
          <p:cNvSpPr txBox="1"/>
          <p:nvPr/>
        </p:nvSpPr>
        <p:spPr>
          <a:xfrm>
            <a:off x="11045952" y="6245352"/>
            <a:ext cx="530352" cy="283464"/>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350" b="0" i="0" u="none" strike="noStrike" cap="none">
                <a:solidFill>
                  <a:srgbClr val="647080"/>
                </a:solidFill>
                <a:latin typeface="Arial"/>
                <a:ea typeface="Arial"/>
                <a:cs typeface="Arial"/>
                <a:sym typeface="Arial"/>
              </a:rPr>
              <a:t>06</a:t>
            </a:r>
            <a:endParaRPr/>
          </a:p>
        </p:txBody>
      </p:sp>
      <p:sp>
        <p:nvSpPr>
          <p:cNvPr id="134" name="Google Shape;134;p17"/>
          <p:cNvSpPr txBox="1"/>
          <p:nvPr/>
        </p:nvSpPr>
        <p:spPr>
          <a:xfrm>
            <a:off x="630936" y="1216152"/>
            <a:ext cx="10570464" cy="41148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800" b="0" i="0" u="none" strike="noStrike" cap="none">
                <a:solidFill>
                  <a:srgbClr val="647080"/>
                </a:solidFill>
                <a:latin typeface="Arial"/>
                <a:ea typeface="Arial"/>
                <a:cs typeface="Arial"/>
                <a:sym typeface="Arial"/>
              </a:rPr>
              <a:t>02  Experimental progress  ·  docs/requirements/SRS.md (IEEE template)</a:t>
            </a:r>
            <a:endParaRPr/>
          </a:p>
        </p:txBody>
      </p:sp>
      <p:sp>
        <p:nvSpPr>
          <p:cNvPr id="135" name="Google Shape;135;p17"/>
          <p:cNvSpPr txBox="1"/>
          <p:nvPr/>
        </p:nvSpPr>
        <p:spPr>
          <a:xfrm>
            <a:off x="630936" y="1783080"/>
            <a:ext cx="6675120" cy="384048"/>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650" b="1" i="0" u="none" strike="noStrike" cap="none">
                <a:solidFill>
                  <a:srgbClr val="255CF0"/>
                </a:solidFill>
                <a:latin typeface="Arial"/>
                <a:ea typeface="Arial"/>
                <a:cs typeface="Arial"/>
                <a:sym typeface="Arial"/>
              </a:rPr>
              <a:t>SECTIONS DRAFTED</a:t>
            </a:r>
            <a:endParaRPr/>
          </a:p>
        </p:txBody>
      </p:sp>
      <p:sp>
        <p:nvSpPr>
          <p:cNvPr id="136" name="Google Shape;136;p17"/>
          <p:cNvSpPr/>
          <p:nvPr/>
        </p:nvSpPr>
        <p:spPr>
          <a:xfrm>
            <a:off x="630936" y="2240280"/>
            <a:ext cx="457200" cy="457200"/>
          </a:xfrm>
          <a:prstGeom prst="ellipse">
            <a:avLst/>
          </a:prstGeom>
          <a:solidFill>
            <a:srgbClr val="1F8A5B"/>
          </a:solidFill>
          <a:ln>
            <a:noFill/>
          </a:ln>
        </p:spPr>
        <p:txBody>
          <a:bodyPr spcFirstLastPara="1" wrap="square" lIns="109725" tIns="54850" rIns="109725" bIns="54850" anchor="ctr" anchorCtr="0">
            <a:noAutofit/>
          </a:bodyPr>
          <a:lstStyle/>
          <a:p>
            <a:pPr marL="0" marR="0" lvl="0" indent="0" algn="ctr" rtl="0">
              <a:lnSpc>
                <a:spcPct val="100000"/>
              </a:lnSpc>
              <a:spcBef>
                <a:spcPts val="0"/>
              </a:spcBef>
              <a:spcAft>
                <a:spcPts val="0"/>
              </a:spcAft>
              <a:buNone/>
            </a:pPr>
            <a:r>
              <a:rPr lang="ru-RU" sz="1400" b="1" i="0" u="none" strike="noStrike" cap="none">
                <a:solidFill>
                  <a:srgbClr val="FFFFFF"/>
                </a:solidFill>
                <a:latin typeface="Arial"/>
                <a:ea typeface="Arial"/>
                <a:cs typeface="Arial"/>
                <a:sym typeface="Arial"/>
              </a:rPr>
              <a:t>✓</a:t>
            </a:r>
            <a:endParaRPr/>
          </a:p>
        </p:txBody>
      </p:sp>
      <p:sp>
        <p:nvSpPr>
          <p:cNvPr id="137" name="Google Shape;137;p17"/>
          <p:cNvSpPr txBox="1"/>
          <p:nvPr/>
        </p:nvSpPr>
        <p:spPr>
          <a:xfrm>
            <a:off x="1234440" y="2194560"/>
            <a:ext cx="6035040" cy="59436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500" b="1" i="0" u="none" strike="noStrike" cap="none">
                <a:solidFill>
                  <a:srgbClr val="13263A"/>
                </a:solidFill>
                <a:latin typeface="Arial"/>
                <a:ea typeface="Arial"/>
                <a:cs typeface="Arial"/>
                <a:sym typeface="Arial"/>
              </a:rPr>
              <a:t>1. Introduction</a:t>
            </a:r>
            <a:endParaRPr/>
          </a:p>
          <a:p>
            <a:pPr marL="0" marR="0" lvl="0" indent="0" algn="l" rtl="0">
              <a:lnSpc>
                <a:spcPct val="100000"/>
              </a:lnSpc>
              <a:spcBef>
                <a:spcPts val="0"/>
              </a:spcBef>
              <a:spcAft>
                <a:spcPts val="0"/>
              </a:spcAft>
              <a:buNone/>
            </a:pPr>
            <a:r>
              <a:rPr lang="ru-RU" sz="1250" b="0" i="0" u="none" strike="noStrike" cap="none">
                <a:solidFill>
                  <a:srgbClr val="647080"/>
                </a:solidFill>
                <a:latin typeface="Arial"/>
                <a:ea typeface="Arial"/>
                <a:cs typeface="Arial"/>
                <a:sym typeface="Arial"/>
              </a:rPr>
              <a:t>purpose, scope, glossary, references</a:t>
            </a:r>
            <a:endParaRPr/>
          </a:p>
        </p:txBody>
      </p:sp>
      <p:sp>
        <p:nvSpPr>
          <p:cNvPr id="138" name="Google Shape;138;p17"/>
          <p:cNvSpPr/>
          <p:nvPr/>
        </p:nvSpPr>
        <p:spPr>
          <a:xfrm>
            <a:off x="630936" y="2926080"/>
            <a:ext cx="457200" cy="457200"/>
          </a:xfrm>
          <a:prstGeom prst="ellipse">
            <a:avLst/>
          </a:prstGeom>
          <a:solidFill>
            <a:srgbClr val="1F8A5B"/>
          </a:solidFill>
          <a:ln>
            <a:noFill/>
          </a:ln>
        </p:spPr>
        <p:txBody>
          <a:bodyPr spcFirstLastPara="1" wrap="square" lIns="109725" tIns="54850" rIns="109725" bIns="54850" anchor="ctr" anchorCtr="0">
            <a:noAutofit/>
          </a:bodyPr>
          <a:lstStyle/>
          <a:p>
            <a:pPr marL="0" marR="0" lvl="0" indent="0" algn="ctr" rtl="0">
              <a:lnSpc>
                <a:spcPct val="100000"/>
              </a:lnSpc>
              <a:spcBef>
                <a:spcPts val="0"/>
              </a:spcBef>
              <a:spcAft>
                <a:spcPts val="0"/>
              </a:spcAft>
              <a:buNone/>
            </a:pPr>
            <a:r>
              <a:rPr lang="ru-RU" sz="1400" b="1" i="0" u="none" strike="noStrike" cap="none">
                <a:solidFill>
                  <a:srgbClr val="FFFFFF"/>
                </a:solidFill>
                <a:latin typeface="Arial"/>
                <a:ea typeface="Arial"/>
                <a:cs typeface="Arial"/>
                <a:sym typeface="Arial"/>
              </a:rPr>
              <a:t>✓</a:t>
            </a:r>
            <a:endParaRPr/>
          </a:p>
        </p:txBody>
      </p:sp>
      <p:sp>
        <p:nvSpPr>
          <p:cNvPr id="139" name="Google Shape;139;p17"/>
          <p:cNvSpPr txBox="1"/>
          <p:nvPr/>
        </p:nvSpPr>
        <p:spPr>
          <a:xfrm>
            <a:off x="1234440" y="2880360"/>
            <a:ext cx="6035040" cy="59436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500" b="1" i="0" u="none" strike="noStrike" cap="none">
                <a:solidFill>
                  <a:srgbClr val="13263A"/>
                </a:solidFill>
                <a:latin typeface="Arial"/>
                <a:ea typeface="Arial"/>
                <a:cs typeface="Arial"/>
                <a:sym typeface="Arial"/>
              </a:rPr>
              <a:t>2. Product overview</a:t>
            </a:r>
            <a:endParaRPr/>
          </a:p>
          <a:p>
            <a:pPr marL="0" marR="0" lvl="0" indent="0" algn="l" rtl="0">
              <a:lnSpc>
                <a:spcPct val="100000"/>
              </a:lnSpc>
              <a:spcBef>
                <a:spcPts val="0"/>
              </a:spcBef>
              <a:spcAft>
                <a:spcPts val="0"/>
              </a:spcAft>
              <a:buNone/>
            </a:pPr>
            <a:r>
              <a:rPr lang="ru-RU" sz="1250" b="0" i="0" u="none" strike="noStrike" cap="none">
                <a:solidFill>
                  <a:srgbClr val="647080"/>
                </a:solidFill>
                <a:latin typeface="Arial"/>
                <a:ea typeface="Arial"/>
                <a:cs typeface="Arial"/>
                <a:sym typeface="Arial"/>
              </a:rPr>
              <a:t>context diagram, 9 constraints, 6 assumptions, apportioning</a:t>
            </a:r>
            <a:endParaRPr/>
          </a:p>
        </p:txBody>
      </p:sp>
      <p:sp>
        <p:nvSpPr>
          <p:cNvPr id="140" name="Google Shape;140;p17"/>
          <p:cNvSpPr/>
          <p:nvPr/>
        </p:nvSpPr>
        <p:spPr>
          <a:xfrm>
            <a:off x="630936" y="3611880"/>
            <a:ext cx="457200" cy="457200"/>
          </a:xfrm>
          <a:prstGeom prst="ellipse">
            <a:avLst/>
          </a:prstGeom>
          <a:solidFill>
            <a:srgbClr val="1F8A5B"/>
          </a:solidFill>
          <a:ln>
            <a:noFill/>
          </a:ln>
        </p:spPr>
        <p:txBody>
          <a:bodyPr spcFirstLastPara="1" wrap="square" lIns="109725" tIns="54850" rIns="109725" bIns="54850" anchor="ctr" anchorCtr="0">
            <a:noAutofit/>
          </a:bodyPr>
          <a:lstStyle/>
          <a:p>
            <a:pPr marL="0" marR="0" lvl="0" indent="0" algn="ctr" rtl="0">
              <a:lnSpc>
                <a:spcPct val="100000"/>
              </a:lnSpc>
              <a:spcBef>
                <a:spcPts val="0"/>
              </a:spcBef>
              <a:spcAft>
                <a:spcPts val="0"/>
              </a:spcAft>
              <a:buNone/>
            </a:pPr>
            <a:r>
              <a:rPr lang="ru-RU" sz="1400" b="1" i="0" u="none" strike="noStrike" cap="none">
                <a:solidFill>
                  <a:srgbClr val="FFFFFF"/>
                </a:solidFill>
                <a:latin typeface="Arial"/>
                <a:ea typeface="Arial"/>
                <a:cs typeface="Arial"/>
                <a:sym typeface="Arial"/>
              </a:rPr>
              <a:t>✓</a:t>
            </a:r>
            <a:endParaRPr/>
          </a:p>
        </p:txBody>
      </p:sp>
      <p:sp>
        <p:nvSpPr>
          <p:cNvPr id="141" name="Google Shape;141;p17"/>
          <p:cNvSpPr txBox="1"/>
          <p:nvPr/>
        </p:nvSpPr>
        <p:spPr>
          <a:xfrm>
            <a:off x="1234440" y="3566160"/>
            <a:ext cx="6035040" cy="59436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500" b="1" i="0" u="none" strike="noStrike" cap="none">
                <a:solidFill>
                  <a:srgbClr val="13263A"/>
                </a:solidFill>
                <a:latin typeface="Arial"/>
                <a:ea typeface="Arial"/>
                <a:cs typeface="Arial"/>
                <a:sym typeface="Arial"/>
              </a:rPr>
              <a:t>3. Requirements</a:t>
            </a:r>
            <a:endParaRPr/>
          </a:p>
          <a:p>
            <a:pPr marL="0" marR="0" lvl="0" indent="0" algn="l" rtl="0">
              <a:lnSpc>
                <a:spcPct val="100000"/>
              </a:lnSpc>
              <a:spcBef>
                <a:spcPts val="0"/>
              </a:spcBef>
              <a:spcAft>
                <a:spcPts val="0"/>
              </a:spcAft>
              <a:buNone/>
            </a:pPr>
            <a:r>
              <a:rPr lang="ru-RU" sz="1250" b="0" i="0" u="none" strike="noStrike" cap="none">
                <a:solidFill>
                  <a:srgbClr val="647080"/>
                </a:solidFill>
                <a:latin typeface="Arial"/>
                <a:ea typeface="Arial"/>
                <a:cs typeface="Arial"/>
                <a:sym typeface="Arial"/>
              </a:rPr>
              <a:t>45 IDs: interfaces, functional, QoS, compliance, design, AI/ML</a:t>
            </a:r>
            <a:endParaRPr/>
          </a:p>
        </p:txBody>
      </p:sp>
      <p:sp>
        <p:nvSpPr>
          <p:cNvPr id="142" name="Google Shape;142;p17"/>
          <p:cNvSpPr/>
          <p:nvPr/>
        </p:nvSpPr>
        <p:spPr>
          <a:xfrm>
            <a:off x="630936" y="4297680"/>
            <a:ext cx="457200" cy="457200"/>
          </a:xfrm>
          <a:prstGeom prst="ellipse">
            <a:avLst/>
          </a:prstGeom>
          <a:solidFill>
            <a:srgbClr val="1F8A5B"/>
          </a:solidFill>
          <a:ln>
            <a:noFill/>
          </a:ln>
        </p:spPr>
        <p:txBody>
          <a:bodyPr spcFirstLastPara="1" wrap="square" lIns="109725" tIns="54850" rIns="109725" bIns="54850" anchor="ctr" anchorCtr="0">
            <a:noAutofit/>
          </a:bodyPr>
          <a:lstStyle/>
          <a:p>
            <a:pPr marL="0" marR="0" lvl="0" indent="0" algn="ctr" rtl="0">
              <a:lnSpc>
                <a:spcPct val="100000"/>
              </a:lnSpc>
              <a:spcBef>
                <a:spcPts val="0"/>
              </a:spcBef>
              <a:spcAft>
                <a:spcPts val="0"/>
              </a:spcAft>
              <a:buNone/>
            </a:pPr>
            <a:r>
              <a:rPr lang="ru-RU" sz="1400" b="1" i="0" u="none" strike="noStrike" cap="none">
                <a:solidFill>
                  <a:srgbClr val="FFFFFF"/>
                </a:solidFill>
                <a:latin typeface="Arial"/>
                <a:ea typeface="Arial"/>
                <a:cs typeface="Arial"/>
                <a:sym typeface="Arial"/>
              </a:rPr>
              <a:t>✓</a:t>
            </a:r>
            <a:endParaRPr/>
          </a:p>
        </p:txBody>
      </p:sp>
      <p:sp>
        <p:nvSpPr>
          <p:cNvPr id="143" name="Google Shape;143;p17"/>
          <p:cNvSpPr txBox="1"/>
          <p:nvPr/>
        </p:nvSpPr>
        <p:spPr>
          <a:xfrm>
            <a:off x="1234440" y="4251960"/>
            <a:ext cx="6035040" cy="59436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500" b="1" i="0" u="none" strike="noStrike" cap="none">
                <a:solidFill>
                  <a:srgbClr val="13263A"/>
                </a:solidFill>
                <a:latin typeface="Arial"/>
                <a:ea typeface="Arial"/>
                <a:cs typeface="Arial"/>
                <a:sym typeface="Arial"/>
              </a:rPr>
              <a:t>4. Verification</a:t>
            </a:r>
            <a:endParaRPr/>
          </a:p>
          <a:p>
            <a:pPr marL="0" marR="0" lvl="0" indent="0" algn="l" rtl="0">
              <a:lnSpc>
                <a:spcPct val="100000"/>
              </a:lnSpc>
              <a:spcBef>
                <a:spcPts val="0"/>
              </a:spcBef>
              <a:spcAft>
                <a:spcPts val="0"/>
              </a:spcAft>
              <a:buNone/>
            </a:pPr>
            <a:r>
              <a:rPr lang="ru-RU" sz="1250" b="0" i="0" u="none" strike="noStrike" cap="none">
                <a:solidFill>
                  <a:srgbClr val="647080"/>
                </a:solidFill>
                <a:latin typeface="Arial"/>
                <a:ea typeface="Arial"/>
                <a:cs typeface="Arial"/>
                <a:sym typeface="Arial"/>
              </a:rPr>
              <a:t>method, test link and status for each requirement</a:t>
            </a:r>
            <a:endParaRPr/>
          </a:p>
        </p:txBody>
      </p:sp>
      <p:sp>
        <p:nvSpPr>
          <p:cNvPr id="144" name="Google Shape;144;p17"/>
          <p:cNvSpPr/>
          <p:nvPr/>
        </p:nvSpPr>
        <p:spPr>
          <a:xfrm>
            <a:off x="630936" y="4983480"/>
            <a:ext cx="457200" cy="457200"/>
          </a:xfrm>
          <a:prstGeom prst="ellipse">
            <a:avLst/>
          </a:prstGeom>
          <a:solidFill>
            <a:srgbClr val="1F8A5B"/>
          </a:solidFill>
          <a:ln>
            <a:noFill/>
          </a:ln>
        </p:spPr>
        <p:txBody>
          <a:bodyPr spcFirstLastPara="1" wrap="square" lIns="109725" tIns="54850" rIns="109725" bIns="54850" anchor="ctr" anchorCtr="0">
            <a:noAutofit/>
          </a:bodyPr>
          <a:lstStyle/>
          <a:p>
            <a:pPr marL="0" marR="0" lvl="0" indent="0" algn="ctr" rtl="0">
              <a:lnSpc>
                <a:spcPct val="100000"/>
              </a:lnSpc>
              <a:spcBef>
                <a:spcPts val="0"/>
              </a:spcBef>
              <a:spcAft>
                <a:spcPts val="0"/>
              </a:spcAft>
              <a:buNone/>
            </a:pPr>
            <a:r>
              <a:rPr lang="ru-RU" sz="1400" b="1" i="0" u="none" strike="noStrike" cap="none">
                <a:solidFill>
                  <a:srgbClr val="FFFFFF"/>
                </a:solidFill>
                <a:latin typeface="Arial"/>
                <a:ea typeface="Arial"/>
                <a:cs typeface="Arial"/>
                <a:sym typeface="Arial"/>
              </a:rPr>
              <a:t>✓</a:t>
            </a:r>
            <a:endParaRPr/>
          </a:p>
        </p:txBody>
      </p:sp>
      <p:sp>
        <p:nvSpPr>
          <p:cNvPr id="145" name="Google Shape;145;p17"/>
          <p:cNvSpPr txBox="1"/>
          <p:nvPr/>
        </p:nvSpPr>
        <p:spPr>
          <a:xfrm>
            <a:off x="1234440" y="4937760"/>
            <a:ext cx="6035040" cy="59436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500" b="1" i="0" u="none" strike="noStrike" cap="none">
                <a:solidFill>
                  <a:srgbClr val="13263A"/>
                </a:solidFill>
                <a:latin typeface="Arial"/>
                <a:ea typeface="Arial"/>
                <a:cs typeface="Arial"/>
                <a:sym typeface="Arial"/>
              </a:rPr>
              <a:t>5. Appendixes</a:t>
            </a:r>
            <a:endParaRPr/>
          </a:p>
          <a:p>
            <a:pPr marL="0" marR="0" lvl="0" indent="0" algn="l" rtl="0">
              <a:lnSpc>
                <a:spcPct val="100000"/>
              </a:lnSpc>
              <a:spcBef>
                <a:spcPts val="0"/>
              </a:spcBef>
              <a:spcAft>
                <a:spcPts val="0"/>
              </a:spcAft>
              <a:buNone/>
            </a:pPr>
            <a:r>
              <a:rPr lang="ru-RU" sz="1250" b="0" i="0" u="none" strike="noStrike" cap="none">
                <a:solidFill>
                  <a:srgbClr val="647080"/>
                </a:solidFill>
                <a:latin typeface="Arial"/>
                <a:ea typeface="Arial"/>
                <a:cs typeface="Arial"/>
                <a:sym typeface="Arial"/>
              </a:rPr>
              <a:t>example scenario, 10 open issues, data model</a:t>
            </a:r>
            <a:endParaRPr/>
          </a:p>
        </p:txBody>
      </p:sp>
      <p:sp>
        <p:nvSpPr>
          <p:cNvPr id="146" name="Google Shape;146;p17"/>
          <p:cNvSpPr txBox="1"/>
          <p:nvPr/>
        </p:nvSpPr>
        <p:spPr>
          <a:xfrm>
            <a:off x="7680960" y="1783080"/>
            <a:ext cx="3931920" cy="384048"/>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650" b="1" i="0" u="none" strike="noStrike" cap="none">
                <a:solidFill>
                  <a:srgbClr val="255CF0"/>
                </a:solidFill>
                <a:latin typeface="Arial"/>
                <a:ea typeface="Arial"/>
                <a:cs typeface="Arial"/>
                <a:sym typeface="Arial"/>
              </a:rPr>
              <a:t>VERSION HISTORY</a:t>
            </a:r>
            <a:endParaRPr/>
          </a:p>
        </p:txBody>
      </p:sp>
      <p:sp>
        <p:nvSpPr>
          <p:cNvPr id="147" name="Google Shape;147;p17"/>
          <p:cNvSpPr/>
          <p:nvPr/>
        </p:nvSpPr>
        <p:spPr>
          <a:xfrm>
            <a:off x="7680960" y="2240280"/>
            <a:ext cx="3886200" cy="960120"/>
          </a:xfrm>
          <a:prstGeom prst="rect">
            <a:avLst/>
          </a:prstGeom>
          <a:solidFill>
            <a:srgbClr val="FFFFFF"/>
          </a:solidFill>
          <a:ln w="9525" cap="flat" cmpd="sng">
            <a:solidFill>
              <a:srgbClr val="A8B6C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8" name="Google Shape;148;p17"/>
          <p:cNvSpPr txBox="1"/>
          <p:nvPr/>
        </p:nvSpPr>
        <p:spPr>
          <a:xfrm>
            <a:off x="7818120" y="2313432"/>
            <a:ext cx="914400" cy="41148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800" b="1" i="0" u="none" strike="noStrike" cap="none">
                <a:solidFill>
                  <a:srgbClr val="255CF0"/>
                </a:solidFill>
                <a:latin typeface="Arial"/>
                <a:ea typeface="Arial"/>
                <a:cs typeface="Arial"/>
                <a:sym typeface="Arial"/>
              </a:rPr>
              <a:t>v0.1</a:t>
            </a:r>
            <a:endParaRPr/>
          </a:p>
        </p:txBody>
      </p:sp>
      <p:sp>
        <p:nvSpPr>
          <p:cNvPr id="149" name="Google Shape;149;p17"/>
          <p:cNvSpPr txBox="1"/>
          <p:nvPr/>
        </p:nvSpPr>
        <p:spPr>
          <a:xfrm>
            <a:off x="8732520" y="2350008"/>
            <a:ext cx="2743200" cy="32004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200" b="0" i="0" u="none" strike="noStrike" cap="none">
                <a:solidFill>
                  <a:srgbClr val="647080"/>
                </a:solidFill>
                <a:latin typeface="Arial"/>
                <a:ea typeface="Arial"/>
                <a:cs typeface="Arial"/>
                <a:sym typeface="Arial"/>
              </a:rPr>
              <a:t>2026-10-13</a:t>
            </a:r>
            <a:endParaRPr/>
          </a:p>
        </p:txBody>
      </p:sp>
      <p:sp>
        <p:nvSpPr>
          <p:cNvPr id="150" name="Google Shape;150;p17"/>
          <p:cNvSpPr txBox="1"/>
          <p:nvPr/>
        </p:nvSpPr>
        <p:spPr>
          <a:xfrm>
            <a:off x="7818120" y="2697480"/>
            <a:ext cx="3657600" cy="45720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250" b="0" i="0" u="none" strike="noStrike" cap="none">
                <a:solidFill>
                  <a:srgbClr val="13263A"/>
                </a:solidFill>
                <a:latin typeface="Arial"/>
                <a:ea typeface="Arial"/>
                <a:cs typeface="Arial"/>
                <a:sym typeface="Arial"/>
              </a:rPr>
              <a:t>Initial draft from the proposal slides and backend starter</a:t>
            </a:r>
            <a:endParaRPr/>
          </a:p>
        </p:txBody>
      </p:sp>
      <p:cxnSp>
        <p:nvCxnSpPr>
          <p:cNvPr id="151" name="Google Shape;151;p17"/>
          <p:cNvCxnSpPr/>
          <p:nvPr/>
        </p:nvCxnSpPr>
        <p:spPr>
          <a:xfrm>
            <a:off x="9601200" y="3200400"/>
            <a:ext cx="0" cy="182880"/>
          </a:xfrm>
          <a:prstGeom prst="straightConnector1">
            <a:avLst/>
          </a:prstGeom>
          <a:noFill/>
          <a:ln w="19050" cap="flat" cmpd="sng">
            <a:solidFill>
              <a:srgbClr val="647080"/>
            </a:solidFill>
            <a:prstDash val="solid"/>
            <a:round/>
            <a:headEnd type="none" w="sm" len="sm"/>
            <a:tailEnd type="triangle" w="med" len="med"/>
          </a:ln>
          <a:effectLst>
            <a:outerShdw blurRad="40000" dist="20000" dir="5400000" rotWithShape="0">
              <a:srgbClr val="000000">
                <a:alpha val="38039"/>
              </a:srgbClr>
            </a:outerShdw>
          </a:effectLst>
        </p:spPr>
      </p:cxnSp>
      <p:sp>
        <p:nvSpPr>
          <p:cNvPr id="152" name="Google Shape;152;p17"/>
          <p:cNvSpPr/>
          <p:nvPr/>
        </p:nvSpPr>
        <p:spPr>
          <a:xfrm>
            <a:off x="7680960" y="3383280"/>
            <a:ext cx="3886200" cy="960120"/>
          </a:xfrm>
          <a:prstGeom prst="rect">
            <a:avLst/>
          </a:prstGeom>
          <a:solidFill>
            <a:srgbClr val="FFFFFF"/>
          </a:solidFill>
          <a:ln w="9525" cap="flat" cmpd="sng">
            <a:solidFill>
              <a:srgbClr val="A8B6C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3" name="Google Shape;153;p17"/>
          <p:cNvSpPr txBox="1"/>
          <p:nvPr/>
        </p:nvSpPr>
        <p:spPr>
          <a:xfrm>
            <a:off x="7818120" y="3456432"/>
            <a:ext cx="914400" cy="41148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800" b="1" i="0" u="none" strike="noStrike" cap="none">
                <a:solidFill>
                  <a:srgbClr val="255CF0"/>
                </a:solidFill>
                <a:latin typeface="Arial"/>
                <a:ea typeface="Arial"/>
                <a:cs typeface="Arial"/>
                <a:sym typeface="Arial"/>
              </a:rPr>
              <a:t>v0.2</a:t>
            </a:r>
            <a:endParaRPr/>
          </a:p>
        </p:txBody>
      </p:sp>
      <p:sp>
        <p:nvSpPr>
          <p:cNvPr id="154" name="Google Shape;154;p17"/>
          <p:cNvSpPr txBox="1"/>
          <p:nvPr/>
        </p:nvSpPr>
        <p:spPr>
          <a:xfrm>
            <a:off x="8732520" y="3493008"/>
            <a:ext cx="2743200" cy="32004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200" b="0" i="0" u="none" strike="noStrike" cap="none">
                <a:solidFill>
                  <a:srgbClr val="647080"/>
                </a:solidFill>
                <a:latin typeface="Arial"/>
                <a:ea typeface="Arial"/>
                <a:cs typeface="Arial"/>
                <a:sym typeface="Arial"/>
              </a:rPr>
              <a:t>2026-10-13</a:t>
            </a:r>
            <a:endParaRPr/>
          </a:p>
        </p:txBody>
      </p:sp>
      <p:sp>
        <p:nvSpPr>
          <p:cNvPr id="155" name="Google Shape;155;p17"/>
          <p:cNvSpPr txBox="1"/>
          <p:nvPr/>
        </p:nvSpPr>
        <p:spPr>
          <a:xfrm>
            <a:off x="7818120" y="3840480"/>
            <a:ext cx="3657600" cy="45720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250" b="0" i="0" u="none" strike="noStrike" cap="none">
                <a:solidFill>
                  <a:srgbClr val="13263A"/>
                </a:solidFill>
                <a:latin typeface="Arial"/>
                <a:ea typeface="Arial"/>
                <a:cs typeface="Arial"/>
                <a:sym typeface="Arial"/>
              </a:rPr>
              <a:t>Standalone product; Cboard only inspiration</a:t>
            </a:r>
            <a:endParaRPr/>
          </a:p>
        </p:txBody>
      </p:sp>
      <p:cxnSp>
        <p:nvCxnSpPr>
          <p:cNvPr id="156" name="Google Shape;156;p17"/>
          <p:cNvCxnSpPr/>
          <p:nvPr/>
        </p:nvCxnSpPr>
        <p:spPr>
          <a:xfrm>
            <a:off x="9601200" y="4343400"/>
            <a:ext cx="0" cy="182880"/>
          </a:xfrm>
          <a:prstGeom prst="straightConnector1">
            <a:avLst/>
          </a:prstGeom>
          <a:noFill/>
          <a:ln w="19050" cap="flat" cmpd="sng">
            <a:solidFill>
              <a:srgbClr val="647080"/>
            </a:solidFill>
            <a:prstDash val="solid"/>
            <a:round/>
            <a:headEnd type="none" w="sm" len="sm"/>
            <a:tailEnd type="triangle" w="med" len="med"/>
          </a:ln>
          <a:effectLst>
            <a:outerShdw blurRad="40000" dist="20000" dir="5400000" rotWithShape="0">
              <a:srgbClr val="000000">
                <a:alpha val="38039"/>
              </a:srgbClr>
            </a:outerShdw>
          </a:effectLst>
        </p:spPr>
      </p:cxnSp>
      <p:sp>
        <p:nvSpPr>
          <p:cNvPr id="157" name="Google Shape;157;p17"/>
          <p:cNvSpPr/>
          <p:nvPr/>
        </p:nvSpPr>
        <p:spPr>
          <a:xfrm>
            <a:off x="7680960" y="4526280"/>
            <a:ext cx="3886200" cy="960120"/>
          </a:xfrm>
          <a:prstGeom prst="rect">
            <a:avLst/>
          </a:prstGeom>
          <a:solidFill>
            <a:srgbClr val="E6EAF0"/>
          </a:solidFill>
          <a:ln w="9525" cap="flat" cmpd="sng">
            <a:solidFill>
              <a:srgbClr val="A8B6C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8" name="Google Shape;158;p17"/>
          <p:cNvSpPr txBox="1"/>
          <p:nvPr/>
        </p:nvSpPr>
        <p:spPr>
          <a:xfrm>
            <a:off x="7818120" y="4599432"/>
            <a:ext cx="914400" cy="41148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800" b="1" i="0" u="none" strike="noStrike" cap="none">
                <a:solidFill>
                  <a:srgbClr val="13263A"/>
                </a:solidFill>
                <a:latin typeface="Arial"/>
                <a:ea typeface="Arial"/>
                <a:cs typeface="Arial"/>
                <a:sym typeface="Arial"/>
              </a:rPr>
              <a:t>Next</a:t>
            </a:r>
            <a:endParaRPr/>
          </a:p>
        </p:txBody>
      </p:sp>
      <p:sp>
        <p:nvSpPr>
          <p:cNvPr id="159" name="Google Shape;159;p17"/>
          <p:cNvSpPr txBox="1"/>
          <p:nvPr/>
        </p:nvSpPr>
        <p:spPr>
          <a:xfrm>
            <a:off x="8732520" y="4636008"/>
            <a:ext cx="2743200" cy="32004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200" b="0" i="0" u="none" strike="noStrike" cap="none">
                <a:solidFill>
                  <a:srgbClr val="647080"/>
                </a:solidFill>
                <a:latin typeface="Arial"/>
                <a:ea typeface="Arial"/>
                <a:cs typeface="Arial"/>
                <a:sym typeface="Arial"/>
              </a:rPr>
              <a:t>by Week 7</a:t>
            </a:r>
            <a:endParaRPr/>
          </a:p>
        </p:txBody>
      </p:sp>
      <p:sp>
        <p:nvSpPr>
          <p:cNvPr id="160" name="Google Shape;160;p17"/>
          <p:cNvSpPr txBox="1"/>
          <p:nvPr/>
        </p:nvSpPr>
        <p:spPr>
          <a:xfrm>
            <a:off x="7818120" y="4983480"/>
            <a:ext cx="3657600" cy="45720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250" b="0" i="0" u="none" strike="noStrike" cap="none">
                <a:solidFill>
                  <a:srgbClr val="13263A"/>
                </a:solidFill>
                <a:latin typeface="Arial"/>
                <a:ea typeface="Arial"/>
                <a:cs typeface="Arial"/>
                <a:sym typeface="Arial"/>
              </a:rPr>
              <a:t>Close TBDs, peer review, submit SRS</a:t>
            </a:r>
            <a:endParaRPr/>
          </a:p>
        </p:txBody>
      </p:sp>
      <p:sp>
        <p:nvSpPr>
          <p:cNvPr id="161" name="Google Shape;161;p17"/>
          <p:cNvSpPr txBox="1"/>
          <p:nvPr/>
        </p:nvSpPr>
        <p:spPr>
          <a:xfrm>
            <a:off x="630936" y="5806440"/>
            <a:ext cx="10789920" cy="32004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300" b="0" i="0" u="none" strike="noStrike" cap="none">
                <a:solidFill>
                  <a:srgbClr val="647080"/>
                </a:solidFill>
                <a:latin typeface="Arial"/>
                <a:ea typeface="Arial"/>
                <a:cs typeface="Arial"/>
                <a:sym typeface="Arial"/>
              </a:rPr>
              <a:t>Companion documents: docs/API.md (API v0.1)  ·  docs/VERIFICATION.md  ·  docs/TEAM_NEXT_STEPS.md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4F0"/>
        </a:solidFill>
        <a:effectLst/>
      </p:bgPr>
    </p:bg>
    <p:spTree>
      <p:nvGrpSpPr>
        <p:cNvPr id="1" name="Shape 166"/>
        <p:cNvGrpSpPr/>
        <p:nvPr/>
      </p:nvGrpSpPr>
      <p:grpSpPr>
        <a:xfrm>
          <a:off x="0" y="0"/>
          <a:ext cx="0" cy="0"/>
          <a:chOff x="0" y="0"/>
          <a:chExt cx="0" cy="0"/>
        </a:xfrm>
      </p:grpSpPr>
      <p:sp>
        <p:nvSpPr>
          <p:cNvPr id="167" name="Google Shape;167;p16"/>
          <p:cNvSpPr txBox="1"/>
          <p:nvPr/>
        </p:nvSpPr>
        <p:spPr>
          <a:xfrm>
            <a:off x="612648" y="457200"/>
            <a:ext cx="10954512" cy="758952"/>
          </a:xfrm>
          <a:prstGeom prst="rect">
            <a:avLst/>
          </a:prstGeom>
          <a:noFill/>
          <a:ln>
            <a:noFill/>
          </a:ln>
        </p:spPr>
        <p:txBody>
          <a:bodyPr spcFirstLastPara="1" wrap="square" lIns="45700" tIns="27425" rIns="45700" bIns="27425" anchor="ctr" anchorCtr="0">
            <a:spAutoFit/>
          </a:bodyPr>
          <a:lstStyle/>
          <a:p>
            <a:pPr marL="0" marR="0" lvl="0" indent="0" algn="l" rtl="0">
              <a:lnSpc>
                <a:spcPct val="100000"/>
              </a:lnSpc>
              <a:spcBef>
                <a:spcPts val="0"/>
              </a:spcBef>
              <a:spcAft>
                <a:spcPts val="0"/>
              </a:spcAft>
              <a:buNone/>
            </a:pPr>
            <a:r>
              <a:rPr lang="ru-RU" sz="3300" b="1" i="0" u="none" strike="noStrike" cap="none">
                <a:solidFill>
                  <a:srgbClr val="13263A"/>
                </a:solidFill>
                <a:latin typeface="Arial"/>
                <a:ea typeface="Arial"/>
                <a:cs typeface="Arial"/>
                <a:sym typeface="Arial"/>
              </a:rPr>
              <a:t>Requirements still to develop</a:t>
            </a:r>
            <a:endParaRPr/>
          </a:p>
        </p:txBody>
      </p:sp>
      <p:sp>
        <p:nvSpPr>
          <p:cNvPr id="168" name="Google Shape;168;p16"/>
          <p:cNvSpPr txBox="1"/>
          <p:nvPr/>
        </p:nvSpPr>
        <p:spPr>
          <a:xfrm>
            <a:off x="11045952" y="6245352"/>
            <a:ext cx="530352" cy="283464"/>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350" b="0" i="0" u="none" strike="noStrike" cap="none">
                <a:solidFill>
                  <a:srgbClr val="647080"/>
                </a:solidFill>
                <a:latin typeface="Arial"/>
                <a:ea typeface="Arial"/>
                <a:cs typeface="Arial"/>
                <a:sym typeface="Arial"/>
              </a:rPr>
              <a:t>07</a:t>
            </a:r>
            <a:endParaRPr/>
          </a:p>
        </p:txBody>
      </p:sp>
      <p:sp>
        <p:nvSpPr>
          <p:cNvPr id="169" name="Google Shape;169;p16"/>
          <p:cNvSpPr txBox="1"/>
          <p:nvPr/>
        </p:nvSpPr>
        <p:spPr>
          <a:xfrm>
            <a:off x="630936" y="1216152"/>
            <a:ext cx="10570464" cy="41148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800" b="0" i="0" u="none" strike="noStrike" cap="none">
                <a:solidFill>
                  <a:srgbClr val="647080"/>
                </a:solidFill>
                <a:latin typeface="Arial"/>
                <a:ea typeface="Arial"/>
                <a:cs typeface="Arial"/>
                <a:sym typeface="Arial"/>
              </a:rPr>
              <a:t>01  Technical progress  ·  grouped by increment (SRS 2.6)</a:t>
            </a:r>
            <a:endParaRPr/>
          </a:p>
        </p:txBody>
      </p:sp>
      <p:sp>
        <p:nvSpPr>
          <p:cNvPr id="170" name="Google Shape;170;p16"/>
          <p:cNvSpPr/>
          <p:nvPr/>
        </p:nvSpPr>
        <p:spPr>
          <a:xfrm>
            <a:off x="630936" y="1783080"/>
            <a:ext cx="2560320" cy="777240"/>
          </a:xfrm>
          <a:prstGeom prst="rect">
            <a:avLst/>
          </a:prstGeom>
          <a:solidFill>
            <a:srgbClr val="13263A"/>
          </a:solidFill>
          <a:ln>
            <a:noFill/>
          </a:ln>
        </p:spPr>
        <p:txBody>
          <a:bodyPr spcFirstLastPara="1" wrap="square" lIns="109725" tIns="54850" rIns="109725" bIns="54850" anchor="ctr" anchorCtr="0">
            <a:noAutofit/>
          </a:bodyPr>
          <a:lstStyle/>
          <a:p>
            <a:pPr marL="0" marR="0" lvl="0" indent="0" algn="l" rtl="0">
              <a:lnSpc>
                <a:spcPct val="100000"/>
              </a:lnSpc>
              <a:spcBef>
                <a:spcPts val="0"/>
              </a:spcBef>
              <a:spcAft>
                <a:spcPts val="0"/>
              </a:spcAft>
              <a:buNone/>
            </a:pPr>
            <a:r>
              <a:rPr lang="ru-RU" sz="1350" b="1" i="0" u="none" strike="noStrike" cap="none">
                <a:solidFill>
                  <a:srgbClr val="FFFFFF"/>
                </a:solidFill>
                <a:latin typeface="Arial"/>
                <a:ea typeface="Arial"/>
                <a:cs typeface="Arial"/>
                <a:sym typeface="Arial"/>
              </a:rPr>
              <a:t>INCREMENT 1</a:t>
            </a:r>
            <a:endParaRPr/>
          </a:p>
          <a:p>
            <a:pPr marL="0" marR="0" lvl="0" indent="0" algn="l" rtl="0">
              <a:lnSpc>
                <a:spcPct val="100000"/>
              </a:lnSpc>
              <a:spcBef>
                <a:spcPts val="0"/>
              </a:spcBef>
              <a:spcAft>
                <a:spcPts val="0"/>
              </a:spcAft>
              <a:buNone/>
            </a:pPr>
            <a:r>
              <a:rPr lang="ru-RU" sz="1200" b="0" i="0" u="none" strike="noStrike" cap="none">
                <a:solidFill>
                  <a:srgbClr val="FFFFFF"/>
                </a:solidFill>
                <a:latin typeface="Arial"/>
                <a:ea typeface="Arial"/>
                <a:cs typeface="Arial"/>
                <a:sym typeface="Arial"/>
              </a:rPr>
              <a:t>Café scenario</a:t>
            </a:r>
            <a:endParaRPr/>
          </a:p>
        </p:txBody>
      </p:sp>
      <p:sp>
        <p:nvSpPr>
          <p:cNvPr id="171" name="Google Shape;171;p16"/>
          <p:cNvSpPr/>
          <p:nvPr/>
        </p:nvSpPr>
        <p:spPr>
          <a:xfrm>
            <a:off x="630936" y="2560320"/>
            <a:ext cx="2560320" cy="2926080"/>
          </a:xfrm>
          <a:prstGeom prst="rect">
            <a:avLst/>
          </a:prstGeom>
          <a:solidFill>
            <a:srgbClr val="FFFFFF"/>
          </a:solidFill>
          <a:ln w="9525" cap="flat" cmpd="sng">
            <a:solidFill>
              <a:srgbClr val="A8B6C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2" name="Google Shape;172;p16"/>
          <p:cNvSpPr txBox="1"/>
          <p:nvPr/>
        </p:nvSpPr>
        <p:spPr>
          <a:xfrm>
            <a:off x="722375" y="2651760"/>
            <a:ext cx="2377439" cy="1768675"/>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400"/>
              </a:spcBef>
              <a:spcAft>
                <a:spcPts val="0"/>
              </a:spcAft>
              <a:buNone/>
            </a:pPr>
            <a:r>
              <a:rPr lang="ru-RU" sz="1250" b="1" i="0" u="none" strike="noStrike" cap="none" dirty="0">
                <a:solidFill>
                  <a:srgbClr val="13263A"/>
                </a:solidFill>
                <a:latin typeface="Arial"/>
                <a:ea typeface="Arial"/>
                <a:cs typeface="Arial"/>
                <a:sym typeface="Arial"/>
              </a:rPr>
              <a:t>REQ-FUNC-010</a:t>
            </a:r>
            <a:br>
              <a:rPr lang="ru-RU" sz="1200" b="0" i="0" u="none" strike="noStrike" cap="none" dirty="0">
                <a:solidFill>
                  <a:srgbClr val="647080"/>
                </a:solidFill>
                <a:latin typeface="Arial"/>
                <a:ea typeface="Arial"/>
                <a:cs typeface="Arial"/>
                <a:sym typeface="Arial"/>
              </a:rPr>
            </a:br>
            <a:r>
              <a:rPr lang="ru-RU" sz="1200" b="0" i="0" u="none" strike="noStrike" cap="none" dirty="0">
                <a:solidFill>
                  <a:srgbClr val="647080"/>
                </a:solidFill>
                <a:latin typeface="Arial"/>
                <a:ea typeface="Arial"/>
                <a:cs typeface="Arial"/>
                <a:sym typeface="Arial"/>
              </a:rPr>
              <a:t>web frontend flow</a:t>
            </a:r>
            <a:endParaRPr dirty="0"/>
          </a:p>
          <a:p>
            <a:pPr marL="0" marR="0" lvl="0" indent="0" algn="l" rtl="0">
              <a:lnSpc>
                <a:spcPct val="100000"/>
              </a:lnSpc>
              <a:spcBef>
                <a:spcPts val="400"/>
              </a:spcBef>
              <a:spcAft>
                <a:spcPts val="0"/>
              </a:spcAft>
              <a:buNone/>
            </a:pPr>
            <a:r>
              <a:rPr lang="ru-RU" sz="1250" b="1" i="0" u="none" strike="noStrike" cap="none" dirty="0">
                <a:solidFill>
                  <a:srgbClr val="13263A"/>
                </a:solidFill>
                <a:latin typeface="Arial"/>
                <a:ea typeface="Arial"/>
                <a:cs typeface="Arial"/>
                <a:sym typeface="Arial"/>
              </a:rPr>
              <a:t>REQ-INT-006</a:t>
            </a:r>
            <a:br>
              <a:rPr lang="ru-RU" sz="1200" b="0" i="0" u="none" strike="noStrike" cap="none" dirty="0">
                <a:solidFill>
                  <a:srgbClr val="647080"/>
                </a:solidFill>
                <a:latin typeface="Arial"/>
                <a:ea typeface="Arial"/>
                <a:cs typeface="Arial"/>
                <a:sym typeface="Arial"/>
              </a:rPr>
            </a:br>
            <a:r>
              <a:rPr lang="ru-RU" sz="1200" b="0" i="0" u="none" strike="noStrike" cap="none" dirty="0">
                <a:solidFill>
                  <a:srgbClr val="647080"/>
                </a:solidFill>
                <a:latin typeface="Arial"/>
                <a:ea typeface="Arial"/>
                <a:cs typeface="Arial"/>
                <a:sym typeface="Arial"/>
              </a:rPr>
              <a:t>symbol board mapping</a:t>
            </a:r>
            <a:endParaRPr dirty="0"/>
          </a:p>
          <a:p>
            <a:pPr marL="0" marR="0" lvl="0" indent="0" algn="l" rtl="0">
              <a:lnSpc>
                <a:spcPct val="100000"/>
              </a:lnSpc>
              <a:spcBef>
                <a:spcPts val="400"/>
              </a:spcBef>
              <a:spcAft>
                <a:spcPts val="0"/>
              </a:spcAft>
              <a:buNone/>
            </a:pPr>
            <a:r>
              <a:rPr lang="ru-RU" sz="1250" b="1" i="0" u="none" strike="noStrike" cap="none" dirty="0">
                <a:solidFill>
                  <a:srgbClr val="13263A"/>
                </a:solidFill>
                <a:latin typeface="Arial"/>
                <a:ea typeface="Arial"/>
                <a:cs typeface="Arial"/>
                <a:sym typeface="Arial"/>
              </a:rPr>
              <a:t>REQ-ML-001…006</a:t>
            </a:r>
            <a:br>
              <a:rPr lang="ru-RU" sz="1200" b="0" i="0" u="none" strike="noStrike" cap="none" dirty="0">
                <a:solidFill>
                  <a:srgbClr val="647080"/>
                </a:solidFill>
                <a:latin typeface="Arial"/>
                <a:ea typeface="Arial"/>
                <a:cs typeface="Arial"/>
                <a:sym typeface="Arial"/>
              </a:rPr>
            </a:br>
            <a:r>
              <a:rPr lang="ru-RU" sz="1200" b="0" i="0" u="none" strike="noStrike" cap="none" dirty="0">
                <a:solidFill>
                  <a:srgbClr val="647080"/>
                </a:solidFill>
                <a:latin typeface="Arial"/>
                <a:ea typeface="Arial"/>
                <a:cs typeface="Arial"/>
                <a:sym typeface="Arial"/>
              </a:rPr>
              <a:t>real provider</a:t>
            </a:r>
            <a:endParaRPr dirty="0"/>
          </a:p>
          <a:p>
            <a:pPr marL="0" marR="0" lvl="0" indent="0" algn="l" rtl="0">
              <a:lnSpc>
                <a:spcPct val="100000"/>
              </a:lnSpc>
              <a:spcBef>
                <a:spcPts val="400"/>
              </a:spcBef>
              <a:spcAft>
                <a:spcPts val="0"/>
              </a:spcAft>
              <a:buNone/>
            </a:pPr>
            <a:r>
              <a:rPr lang="ru-RU" sz="1250" b="1" i="0" u="none" strike="noStrike" cap="none" dirty="0">
                <a:solidFill>
                  <a:srgbClr val="13263A"/>
                </a:solidFill>
                <a:latin typeface="Arial"/>
                <a:ea typeface="Arial"/>
                <a:cs typeface="Arial"/>
                <a:sym typeface="Arial"/>
              </a:rPr>
              <a:t>REQ-SEC-004</a:t>
            </a:r>
            <a:br>
              <a:rPr lang="ru-RU" sz="1200" b="0" i="0" u="none" strike="noStrike" cap="none" dirty="0">
                <a:solidFill>
                  <a:srgbClr val="647080"/>
                </a:solidFill>
                <a:latin typeface="Arial"/>
                <a:ea typeface="Arial"/>
                <a:cs typeface="Arial"/>
                <a:sym typeface="Arial"/>
              </a:rPr>
            </a:br>
            <a:r>
              <a:rPr lang="ru-RU" sz="1200" b="0" i="0" u="none" strike="noStrike" cap="none" dirty="0">
                <a:solidFill>
                  <a:srgbClr val="647080"/>
                </a:solidFill>
                <a:latin typeface="Arial"/>
                <a:ea typeface="Arial"/>
                <a:cs typeface="Arial"/>
                <a:sym typeface="Arial"/>
              </a:rPr>
              <a:t>safe display</a:t>
            </a:r>
            <a:endParaRPr dirty="0"/>
          </a:p>
        </p:txBody>
      </p:sp>
      <p:sp>
        <p:nvSpPr>
          <p:cNvPr id="173" name="Google Shape;173;p16"/>
          <p:cNvSpPr txBox="1"/>
          <p:nvPr/>
        </p:nvSpPr>
        <p:spPr>
          <a:xfrm>
            <a:off x="722375" y="5074920"/>
            <a:ext cx="2377439" cy="32004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250" b="1" i="0" u="none" strike="noStrike" cap="none">
                <a:solidFill>
                  <a:srgbClr val="255CF0"/>
                </a:solidFill>
                <a:latin typeface="Arial"/>
                <a:ea typeface="Arial"/>
                <a:cs typeface="Arial"/>
                <a:sym typeface="Arial"/>
              </a:rPr>
              <a:t>Thibaut · Veronika · Jiahui</a:t>
            </a:r>
            <a:endParaRPr/>
          </a:p>
        </p:txBody>
      </p:sp>
      <p:cxnSp>
        <p:nvCxnSpPr>
          <p:cNvPr id="174" name="Google Shape;174;p16"/>
          <p:cNvCxnSpPr/>
          <p:nvPr/>
        </p:nvCxnSpPr>
        <p:spPr>
          <a:xfrm>
            <a:off x="3209544" y="2167128"/>
            <a:ext cx="192024" cy="0"/>
          </a:xfrm>
          <a:prstGeom prst="straightConnector1">
            <a:avLst/>
          </a:prstGeom>
          <a:noFill/>
          <a:ln w="19050" cap="flat" cmpd="sng">
            <a:solidFill>
              <a:srgbClr val="647080"/>
            </a:solidFill>
            <a:prstDash val="solid"/>
            <a:round/>
            <a:headEnd type="none" w="sm" len="sm"/>
            <a:tailEnd type="triangle" w="med" len="med"/>
          </a:ln>
          <a:effectLst>
            <a:outerShdw blurRad="40000" dist="20000" dir="5400000" rotWithShape="0">
              <a:srgbClr val="000000">
                <a:alpha val="38039"/>
              </a:srgbClr>
            </a:outerShdw>
          </a:effectLst>
        </p:spPr>
      </p:cxnSp>
      <p:sp>
        <p:nvSpPr>
          <p:cNvPr id="175" name="Google Shape;175;p16"/>
          <p:cNvSpPr/>
          <p:nvPr/>
        </p:nvSpPr>
        <p:spPr>
          <a:xfrm>
            <a:off x="3419856" y="1783080"/>
            <a:ext cx="2560320" cy="777240"/>
          </a:xfrm>
          <a:prstGeom prst="rect">
            <a:avLst/>
          </a:prstGeom>
          <a:solidFill>
            <a:srgbClr val="13263A"/>
          </a:solidFill>
          <a:ln>
            <a:noFill/>
          </a:ln>
        </p:spPr>
        <p:txBody>
          <a:bodyPr spcFirstLastPara="1" wrap="square" lIns="109725" tIns="54850" rIns="109725" bIns="54850" anchor="ctr" anchorCtr="0">
            <a:noAutofit/>
          </a:bodyPr>
          <a:lstStyle/>
          <a:p>
            <a:pPr marL="0" marR="0" lvl="0" indent="0" algn="l" rtl="0">
              <a:lnSpc>
                <a:spcPct val="100000"/>
              </a:lnSpc>
              <a:spcBef>
                <a:spcPts val="0"/>
              </a:spcBef>
              <a:spcAft>
                <a:spcPts val="0"/>
              </a:spcAft>
              <a:buNone/>
            </a:pPr>
            <a:r>
              <a:rPr lang="ru-RU" sz="1350" b="1" i="0" u="none" strike="noStrike" cap="none">
                <a:solidFill>
                  <a:srgbClr val="FFFFFF"/>
                </a:solidFill>
                <a:latin typeface="Arial"/>
                <a:ea typeface="Arial"/>
                <a:cs typeface="Arial"/>
                <a:sym typeface="Arial"/>
              </a:rPr>
              <a:t>BEFORE PUBLIC TRIAL</a:t>
            </a:r>
            <a:endParaRPr/>
          </a:p>
          <a:p>
            <a:pPr marL="0" marR="0" lvl="0" indent="0" algn="l" rtl="0">
              <a:lnSpc>
                <a:spcPct val="100000"/>
              </a:lnSpc>
              <a:spcBef>
                <a:spcPts val="0"/>
              </a:spcBef>
              <a:spcAft>
                <a:spcPts val="0"/>
              </a:spcAft>
              <a:buNone/>
            </a:pPr>
            <a:r>
              <a:rPr lang="ru-RU" sz="1200" b="0" i="0" u="none" strike="noStrike" cap="none">
                <a:solidFill>
                  <a:srgbClr val="FFFFFF"/>
                </a:solidFill>
                <a:latin typeface="Arial"/>
                <a:ea typeface="Arial"/>
                <a:cs typeface="Arial"/>
                <a:sym typeface="Arial"/>
              </a:rPr>
              <a:t>Deploy and protect</a:t>
            </a:r>
            <a:endParaRPr/>
          </a:p>
        </p:txBody>
      </p:sp>
      <p:sp>
        <p:nvSpPr>
          <p:cNvPr id="176" name="Google Shape;176;p16"/>
          <p:cNvSpPr/>
          <p:nvPr/>
        </p:nvSpPr>
        <p:spPr>
          <a:xfrm>
            <a:off x="3419856" y="2560320"/>
            <a:ext cx="2560320" cy="2926080"/>
          </a:xfrm>
          <a:prstGeom prst="rect">
            <a:avLst/>
          </a:prstGeom>
          <a:solidFill>
            <a:srgbClr val="FFFFFF"/>
          </a:solidFill>
          <a:ln w="9525" cap="flat" cmpd="sng">
            <a:solidFill>
              <a:srgbClr val="A8B6C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7" name="Google Shape;177;p16"/>
          <p:cNvSpPr txBox="1"/>
          <p:nvPr/>
        </p:nvSpPr>
        <p:spPr>
          <a:xfrm>
            <a:off x="3511296" y="2651760"/>
            <a:ext cx="2377439" cy="1340353"/>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400"/>
              </a:spcBef>
              <a:spcAft>
                <a:spcPts val="0"/>
              </a:spcAft>
              <a:buNone/>
            </a:pPr>
            <a:r>
              <a:rPr lang="ru-RU" sz="1250" b="1" i="0" u="none" strike="noStrike" cap="none" dirty="0">
                <a:solidFill>
                  <a:srgbClr val="13263A"/>
                </a:solidFill>
                <a:latin typeface="Arial"/>
                <a:ea typeface="Arial"/>
                <a:cs typeface="Arial"/>
                <a:sym typeface="Arial"/>
              </a:rPr>
              <a:t>REQ-SEC-005</a:t>
            </a:r>
            <a:br>
              <a:rPr lang="ru-RU" sz="1200" b="0" i="0" u="none" strike="noStrike" cap="none" dirty="0">
                <a:solidFill>
                  <a:srgbClr val="647080"/>
                </a:solidFill>
                <a:latin typeface="Arial"/>
                <a:ea typeface="Arial"/>
                <a:cs typeface="Arial"/>
                <a:sym typeface="Arial"/>
              </a:rPr>
            </a:br>
            <a:r>
              <a:rPr lang="ru-RU" sz="1200" b="0" i="0" u="none" strike="noStrike" cap="none" dirty="0">
                <a:solidFill>
                  <a:srgbClr val="647080"/>
                </a:solidFill>
                <a:latin typeface="Arial"/>
                <a:ea typeface="Arial"/>
                <a:cs typeface="Arial"/>
                <a:sym typeface="Arial"/>
              </a:rPr>
              <a:t>authentication</a:t>
            </a:r>
            <a:endParaRPr dirty="0"/>
          </a:p>
          <a:p>
            <a:pPr marL="0" marR="0" lvl="0" indent="0" algn="l" rtl="0">
              <a:lnSpc>
                <a:spcPct val="100000"/>
              </a:lnSpc>
              <a:spcBef>
                <a:spcPts val="400"/>
              </a:spcBef>
              <a:spcAft>
                <a:spcPts val="0"/>
              </a:spcAft>
              <a:buNone/>
            </a:pPr>
            <a:r>
              <a:rPr lang="ru-RU" sz="1250" b="1" i="0" u="none" strike="noStrike" cap="none" dirty="0">
                <a:solidFill>
                  <a:srgbClr val="13263A"/>
                </a:solidFill>
                <a:latin typeface="Arial"/>
                <a:ea typeface="Arial"/>
                <a:cs typeface="Arial"/>
                <a:sym typeface="Arial"/>
              </a:rPr>
              <a:t>REQ-SEC-006</a:t>
            </a:r>
            <a:br>
              <a:rPr lang="ru-RU" sz="1200" b="0" i="0" u="none" strike="noStrike" cap="none" dirty="0">
                <a:solidFill>
                  <a:srgbClr val="647080"/>
                </a:solidFill>
                <a:latin typeface="Arial"/>
                <a:ea typeface="Arial"/>
                <a:cs typeface="Arial"/>
                <a:sym typeface="Arial"/>
              </a:rPr>
            </a:br>
            <a:r>
              <a:rPr lang="ru-RU" sz="1200" b="0" i="0" u="none" strike="noStrike" cap="none" dirty="0">
                <a:solidFill>
                  <a:srgbClr val="647080"/>
                </a:solidFill>
                <a:latin typeface="Arial"/>
                <a:ea typeface="Arial"/>
                <a:cs typeface="Arial"/>
                <a:sym typeface="Arial"/>
              </a:rPr>
              <a:t>rate / cost limits</a:t>
            </a:r>
            <a:endParaRPr dirty="0"/>
          </a:p>
          <a:p>
            <a:pPr marL="0" marR="0" lvl="0" indent="0" algn="l" rtl="0">
              <a:lnSpc>
                <a:spcPct val="100000"/>
              </a:lnSpc>
              <a:spcBef>
                <a:spcPts val="400"/>
              </a:spcBef>
              <a:spcAft>
                <a:spcPts val="0"/>
              </a:spcAft>
              <a:buNone/>
            </a:pPr>
            <a:r>
              <a:rPr lang="ru-RU" sz="1250" b="1" i="0" u="none" strike="noStrike" cap="none" dirty="0">
                <a:solidFill>
                  <a:srgbClr val="13263A"/>
                </a:solidFill>
                <a:latin typeface="Arial"/>
                <a:ea typeface="Arial"/>
                <a:cs typeface="Arial"/>
                <a:sym typeface="Arial"/>
              </a:rPr>
              <a:t>REQ-SEC-003</a:t>
            </a:r>
            <a:br>
              <a:rPr lang="ru-RU" sz="1200" b="0" i="0" u="none" strike="noStrike" cap="none" dirty="0">
                <a:solidFill>
                  <a:srgbClr val="647080"/>
                </a:solidFill>
                <a:latin typeface="Arial"/>
                <a:ea typeface="Arial"/>
                <a:cs typeface="Arial"/>
                <a:sym typeface="Arial"/>
              </a:rPr>
            </a:br>
            <a:r>
              <a:rPr lang="ru-RU" sz="1200" b="0" i="0" u="none" strike="noStrike" cap="none" dirty="0">
                <a:solidFill>
                  <a:srgbClr val="647080"/>
                </a:solidFill>
                <a:latin typeface="Arial"/>
                <a:ea typeface="Arial"/>
                <a:cs typeface="Arial"/>
                <a:sym typeface="Arial"/>
              </a:rPr>
              <a:t>secrets</a:t>
            </a:r>
            <a:endParaRPr dirty="0"/>
          </a:p>
        </p:txBody>
      </p:sp>
      <p:sp>
        <p:nvSpPr>
          <p:cNvPr id="178" name="Google Shape;178;p16"/>
          <p:cNvSpPr txBox="1"/>
          <p:nvPr/>
        </p:nvSpPr>
        <p:spPr>
          <a:xfrm>
            <a:off x="3511296" y="5074920"/>
            <a:ext cx="2377439" cy="32004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250" b="1" i="0" u="none" strike="noStrike" cap="none">
                <a:solidFill>
                  <a:srgbClr val="255CF0"/>
                </a:solidFill>
                <a:latin typeface="Arial"/>
                <a:ea typeface="Arial"/>
                <a:cs typeface="Arial"/>
                <a:sym typeface="Arial"/>
              </a:rPr>
              <a:t>Abid Ali</a:t>
            </a:r>
            <a:endParaRPr/>
          </a:p>
        </p:txBody>
      </p:sp>
      <p:cxnSp>
        <p:nvCxnSpPr>
          <p:cNvPr id="179" name="Google Shape;179;p16"/>
          <p:cNvCxnSpPr/>
          <p:nvPr/>
        </p:nvCxnSpPr>
        <p:spPr>
          <a:xfrm>
            <a:off x="5998463" y="2167128"/>
            <a:ext cx="192025" cy="0"/>
          </a:xfrm>
          <a:prstGeom prst="straightConnector1">
            <a:avLst/>
          </a:prstGeom>
          <a:noFill/>
          <a:ln w="19050" cap="flat" cmpd="sng">
            <a:solidFill>
              <a:srgbClr val="647080"/>
            </a:solidFill>
            <a:prstDash val="solid"/>
            <a:round/>
            <a:headEnd type="none" w="sm" len="sm"/>
            <a:tailEnd type="triangle" w="med" len="med"/>
          </a:ln>
          <a:effectLst>
            <a:outerShdw blurRad="40000" dist="20000" dir="5400000" rotWithShape="0">
              <a:srgbClr val="000000">
                <a:alpha val="38039"/>
              </a:srgbClr>
            </a:outerShdw>
          </a:effectLst>
        </p:spPr>
      </p:cxnSp>
      <p:sp>
        <p:nvSpPr>
          <p:cNvPr id="180" name="Google Shape;180;p16"/>
          <p:cNvSpPr/>
          <p:nvPr/>
        </p:nvSpPr>
        <p:spPr>
          <a:xfrm>
            <a:off x="6208775" y="1783080"/>
            <a:ext cx="2560320" cy="777240"/>
          </a:xfrm>
          <a:prstGeom prst="rect">
            <a:avLst/>
          </a:prstGeom>
          <a:solidFill>
            <a:srgbClr val="13263A"/>
          </a:solidFill>
          <a:ln>
            <a:noFill/>
          </a:ln>
        </p:spPr>
        <p:txBody>
          <a:bodyPr spcFirstLastPara="1" wrap="square" lIns="109725" tIns="54850" rIns="109725" bIns="54850" anchor="ctr" anchorCtr="0">
            <a:noAutofit/>
          </a:bodyPr>
          <a:lstStyle/>
          <a:p>
            <a:pPr marL="0" marR="0" lvl="0" indent="0" algn="l" rtl="0">
              <a:lnSpc>
                <a:spcPct val="100000"/>
              </a:lnSpc>
              <a:spcBef>
                <a:spcPts val="0"/>
              </a:spcBef>
              <a:spcAft>
                <a:spcPts val="0"/>
              </a:spcAft>
              <a:buNone/>
            </a:pPr>
            <a:r>
              <a:rPr lang="ru-RU" sz="1350" b="1" i="0" u="none" strike="noStrike" cap="none">
                <a:solidFill>
                  <a:srgbClr val="FFFFFF"/>
                </a:solidFill>
                <a:latin typeface="Arial"/>
                <a:ea typeface="Arial"/>
                <a:cs typeface="Arial"/>
                <a:sym typeface="Arial"/>
              </a:rPr>
              <a:t>BEFORE REAL USERS</a:t>
            </a:r>
            <a:endParaRPr/>
          </a:p>
          <a:p>
            <a:pPr marL="0" marR="0" lvl="0" indent="0" algn="l" rtl="0">
              <a:lnSpc>
                <a:spcPct val="100000"/>
              </a:lnSpc>
              <a:spcBef>
                <a:spcPts val="0"/>
              </a:spcBef>
              <a:spcAft>
                <a:spcPts val="0"/>
              </a:spcAft>
              <a:buNone/>
            </a:pPr>
            <a:r>
              <a:rPr lang="ru-RU" sz="1200" b="0" i="0" u="none" strike="noStrike" cap="none">
                <a:solidFill>
                  <a:srgbClr val="FFFFFF"/>
                </a:solidFill>
                <a:latin typeface="Arial"/>
                <a:ea typeface="Arial"/>
                <a:cs typeface="Arial"/>
                <a:sym typeface="Arial"/>
              </a:rPr>
              <a:t>Consent and licence</a:t>
            </a:r>
            <a:endParaRPr/>
          </a:p>
        </p:txBody>
      </p:sp>
      <p:sp>
        <p:nvSpPr>
          <p:cNvPr id="181" name="Google Shape;181;p16"/>
          <p:cNvSpPr/>
          <p:nvPr/>
        </p:nvSpPr>
        <p:spPr>
          <a:xfrm>
            <a:off x="6208775" y="2560320"/>
            <a:ext cx="2560320" cy="2926080"/>
          </a:xfrm>
          <a:prstGeom prst="rect">
            <a:avLst/>
          </a:prstGeom>
          <a:solidFill>
            <a:srgbClr val="FFFFFF"/>
          </a:solidFill>
          <a:ln w="9525" cap="flat" cmpd="sng">
            <a:solidFill>
              <a:srgbClr val="A8B6C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82" name="Google Shape;182;p16"/>
          <p:cNvSpPr txBox="1"/>
          <p:nvPr/>
        </p:nvSpPr>
        <p:spPr>
          <a:xfrm>
            <a:off x="6300215" y="2651760"/>
            <a:ext cx="2377439" cy="237744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250" b="1" i="0" u="none" strike="noStrike" cap="none">
                <a:solidFill>
                  <a:srgbClr val="13263A"/>
                </a:solidFill>
                <a:latin typeface="Arial"/>
                <a:ea typeface="Arial"/>
                <a:cs typeface="Arial"/>
                <a:sym typeface="Arial"/>
              </a:rPr>
              <a:t>REQ-SEC-007</a:t>
            </a:r>
            <a:br>
              <a:rPr lang="ru-RU" sz="1200" b="0" i="0" u="none" strike="noStrike" cap="none">
                <a:solidFill>
                  <a:srgbClr val="647080"/>
                </a:solidFill>
                <a:latin typeface="Arial"/>
                <a:ea typeface="Arial"/>
                <a:cs typeface="Arial"/>
                <a:sym typeface="Arial"/>
              </a:rPr>
            </a:br>
            <a:r>
              <a:rPr lang="ru-RU" sz="1200" b="0" i="0" u="none" strike="noStrike" cap="none">
                <a:solidFill>
                  <a:srgbClr val="647080"/>
                </a:solidFill>
                <a:latin typeface="Arial"/>
                <a:ea typeface="Arial"/>
                <a:cs typeface="Arial"/>
                <a:sym typeface="Arial"/>
              </a:rPr>
              <a:t>consent, retention</a:t>
            </a:r>
            <a:endParaRPr/>
          </a:p>
          <a:p>
            <a:pPr marL="0" marR="0" lvl="0" indent="0" algn="l" rtl="0">
              <a:lnSpc>
                <a:spcPct val="100000"/>
              </a:lnSpc>
              <a:spcBef>
                <a:spcPts val="400"/>
              </a:spcBef>
              <a:spcAft>
                <a:spcPts val="0"/>
              </a:spcAft>
              <a:buNone/>
            </a:pPr>
            <a:r>
              <a:rPr lang="ru-RU" sz="1250" b="1" i="0" u="none" strike="noStrike" cap="none">
                <a:solidFill>
                  <a:srgbClr val="13263A"/>
                </a:solidFill>
                <a:latin typeface="Arial"/>
                <a:ea typeface="Arial"/>
                <a:cs typeface="Arial"/>
                <a:sym typeface="Arial"/>
              </a:rPr>
              <a:t>REQ-COMP-001</a:t>
            </a:r>
            <a:br>
              <a:rPr lang="ru-RU" sz="1200" b="0" i="0" u="none" strike="noStrike" cap="none">
                <a:solidFill>
                  <a:srgbClr val="647080"/>
                </a:solidFill>
                <a:latin typeface="Arial"/>
                <a:ea typeface="Arial"/>
                <a:cs typeface="Arial"/>
                <a:sym typeface="Arial"/>
              </a:rPr>
            </a:br>
            <a:r>
              <a:rPr lang="ru-RU" sz="1200" b="0" i="0" u="none" strike="noStrike" cap="none">
                <a:solidFill>
                  <a:srgbClr val="647080"/>
                </a:solidFill>
                <a:latin typeface="Arial"/>
                <a:ea typeface="Arial"/>
                <a:cs typeface="Arial"/>
                <a:sym typeface="Arial"/>
              </a:rPr>
              <a:t>licences</a:t>
            </a:r>
            <a:endParaRPr/>
          </a:p>
        </p:txBody>
      </p:sp>
      <p:sp>
        <p:nvSpPr>
          <p:cNvPr id="183" name="Google Shape;183;p16"/>
          <p:cNvSpPr txBox="1"/>
          <p:nvPr/>
        </p:nvSpPr>
        <p:spPr>
          <a:xfrm>
            <a:off x="6300215" y="5074920"/>
            <a:ext cx="2377439" cy="32004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250" b="1" i="0" u="none" strike="noStrike" cap="none">
                <a:solidFill>
                  <a:srgbClr val="255CF0"/>
                </a:solidFill>
                <a:latin typeface="Arial"/>
                <a:ea typeface="Arial"/>
                <a:cs typeface="Arial"/>
                <a:sym typeface="Arial"/>
              </a:rPr>
              <a:t>All</a:t>
            </a:r>
            <a:endParaRPr/>
          </a:p>
        </p:txBody>
      </p:sp>
      <p:cxnSp>
        <p:nvCxnSpPr>
          <p:cNvPr id="184" name="Google Shape;184;p16"/>
          <p:cNvCxnSpPr/>
          <p:nvPr/>
        </p:nvCxnSpPr>
        <p:spPr>
          <a:xfrm>
            <a:off x="8787384" y="2167128"/>
            <a:ext cx="192024" cy="0"/>
          </a:xfrm>
          <a:prstGeom prst="straightConnector1">
            <a:avLst/>
          </a:prstGeom>
          <a:noFill/>
          <a:ln w="19050" cap="flat" cmpd="sng">
            <a:solidFill>
              <a:srgbClr val="647080"/>
            </a:solidFill>
            <a:prstDash val="solid"/>
            <a:round/>
            <a:headEnd type="none" w="sm" len="sm"/>
            <a:tailEnd type="triangle" w="med" len="med"/>
          </a:ln>
          <a:effectLst>
            <a:outerShdw blurRad="40000" dist="20000" dir="5400000" rotWithShape="0">
              <a:srgbClr val="000000">
                <a:alpha val="38039"/>
              </a:srgbClr>
            </a:outerShdw>
          </a:effectLst>
        </p:spPr>
      </p:cxnSp>
      <p:sp>
        <p:nvSpPr>
          <p:cNvPr id="185" name="Google Shape;185;p16"/>
          <p:cNvSpPr/>
          <p:nvPr/>
        </p:nvSpPr>
        <p:spPr>
          <a:xfrm>
            <a:off x="8997695" y="1783080"/>
            <a:ext cx="2560320" cy="777240"/>
          </a:xfrm>
          <a:prstGeom prst="rect">
            <a:avLst/>
          </a:prstGeom>
          <a:solidFill>
            <a:srgbClr val="13263A"/>
          </a:solidFill>
          <a:ln>
            <a:noFill/>
          </a:ln>
        </p:spPr>
        <p:txBody>
          <a:bodyPr spcFirstLastPara="1" wrap="square" lIns="109725" tIns="54850" rIns="109725" bIns="54850" anchor="ctr" anchorCtr="0">
            <a:noAutofit/>
          </a:bodyPr>
          <a:lstStyle/>
          <a:p>
            <a:pPr marL="0" marR="0" lvl="0" indent="0" algn="l" rtl="0">
              <a:lnSpc>
                <a:spcPct val="100000"/>
              </a:lnSpc>
              <a:spcBef>
                <a:spcPts val="0"/>
              </a:spcBef>
              <a:spcAft>
                <a:spcPts val="0"/>
              </a:spcAft>
              <a:buNone/>
            </a:pPr>
            <a:r>
              <a:rPr lang="ru-RU" sz="1350" b="1" i="0" u="none" strike="noStrike" cap="none">
                <a:solidFill>
                  <a:srgbClr val="FFFFFF"/>
                </a:solidFill>
                <a:latin typeface="Arial"/>
                <a:ea typeface="Arial"/>
                <a:cs typeface="Arial"/>
                <a:sym typeface="Arial"/>
              </a:rPr>
              <a:t>INCREMENT 2</a:t>
            </a:r>
            <a:endParaRPr/>
          </a:p>
          <a:p>
            <a:pPr marL="0" marR="0" lvl="0" indent="0" algn="l" rtl="0">
              <a:lnSpc>
                <a:spcPct val="100000"/>
              </a:lnSpc>
              <a:spcBef>
                <a:spcPts val="0"/>
              </a:spcBef>
              <a:spcAft>
                <a:spcPts val="0"/>
              </a:spcAft>
              <a:buNone/>
            </a:pPr>
            <a:r>
              <a:rPr lang="ru-RU" sz="1200" b="0" i="0" u="none" strike="noStrike" cap="none">
                <a:solidFill>
                  <a:srgbClr val="FFFFFF"/>
                </a:solidFill>
                <a:latin typeface="Arial"/>
                <a:ea typeface="Arial"/>
                <a:cs typeface="Arial"/>
                <a:sym typeface="Arial"/>
              </a:rPr>
              <a:t>More situations</a:t>
            </a:r>
            <a:endParaRPr/>
          </a:p>
        </p:txBody>
      </p:sp>
      <p:sp>
        <p:nvSpPr>
          <p:cNvPr id="186" name="Google Shape;186;p16"/>
          <p:cNvSpPr/>
          <p:nvPr/>
        </p:nvSpPr>
        <p:spPr>
          <a:xfrm>
            <a:off x="8997695" y="2560320"/>
            <a:ext cx="2560320" cy="2926080"/>
          </a:xfrm>
          <a:prstGeom prst="rect">
            <a:avLst/>
          </a:prstGeom>
          <a:solidFill>
            <a:srgbClr val="FFFFFF"/>
          </a:solidFill>
          <a:ln w="9525" cap="flat" cmpd="sng">
            <a:solidFill>
              <a:srgbClr val="A8B6C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87" name="Google Shape;187;p16"/>
          <p:cNvSpPr txBox="1"/>
          <p:nvPr/>
        </p:nvSpPr>
        <p:spPr>
          <a:xfrm>
            <a:off x="9089135" y="2651760"/>
            <a:ext cx="2377439" cy="432412"/>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250" b="1" i="0" u="none" strike="noStrike" cap="none" dirty="0">
                <a:solidFill>
                  <a:srgbClr val="13263A"/>
                </a:solidFill>
                <a:latin typeface="Arial"/>
                <a:ea typeface="Arial"/>
                <a:cs typeface="Arial"/>
                <a:sym typeface="Arial"/>
              </a:rPr>
              <a:t>REQ-FUNC-011</a:t>
            </a:r>
            <a:br>
              <a:rPr lang="ru-RU" sz="1200" b="0" i="0" u="none" strike="noStrike" cap="none" dirty="0">
                <a:solidFill>
                  <a:srgbClr val="647080"/>
                </a:solidFill>
                <a:latin typeface="Arial"/>
                <a:ea typeface="Arial"/>
                <a:cs typeface="Arial"/>
                <a:sym typeface="Arial"/>
              </a:rPr>
            </a:br>
            <a:r>
              <a:rPr lang="ru-RU" sz="1200" b="0" i="0" u="none" strike="noStrike" cap="none" dirty="0">
                <a:solidFill>
                  <a:srgbClr val="647080"/>
                </a:solidFill>
                <a:latin typeface="Arial"/>
                <a:ea typeface="Arial"/>
                <a:cs typeface="Arial"/>
                <a:sym typeface="Arial"/>
              </a:rPr>
              <a:t>bus, doctor, …</a:t>
            </a:r>
            <a:endParaRPr dirty="0"/>
          </a:p>
        </p:txBody>
      </p:sp>
      <p:sp>
        <p:nvSpPr>
          <p:cNvPr id="188" name="Google Shape;188;p16"/>
          <p:cNvSpPr txBox="1"/>
          <p:nvPr/>
        </p:nvSpPr>
        <p:spPr>
          <a:xfrm>
            <a:off x="9089135" y="5074920"/>
            <a:ext cx="2377439" cy="32004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250" b="1" i="0" u="none" strike="noStrike" cap="none">
                <a:solidFill>
                  <a:srgbClr val="255CF0"/>
                </a:solidFill>
                <a:latin typeface="Arial"/>
                <a:ea typeface="Arial"/>
                <a:cs typeface="Arial"/>
                <a:sym typeface="Arial"/>
              </a:rPr>
              <a:t>All · Thibaut</a:t>
            </a:r>
            <a:endParaRPr/>
          </a:p>
        </p:txBody>
      </p:sp>
      <p:sp>
        <p:nvSpPr>
          <p:cNvPr id="189" name="Google Shape;189;p16"/>
          <p:cNvSpPr txBox="1"/>
          <p:nvPr/>
        </p:nvSpPr>
        <p:spPr>
          <a:xfrm>
            <a:off x="630936" y="5669280"/>
            <a:ext cx="10789920" cy="36576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400" b="0" i="0" u="none" strike="noStrike" cap="none">
                <a:solidFill>
                  <a:srgbClr val="647080"/>
                </a:solidFill>
                <a:latin typeface="Arial"/>
                <a:ea typeface="Arial"/>
                <a:cs typeface="Arial"/>
                <a:sym typeface="Arial"/>
              </a:rPr>
              <a:t>Also open: 10 TBD decisions in SRS Appendix B (targets, model, hosting, auth method, limits,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4F0"/>
        </a:solidFill>
        <a:effectLst/>
      </p:bgPr>
    </p:bg>
    <p:spTree>
      <p:nvGrpSpPr>
        <p:cNvPr id="1" name="Shape 194"/>
        <p:cNvGrpSpPr/>
        <p:nvPr/>
      </p:nvGrpSpPr>
      <p:grpSpPr>
        <a:xfrm>
          <a:off x="0" y="0"/>
          <a:ext cx="0" cy="0"/>
          <a:chOff x="0" y="0"/>
          <a:chExt cx="0" cy="0"/>
        </a:xfrm>
      </p:grpSpPr>
      <p:sp>
        <p:nvSpPr>
          <p:cNvPr id="195" name="Google Shape;195;p18"/>
          <p:cNvSpPr txBox="1"/>
          <p:nvPr/>
        </p:nvSpPr>
        <p:spPr>
          <a:xfrm>
            <a:off x="612648" y="457200"/>
            <a:ext cx="10954512" cy="758952"/>
          </a:xfrm>
          <a:prstGeom prst="rect">
            <a:avLst/>
          </a:prstGeom>
          <a:noFill/>
          <a:ln>
            <a:noFill/>
          </a:ln>
        </p:spPr>
        <p:txBody>
          <a:bodyPr spcFirstLastPara="1" wrap="square" lIns="45700" tIns="27425" rIns="45700" bIns="27425" anchor="ctr" anchorCtr="0">
            <a:spAutoFit/>
          </a:bodyPr>
          <a:lstStyle/>
          <a:p>
            <a:pPr marL="0" marR="0" lvl="0" indent="0" algn="l" rtl="0">
              <a:lnSpc>
                <a:spcPct val="100000"/>
              </a:lnSpc>
              <a:spcBef>
                <a:spcPts val="0"/>
              </a:spcBef>
              <a:spcAft>
                <a:spcPts val="0"/>
              </a:spcAft>
              <a:buNone/>
            </a:pPr>
            <a:r>
              <a:rPr lang="ru-RU" sz="3300" b="1" i="0" u="none" strike="noStrike" cap="none">
                <a:solidFill>
                  <a:srgbClr val="13263A"/>
                </a:solidFill>
                <a:latin typeface="Arial"/>
                <a:ea typeface="Arial"/>
                <a:cs typeface="Arial"/>
                <a:sym typeface="Arial"/>
              </a:rPr>
              <a:t>Remaining Assignment 1 work</a:t>
            </a:r>
            <a:endParaRPr/>
          </a:p>
        </p:txBody>
      </p:sp>
      <p:sp>
        <p:nvSpPr>
          <p:cNvPr id="196" name="Google Shape;196;p18"/>
          <p:cNvSpPr txBox="1"/>
          <p:nvPr/>
        </p:nvSpPr>
        <p:spPr>
          <a:xfrm>
            <a:off x="11045952" y="6245352"/>
            <a:ext cx="530352" cy="283464"/>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350" b="0" i="0" u="none" strike="noStrike" cap="none">
                <a:solidFill>
                  <a:srgbClr val="647080"/>
                </a:solidFill>
                <a:latin typeface="Arial"/>
                <a:ea typeface="Arial"/>
                <a:cs typeface="Arial"/>
                <a:sym typeface="Arial"/>
              </a:rPr>
              <a:t>13</a:t>
            </a:r>
            <a:endParaRPr/>
          </a:p>
        </p:txBody>
      </p:sp>
      <p:sp>
        <p:nvSpPr>
          <p:cNvPr id="197" name="Google Shape;197;p18"/>
          <p:cNvSpPr txBox="1"/>
          <p:nvPr/>
        </p:nvSpPr>
        <p:spPr>
          <a:xfrm>
            <a:off x="630936" y="1216152"/>
            <a:ext cx="10570464" cy="41148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800" b="0" i="0" u="none" strike="noStrike" cap="none">
                <a:solidFill>
                  <a:srgbClr val="647080"/>
                </a:solidFill>
                <a:latin typeface="Arial"/>
                <a:ea typeface="Arial"/>
                <a:cs typeface="Arial"/>
                <a:sym typeface="Arial"/>
              </a:rPr>
              <a:t>02  Experimental progress  ·  SRS due Week 7, split by SRS ownership</a:t>
            </a:r>
            <a:endParaRPr/>
          </a:p>
        </p:txBody>
      </p:sp>
      <p:graphicFrame>
        <p:nvGraphicFramePr>
          <p:cNvPr id="198" name="Google Shape;198;p18"/>
          <p:cNvGraphicFramePr/>
          <p:nvPr>
            <p:extLst>
              <p:ext uri="{D42A27DB-BD31-4B8C-83A1-F6EECF244321}">
                <p14:modId xmlns:p14="http://schemas.microsoft.com/office/powerpoint/2010/main" val="2669219892"/>
              </p:ext>
            </p:extLst>
          </p:nvPr>
        </p:nvGraphicFramePr>
        <p:xfrm>
          <a:off x="1431036" y="1856243"/>
          <a:ext cx="9372625" cy="3401550"/>
        </p:xfrm>
        <a:graphic>
          <a:graphicData uri="http://schemas.openxmlformats.org/drawingml/2006/table">
            <a:tbl>
              <a:tblPr firstRow="1" bandRow="1">
                <a:noFill/>
                <a:tableStyleId>{43563D48-E419-461C-BD84-96CC8D14F9AA}</a:tableStyleId>
              </a:tblPr>
              <a:tblGrid>
                <a:gridCol w="1188725">
                  <a:extLst>
                    <a:ext uri="{9D8B030D-6E8A-4147-A177-3AD203B41FA5}">
                      <a16:colId xmlns:a16="http://schemas.microsoft.com/office/drawing/2014/main" val="20000"/>
                    </a:ext>
                  </a:extLst>
                </a:gridCol>
                <a:gridCol w="1463050">
                  <a:extLst>
                    <a:ext uri="{9D8B030D-6E8A-4147-A177-3AD203B41FA5}">
                      <a16:colId xmlns:a16="http://schemas.microsoft.com/office/drawing/2014/main" val="20001"/>
                    </a:ext>
                  </a:extLst>
                </a:gridCol>
                <a:gridCol w="6720850">
                  <a:extLst>
                    <a:ext uri="{9D8B030D-6E8A-4147-A177-3AD203B41FA5}">
                      <a16:colId xmlns:a16="http://schemas.microsoft.com/office/drawing/2014/main" val="20002"/>
                    </a:ext>
                  </a:extLst>
                </a:gridCol>
              </a:tblGrid>
              <a:tr h="566925">
                <a:tc>
                  <a:txBody>
                    <a:bodyPr/>
                    <a:lstStyle/>
                    <a:p>
                      <a:pPr marL="0" marR="0" lvl="0" indent="0" algn="l" rtl="0">
                        <a:lnSpc>
                          <a:spcPct val="100000"/>
                        </a:lnSpc>
                        <a:spcBef>
                          <a:spcPts val="0"/>
                        </a:spcBef>
                        <a:spcAft>
                          <a:spcPts val="0"/>
                        </a:spcAft>
                        <a:buNone/>
                      </a:pPr>
                      <a:r>
                        <a:rPr lang="ru-RU" sz="1350" b="1" u="none" strike="noStrike" cap="none">
                          <a:solidFill>
                            <a:srgbClr val="FFFFFF"/>
                          </a:solidFill>
                          <a:latin typeface="Arial"/>
                          <a:ea typeface="Arial"/>
                          <a:cs typeface="Arial"/>
                          <a:sym typeface="Arial"/>
                        </a:rPr>
                        <a:t>Owner</a:t>
                      </a:r>
                      <a:endParaRPr/>
                    </a:p>
                  </a:txBody>
                  <a:tcPr marL="73150" marR="73150" marT="36575" marB="36575" anchor="ctr">
                    <a:lnL w="9525" cap="flat" cmpd="sng">
                      <a:solidFill>
                        <a:srgbClr val="647080"/>
                      </a:solidFill>
                      <a:prstDash val="solid"/>
                      <a:round/>
                      <a:headEnd type="none" w="sm" len="sm"/>
                      <a:tailEnd type="none" w="sm" len="sm"/>
                    </a:lnL>
                    <a:lnR w="9525" cap="flat" cmpd="sng">
                      <a:solidFill>
                        <a:srgbClr val="647080"/>
                      </a:solidFill>
                      <a:prstDash val="solid"/>
                      <a:round/>
                      <a:headEnd type="none" w="sm" len="sm"/>
                      <a:tailEnd type="none" w="sm" len="sm"/>
                    </a:lnR>
                    <a:lnT w="9525" cap="flat" cmpd="sng">
                      <a:solidFill>
                        <a:srgbClr val="647080"/>
                      </a:solidFill>
                      <a:prstDash val="solid"/>
                      <a:round/>
                      <a:headEnd type="none" w="sm" len="sm"/>
                      <a:tailEnd type="none" w="sm" len="sm"/>
                    </a:lnT>
                    <a:lnB w="9525" cap="flat" cmpd="sng">
                      <a:solidFill>
                        <a:srgbClr val="647080"/>
                      </a:solidFill>
                      <a:prstDash val="solid"/>
                      <a:round/>
                      <a:headEnd type="none" w="sm" len="sm"/>
                      <a:tailEnd type="none" w="sm" len="sm"/>
                    </a:lnB>
                    <a:solidFill>
                      <a:srgbClr val="13263A"/>
                    </a:solidFill>
                  </a:tcPr>
                </a:tc>
                <a:tc>
                  <a:txBody>
                    <a:bodyPr/>
                    <a:lstStyle/>
                    <a:p>
                      <a:pPr marL="0" marR="0" lvl="0" indent="0" algn="l" rtl="0">
                        <a:lnSpc>
                          <a:spcPct val="100000"/>
                        </a:lnSpc>
                        <a:spcBef>
                          <a:spcPts val="0"/>
                        </a:spcBef>
                        <a:spcAft>
                          <a:spcPts val="0"/>
                        </a:spcAft>
                        <a:buNone/>
                      </a:pPr>
                      <a:r>
                        <a:rPr lang="ru-RU" sz="1350" b="1" u="none" strike="noStrike" cap="none">
                          <a:solidFill>
                            <a:srgbClr val="FFFFFF"/>
                          </a:solidFill>
                          <a:latin typeface="Arial"/>
                          <a:ea typeface="Arial"/>
                          <a:cs typeface="Arial"/>
                          <a:sym typeface="Arial"/>
                        </a:rPr>
                        <a:t>Area</a:t>
                      </a:r>
                      <a:endParaRPr/>
                    </a:p>
                  </a:txBody>
                  <a:tcPr marL="73150" marR="73150" marT="36575" marB="36575" anchor="ctr">
                    <a:lnL w="9525" cap="flat" cmpd="sng">
                      <a:solidFill>
                        <a:srgbClr val="647080"/>
                      </a:solidFill>
                      <a:prstDash val="solid"/>
                      <a:round/>
                      <a:headEnd type="none" w="sm" len="sm"/>
                      <a:tailEnd type="none" w="sm" len="sm"/>
                    </a:lnL>
                    <a:lnR w="9525" cap="flat" cmpd="sng">
                      <a:solidFill>
                        <a:srgbClr val="647080"/>
                      </a:solidFill>
                      <a:prstDash val="solid"/>
                      <a:round/>
                      <a:headEnd type="none" w="sm" len="sm"/>
                      <a:tailEnd type="none" w="sm" len="sm"/>
                    </a:lnR>
                    <a:lnT w="9525" cap="flat" cmpd="sng">
                      <a:solidFill>
                        <a:srgbClr val="647080"/>
                      </a:solidFill>
                      <a:prstDash val="solid"/>
                      <a:round/>
                      <a:headEnd type="none" w="sm" len="sm"/>
                      <a:tailEnd type="none" w="sm" len="sm"/>
                    </a:lnT>
                    <a:lnB w="9525" cap="flat" cmpd="sng">
                      <a:solidFill>
                        <a:srgbClr val="647080"/>
                      </a:solidFill>
                      <a:prstDash val="solid"/>
                      <a:round/>
                      <a:headEnd type="none" w="sm" len="sm"/>
                      <a:tailEnd type="none" w="sm" len="sm"/>
                    </a:lnB>
                    <a:solidFill>
                      <a:srgbClr val="13263A"/>
                    </a:solidFill>
                  </a:tcPr>
                </a:tc>
                <a:tc>
                  <a:txBody>
                    <a:bodyPr/>
                    <a:lstStyle/>
                    <a:p>
                      <a:pPr marL="0" marR="0" lvl="0" indent="0" algn="l" rtl="0">
                        <a:lnSpc>
                          <a:spcPct val="100000"/>
                        </a:lnSpc>
                        <a:spcBef>
                          <a:spcPts val="0"/>
                        </a:spcBef>
                        <a:spcAft>
                          <a:spcPts val="0"/>
                        </a:spcAft>
                        <a:buNone/>
                      </a:pPr>
                      <a:r>
                        <a:rPr lang="ru-RU" sz="1350" b="1" u="none" strike="noStrike" cap="none">
                          <a:solidFill>
                            <a:srgbClr val="FFFFFF"/>
                          </a:solidFill>
                          <a:latin typeface="Arial"/>
                          <a:ea typeface="Arial"/>
                          <a:cs typeface="Arial"/>
                          <a:sym typeface="Arial"/>
                        </a:rPr>
                        <a:t>SRS items to close</a:t>
                      </a:r>
                      <a:endParaRPr/>
                    </a:p>
                  </a:txBody>
                  <a:tcPr marL="73150" marR="73150" marT="36575" marB="36575" anchor="ctr">
                    <a:lnL w="9525" cap="flat" cmpd="sng">
                      <a:solidFill>
                        <a:srgbClr val="647080"/>
                      </a:solidFill>
                      <a:prstDash val="solid"/>
                      <a:round/>
                      <a:headEnd type="none" w="sm" len="sm"/>
                      <a:tailEnd type="none" w="sm" len="sm"/>
                    </a:lnL>
                    <a:lnR w="9525" cap="flat" cmpd="sng">
                      <a:solidFill>
                        <a:srgbClr val="647080"/>
                      </a:solidFill>
                      <a:prstDash val="solid"/>
                      <a:round/>
                      <a:headEnd type="none" w="sm" len="sm"/>
                      <a:tailEnd type="none" w="sm" len="sm"/>
                    </a:lnR>
                    <a:lnT w="9525" cap="flat" cmpd="sng">
                      <a:solidFill>
                        <a:srgbClr val="647080"/>
                      </a:solidFill>
                      <a:prstDash val="solid"/>
                      <a:round/>
                      <a:headEnd type="none" w="sm" len="sm"/>
                      <a:tailEnd type="none" w="sm" len="sm"/>
                    </a:lnT>
                    <a:lnB w="9525" cap="flat" cmpd="sng">
                      <a:solidFill>
                        <a:srgbClr val="647080"/>
                      </a:solidFill>
                      <a:prstDash val="solid"/>
                      <a:round/>
                      <a:headEnd type="none" w="sm" len="sm"/>
                      <a:tailEnd type="none" w="sm" len="sm"/>
                    </a:lnB>
                    <a:solidFill>
                      <a:srgbClr val="13263A"/>
                    </a:solidFill>
                  </a:tcPr>
                </a:tc>
                <a:extLst>
                  <a:ext uri="{0D108BD9-81ED-4DB2-BD59-A6C34878D82A}">
                    <a16:rowId xmlns:a16="http://schemas.microsoft.com/office/drawing/2014/main" val="10000"/>
                  </a:ext>
                </a:extLst>
              </a:tr>
              <a:tr h="566925">
                <a:tc>
                  <a:txBody>
                    <a:bodyPr/>
                    <a:lstStyle/>
                    <a:p>
                      <a:pPr marL="0" marR="0" lvl="0" indent="0" algn="l" rtl="0">
                        <a:lnSpc>
                          <a:spcPct val="100000"/>
                        </a:lnSpc>
                        <a:spcBef>
                          <a:spcPts val="0"/>
                        </a:spcBef>
                        <a:spcAft>
                          <a:spcPts val="0"/>
                        </a:spcAft>
                        <a:buNone/>
                      </a:pPr>
                      <a:r>
                        <a:rPr lang="ru-RU" sz="1300" b="1" u="none" strike="noStrike" cap="none">
                          <a:solidFill>
                            <a:srgbClr val="13263A"/>
                          </a:solidFill>
                          <a:latin typeface="Arial"/>
                          <a:ea typeface="Arial"/>
                          <a:cs typeface="Arial"/>
                          <a:sym typeface="Arial"/>
                        </a:rPr>
                        <a:t>Thibaut</a:t>
                      </a:r>
                      <a:endParaRPr b="1"/>
                    </a:p>
                  </a:txBody>
                  <a:tcPr marL="73150" marR="73150" marT="36575" marB="36575" anchor="ctr">
                    <a:lnL w="9525" cap="flat" cmpd="sng">
                      <a:solidFill>
                        <a:srgbClr val="647080"/>
                      </a:solidFill>
                      <a:prstDash val="solid"/>
                      <a:round/>
                      <a:headEnd type="none" w="sm" len="sm"/>
                      <a:tailEnd type="none" w="sm" len="sm"/>
                    </a:lnL>
                    <a:lnR w="9525" cap="flat" cmpd="sng">
                      <a:solidFill>
                        <a:srgbClr val="647080"/>
                      </a:solidFill>
                      <a:prstDash val="solid"/>
                      <a:round/>
                      <a:headEnd type="none" w="sm" len="sm"/>
                      <a:tailEnd type="none" w="sm" len="sm"/>
                    </a:lnR>
                    <a:lnT w="9525" cap="flat" cmpd="sng">
                      <a:solidFill>
                        <a:srgbClr val="647080"/>
                      </a:solidFill>
                      <a:prstDash val="solid"/>
                      <a:round/>
                      <a:headEnd type="none" w="sm" len="sm"/>
                      <a:tailEnd type="none" w="sm" len="sm"/>
                    </a:lnT>
                    <a:lnB w="9525" cap="flat" cmpd="sng">
                      <a:solidFill>
                        <a:srgbClr val="647080"/>
                      </a:solidFill>
                      <a:prstDash val="solid"/>
                      <a:round/>
                      <a:headEnd type="none" w="sm" len="sm"/>
                      <a:tailEnd type="none" w="sm" len="sm"/>
                    </a:lnB>
                    <a:solidFill>
                      <a:srgbClr val="E6EAF0"/>
                    </a:solidFill>
                  </a:tcPr>
                </a:tc>
                <a:tc>
                  <a:txBody>
                    <a:bodyPr/>
                    <a:lstStyle/>
                    <a:p>
                      <a:pPr marL="0" marR="0" lvl="0" indent="0" algn="l" rtl="0">
                        <a:lnSpc>
                          <a:spcPct val="100000"/>
                        </a:lnSpc>
                        <a:spcBef>
                          <a:spcPts val="0"/>
                        </a:spcBef>
                        <a:spcAft>
                          <a:spcPts val="0"/>
                        </a:spcAft>
                        <a:buNone/>
                      </a:pPr>
                      <a:r>
                        <a:rPr lang="ru-RU" sz="1300" b="0" u="none" strike="noStrike" cap="none">
                          <a:solidFill>
                            <a:srgbClr val="13263A"/>
                          </a:solidFill>
                          <a:latin typeface="Arial"/>
                          <a:ea typeface="Arial"/>
                          <a:cs typeface="Arial"/>
                          <a:sym typeface="Arial"/>
                        </a:rPr>
                        <a:t>Frontend</a:t>
                      </a:r>
                      <a:endParaRPr/>
                    </a:p>
                  </a:txBody>
                  <a:tcPr marL="73150" marR="73150" marT="36575" marB="36575" anchor="ctr">
                    <a:lnL w="9525" cap="flat" cmpd="sng">
                      <a:solidFill>
                        <a:srgbClr val="647080"/>
                      </a:solidFill>
                      <a:prstDash val="solid"/>
                      <a:round/>
                      <a:headEnd type="none" w="sm" len="sm"/>
                      <a:tailEnd type="none" w="sm" len="sm"/>
                    </a:lnL>
                    <a:lnR w="9525" cap="flat" cmpd="sng">
                      <a:solidFill>
                        <a:srgbClr val="647080"/>
                      </a:solidFill>
                      <a:prstDash val="solid"/>
                      <a:round/>
                      <a:headEnd type="none" w="sm" len="sm"/>
                      <a:tailEnd type="none" w="sm" len="sm"/>
                    </a:lnR>
                    <a:lnT w="9525" cap="flat" cmpd="sng">
                      <a:solidFill>
                        <a:srgbClr val="647080"/>
                      </a:solidFill>
                      <a:prstDash val="solid"/>
                      <a:round/>
                      <a:headEnd type="none" w="sm" len="sm"/>
                      <a:tailEnd type="none" w="sm" len="sm"/>
                    </a:lnT>
                    <a:lnB w="9525" cap="flat" cmpd="sng">
                      <a:solidFill>
                        <a:srgbClr val="647080"/>
                      </a:solidFill>
                      <a:prstDash val="solid"/>
                      <a:round/>
                      <a:headEnd type="none" w="sm" len="sm"/>
                      <a:tailEnd type="none" w="sm" len="sm"/>
                    </a:lnB>
                    <a:solidFill>
                      <a:srgbClr val="E6EAF0"/>
                    </a:solidFill>
                  </a:tcPr>
                </a:tc>
                <a:tc>
                  <a:txBody>
                    <a:bodyPr/>
                    <a:lstStyle/>
                    <a:p>
                      <a:pPr marL="0" marR="0" lvl="0" indent="0" algn="l" rtl="0">
                        <a:lnSpc>
                          <a:spcPct val="100000"/>
                        </a:lnSpc>
                        <a:spcBef>
                          <a:spcPts val="0"/>
                        </a:spcBef>
                        <a:spcAft>
                          <a:spcPts val="0"/>
                        </a:spcAft>
                        <a:buNone/>
                      </a:pPr>
                      <a:r>
                        <a:rPr lang="ru-RU" sz="1300" b="0" u="none" strike="noStrike" cap="none">
                          <a:solidFill>
                            <a:srgbClr val="13263A"/>
                          </a:solidFill>
                          <a:latin typeface="Arial"/>
                          <a:ea typeface="Arial"/>
                          <a:cs typeface="Arial"/>
                          <a:sym typeface="Arial"/>
                        </a:rPr>
                        <a:t>UI design, accessibility standard (REQ-INT-001); symbol mapping (REQ-INT-006)</a:t>
                      </a:r>
                      <a:endParaRPr/>
                    </a:p>
                  </a:txBody>
                  <a:tcPr marL="73150" marR="73150" marT="36575" marB="36575" anchor="ctr">
                    <a:lnL w="9525" cap="flat" cmpd="sng">
                      <a:solidFill>
                        <a:srgbClr val="647080"/>
                      </a:solidFill>
                      <a:prstDash val="solid"/>
                      <a:round/>
                      <a:headEnd type="none" w="sm" len="sm"/>
                      <a:tailEnd type="none" w="sm" len="sm"/>
                    </a:lnL>
                    <a:lnR w="9525" cap="flat" cmpd="sng">
                      <a:solidFill>
                        <a:srgbClr val="647080"/>
                      </a:solidFill>
                      <a:prstDash val="solid"/>
                      <a:round/>
                      <a:headEnd type="none" w="sm" len="sm"/>
                      <a:tailEnd type="none" w="sm" len="sm"/>
                    </a:lnR>
                    <a:lnT w="9525" cap="flat" cmpd="sng">
                      <a:solidFill>
                        <a:srgbClr val="647080"/>
                      </a:solidFill>
                      <a:prstDash val="solid"/>
                      <a:round/>
                      <a:headEnd type="none" w="sm" len="sm"/>
                      <a:tailEnd type="none" w="sm" len="sm"/>
                    </a:lnT>
                    <a:lnB w="9525" cap="flat" cmpd="sng">
                      <a:solidFill>
                        <a:srgbClr val="647080"/>
                      </a:solidFill>
                      <a:prstDash val="solid"/>
                      <a:round/>
                      <a:headEnd type="none" w="sm" len="sm"/>
                      <a:tailEnd type="none" w="sm" len="sm"/>
                    </a:lnB>
                    <a:solidFill>
                      <a:srgbClr val="E6EAF0"/>
                    </a:solidFill>
                  </a:tcPr>
                </a:tc>
                <a:extLst>
                  <a:ext uri="{0D108BD9-81ED-4DB2-BD59-A6C34878D82A}">
                    <a16:rowId xmlns:a16="http://schemas.microsoft.com/office/drawing/2014/main" val="10001"/>
                  </a:ext>
                </a:extLst>
              </a:tr>
              <a:tr h="566925">
                <a:tc>
                  <a:txBody>
                    <a:bodyPr/>
                    <a:lstStyle/>
                    <a:p>
                      <a:pPr marL="0" marR="0" lvl="0" indent="0" algn="l" rtl="0">
                        <a:lnSpc>
                          <a:spcPct val="100000"/>
                        </a:lnSpc>
                        <a:spcBef>
                          <a:spcPts val="0"/>
                        </a:spcBef>
                        <a:spcAft>
                          <a:spcPts val="0"/>
                        </a:spcAft>
                        <a:buNone/>
                      </a:pPr>
                      <a:r>
                        <a:rPr lang="ru-RU" sz="1300" b="1" u="none" strike="noStrike" cap="none">
                          <a:solidFill>
                            <a:srgbClr val="13263A"/>
                          </a:solidFill>
                          <a:latin typeface="Arial"/>
                          <a:ea typeface="Arial"/>
                          <a:cs typeface="Arial"/>
                          <a:sym typeface="Arial"/>
                        </a:rPr>
                        <a:t>Veronika</a:t>
                      </a:r>
                      <a:endParaRPr b="1"/>
                    </a:p>
                  </a:txBody>
                  <a:tcPr marL="73150" marR="73150" marT="36575" marB="36575" anchor="ctr">
                    <a:lnL w="9525" cap="flat" cmpd="sng">
                      <a:solidFill>
                        <a:srgbClr val="647080"/>
                      </a:solidFill>
                      <a:prstDash val="solid"/>
                      <a:round/>
                      <a:headEnd type="none" w="sm" len="sm"/>
                      <a:tailEnd type="none" w="sm" len="sm"/>
                    </a:lnL>
                    <a:lnR w="9525" cap="flat" cmpd="sng">
                      <a:solidFill>
                        <a:srgbClr val="647080"/>
                      </a:solidFill>
                      <a:prstDash val="solid"/>
                      <a:round/>
                      <a:headEnd type="none" w="sm" len="sm"/>
                      <a:tailEnd type="none" w="sm" len="sm"/>
                    </a:lnR>
                    <a:lnT w="9525" cap="flat" cmpd="sng">
                      <a:solidFill>
                        <a:srgbClr val="647080"/>
                      </a:solidFill>
                      <a:prstDash val="solid"/>
                      <a:round/>
                      <a:headEnd type="none" w="sm" len="sm"/>
                      <a:tailEnd type="none" w="sm" len="sm"/>
                    </a:lnT>
                    <a:lnB w="9525" cap="flat" cmpd="sng">
                      <a:solidFill>
                        <a:srgbClr val="647080"/>
                      </a:solidFill>
                      <a:prstDash val="solid"/>
                      <a:round/>
                      <a:headEnd type="none" w="sm" len="sm"/>
                      <a:tailEnd type="none" w="sm" len="sm"/>
                    </a:lnB>
                    <a:solidFill>
                      <a:srgbClr val="EEF0F3"/>
                    </a:solidFill>
                  </a:tcPr>
                </a:tc>
                <a:tc>
                  <a:txBody>
                    <a:bodyPr/>
                    <a:lstStyle/>
                    <a:p>
                      <a:pPr marL="0" marR="0" lvl="0" indent="0" algn="l" rtl="0">
                        <a:lnSpc>
                          <a:spcPct val="100000"/>
                        </a:lnSpc>
                        <a:spcBef>
                          <a:spcPts val="0"/>
                        </a:spcBef>
                        <a:spcAft>
                          <a:spcPts val="0"/>
                        </a:spcAft>
                        <a:buNone/>
                      </a:pPr>
                      <a:r>
                        <a:rPr lang="ru-RU" sz="1300" b="0" u="none" strike="noStrike" cap="none">
                          <a:solidFill>
                            <a:srgbClr val="13263A"/>
                          </a:solidFill>
                          <a:latin typeface="Arial"/>
                          <a:ea typeface="Arial"/>
                          <a:cs typeface="Arial"/>
                          <a:sym typeface="Arial"/>
                        </a:rPr>
                        <a:t>Backend + data</a:t>
                      </a:r>
                      <a:endParaRPr/>
                    </a:p>
                  </a:txBody>
                  <a:tcPr marL="73150" marR="73150" marT="36575" marB="36575" anchor="ctr">
                    <a:lnL w="9525" cap="flat" cmpd="sng">
                      <a:solidFill>
                        <a:srgbClr val="647080"/>
                      </a:solidFill>
                      <a:prstDash val="solid"/>
                      <a:round/>
                      <a:headEnd type="none" w="sm" len="sm"/>
                      <a:tailEnd type="none" w="sm" len="sm"/>
                    </a:lnL>
                    <a:lnR w="9525" cap="flat" cmpd="sng">
                      <a:solidFill>
                        <a:srgbClr val="647080"/>
                      </a:solidFill>
                      <a:prstDash val="solid"/>
                      <a:round/>
                      <a:headEnd type="none" w="sm" len="sm"/>
                      <a:tailEnd type="none" w="sm" len="sm"/>
                    </a:lnR>
                    <a:lnT w="9525" cap="flat" cmpd="sng">
                      <a:solidFill>
                        <a:srgbClr val="647080"/>
                      </a:solidFill>
                      <a:prstDash val="solid"/>
                      <a:round/>
                      <a:headEnd type="none" w="sm" len="sm"/>
                      <a:tailEnd type="none" w="sm" len="sm"/>
                    </a:lnT>
                    <a:lnB w="9525" cap="flat" cmpd="sng">
                      <a:solidFill>
                        <a:srgbClr val="647080"/>
                      </a:solidFill>
                      <a:prstDash val="solid"/>
                      <a:round/>
                      <a:headEnd type="none" w="sm" len="sm"/>
                      <a:tailEnd type="none" w="sm" len="sm"/>
                    </a:lnB>
                    <a:solidFill>
                      <a:srgbClr val="EEF0F3"/>
                    </a:solidFill>
                  </a:tcPr>
                </a:tc>
                <a:tc>
                  <a:txBody>
                    <a:bodyPr/>
                    <a:lstStyle/>
                    <a:p>
                      <a:pPr marL="0" marR="0" lvl="0" indent="0" algn="l" rtl="0">
                        <a:lnSpc>
                          <a:spcPct val="100000"/>
                        </a:lnSpc>
                        <a:spcBef>
                          <a:spcPts val="0"/>
                        </a:spcBef>
                        <a:spcAft>
                          <a:spcPts val="0"/>
                        </a:spcAft>
                        <a:buNone/>
                      </a:pPr>
                      <a:r>
                        <a:rPr lang="ru-RU" sz="1300" b="0" u="none" strike="noStrike" cap="none">
                          <a:solidFill>
                            <a:srgbClr val="13263A"/>
                          </a:solidFill>
                          <a:latin typeface="Arial"/>
                          <a:ea typeface="Arial"/>
                          <a:cs typeface="Arial"/>
                          <a:sym typeface="Arial"/>
                        </a:rPr>
                        <a:t>Response-time target (REQ-PERF-001); provider timeout (REQ-REL-002); PostgreSQL check (REQ-PORT-001)</a:t>
                      </a:r>
                      <a:endParaRPr/>
                    </a:p>
                  </a:txBody>
                  <a:tcPr marL="73150" marR="73150" marT="36575" marB="36575" anchor="ctr">
                    <a:lnL w="9525" cap="flat" cmpd="sng">
                      <a:solidFill>
                        <a:srgbClr val="647080"/>
                      </a:solidFill>
                      <a:prstDash val="solid"/>
                      <a:round/>
                      <a:headEnd type="none" w="sm" len="sm"/>
                      <a:tailEnd type="none" w="sm" len="sm"/>
                    </a:lnL>
                    <a:lnR w="9525" cap="flat" cmpd="sng">
                      <a:solidFill>
                        <a:srgbClr val="647080"/>
                      </a:solidFill>
                      <a:prstDash val="solid"/>
                      <a:round/>
                      <a:headEnd type="none" w="sm" len="sm"/>
                      <a:tailEnd type="none" w="sm" len="sm"/>
                    </a:lnR>
                    <a:lnT w="9525" cap="flat" cmpd="sng">
                      <a:solidFill>
                        <a:srgbClr val="647080"/>
                      </a:solidFill>
                      <a:prstDash val="solid"/>
                      <a:round/>
                      <a:headEnd type="none" w="sm" len="sm"/>
                      <a:tailEnd type="none" w="sm" len="sm"/>
                    </a:lnT>
                    <a:lnB w="9525" cap="flat" cmpd="sng">
                      <a:solidFill>
                        <a:srgbClr val="647080"/>
                      </a:solidFill>
                      <a:prstDash val="solid"/>
                      <a:round/>
                      <a:headEnd type="none" w="sm" len="sm"/>
                      <a:tailEnd type="none" w="sm" len="sm"/>
                    </a:lnB>
                    <a:solidFill>
                      <a:srgbClr val="EEF0F3"/>
                    </a:solidFill>
                  </a:tcPr>
                </a:tc>
                <a:extLst>
                  <a:ext uri="{0D108BD9-81ED-4DB2-BD59-A6C34878D82A}">
                    <a16:rowId xmlns:a16="http://schemas.microsoft.com/office/drawing/2014/main" val="10002"/>
                  </a:ext>
                </a:extLst>
              </a:tr>
              <a:tr h="566925">
                <a:tc>
                  <a:txBody>
                    <a:bodyPr/>
                    <a:lstStyle/>
                    <a:p>
                      <a:pPr marL="0" marR="0" lvl="0" indent="0" algn="l" rtl="0">
                        <a:lnSpc>
                          <a:spcPct val="100000"/>
                        </a:lnSpc>
                        <a:spcBef>
                          <a:spcPts val="0"/>
                        </a:spcBef>
                        <a:spcAft>
                          <a:spcPts val="0"/>
                        </a:spcAft>
                        <a:buNone/>
                      </a:pPr>
                      <a:r>
                        <a:rPr lang="ru-RU" sz="1300" b="1" u="none" strike="noStrike" cap="none">
                          <a:solidFill>
                            <a:srgbClr val="13263A"/>
                          </a:solidFill>
                          <a:latin typeface="Arial"/>
                          <a:ea typeface="Arial"/>
                          <a:cs typeface="Arial"/>
                          <a:sym typeface="Arial"/>
                        </a:rPr>
                        <a:t>Jiahui</a:t>
                      </a:r>
                      <a:endParaRPr b="1"/>
                    </a:p>
                  </a:txBody>
                  <a:tcPr marL="73150" marR="73150" marT="36575" marB="36575" anchor="ctr">
                    <a:lnL w="9525" cap="flat" cmpd="sng">
                      <a:solidFill>
                        <a:srgbClr val="647080"/>
                      </a:solidFill>
                      <a:prstDash val="solid"/>
                      <a:round/>
                      <a:headEnd type="none" w="sm" len="sm"/>
                      <a:tailEnd type="none" w="sm" len="sm"/>
                    </a:lnL>
                    <a:lnR w="9525" cap="flat" cmpd="sng">
                      <a:solidFill>
                        <a:srgbClr val="647080"/>
                      </a:solidFill>
                      <a:prstDash val="solid"/>
                      <a:round/>
                      <a:headEnd type="none" w="sm" len="sm"/>
                      <a:tailEnd type="none" w="sm" len="sm"/>
                    </a:lnR>
                    <a:lnT w="9525" cap="flat" cmpd="sng">
                      <a:solidFill>
                        <a:srgbClr val="647080"/>
                      </a:solidFill>
                      <a:prstDash val="solid"/>
                      <a:round/>
                      <a:headEnd type="none" w="sm" len="sm"/>
                      <a:tailEnd type="none" w="sm" len="sm"/>
                    </a:lnT>
                    <a:lnB w="9525" cap="flat" cmpd="sng">
                      <a:solidFill>
                        <a:srgbClr val="647080"/>
                      </a:solidFill>
                      <a:prstDash val="solid"/>
                      <a:round/>
                      <a:headEnd type="none" w="sm" len="sm"/>
                      <a:tailEnd type="none" w="sm" len="sm"/>
                    </a:lnB>
                    <a:solidFill>
                      <a:srgbClr val="E6EAF0"/>
                    </a:solidFill>
                  </a:tcPr>
                </a:tc>
                <a:tc>
                  <a:txBody>
                    <a:bodyPr/>
                    <a:lstStyle/>
                    <a:p>
                      <a:pPr marL="0" marR="0" lvl="0" indent="0" algn="l" rtl="0">
                        <a:lnSpc>
                          <a:spcPct val="100000"/>
                        </a:lnSpc>
                        <a:spcBef>
                          <a:spcPts val="0"/>
                        </a:spcBef>
                        <a:spcAft>
                          <a:spcPts val="0"/>
                        </a:spcAft>
                        <a:buNone/>
                      </a:pPr>
                      <a:r>
                        <a:rPr lang="ru-RU" sz="1300" b="0" u="none" strike="noStrike" cap="none">
                          <a:solidFill>
                            <a:srgbClr val="13263A"/>
                          </a:solidFill>
                          <a:latin typeface="Arial"/>
                          <a:ea typeface="Arial"/>
                          <a:cs typeface="Arial"/>
                          <a:sym typeface="Arial"/>
                        </a:rPr>
                        <a:t>AI</a:t>
                      </a:r>
                      <a:endParaRPr/>
                    </a:p>
                  </a:txBody>
                  <a:tcPr marL="73150" marR="73150" marT="36575" marB="36575" anchor="ctr">
                    <a:lnL w="9525" cap="flat" cmpd="sng">
                      <a:solidFill>
                        <a:srgbClr val="647080"/>
                      </a:solidFill>
                      <a:prstDash val="solid"/>
                      <a:round/>
                      <a:headEnd type="none" w="sm" len="sm"/>
                      <a:tailEnd type="none" w="sm" len="sm"/>
                    </a:lnL>
                    <a:lnR w="9525" cap="flat" cmpd="sng">
                      <a:solidFill>
                        <a:srgbClr val="647080"/>
                      </a:solidFill>
                      <a:prstDash val="solid"/>
                      <a:round/>
                      <a:headEnd type="none" w="sm" len="sm"/>
                      <a:tailEnd type="none" w="sm" len="sm"/>
                    </a:lnR>
                    <a:lnT w="9525" cap="flat" cmpd="sng">
                      <a:solidFill>
                        <a:srgbClr val="647080"/>
                      </a:solidFill>
                      <a:prstDash val="solid"/>
                      <a:round/>
                      <a:headEnd type="none" w="sm" len="sm"/>
                      <a:tailEnd type="none" w="sm" len="sm"/>
                    </a:lnT>
                    <a:lnB w="9525" cap="flat" cmpd="sng">
                      <a:solidFill>
                        <a:srgbClr val="647080"/>
                      </a:solidFill>
                      <a:prstDash val="solid"/>
                      <a:round/>
                      <a:headEnd type="none" w="sm" len="sm"/>
                      <a:tailEnd type="none" w="sm" len="sm"/>
                    </a:lnB>
                    <a:solidFill>
                      <a:srgbClr val="E6EAF0"/>
                    </a:solidFill>
                  </a:tcPr>
                </a:tc>
                <a:tc>
                  <a:txBody>
                    <a:bodyPr/>
                    <a:lstStyle/>
                    <a:p>
                      <a:pPr marL="0" marR="0" lvl="0" indent="0" algn="l" rtl="0">
                        <a:lnSpc>
                          <a:spcPct val="100000"/>
                        </a:lnSpc>
                        <a:spcBef>
                          <a:spcPts val="0"/>
                        </a:spcBef>
                        <a:spcAft>
                          <a:spcPts val="0"/>
                        </a:spcAft>
                        <a:buNone/>
                      </a:pPr>
                      <a:r>
                        <a:rPr lang="ru-RU" sz="1300" b="0" u="none" strike="noStrike" cap="none">
                          <a:solidFill>
                            <a:srgbClr val="13263A"/>
                          </a:solidFill>
                          <a:latin typeface="Arial"/>
                          <a:ea typeface="Arial"/>
                          <a:cs typeface="Arial"/>
                          <a:sym typeface="Arial"/>
                        </a:rPr>
                        <a:t>Model choice; evaluation set and quality thresholds (REQ-ML-001…006)</a:t>
                      </a:r>
                      <a:endParaRPr/>
                    </a:p>
                  </a:txBody>
                  <a:tcPr marL="73150" marR="73150" marT="36575" marB="36575" anchor="ctr">
                    <a:lnL w="9525" cap="flat" cmpd="sng">
                      <a:solidFill>
                        <a:srgbClr val="647080"/>
                      </a:solidFill>
                      <a:prstDash val="solid"/>
                      <a:round/>
                      <a:headEnd type="none" w="sm" len="sm"/>
                      <a:tailEnd type="none" w="sm" len="sm"/>
                    </a:lnL>
                    <a:lnR w="9525" cap="flat" cmpd="sng">
                      <a:solidFill>
                        <a:srgbClr val="647080"/>
                      </a:solidFill>
                      <a:prstDash val="solid"/>
                      <a:round/>
                      <a:headEnd type="none" w="sm" len="sm"/>
                      <a:tailEnd type="none" w="sm" len="sm"/>
                    </a:lnR>
                    <a:lnT w="9525" cap="flat" cmpd="sng">
                      <a:solidFill>
                        <a:srgbClr val="647080"/>
                      </a:solidFill>
                      <a:prstDash val="solid"/>
                      <a:round/>
                      <a:headEnd type="none" w="sm" len="sm"/>
                      <a:tailEnd type="none" w="sm" len="sm"/>
                    </a:lnT>
                    <a:lnB w="9525" cap="flat" cmpd="sng">
                      <a:solidFill>
                        <a:srgbClr val="647080"/>
                      </a:solidFill>
                      <a:prstDash val="solid"/>
                      <a:round/>
                      <a:headEnd type="none" w="sm" len="sm"/>
                      <a:tailEnd type="none" w="sm" len="sm"/>
                    </a:lnB>
                    <a:solidFill>
                      <a:srgbClr val="E6EAF0"/>
                    </a:solidFill>
                  </a:tcPr>
                </a:tc>
                <a:extLst>
                  <a:ext uri="{0D108BD9-81ED-4DB2-BD59-A6C34878D82A}">
                    <a16:rowId xmlns:a16="http://schemas.microsoft.com/office/drawing/2014/main" val="10003"/>
                  </a:ext>
                </a:extLst>
              </a:tr>
              <a:tr h="566925">
                <a:tc>
                  <a:txBody>
                    <a:bodyPr/>
                    <a:lstStyle/>
                    <a:p>
                      <a:pPr marL="0" marR="0" lvl="0" indent="0" algn="l" rtl="0">
                        <a:lnSpc>
                          <a:spcPct val="100000"/>
                        </a:lnSpc>
                        <a:spcBef>
                          <a:spcPts val="0"/>
                        </a:spcBef>
                        <a:spcAft>
                          <a:spcPts val="0"/>
                        </a:spcAft>
                        <a:buNone/>
                      </a:pPr>
                      <a:r>
                        <a:rPr lang="ru-RU" sz="1300" b="1" u="none" strike="noStrike" cap="none">
                          <a:solidFill>
                            <a:srgbClr val="13263A"/>
                          </a:solidFill>
                          <a:latin typeface="Arial"/>
                          <a:ea typeface="Arial"/>
                          <a:cs typeface="Arial"/>
                          <a:sym typeface="Arial"/>
                        </a:rPr>
                        <a:t>Abid Ali</a:t>
                      </a:r>
                      <a:endParaRPr b="1"/>
                    </a:p>
                  </a:txBody>
                  <a:tcPr marL="73150" marR="73150" marT="36575" marB="36575" anchor="ctr">
                    <a:lnL w="9525" cap="flat" cmpd="sng">
                      <a:solidFill>
                        <a:srgbClr val="647080"/>
                      </a:solidFill>
                      <a:prstDash val="solid"/>
                      <a:round/>
                      <a:headEnd type="none" w="sm" len="sm"/>
                      <a:tailEnd type="none" w="sm" len="sm"/>
                    </a:lnL>
                    <a:lnR w="9525" cap="flat" cmpd="sng">
                      <a:solidFill>
                        <a:srgbClr val="647080"/>
                      </a:solidFill>
                      <a:prstDash val="solid"/>
                      <a:round/>
                      <a:headEnd type="none" w="sm" len="sm"/>
                      <a:tailEnd type="none" w="sm" len="sm"/>
                    </a:lnR>
                    <a:lnT w="9525" cap="flat" cmpd="sng">
                      <a:solidFill>
                        <a:srgbClr val="647080"/>
                      </a:solidFill>
                      <a:prstDash val="solid"/>
                      <a:round/>
                      <a:headEnd type="none" w="sm" len="sm"/>
                      <a:tailEnd type="none" w="sm" len="sm"/>
                    </a:lnT>
                    <a:lnB w="9525" cap="flat" cmpd="sng">
                      <a:solidFill>
                        <a:srgbClr val="647080"/>
                      </a:solidFill>
                      <a:prstDash val="solid"/>
                      <a:round/>
                      <a:headEnd type="none" w="sm" len="sm"/>
                      <a:tailEnd type="none" w="sm" len="sm"/>
                    </a:lnB>
                    <a:solidFill>
                      <a:srgbClr val="EEF0F3"/>
                    </a:solidFill>
                  </a:tcPr>
                </a:tc>
                <a:tc>
                  <a:txBody>
                    <a:bodyPr/>
                    <a:lstStyle/>
                    <a:p>
                      <a:pPr marL="0" marR="0" lvl="0" indent="0" algn="l" rtl="0">
                        <a:lnSpc>
                          <a:spcPct val="100000"/>
                        </a:lnSpc>
                        <a:spcBef>
                          <a:spcPts val="0"/>
                        </a:spcBef>
                        <a:spcAft>
                          <a:spcPts val="0"/>
                        </a:spcAft>
                        <a:buNone/>
                      </a:pPr>
                      <a:r>
                        <a:rPr lang="ru-RU" sz="1300" b="0" u="none" strike="noStrike" cap="none">
                          <a:solidFill>
                            <a:srgbClr val="13263A"/>
                          </a:solidFill>
                          <a:latin typeface="Arial"/>
                          <a:ea typeface="Arial"/>
                          <a:cs typeface="Arial"/>
                          <a:sym typeface="Arial"/>
                        </a:rPr>
                        <a:t>Deployment</a:t>
                      </a:r>
                      <a:endParaRPr/>
                    </a:p>
                  </a:txBody>
                  <a:tcPr marL="73150" marR="73150" marT="36575" marB="36575" anchor="ctr">
                    <a:lnL w="9525" cap="flat" cmpd="sng">
                      <a:solidFill>
                        <a:srgbClr val="647080"/>
                      </a:solidFill>
                      <a:prstDash val="solid"/>
                      <a:round/>
                      <a:headEnd type="none" w="sm" len="sm"/>
                      <a:tailEnd type="none" w="sm" len="sm"/>
                    </a:lnL>
                    <a:lnR w="9525" cap="flat" cmpd="sng">
                      <a:solidFill>
                        <a:srgbClr val="647080"/>
                      </a:solidFill>
                      <a:prstDash val="solid"/>
                      <a:round/>
                      <a:headEnd type="none" w="sm" len="sm"/>
                      <a:tailEnd type="none" w="sm" len="sm"/>
                    </a:lnR>
                    <a:lnT w="9525" cap="flat" cmpd="sng">
                      <a:solidFill>
                        <a:srgbClr val="647080"/>
                      </a:solidFill>
                      <a:prstDash val="solid"/>
                      <a:round/>
                      <a:headEnd type="none" w="sm" len="sm"/>
                      <a:tailEnd type="none" w="sm" len="sm"/>
                    </a:lnT>
                    <a:lnB w="9525" cap="flat" cmpd="sng">
                      <a:solidFill>
                        <a:srgbClr val="647080"/>
                      </a:solidFill>
                      <a:prstDash val="solid"/>
                      <a:round/>
                      <a:headEnd type="none" w="sm" len="sm"/>
                      <a:tailEnd type="none" w="sm" len="sm"/>
                    </a:lnB>
                    <a:solidFill>
                      <a:srgbClr val="EEF0F3"/>
                    </a:solidFill>
                  </a:tcPr>
                </a:tc>
                <a:tc>
                  <a:txBody>
                    <a:bodyPr/>
                    <a:lstStyle/>
                    <a:p>
                      <a:pPr marL="0" marR="0" lvl="0" indent="0" algn="l" rtl="0">
                        <a:lnSpc>
                          <a:spcPct val="100000"/>
                        </a:lnSpc>
                        <a:spcBef>
                          <a:spcPts val="0"/>
                        </a:spcBef>
                        <a:spcAft>
                          <a:spcPts val="0"/>
                        </a:spcAft>
                        <a:buNone/>
                      </a:pPr>
                      <a:r>
                        <a:rPr lang="ru-RU" sz="1300" b="0" u="none" strike="noStrike" cap="none">
                          <a:solidFill>
                            <a:srgbClr val="13263A"/>
                          </a:solidFill>
                          <a:latin typeface="Arial"/>
                          <a:ea typeface="Arial"/>
                          <a:cs typeface="Arial"/>
                          <a:sym typeface="Arial"/>
                        </a:rPr>
                        <a:t>Hosting, authentication method, rate and spending limits, availability target</a:t>
                      </a:r>
                      <a:endParaRPr/>
                    </a:p>
                  </a:txBody>
                  <a:tcPr marL="73150" marR="73150" marT="36575" marB="36575" anchor="ctr">
                    <a:lnL w="9525" cap="flat" cmpd="sng">
                      <a:solidFill>
                        <a:srgbClr val="647080"/>
                      </a:solidFill>
                      <a:prstDash val="solid"/>
                      <a:round/>
                      <a:headEnd type="none" w="sm" len="sm"/>
                      <a:tailEnd type="none" w="sm" len="sm"/>
                    </a:lnL>
                    <a:lnR w="9525" cap="flat" cmpd="sng">
                      <a:solidFill>
                        <a:srgbClr val="647080"/>
                      </a:solidFill>
                      <a:prstDash val="solid"/>
                      <a:round/>
                      <a:headEnd type="none" w="sm" len="sm"/>
                      <a:tailEnd type="none" w="sm" len="sm"/>
                    </a:lnR>
                    <a:lnT w="9525" cap="flat" cmpd="sng">
                      <a:solidFill>
                        <a:srgbClr val="647080"/>
                      </a:solidFill>
                      <a:prstDash val="solid"/>
                      <a:round/>
                      <a:headEnd type="none" w="sm" len="sm"/>
                      <a:tailEnd type="none" w="sm" len="sm"/>
                    </a:lnT>
                    <a:lnB w="9525" cap="flat" cmpd="sng">
                      <a:solidFill>
                        <a:srgbClr val="647080"/>
                      </a:solidFill>
                      <a:prstDash val="solid"/>
                      <a:round/>
                      <a:headEnd type="none" w="sm" len="sm"/>
                      <a:tailEnd type="none" w="sm" len="sm"/>
                    </a:lnB>
                    <a:solidFill>
                      <a:srgbClr val="EEF0F3"/>
                    </a:solidFill>
                  </a:tcPr>
                </a:tc>
                <a:extLst>
                  <a:ext uri="{0D108BD9-81ED-4DB2-BD59-A6C34878D82A}">
                    <a16:rowId xmlns:a16="http://schemas.microsoft.com/office/drawing/2014/main" val="10004"/>
                  </a:ext>
                </a:extLst>
              </a:tr>
              <a:tr h="566925">
                <a:tc>
                  <a:txBody>
                    <a:bodyPr/>
                    <a:lstStyle/>
                    <a:p>
                      <a:pPr marL="0" marR="0" lvl="0" indent="0" algn="l" rtl="0">
                        <a:lnSpc>
                          <a:spcPct val="100000"/>
                        </a:lnSpc>
                        <a:spcBef>
                          <a:spcPts val="0"/>
                        </a:spcBef>
                        <a:spcAft>
                          <a:spcPts val="0"/>
                        </a:spcAft>
                        <a:buNone/>
                      </a:pPr>
                      <a:r>
                        <a:rPr lang="ru-RU" sz="1300" b="1" u="none" strike="noStrike" cap="none" dirty="0">
                          <a:solidFill>
                            <a:srgbClr val="13263A"/>
                          </a:solidFill>
                          <a:latin typeface="Arial"/>
                          <a:ea typeface="Arial"/>
                          <a:cs typeface="Arial"/>
                          <a:sym typeface="Arial"/>
                        </a:rPr>
                        <a:t>All</a:t>
                      </a:r>
                      <a:endParaRPr b="1" dirty="0"/>
                    </a:p>
                  </a:txBody>
                  <a:tcPr marL="73150" marR="73150" marT="36575" marB="36575" anchor="ctr">
                    <a:lnL w="9525" cap="flat" cmpd="sng">
                      <a:solidFill>
                        <a:srgbClr val="647080"/>
                      </a:solidFill>
                      <a:prstDash val="solid"/>
                      <a:round/>
                      <a:headEnd type="none" w="sm" len="sm"/>
                      <a:tailEnd type="none" w="sm" len="sm"/>
                    </a:lnL>
                    <a:lnR w="9525" cap="flat" cmpd="sng">
                      <a:solidFill>
                        <a:srgbClr val="647080"/>
                      </a:solidFill>
                      <a:prstDash val="solid"/>
                      <a:round/>
                      <a:headEnd type="none" w="sm" len="sm"/>
                      <a:tailEnd type="none" w="sm" len="sm"/>
                    </a:lnR>
                    <a:lnT w="9525" cap="flat" cmpd="sng">
                      <a:solidFill>
                        <a:srgbClr val="647080"/>
                      </a:solidFill>
                      <a:prstDash val="solid"/>
                      <a:round/>
                      <a:headEnd type="none" w="sm" len="sm"/>
                      <a:tailEnd type="none" w="sm" len="sm"/>
                    </a:lnT>
                    <a:lnB w="9525" cap="flat" cmpd="sng">
                      <a:solidFill>
                        <a:srgbClr val="647080"/>
                      </a:solidFill>
                      <a:prstDash val="solid"/>
                      <a:round/>
                      <a:headEnd type="none" w="sm" len="sm"/>
                      <a:tailEnd type="none" w="sm" len="sm"/>
                    </a:lnB>
                    <a:solidFill>
                      <a:srgbClr val="E6EAF0"/>
                    </a:solidFill>
                  </a:tcPr>
                </a:tc>
                <a:tc>
                  <a:txBody>
                    <a:bodyPr/>
                    <a:lstStyle/>
                    <a:p>
                      <a:pPr marL="0" marR="0" lvl="0" indent="0" algn="l" rtl="0">
                        <a:lnSpc>
                          <a:spcPct val="100000"/>
                        </a:lnSpc>
                        <a:spcBef>
                          <a:spcPts val="0"/>
                        </a:spcBef>
                        <a:spcAft>
                          <a:spcPts val="0"/>
                        </a:spcAft>
                        <a:buNone/>
                      </a:pPr>
                      <a:r>
                        <a:rPr lang="ru-RU" sz="1300" b="0" u="none" strike="noStrike" cap="none">
                          <a:solidFill>
                            <a:srgbClr val="13263A"/>
                          </a:solidFill>
                          <a:latin typeface="Arial"/>
                          <a:ea typeface="Arial"/>
                          <a:cs typeface="Arial"/>
                          <a:sym typeface="Arial"/>
                        </a:rPr>
                        <a:t>Shared</a:t>
                      </a:r>
                      <a:endParaRPr/>
                    </a:p>
                  </a:txBody>
                  <a:tcPr marL="73150" marR="73150" marT="36575" marB="36575" anchor="ctr">
                    <a:lnL w="9525" cap="flat" cmpd="sng">
                      <a:solidFill>
                        <a:srgbClr val="647080"/>
                      </a:solidFill>
                      <a:prstDash val="solid"/>
                      <a:round/>
                      <a:headEnd type="none" w="sm" len="sm"/>
                      <a:tailEnd type="none" w="sm" len="sm"/>
                    </a:lnL>
                    <a:lnR w="9525" cap="flat" cmpd="sng">
                      <a:solidFill>
                        <a:srgbClr val="647080"/>
                      </a:solidFill>
                      <a:prstDash val="solid"/>
                      <a:round/>
                      <a:headEnd type="none" w="sm" len="sm"/>
                      <a:tailEnd type="none" w="sm" len="sm"/>
                    </a:lnR>
                    <a:lnT w="9525" cap="flat" cmpd="sng">
                      <a:solidFill>
                        <a:srgbClr val="647080"/>
                      </a:solidFill>
                      <a:prstDash val="solid"/>
                      <a:round/>
                      <a:headEnd type="none" w="sm" len="sm"/>
                      <a:tailEnd type="none" w="sm" len="sm"/>
                    </a:lnT>
                    <a:lnB w="9525" cap="flat" cmpd="sng">
                      <a:solidFill>
                        <a:srgbClr val="647080"/>
                      </a:solidFill>
                      <a:prstDash val="solid"/>
                      <a:round/>
                      <a:headEnd type="none" w="sm" len="sm"/>
                      <a:tailEnd type="none" w="sm" len="sm"/>
                    </a:lnB>
                    <a:solidFill>
                      <a:srgbClr val="E6EAF0"/>
                    </a:solidFill>
                  </a:tcPr>
                </a:tc>
                <a:tc>
                  <a:txBody>
                    <a:bodyPr/>
                    <a:lstStyle/>
                    <a:p>
                      <a:pPr marL="0" marR="0" lvl="0" indent="0" algn="l" rtl="0">
                        <a:lnSpc>
                          <a:spcPct val="100000"/>
                        </a:lnSpc>
                        <a:spcBef>
                          <a:spcPts val="0"/>
                        </a:spcBef>
                        <a:spcAft>
                          <a:spcPts val="0"/>
                        </a:spcAft>
                        <a:buNone/>
                      </a:pPr>
                      <a:r>
                        <a:rPr lang="ru-RU" sz="1300" b="0" u="none" strike="noStrike" cap="none" dirty="0">
                          <a:solidFill>
                            <a:srgbClr val="13263A"/>
                          </a:solidFill>
                          <a:latin typeface="Arial"/>
                          <a:ea typeface="Arial"/>
                          <a:cs typeface="Arial"/>
                          <a:sym typeface="Arial"/>
                        </a:rPr>
                        <a:t>Consent and retention; repository licence; increment dates; final review</a:t>
                      </a:r>
                      <a:endParaRPr dirty="0"/>
                    </a:p>
                  </a:txBody>
                  <a:tcPr marL="73150" marR="73150" marT="36575" marB="36575" anchor="ctr">
                    <a:lnL w="9525" cap="flat" cmpd="sng">
                      <a:solidFill>
                        <a:srgbClr val="647080"/>
                      </a:solidFill>
                      <a:prstDash val="solid"/>
                      <a:round/>
                      <a:headEnd type="none" w="sm" len="sm"/>
                      <a:tailEnd type="none" w="sm" len="sm"/>
                    </a:lnL>
                    <a:lnR w="9525" cap="flat" cmpd="sng">
                      <a:solidFill>
                        <a:srgbClr val="647080"/>
                      </a:solidFill>
                      <a:prstDash val="solid"/>
                      <a:round/>
                      <a:headEnd type="none" w="sm" len="sm"/>
                      <a:tailEnd type="none" w="sm" len="sm"/>
                    </a:lnR>
                    <a:lnT w="9525" cap="flat" cmpd="sng">
                      <a:solidFill>
                        <a:srgbClr val="647080"/>
                      </a:solidFill>
                      <a:prstDash val="solid"/>
                      <a:round/>
                      <a:headEnd type="none" w="sm" len="sm"/>
                      <a:tailEnd type="none" w="sm" len="sm"/>
                    </a:lnT>
                    <a:lnB w="9525" cap="flat" cmpd="sng">
                      <a:solidFill>
                        <a:srgbClr val="647080"/>
                      </a:solidFill>
                      <a:prstDash val="solid"/>
                      <a:round/>
                      <a:headEnd type="none" w="sm" len="sm"/>
                      <a:tailEnd type="none" w="sm" len="sm"/>
                    </a:lnB>
                    <a:solidFill>
                      <a:srgbClr val="E6EAF0"/>
                    </a:solidFill>
                  </a:tcPr>
                </a:tc>
                <a:extLst>
                  <a:ext uri="{0D108BD9-81ED-4DB2-BD59-A6C34878D82A}">
                    <a16:rowId xmlns:a16="http://schemas.microsoft.com/office/drawing/2014/main" val="10005"/>
                  </a:ext>
                </a:extLst>
              </a:tr>
            </a:tbl>
          </a:graphicData>
        </a:graphic>
      </p:graphicFrame>
      <p:sp>
        <p:nvSpPr>
          <p:cNvPr id="199" name="Google Shape;199;p18"/>
          <p:cNvSpPr/>
          <p:nvPr/>
        </p:nvSpPr>
        <p:spPr>
          <a:xfrm>
            <a:off x="630936" y="5486400"/>
            <a:ext cx="2468880" cy="548640"/>
          </a:xfrm>
          <a:prstGeom prst="rect">
            <a:avLst/>
          </a:prstGeom>
          <a:solidFill>
            <a:srgbClr val="13263A"/>
          </a:solidFill>
          <a:ln>
            <a:noFill/>
          </a:ln>
        </p:spPr>
        <p:txBody>
          <a:bodyPr spcFirstLastPara="1" wrap="square" lIns="109725" tIns="54850" rIns="109725" bIns="54850" anchor="ctr" anchorCtr="0">
            <a:noAutofit/>
          </a:bodyPr>
          <a:lstStyle/>
          <a:p>
            <a:pPr marL="0" marR="0" lvl="0" indent="0" algn="l" rtl="0">
              <a:lnSpc>
                <a:spcPct val="100000"/>
              </a:lnSpc>
              <a:spcBef>
                <a:spcPts val="0"/>
              </a:spcBef>
              <a:spcAft>
                <a:spcPts val="0"/>
              </a:spcAft>
              <a:buNone/>
            </a:pPr>
            <a:r>
              <a:rPr lang="ru-RU" sz="1300" b="1" i="0" u="none" strike="noStrike" cap="none">
                <a:solidFill>
                  <a:srgbClr val="FFFFFF"/>
                </a:solidFill>
                <a:latin typeface="Arial"/>
                <a:ea typeface="Arial"/>
                <a:cs typeface="Arial"/>
                <a:sym typeface="Arial"/>
              </a:rPr>
              <a:t>W</a:t>
            </a:r>
            <a:r>
              <a:rPr lang="ru-RU" sz="1300" b="1">
                <a:solidFill>
                  <a:srgbClr val="FFFFFF"/>
                </a:solidFill>
              </a:rPr>
              <a:t>6</a:t>
            </a:r>
            <a:r>
              <a:rPr lang="ru-RU" sz="1300" b="1" i="0" u="none" strike="noStrike" cap="none">
                <a:solidFill>
                  <a:srgbClr val="FFFFFF"/>
                </a:solidFill>
                <a:latin typeface="Arial"/>
                <a:ea typeface="Arial"/>
                <a:cs typeface="Arial"/>
                <a:sym typeface="Arial"/>
              </a:rPr>
              <a:t>  </a:t>
            </a:r>
            <a:r>
              <a:rPr lang="ru-RU" sz="1300" b="0" i="0" u="none" strike="noStrike" cap="none">
                <a:solidFill>
                  <a:srgbClr val="FFFFFF"/>
                </a:solidFill>
                <a:latin typeface="Arial"/>
                <a:ea typeface="Arial"/>
                <a:cs typeface="Arial"/>
                <a:sym typeface="Arial"/>
              </a:rPr>
              <a:t>SRS v0.2 drafted</a:t>
            </a:r>
            <a:endParaRPr/>
          </a:p>
        </p:txBody>
      </p:sp>
      <p:cxnSp>
        <p:nvCxnSpPr>
          <p:cNvPr id="200" name="Google Shape;200;p18"/>
          <p:cNvCxnSpPr/>
          <p:nvPr/>
        </p:nvCxnSpPr>
        <p:spPr>
          <a:xfrm>
            <a:off x="3118104" y="5760720"/>
            <a:ext cx="329184" cy="0"/>
          </a:xfrm>
          <a:prstGeom prst="straightConnector1">
            <a:avLst/>
          </a:prstGeom>
          <a:noFill/>
          <a:ln w="19050" cap="flat" cmpd="sng">
            <a:solidFill>
              <a:srgbClr val="647080"/>
            </a:solidFill>
            <a:prstDash val="solid"/>
            <a:round/>
            <a:headEnd type="none" w="sm" len="sm"/>
            <a:tailEnd type="triangle" w="med" len="med"/>
          </a:ln>
          <a:effectLst>
            <a:outerShdw blurRad="40000" dist="20000" dir="5400000" rotWithShape="0">
              <a:srgbClr val="000000">
                <a:alpha val="38039"/>
              </a:srgbClr>
            </a:outerShdw>
          </a:effectLst>
        </p:spPr>
      </p:cxnSp>
      <p:sp>
        <p:nvSpPr>
          <p:cNvPr id="201" name="Google Shape;201;p18"/>
          <p:cNvSpPr/>
          <p:nvPr/>
        </p:nvSpPr>
        <p:spPr>
          <a:xfrm>
            <a:off x="3465576" y="5486400"/>
            <a:ext cx="2468880" cy="548640"/>
          </a:xfrm>
          <a:prstGeom prst="rect">
            <a:avLst/>
          </a:prstGeom>
          <a:solidFill>
            <a:srgbClr val="FFFFFF"/>
          </a:solidFill>
          <a:ln w="9525" cap="flat" cmpd="sng">
            <a:solidFill>
              <a:srgbClr val="A8B6C7"/>
            </a:solidFill>
            <a:prstDash val="solid"/>
            <a:round/>
            <a:headEnd type="none" w="sm" len="sm"/>
            <a:tailEnd type="none" w="sm" len="sm"/>
          </a:ln>
        </p:spPr>
        <p:txBody>
          <a:bodyPr spcFirstLastPara="1" wrap="square" lIns="109725" tIns="54850" rIns="109725" bIns="54850" anchor="ctr" anchorCtr="0">
            <a:noAutofit/>
          </a:bodyPr>
          <a:lstStyle/>
          <a:p>
            <a:pPr marL="0" marR="0" lvl="0" indent="0" algn="l" rtl="0">
              <a:lnSpc>
                <a:spcPct val="100000"/>
              </a:lnSpc>
              <a:spcBef>
                <a:spcPts val="0"/>
              </a:spcBef>
              <a:spcAft>
                <a:spcPts val="0"/>
              </a:spcAft>
              <a:buNone/>
            </a:pPr>
            <a:r>
              <a:rPr lang="ru-RU" sz="1300" b="1" i="0" u="none" strike="noStrike" cap="none">
                <a:solidFill>
                  <a:srgbClr val="255CF0"/>
                </a:solidFill>
                <a:latin typeface="Arial"/>
                <a:ea typeface="Arial"/>
                <a:cs typeface="Arial"/>
                <a:sym typeface="Arial"/>
              </a:rPr>
              <a:t>Next  </a:t>
            </a:r>
            <a:r>
              <a:rPr lang="ru-RU" sz="1300" b="0" i="0" u="none" strike="noStrike" cap="none">
                <a:solidFill>
                  <a:srgbClr val="13263A"/>
                </a:solidFill>
                <a:latin typeface="Arial"/>
                <a:ea typeface="Arial"/>
                <a:cs typeface="Arial"/>
                <a:sym typeface="Arial"/>
              </a:rPr>
              <a:t>Owners close TBDs</a:t>
            </a:r>
            <a:endParaRPr/>
          </a:p>
        </p:txBody>
      </p:sp>
      <p:cxnSp>
        <p:nvCxnSpPr>
          <p:cNvPr id="202" name="Google Shape;202;p18"/>
          <p:cNvCxnSpPr/>
          <p:nvPr/>
        </p:nvCxnSpPr>
        <p:spPr>
          <a:xfrm>
            <a:off x="5952744" y="5760720"/>
            <a:ext cx="329184" cy="0"/>
          </a:xfrm>
          <a:prstGeom prst="straightConnector1">
            <a:avLst/>
          </a:prstGeom>
          <a:noFill/>
          <a:ln w="19050" cap="flat" cmpd="sng">
            <a:solidFill>
              <a:srgbClr val="647080"/>
            </a:solidFill>
            <a:prstDash val="solid"/>
            <a:round/>
            <a:headEnd type="none" w="sm" len="sm"/>
            <a:tailEnd type="triangle" w="med" len="med"/>
          </a:ln>
          <a:effectLst>
            <a:outerShdw blurRad="40000" dist="20000" dir="5400000" rotWithShape="0">
              <a:srgbClr val="000000">
                <a:alpha val="38039"/>
              </a:srgbClr>
            </a:outerShdw>
          </a:effectLst>
        </p:spPr>
      </p:cxnSp>
      <p:sp>
        <p:nvSpPr>
          <p:cNvPr id="203" name="Google Shape;203;p18"/>
          <p:cNvSpPr/>
          <p:nvPr/>
        </p:nvSpPr>
        <p:spPr>
          <a:xfrm>
            <a:off x="6300216" y="5486400"/>
            <a:ext cx="2468880" cy="548640"/>
          </a:xfrm>
          <a:prstGeom prst="rect">
            <a:avLst/>
          </a:prstGeom>
          <a:solidFill>
            <a:srgbClr val="FFFFFF"/>
          </a:solidFill>
          <a:ln w="9525" cap="flat" cmpd="sng">
            <a:solidFill>
              <a:srgbClr val="A8B6C7"/>
            </a:solidFill>
            <a:prstDash val="solid"/>
            <a:round/>
            <a:headEnd type="none" w="sm" len="sm"/>
            <a:tailEnd type="none" w="sm" len="sm"/>
          </a:ln>
        </p:spPr>
        <p:txBody>
          <a:bodyPr spcFirstLastPara="1" wrap="square" lIns="109725" tIns="54850" rIns="109725" bIns="54850" anchor="ctr" anchorCtr="0">
            <a:noAutofit/>
          </a:bodyPr>
          <a:lstStyle/>
          <a:p>
            <a:pPr marL="0" marR="0" lvl="0" indent="0" algn="l" rtl="0">
              <a:lnSpc>
                <a:spcPct val="100000"/>
              </a:lnSpc>
              <a:spcBef>
                <a:spcPts val="0"/>
              </a:spcBef>
              <a:spcAft>
                <a:spcPts val="0"/>
              </a:spcAft>
              <a:buNone/>
            </a:pPr>
            <a:r>
              <a:rPr lang="ru-RU" sz="1300" b="1" i="0" u="none" strike="noStrike" cap="none">
                <a:solidFill>
                  <a:srgbClr val="255CF0"/>
                </a:solidFill>
                <a:latin typeface="Arial"/>
                <a:ea typeface="Arial"/>
                <a:cs typeface="Arial"/>
                <a:sym typeface="Arial"/>
              </a:rPr>
              <a:t>Then  </a:t>
            </a:r>
            <a:r>
              <a:rPr lang="ru-RU" sz="1300" b="0" i="0" u="none" strike="noStrike" cap="none">
                <a:solidFill>
                  <a:srgbClr val="13263A"/>
                </a:solidFill>
                <a:latin typeface="Arial"/>
                <a:ea typeface="Arial"/>
                <a:cs typeface="Arial"/>
                <a:sym typeface="Arial"/>
              </a:rPr>
              <a:t>Cross-team peer review</a:t>
            </a:r>
            <a:endParaRPr/>
          </a:p>
        </p:txBody>
      </p:sp>
      <p:cxnSp>
        <p:nvCxnSpPr>
          <p:cNvPr id="204" name="Google Shape;204;p18"/>
          <p:cNvCxnSpPr/>
          <p:nvPr/>
        </p:nvCxnSpPr>
        <p:spPr>
          <a:xfrm>
            <a:off x="8787384" y="5760720"/>
            <a:ext cx="329184" cy="0"/>
          </a:xfrm>
          <a:prstGeom prst="straightConnector1">
            <a:avLst/>
          </a:prstGeom>
          <a:noFill/>
          <a:ln w="19050" cap="flat" cmpd="sng">
            <a:solidFill>
              <a:srgbClr val="647080"/>
            </a:solidFill>
            <a:prstDash val="solid"/>
            <a:round/>
            <a:headEnd type="none" w="sm" len="sm"/>
            <a:tailEnd type="triangle" w="med" len="med"/>
          </a:ln>
          <a:effectLst>
            <a:outerShdw blurRad="40000" dist="20000" dir="5400000" rotWithShape="0">
              <a:srgbClr val="000000">
                <a:alpha val="38039"/>
              </a:srgbClr>
            </a:outerShdw>
          </a:effectLst>
        </p:spPr>
      </p:cxnSp>
      <p:sp>
        <p:nvSpPr>
          <p:cNvPr id="205" name="Google Shape;205;p18"/>
          <p:cNvSpPr/>
          <p:nvPr/>
        </p:nvSpPr>
        <p:spPr>
          <a:xfrm>
            <a:off x="9134856" y="5486400"/>
            <a:ext cx="2468880" cy="548640"/>
          </a:xfrm>
          <a:prstGeom prst="rect">
            <a:avLst/>
          </a:prstGeom>
          <a:solidFill>
            <a:srgbClr val="13263A"/>
          </a:solidFill>
          <a:ln>
            <a:noFill/>
          </a:ln>
        </p:spPr>
        <p:txBody>
          <a:bodyPr spcFirstLastPara="1" wrap="square" lIns="109725" tIns="54850" rIns="109725" bIns="54850" anchor="ctr" anchorCtr="0">
            <a:noAutofit/>
          </a:bodyPr>
          <a:lstStyle/>
          <a:p>
            <a:pPr marL="0" marR="0" lvl="0" indent="0" algn="l" rtl="0">
              <a:lnSpc>
                <a:spcPct val="100000"/>
              </a:lnSpc>
              <a:spcBef>
                <a:spcPts val="0"/>
              </a:spcBef>
              <a:spcAft>
                <a:spcPts val="0"/>
              </a:spcAft>
              <a:buNone/>
            </a:pPr>
            <a:r>
              <a:rPr lang="ru-RU" sz="1300" b="1" i="0" u="none" strike="noStrike" cap="none">
                <a:solidFill>
                  <a:srgbClr val="FFFFFF"/>
                </a:solidFill>
                <a:latin typeface="Arial"/>
                <a:ea typeface="Arial"/>
                <a:cs typeface="Arial"/>
                <a:sym typeface="Arial"/>
              </a:rPr>
              <a:t>W7  </a:t>
            </a:r>
            <a:r>
              <a:rPr lang="ru-RU" sz="1300" b="0" i="0" u="none" strike="noStrike" cap="none">
                <a:solidFill>
                  <a:srgbClr val="FFFFFF"/>
                </a:solidFill>
                <a:latin typeface="Arial"/>
                <a:ea typeface="Arial"/>
                <a:cs typeface="Arial"/>
                <a:sym typeface="Arial"/>
              </a:rPr>
              <a:t>SRS submitted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4F0"/>
        </a:solidFill>
        <a:effectLst/>
      </p:bgPr>
    </p:bg>
    <p:spTree>
      <p:nvGrpSpPr>
        <p:cNvPr id="1" name="Shape 210"/>
        <p:cNvGrpSpPr/>
        <p:nvPr/>
      </p:nvGrpSpPr>
      <p:grpSpPr>
        <a:xfrm>
          <a:off x="0" y="0"/>
          <a:ext cx="0" cy="0"/>
          <a:chOff x="0" y="0"/>
          <a:chExt cx="0" cy="0"/>
        </a:xfrm>
      </p:grpSpPr>
      <p:sp>
        <p:nvSpPr>
          <p:cNvPr id="211" name="Google Shape;211;p20"/>
          <p:cNvSpPr txBox="1"/>
          <p:nvPr/>
        </p:nvSpPr>
        <p:spPr>
          <a:xfrm>
            <a:off x="612648" y="457200"/>
            <a:ext cx="10954512" cy="758952"/>
          </a:xfrm>
          <a:prstGeom prst="rect">
            <a:avLst/>
          </a:prstGeom>
          <a:noFill/>
          <a:ln>
            <a:noFill/>
          </a:ln>
        </p:spPr>
        <p:txBody>
          <a:bodyPr spcFirstLastPara="1" wrap="square" lIns="45700" tIns="27425" rIns="45700" bIns="27425" anchor="ctr" anchorCtr="0">
            <a:spAutoFit/>
          </a:bodyPr>
          <a:lstStyle/>
          <a:p>
            <a:pPr marL="0" marR="0" lvl="0" indent="0" algn="l" rtl="0">
              <a:lnSpc>
                <a:spcPct val="100000"/>
              </a:lnSpc>
              <a:spcBef>
                <a:spcPts val="0"/>
              </a:spcBef>
              <a:spcAft>
                <a:spcPts val="0"/>
              </a:spcAft>
              <a:buNone/>
            </a:pPr>
            <a:r>
              <a:rPr lang="ru-RU" sz="3300" b="1" i="0" u="none" strike="noStrike" cap="none">
                <a:solidFill>
                  <a:srgbClr val="13263A"/>
                </a:solidFill>
                <a:latin typeface="Arial"/>
                <a:ea typeface="Arial"/>
                <a:cs typeface="Arial"/>
                <a:sym typeface="Arial"/>
              </a:rPr>
              <a:t>Collaboration and task allocation</a:t>
            </a:r>
            <a:endParaRPr/>
          </a:p>
        </p:txBody>
      </p:sp>
      <p:sp>
        <p:nvSpPr>
          <p:cNvPr id="212" name="Google Shape;212;p20"/>
          <p:cNvSpPr txBox="1"/>
          <p:nvPr/>
        </p:nvSpPr>
        <p:spPr>
          <a:xfrm>
            <a:off x="11045952" y="6245352"/>
            <a:ext cx="530400" cy="26310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350">
                <a:solidFill>
                  <a:srgbClr val="647080"/>
                </a:solidFill>
              </a:rPr>
              <a:t>14</a:t>
            </a:r>
            <a:endParaRPr/>
          </a:p>
        </p:txBody>
      </p:sp>
      <p:sp>
        <p:nvSpPr>
          <p:cNvPr id="213" name="Google Shape;213;p20"/>
          <p:cNvSpPr txBox="1"/>
          <p:nvPr/>
        </p:nvSpPr>
        <p:spPr>
          <a:xfrm>
            <a:off x="630936" y="1216152"/>
            <a:ext cx="10570464" cy="41148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800" b="0" i="0" u="none" strike="noStrike" cap="none">
                <a:solidFill>
                  <a:srgbClr val="647080"/>
                </a:solidFill>
                <a:latin typeface="Arial"/>
                <a:ea typeface="Arial"/>
                <a:cs typeface="Arial"/>
                <a:sym typeface="Arial"/>
              </a:rPr>
              <a:t>03  Project progress  ·  how we work and the first experimental tasks</a:t>
            </a:r>
            <a:endParaRPr/>
          </a:p>
        </p:txBody>
      </p:sp>
      <p:sp>
        <p:nvSpPr>
          <p:cNvPr id="214" name="Google Shape;214;p20"/>
          <p:cNvSpPr txBox="1"/>
          <p:nvPr/>
        </p:nvSpPr>
        <p:spPr>
          <a:xfrm>
            <a:off x="630936" y="1783080"/>
            <a:ext cx="4023360" cy="384048"/>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650" b="1" i="0" u="none" strike="noStrike" cap="none">
                <a:solidFill>
                  <a:srgbClr val="255CF0"/>
                </a:solidFill>
                <a:latin typeface="Arial"/>
                <a:ea typeface="Arial"/>
                <a:cs typeface="Arial"/>
                <a:sym typeface="Arial"/>
              </a:rPr>
              <a:t>HOW WE WORK</a:t>
            </a:r>
            <a:endParaRPr/>
          </a:p>
        </p:txBody>
      </p:sp>
      <p:sp>
        <p:nvSpPr>
          <p:cNvPr id="215" name="Google Shape;215;p20"/>
          <p:cNvSpPr/>
          <p:nvPr/>
        </p:nvSpPr>
        <p:spPr>
          <a:xfrm>
            <a:off x="630936" y="2286000"/>
            <a:ext cx="384048" cy="384048"/>
          </a:xfrm>
          <a:prstGeom prst="ellipse">
            <a:avLst/>
          </a:prstGeom>
          <a:solidFill>
            <a:srgbClr val="255CF0"/>
          </a:solidFill>
          <a:ln>
            <a:noFill/>
          </a:ln>
        </p:spPr>
        <p:txBody>
          <a:bodyPr spcFirstLastPara="1" wrap="square" lIns="109725" tIns="54850" rIns="109725" bIns="54850" anchor="ctr" anchorCtr="0">
            <a:noAutofit/>
          </a:bodyPr>
          <a:lstStyle/>
          <a:p>
            <a:pPr marL="0" marR="0" lvl="0" indent="0" algn="ctr" rtl="0">
              <a:lnSpc>
                <a:spcPct val="100000"/>
              </a:lnSpc>
              <a:spcBef>
                <a:spcPts val="0"/>
              </a:spcBef>
              <a:spcAft>
                <a:spcPts val="0"/>
              </a:spcAft>
              <a:buNone/>
            </a:pPr>
            <a:r>
              <a:rPr lang="ru-RU" sz="1200" b="1" i="0" u="none" strike="noStrike" cap="none">
                <a:solidFill>
                  <a:srgbClr val="FFFFFF"/>
                </a:solidFill>
                <a:latin typeface="Arial"/>
                <a:ea typeface="Arial"/>
                <a:cs typeface="Arial"/>
                <a:sym typeface="Arial"/>
              </a:rPr>
              <a:t>1</a:t>
            </a:r>
            <a:endParaRPr/>
          </a:p>
        </p:txBody>
      </p:sp>
      <p:sp>
        <p:nvSpPr>
          <p:cNvPr id="216" name="Google Shape;216;p20"/>
          <p:cNvSpPr txBox="1"/>
          <p:nvPr/>
        </p:nvSpPr>
        <p:spPr>
          <a:xfrm>
            <a:off x="1143000" y="2240280"/>
            <a:ext cx="3566160" cy="59436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400" b="1" i="0" u="none" strike="noStrike" cap="none">
                <a:solidFill>
                  <a:srgbClr val="13263A"/>
                </a:solidFill>
                <a:latin typeface="Arial"/>
                <a:ea typeface="Arial"/>
                <a:cs typeface="Arial"/>
                <a:sym typeface="Arial"/>
              </a:rPr>
              <a:t>GitHub</a:t>
            </a:r>
            <a:endParaRPr/>
          </a:p>
          <a:p>
            <a:pPr marL="0" marR="0" lvl="0" indent="0" algn="l" rtl="0">
              <a:lnSpc>
                <a:spcPct val="100000"/>
              </a:lnSpc>
              <a:spcBef>
                <a:spcPts val="0"/>
              </a:spcBef>
              <a:spcAft>
                <a:spcPts val="0"/>
              </a:spcAft>
              <a:buNone/>
            </a:pPr>
            <a:r>
              <a:rPr lang="ru-RU" sz="1200" b="0" i="0" u="none" strike="noStrike" cap="none">
                <a:solidFill>
                  <a:srgbClr val="647080"/>
                </a:solidFill>
                <a:latin typeface="Arial"/>
                <a:ea typeface="Arial"/>
                <a:cs typeface="Arial"/>
                <a:sym typeface="Arial"/>
              </a:rPr>
              <a:t>bhsei/26B, work on main</a:t>
            </a:r>
            <a:endParaRPr/>
          </a:p>
        </p:txBody>
      </p:sp>
      <p:sp>
        <p:nvSpPr>
          <p:cNvPr id="217" name="Google Shape;217;p20"/>
          <p:cNvSpPr/>
          <p:nvPr/>
        </p:nvSpPr>
        <p:spPr>
          <a:xfrm>
            <a:off x="630936" y="2971800"/>
            <a:ext cx="384048" cy="384048"/>
          </a:xfrm>
          <a:prstGeom prst="ellipse">
            <a:avLst/>
          </a:prstGeom>
          <a:solidFill>
            <a:srgbClr val="255CF0"/>
          </a:solidFill>
          <a:ln>
            <a:noFill/>
          </a:ln>
        </p:spPr>
        <p:txBody>
          <a:bodyPr spcFirstLastPara="1" wrap="square" lIns="109725" tIns="54850" rIns="109725" bIns="54850" anchor="ctr" anchorCtr="0">
            <a:noAutofit/>
          </a:bodyPr>
          <a:lstStyle/>
          <a:p>
            <a:pPr marL="0" marR="0" lvl="0" indent="0" algn="ctr" rtl="0">
              <a:lnSpc>
                <a:spcPct val="100000"/>
              </a:lnSpc>
              <a:spcBef>
                <a:spcPts val="0"/>
              </a:spcBef>
              <a:spcAft>
                <a:spcPts val="0"/>
              </a:spcAft>
              <a:buNone/>
            </a:pPr>
            <a:r>
              <a:rPr lang="ru-RU" sz="1200" b="1" i="0" u="none" strike="noStrike" cap="none">
                <a:solidFill>
                  <a:srgbClr val="FFFFFF"/>
                </a:solidFill>
                <a:latin typeface="Arial"/>
                <a:ea typeface="Arial"/>
                <a:cs typeface="Arial"/>
                <a:sym typeface="Arial"/>
              </a:rPr>
              <a:t>2</a:t>
            </a:r>
            <a:endParaRPr/>
          </a:p>
        </p:txBody>
      </p:sp>
      <p:sp>
        <p:nvSpPr>
          <p:cNvPr id="218" name="Google Shape;218;p20"/>
          <p:cNvSpPr txBox="1"/>
          <p:nvPr/>
        </p:nvSpPr>
        <p:spPr>
          <a:xfrm>
            <a:off x="1143000" y="2926080"/>
            <a:ext cx="3566100" cy="45570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b="1">
                <a:solidFill>
                  <a:srgbClr val="13263A"/>
                </a:solidFill>
              </a:rPr>
              <a:t>Online check ups</a:t>
            </a:r>
            <a:endParaRPr/>
          </a:p>
          <a:p>
            <a:pPr marL="0" marR="0" lvl="0" indent="0" algn="l" rtl="0">
              <a:lnSpc>
                <a:spcPct val="100000"/>
              </a:lnSpc>
              <a:spcBef>
                <a:spcPts val="0"/>
              </a:spcBef>
              <a:spcAft>
                <a:spcPts val="0"/>
              </a:spcAft>
              <a:buNone/>
            </a:pPr>
            <a:r>
              <a:rPr lang="ru-RU" sz="1200">
                <a:solidFill>
                  <a:srgbClr val="647080"/>
                </a:solidFill>
              </a:rPr>
              <a:t>online calls to stay connected</a:t>
            </a:r>
            <a:endParaRPr/>
          </a:p>
        </p:txBody>
      </p:sp>
      <p:sp>
        <p:nvSpPr>
          <p:cNvPr id="219" name="Google Shape;219;p20"/>
          <p:cNvSpPr/>
          <p:nvPr/>
        </p:nvSpPr>
        <p:spPr>
          <a:xfrm>
            <a:off x="630936" y="3657600"/>
            <a:ext cx="384048" cy="384048"/>
          </a:xfrm>
          <a:prstGeom prst="ellipse">
            <a:avLst/>
          </a:prstGeom>
          <a:solidFill>
            <a:srgbClr val="255CF0"/>
          </a:solidFill>
          <a:ln>
            <a:noFill/>
          </a:ln>
        </p:spPr>
        <p:txBody>
          <a:bodyPr spcFirstLastPara="1" wrap="square" lIns="109725" tIns="54850" rIns="109725" bIns="54850" anchor="ctr" anchorCtr="0">
            <a:noAutofit/>
          </a:bodyPr>
          <a:lstStyle/>
          <a:p>
            <a:pPr marL="0" marR="0" lvl="0" indent="0" algn="ctr" rtl="0">
              <a:lnSpc>
                <a:spcPct val="100000"/>
              </a:lnSpc>
              <a:spcBef>
                <a:spcPts val="0"/>
              </a:spcBef>
              <a:spcAft>
                <a:spcPts val="0"/>
              </a:spcAft>
              <a:buNone/>
            </a:pPr>
            <a:r>
              <a:rPr lang="ru-RU" sz="1200" b="1" i="0" u="none" strike="noStrike" cap="none">
                <a:solidFill>
                  <a:srgbClr val="FFFFFF"/>
                </a:solidFill>
                <a:latin typeface="Arial"/>
                <a:ea typeface="Arial"/>
                <a:cs typeface="Arial"/>
                <a:sym typeface="Arial"/>
              </a:rPr>
              <a:t>3</a:t>
            </a:r>
            <a:endParaRPr/>
          </a:p>
        </p:txBody>
      </p:sp>
      <p:sp>
        <p:nvSpPr>
          <p:cNvPr id="220" name="Google Shape;220;p20"/>
          <p:cNvSpPr txBox="1"/>
          <p:nvPr/>
        </p:nvSpPr>
        <p:spPr>
          <a:xfrm>
            <a:off x="1143000" y="3611880"/>
            <a:ext cx="3566100" cy="45570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400" b="1" i="0" u="none" strike="noStrike" cap="none">
                <a:solidFill>
                  <a:srgbClr val="13263A"/>
                </a:solidFill>
                <a:latin typeface="Arial"/>
                <a:ea typeface="Arial"/>
                <a:cs typeface="Arial"/>
                <a:sym typeface="Arial"/>
              </a:rPr>
              <a:t>Reviews</a:t>
            </a:r>
            <a:endParaRPr/>
          </a:p>
          <a:p>
            <a:pPr marL="0" marR="0" lvl="0" indent="0" algn="l" rtl="0">
              <a:lnSpc>
                <a:spcPct val="100000"/>
              </a:lnSpc>
              <a:spcBef>
                <a:spcPts val="0"/>
              </a:spcBef>
              <a:spcAft>
                <a:spcPts val="0"/>
              </a:spcAft>
              <a:buNone/>
            </a:pPr>
            <a:r>
              <a:rPr lang="ru-RU" sz="1200">
                <a:solidFill>
                  <a:srgbClr val="647080"/>
                </a:solidFill>
              </a:rPr>
              <a:t>possibility to comment GitHub files</a:t>
            </a:r>
            <a:endParaRPr/>
          </a:p>
        </p:txBody>
      </p:sp>
      <p:sp>
        <p:nvSpPr>
          <p:cNvPr id="221" name="Google Shape;221;p20"/>
          <p:cNvSpPr/>
          <p:nvPr/>
        </p:nvSpPr>
        <p:spPr>
          <a:xfrm>
            <a:off x="630936" y="4343400"/>
            <a:ext cx="384048" cy="384048"/>
          </a:xfrm>
          <a:prstGeom prst="ellipse">
            <a:avLst/>
          </a:prstGeom>
          <a:solidFill>
            <a:srgbClr val="255CF0"/>
          </a:solidFill>
          <a:ln>
            <a:noFill/>
          </a:ln>
        </p:spPr>
        <p:txBody>
          <a:bodyPr spcFirstLastPara="1" wrap="square" lIns="109725" tIns="54850" rIns="109725" bIns="54850" anchor="ctr" anchorCtr="0">
            <a:noAutofit/>
          </a:bodyPr>
          <a:lstStyle/>
          <a:p>
            <a:pPr marL="0" marR="0" lvl="0" indent="0" algn="ctr" rtl="0">
              <a:lnSpc>
                <a:spcPct val="100000"/>
              </a:lnSpc>
              <a:spcBef>
                <a:spcPts val="0"/>
              </a:spcBef>
              <a:spcAft>
                <a:spcPts val="0"/>
              </a:spcAft>
              <a:buNone/>
            </a:pPr>
            <a:r>
              <a:rPr lang="ru-RU" sz="1200" b="1" i="0" u="none" strike="noStrike" cap="none">
                <a:solidFill>
                  <a:srgbClr val="FFFFFF"/>
                </a:solidFill>
                <a:latin typeface="Arial"/>
                <a:ea typeface="Arial"/>
                <a:cs typeface="Arial"/>
                <a:sym typeface="Arial"/>
              </a:rPr>
              <a:t>4</a:t>
            </a:r>
            <a:endParaRPr/>
          </a:p>
        </p:txBody>
      </p:sp>
      <p:sp>
        <p:nvSpPr>
          <p:cNvPr id="222" name="Google Shape;222;p20"/>
          <p:cNvSpPr txBox="1"/>
          <p:nvPr/>
        </p:nvSpPr>
        <p:spPr>
          <a:xfrm>
            <a:off x="1143000" y="4297680"/>
            <a:ext cx="3566100" cy="45570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b="1">
                <a:solidFill>
                  <a:srgbClr val="13263A"/>
                </a:solidFill>
              </a:rPr>
              <a:t>Meetings</a:t>
            </a:r>
            <a:endParaRPr/>
          </a:p>
          <a:p>
            <a:pPr marL="0" marR="0" lvl="0" indent="0" algn="l" rtl="0">
              <a:lnSpc>
                <a:spcPct val="100000"/>
              </a:lnSpc>
              <a:spcBef>
                <a:spcPts val="0"/>
              </a:spcBef>
              <a:spcAft>
                <a:spcPts val="0"/>
              </a:spcAft>
              <a:buNone/>
            </a:pPr>
            <a:r>
              <a:rPr lang="ru-RU" sz="1200">
                <a:solidFill>
                  <a:srgbClr val="647080"/>
                </a:solidFill>
              </a:rPr>
              <a:t>irl meetings during the week</a:t>
            </a:r>
            <a:endParaRPr/>
          </a:p>
        </p:txBody>
      </p:sp>
      <p:sp>
        <p:nvSpPr>
          <p:cNvPr id="223" name="Google Shape;223;p20"/>
          <p:cNvSpPr/>
          <p:nvPr/>
        </p:nvSpPr>
        <p:spPr>
          <a:xfrm>
            <a:off x="630936" y="5029200"/>
            <a:ext cx="384048" cy="384048"/>
          </a:xfrm>
          <a:prstGeom prst="ellipse">
            <a:avLst/>
          </a:prstGeom>
          <a:solidFill>
            <a:srgbClr val="255CF0"/>
          </a:solidFill>
          <a:ln>
            <a:noFill/>
          </a:ln>
        </p:spPr>
        <p:txBody>
          <a:bodyPr spcFirstLastPara="1" wrap="square" lIns="109725" tIns="54850" rIns="109725" bIns="54850" anchor="ctr" anchorCtr="0">
            <a:noAutofit/>
          </a:bodyPr>
          <a:lstStyle/>
          <a:p>
            <a:pPr marL="0" marR="0" lvl="0" indent="0" algn="ctr" rtl="0">
              <a:lnSpc>
                <a:spcPct val="100000"/>
              </a:lnSpc>
              <a:spcBef>
                <a:spcPts val="0"/>
              </a:spcBef>
              <a:spcAft>
                <a:spcPts val="0"/>
              </a:spcAft>
              <a:buNone/>
            </a:pPr>
            <a:r>
              <a:rPr lang="ru-RU" sz="1200" b="1" i="0" u="none" strike="noStrike" cap="none">
                <a:solidFill>
                  <a:srgbClr val="FFFFFF"/>
                </a:solidFill>
                <a:latin typeface="Arial"/>
                <a:ea typeface="Arial"/>
                <a:cs typeface="Arial"/>
                <a:sym typeface="Arial"/>
              </a:rPr>
              <a:t>5</a:t>
            </a:r>
            <a:endParaRPr/>
          </a:p>
        </p:txBody>
      </p:sp>
      <p:sp>
        <p:nvSpPr>
          <p:cNvPr id="224" name="Google Shape;224;p20"/>
          <p:cNvSpPr txBox="1"/>
          <p:nvPr/>
        </p:nvSpPr>
        <p:spPr>
          <a:xfrm>
            <a:off x="1143000" y="4983480"/>
            <a:ext cx="3566160" cy="594360"/>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400" b="1" i="0" u="none" strike="noStrike" cap="none">
                <a:solidFill>
                  <a:srgbClr val="13263A"/>
                </a:solidFill>
                <a:latin typeface="Arial"/>
                <a:ea typeface="Arial"/>
                <a:cs typeface="Arial"/>
                <a:sym typeface="Arial"/>
              </a:rPr>
              <a:t>Files</a:t>
            </a:r>
            <a:endParaRPr/>
          </a:p>
          <a:p>
            <a:pPr marL="0" marR="0" lvl="0" indent="0" algn="l" rtl="0">
              <a:lnSpc>
                <a:spcPct val="100000"/>
              </a:lnSpc>
              <a:spcBef>
                <a:spcPts val="0"/>
              </a:spcBef>
              <a:spcAft>
                <a:spcPts val="0"/>
              </a:spcAft>
              <a:buNone/>
            </a:pPr>
            <a:r>
              <a:rPr lang="ru-RU" sz="1200" b="0" i="0" u="none" strike="noStrike" cap="none">
                <a:solidFill>
                  <a:srgbClr val="647080"/>
                </a:solidFill>
                <a:latin typeface="Arial"/>
                <a:ea typeface="Arial"/>
                <a:cs typeface="Arial"/>
                <a:sym typeface="Arial"/>
              </a:rPr>
              <a:t>shared Google Drive</a:t>
            </a:r>
            <a:endParaRPr/>
          </a:p>
        </p:txBody>
      </p:sp>
      <p:sp>
        <p:nvSpPr>
          <p:cNvPr id="225" name="Google Shape;225;p20"/>
          <p:cNvSpPr txBox="1"/>
          <p:nvPr/>
        </p:nvSpPr>
        <p:spPr>
          <a:xfrm>
            <a:off x="5029200" y="1783080"/>
            <a:ext cx="6492240" cy="384048"/>
          </a:xfrm>
          <a:prstGeom prst="rect">
            <a:avLst/>
          </a:prstGeom>
          <a:noFill/>
          <a:ln>
            <a:noFill/>
          </a:ln>
        </p:spPr>
        <p:txBody>
          <a:bodyPr spcFirstLastPara="1" wrap="square" lIns="45700" tIns="27425" rIns="45700" bIns="27425" anchor="t" anchorCtr="0">
            <a:spAutoFit/>
          </a:bodyPr>
          <a:lstStyle/>
          <a:p>
            <a:pPr marL="0" marR="0" lvl="0" indent="0" algn="l" rtl="0">
              <a:lnSpc>
                <a:spcPct val="100000"/>
              </a:lnSpc>
              <a:spcBef>
                <a:spcPts val="0"/>
              </a:spcBef>
              <a:spcAft>
                <a:spcPts val="0"/>
              </a:spcAft>
              <a:buNone/>
            </a:pPr>
            <a:r>
              <a:rPr lang="ru-RU" sz="1650" b="1" i="0" u="none" strike="noStrike" cap="none">
                <a:solidFill>
                  <a:srgbClr val="255CF0"/>
                </a:solidFill>
                <a:latin typeface="Arial"/>
                <a:ea typeface="Arial"/>
                <a:cs typeface="Arial"/>
                <a:sym typeface="Arial"/>
              </a:rPr>
              <a:t>FIRST EXPERIMENTAL TASKS</a:t>
            </a:r>
            <a:endParaRPr/>
          </a:p>
        </p:txBody>
      </p:sp>
      <p:graphicFrame>
        <p:nvGraphicFramePr>
          <p:cNvPr id="226" name="Google Shape;226;p20"/>
          <p:cNvGraphicFramePr/>
          <p:nvPr>
            <p:extLst>
              <p:ext uri="{D42A27DB-BD31-4B8C-83A1-F6EECF244321}">
                <p14:modId xmlns:p14="http://schemas.microsoft.com/office/powerpoint/2010/main" val="2763061124"/>
              </p:ext>
            </p:extLst>
          </p:nvPr>
        </p:nvGraphicFramePr>
        <p:xfrm>
          <a:off x="5029200" y="2240280"/>
          <a:ext cx="6537975" cy="3291900"/>
        </p:xfrm>
        <a:graphic>
          <a:graphicData uri="http://schemas.openxmlformats.org/drawingml/2006/table">
            <a:tbl>
              <a:tblPr firstRow="1" bandRow="1">
                <a:noFill/>
                <a:tableStyleId>{43563D48-E419-461C-BD84-96CC8D14F9AA}</a:tableStyleId>
              </a:tblPr>
              <a:tblGrid>
                <a:gridCol w="1143000">
                  <a:extLst>
                    <a:ext uri="{9D8B030D-6E8A-4147-A177-3AD203B41FA5}">
                      <a16:colId xmlns:a16="http://schemas.microsoft.com/office/drawing/2014/main" val="20000"/>
                    </a:ext>
                  </a:extLst>
                </a:gridCol>
                <a:gridCol w="3063250">
                  <a:extLst>
                    <a:ext uri="{9D8B030D-6E8A-4147-A177-3AD203B41FA5}">
                      <a16:colId xmlns:a16="http://schemas.microsoft.com/office/drawing/2014/main" val="20001"/>
                    </a:ext>
                  </a:extLst>
                </a:gridCol>
                <a:gridCol w="2331725">
                  <a:extLst>
                    <a:ext uri="{9D8B030D-6E8A-4147-A177-3AD203B41FA5}">
                      <a16:colId xmlns:a16="http://schemas.microsoft.com/office/drawing/2014/main" val="20002"/>
                    </a:ext>
                  </a:extLst>
                </a:gridCol>
              </a:tblGrid>
              <a:tr h="548650">
                <a:tc>
                  <a:txBody>
                    <a:bodyPr/>
                    <a:lstStyle/>
                    <a:p>
                      <a:pPr marL="0" marR="0" lvl="0" indent="0" algn="l" rtl="0">
                        <a:lnSpc>
                          <a:spcPct val="100000"/>
                        </a:lnSpc>
                        <a:spcBef>
                          <a:spcPts val="0"/>
                        </a:spcBef>
                        <a:spcAft>
                          <a:spcPts val="0"/>
                        </a:spcAft>
                        <a:buNone/>
                      </a:pPr>
                      <a:r>
                        <a:rPr lang="ru-RU" sz="1300" b="1" u="none" strike="noStrike" cap="none">
                          <a:solidFill>
                            <a:srgbClr val="FFFFFF"/>
                          </a:solidFill>
                          <a:latin typeface="Arial"/>
                          <a:ea typeface="Arial"/>
                          <a:cs typeface="Arial"/>
                          <a:sym typeface="Arial"/>
                        </a:rPr>
                        <a:t>Owner</a:t>
                      </a:r>
                      <a:endParaRPr/>
                    </a:p>
                  </a:txBody>
                  <a:tcPr marL="73150" marR="73150" marT="36575" marB="36575" anchor="ctr">
                    <a:lnL w="9525" cap="flat" cmpd="sng">
                      <a:solidFill>
                        <a:srgbClr val="647080"/>
                      </a:solidFill>
                      <a:prstDash val="solid"/>
                      <a:round/>
                      <a:headEnd type="none" w="sm" len="sm"/>
                      <a:tailEnd type="none" w="sm" len="sm"/>
                    </a:lnL>
                    <a:lnR w="9525" cap="flat" cmpd="sng">
                      <a:solidFill>
                        <a:srgbClr val="647080"/>
                      </a:solidFill>
                      <a:prstDash val="solid"/>
                      <a:round/>
                      <a:headEnd type="none" w="sm" len="sm"/>
                      <a:tailEnd type="none" w="sm" len="sm"/>
                    </a:lnR>
                    <a:lnT w="9525" cap="flat" cmpd="sng">
                      <a:solidFill>
                        <a:srgbClr val="647080"/>
                      </a:solidFill>
                      <a:prstDash val="solid"/>
                      <a:round/>
                      <a:headEnd type="none" w="sm" len="sm"/>
                      <a:tailEnd type="none" w="sm" len="sm"/>
                    </a:lnT>
                    <a:lnB w="9525" cap="flat" cmpd="sng">
                      <a:solidFill>
                        <a:srgbClr val="647080"/>
                      </a:solidFill>
                      <a:prstDash val="solid"/>
                      <a:round/>
                      <a:headEnd type="none" w="sm" len="sm"/>
                      <a:tailEnd type="none" w="sm" len="sm"/>
                    </a:lnB>
                    <a:solidFill>
                      <a:srgbClr val="13263A"/>
                    </a:solidFill>
                  </a:tcPr>
                </a:tc>
                <a:tc>
                  <a:txBody>
                    <a:bodyPr/>
                    <a:lstStyle/>
                    <a:p>
                      <a:pPr marL="0" marR="0" lvl="0" indent="0" algn="l" rtl="0">
                        <a:lnSpc>
                          <a:spcPct val="100000"/>
                        </a:lnSpc>
                        <a:spcBef>
                          <a:spcPts val="0"/>
                        </a:spcBef>
                        <a:spcAft>
                          <a:spcPts val="0"/>
                        </a:spcAft>
                        <a:buNone/>
                      </a:pPr>
                      <a:r>
                        <a:rPr lang="ru-RU" sz="1300" b="1" u="none" strike="noStrike" cap="none">
                          <a:solidFill>
                            <a:srgbClr val="FFFFFF"/>
                          </a:solidFill>
                          <a:latin typeface="Arial"/>
                          <a:ea typeface="Arial"/>
                          <a:cs typeface="Arial"/>
                          <a:sym typeface="Arial"/>
                        </a:rPr>
                        <a:t>Task</a:t>
                      </a:r>
                      <a:endParaRPr/>
                    </a:p>
                  </a:txBody>
                  <a:tcPr marL="73150" marR="73150" marT="36575" marB="36575" anchor="ctr">
                    <a:lnL w="9525" cap="flat" cmpd="sng">
                      <a:solidFill>
                        <a:srgbClr val="647080"/>
                      </a:solidFill>
                      <a:prstDash val="solid"/>
                      <a:round/>
                      <a:headEnd type="none" w="sm" len="sm"/>
                      <a:tailEnd type="none" w="sm" len="sm"/>
                    </a:lnL>
                    <a:lnR w="9525" cap="flat" cmpd="sng">
                      <a:solidFill>
                        <a:srgbClr val="647080"/>
                      </a:solidFill>
                      <a:prstDash val="solid"/>
                      <a:round/>
                      <a:headEnd type="none" w="sm" len="sm"/>
                      <a:tailEnd type="none" w="sm" len="sm"/>
                    </a:lnR>
                    <a:lnT w="9525" cap="flat" cmpd="sng">
                      <a:solidFill>
                        <a:srgbClr val="647080"/>
                      </a:solidFill>
                      <a:prstDash val="solid"/>
                      <a:round/>
                      <a:headEnd type="none" w="sm" len="sm"/>
                      <a:tailEnd type="none" w="sm" len="sm"/>
                    </a:lnT>
                    <a:lnB w="9525" cap="flat" cmpd="sng">
                      <a:solidFill>
                        <a:srgbClr val="647080"/>
                      </a:solidFill>
                      <a:prstDash val="solid"/>
                      <a:round/>
                      <a:headEnd type="none" w="sm" len="sm"/>
                      <a:tailEnd type="none" w="sm" len="sm"/>
                    </a:lnB>
                    <a:solidFill>
                      <a:srgbClr val="13263A"/>
                    </a:solidFill>
                  </a:tcPr>
                </a:tc>
                <a:tc>
                  <a:txBody>
                    <a:bodyPr/>
                    <a:lstStyle/>
                    <a:p>
                      <a:pPr marL="0" marR="0" lvl="0" indent="0" algn="l" rtl="0">
                        <a:lnSpc>
                          <a:spcPct val="100000"/>
                        </a:lnSpc>
                        <a:spcBef>
                          <a:spcPts val="0"/>
                        </a:spcBef>
                        <a:spcAft>
                          <a:spcPts val="0"/>
                        </a:spcAft>
                        <a:buNone/>
                      </a:pPr>
                      <a:r>
                        <a:rPr lang="ru-RU" sz="1300" b="1" u="none" strike="noStrike" cap="none">
                          <a:solidFill>
                            <a:srgbClr val="FFFFFF"/>
                          </a:solidFill>
                          <a:latin typeface="Arial"/>
                          <a:ea typeface="Arial"/>
                          <a:cs typeface="Arial"/>
                          <a:sym typeface="Arial"/>
                        </a:rPr>
                        <a:t>Done when</a:t>
                      </a:r>
                      <a:endParaRPr/>
                    </a:p>
                  </a:txBody>
                  <a:tcPr marL="73150" marR="73150" marT="36575" marB="36575" anchor="ctr">
                    <a:lnL w="9525" cap="flat" cmpd="sng">
                      <a:solidFill>
                        <a:srgbClr val="647080"/>
                      </a:solidFill>
                      <a:prstDash val="solid"/>
                      <a:round/>
                      <a:headEnd type="none" w="sm" len="sm"/>
                      <a:tailEnd type="none" w="sm" len="sm"/>
                    </a:lnL>
                    <a:lnR w="9525" cap="flat" cmpd="sng">
                      <a:solidFill>
                        <a:srgbClr val="647080"/>
                      </a:solidFill>
                      <a:prstDash val="solid"/>
                      <a:round/>
                      <a:headEnd type="none" w="sm" len="sm"/>
                      <a:tailEnd type="none" w="sm" len="sm"/>
                    </a:lnR>
                    <a:lnT w="9525" cap="flat" cmpd="sng">
                      <a:solidFill>
                        <a:srgbClr val="647080"/>
                      </a:solidFill>
                      <a:prstDash val="solid"/>
                      <a:round/>
                      <a:headEnd type="none" w="sm" len="sm"/>
                      <a:tailEnd type="none" w="sm" len="sm"/>
                    </a:lnT>
                    <a:lnB w="9525" cap="flat" cmpd="sng">
                      <a:solidFill>
                        <a:srgbClr val="647080"/>
                      </a:solidFill>
                      <a:prstDash val="solid"/>
                      <a:round/>
                      <a:headEnd type="none" w="sm" len="sm"/>
                      <a:tailEnd type="none" w="sm" len="sm"/>
                    </a:lnB>
                    <a:solidFill>
                      <a:srgbClr val="13263A"/>
                    </a:solidFill>
                  </a:tcPr>
                </a:tc>
                <a:extLst>
                  <a:ext uri="{0D108BD9-81ED-4DB2-BD59-A6C34878D82A}">
                    <a16:rowId xmlns:a16="http://schemas.microsoft.com/office/drawing/2014/main" val="10000"/>
                  </a:ext>
                </a:extLst>
              </a:tr>
              <a:tr h="548650">
                <a:tc>
                  <a:txBody>
                    <a:bodyPr/>
                    <a:lstStyle/>
                    <a:p>
                      <a:pPr marL="0" marR="0" lvl="0" indent="0" algn="l" rtl="0">
                        <a:lnSpc>
                          <a:spcPct val="100000"/>
                        </a:lnSpc>
                        <a:spcBef>
                          <a:spcPts val="0"/>
                        </a:spcBef>
                        <a:spcAft>
                          <a:spcPts val="0"/>
                        </a:spcAft>
                        <a:buNone/>
                      </a:pPr>
                      <a:r>
                        <a:rPr lang="ru-RU" sz="1200" b="1" u="none" strike="noStrike" cap="none">
                          <a:solidFill>
                            <a:srgbClr val="13263A"/>
                          </a:solidFill>
                          <a:latin typeface="Arial"/>
                          <a:ea typeface="Arial"/>
                          <a:cs typeface="Arial"/>
                          <a:sym typeface="Arial"/>
                        </a:rPr>
                        <a:t>Thibaut</a:t>
                      </a:r>
                      <a:endParaRPr b="1"/>
                    </a:p>
                  </a:txBody>
                  <a:tcPr marL="73150" marR="73150" marT="36575" marB="36575" anchor="ctr">
                    <a:lnL w="9525" cap="flat" cmpd="sng">
                      <a:solidFill>
                        <a:srgbClr val="647080"/>
                      </a:solidFill>
                      <a:prstDash val="solid"/>
                      <a:round/>
                      <a:headEnd type="none" w="sm" len="sm"/>
                      <a:tailEnd type="none" w="sm" len="sm"/>
                    </a:lnL>
                    <a:lnR w="9525" cap="flat" cmpd="sng">
                      <a:solidFill>
                        <a:srgbClr val="647080"/>
                      </a:solidFill>
                      <a:prstDash val="solid"/>
                      <a:round/>
                      <a:headEnd type="none" w="sm" len="sm"/>
                      <a:tailEnd type="none" w="sm" len="sm"/>
                    </a:lnR>
                    <a:lnT w="9525" cap="flat" cmpd="sng">
                      <a:solidFill>
                        <a:srgbClr val="647080"/>
                      </a:solidFill>
                      <a:prstDash val="solid"/>
                      <a:round/>
                      <a:headEnd type="none" w="sm" len="sm"/>
                      <a:tailEnd type="none" w="sm" len="sm"/>
                    </a:lnT>
                    <a:lnB w="9525" cap="flat" cmpd="sng">
                      <a:solidFill>
                        <a:srgbClr val="647080"/>
                      </a:solidFill>
                      <a:prstDash val="solid"/>
                      <a:round/>
                      <a:headEnd type="none" w="sm" len="sm"/>
                      <a:tailEnd type="none" w="sm" len="sm"/>
                    </a:lnB>
                    <a:solidFill>
                      <a:srgbClr val="E6EAF0"/>
                    </a:solidFill>
                  </a:tcPr>
                </a:tc>
                <a:tc>
                  <a:txBody>
                    <a:bodyPr/>
                    <a:lstStyle/>
                    <a:p>
                      <a:pPr marL="0" marR="0" lvl="0" indent="0" algn="l" rtl="0">
                        <a:lnSpc>
                          <a:spcPct val="100000"/>
                        </a:lnSpc>
                        <a:spcBef>
                          <a:spcPts val="0"/>
                        </a:spcBef>
                        <a:spcAft>
                          <a:spcPts val="0"/>
                        </a:spcAft>
                        <a:buNone/>
                      </a:pPr>
                      <a:r>
                        <a:rPr lang="ru-RU" sz="1200" b="0" u="none" strike="noStrike" cap="none">
                          <a:solidFill>
                            <a:srgbClr val="13263A"/>
                          </a:solidFill>
                          <a:latin typeface="Arial"/>
                          <a:ea typeface="Arial"/>
                          <a:cs typeface="Arial"/>
                          <a:sym typeface="Arial"/>
                        </a:rPr>
                        <a:t>Build the symbol board; send the selected tile to the API</a:t>
                      </a:r>
                      <a:endParaRPr/>
                    </a:p>
                  </a:txBody>
                  <a:tcPr marL="73150" marR="73150" marT="36575" marB="36575" anchor="ctr">
                    <a:lnL w="9525" cap="flat" cmpd="sng">
                      <a:solidFill>
                        <a:srgbClr val="647080"/>
                      </a:solidFill>
                      <a:prstDash val="solid"/>
                      <a:round/>
                      <a:headEnd type="none" w="sm" len="sm"/>
                      <a:tailEnd type="none" w="sm" len="sm"/>
                    </a:lnL>
                    <a:lnR w="9525" cap="flat" cmpd="sng">
                      <a:solidFill>
                        <a:srgbClr val="647080"/>
                      </a:solidFill>
                      <a:prstDash val="solid"/>
                      <a:round/>
                      <a:headEnd type="none" w="sm" len="sm"/>
                      <a:tailEnd type="none" w="sm" len="sm"/>
                    </a:lnR>
                    <a:lnT w="9525" cap="flat" cmpd="sng">
                      <a:solidFill>
                        <a:srgbClr val="647080"/>
                      </a:solidFill>
                      <a:prstDash val="solid"/>
                      <a:round/>
                      <a:headEnd type="none" w="sm" len="sm"/>
                      <a:tailEnd type="none" w="sm" len="sm"/>
                    </a:lnT>
                    <a:lnB w="9525" cap="flat" cmpd="sng">
                      <a:solidFill>
                        <a:srgbClr val="647080"/>
                      </a:solidFill>
                      <a:prstDash val="solid"/>
                      <a:round/>
                      <a:headEnd type="none" w="sm" len="sm"/>
                      <a:tailEnd type="none" w="sm" len="sm"/>
                    </a:lnB>
                    <a:solidFill>
                      <a:srgbClr val="E6EAF0"/>
                    </a:solidFill>
                  </a:tcPr>
                </a:tc>
                <a:tc>
                  <a:txBody>
                    <a:bodyPr/>
                    <a:lstStyle/>
                    <a:p>
                      <a:pPr marL="0" marR="0" lvl="0" indent="0" algn="l" rtl="0">
                        <a:lnSpc>
                          <a:spcPct val="100000"/>
                        </a:lnSpc>
                        <a:spcBef>
                          <a:spcPts val="0"/>
                        </a:spcBef>
                        <a:spcAft>
                          <a:spcPts val="0"/>
                        </a:spcAft>
                        <a:buNone/>
                      </a:pPr>
                      <a:r>
                        <a:rPr lang="ru-RU" sz="1200" b="0" u="none" strike="noStrike" cap="none">
                          <a:solidFill>
                            <a:srgbClr val="13263A"/>
                          </a:solidFill>
                          <a:latin typeface="Arial"/>
                          <a:ea typeface="Arial"/>
                          <a:cs typeface="Arial"/>
                          <a:sym typeface="Arial"/>
                        </a:rPr>
                        <a:t>"water" tile shows suggestions</a:t>
                      </a:r>
                      <a:endParaRPr/>
                    </a:p>
                  </a:txBody>
                  <a:tcPr marL="73150" marR="73150" marT="36575" marB="36575" anchor="ctr">
                    <a:lnL w="9525" cap="flat" cmpd="sng">
                      <a:solidFill>
                        <a:srgbClr val="647080"/>
                      </a:solidFill>
                      <a:prstDash val="solid"/>
                      <a:round/>
                      <a:headEnd type="none" w="sm" len="sm"/>
                      <a:tailEnd type="none" w="sm" len="sm"/>
                    </a:lnL>
                    <a:lnR w="9525" cap="flat" cmpd="sng">
                      <a:solidFill>
                        <a:srgbClr val="647080"/>
                      </a:solidFill>
                      <a:prstDash val="solid"/>
                      <a:round/>
                      <a:headEnd type="none" w="sm" len="sm"/>
                      <a:tailEnd type="none" w="sm" len="sm"/>
                    </a:lnR>
                    <a:lnT w="9525" cap="flat" cmpd="sng">
                      <a:solidFill>
                        <a:srgbClr val="647080"/>
                      </a:solidFill>
                      <a:prstDash val="solid"/>
                      <a:round/>
                      <a:headEnd type="none" w="sm" len="sm"/>
                      <a:tailEnd type="none" w="sm" len="sm"/>
                    </a:lnT>
                    <a:lnB w="9525" cap="flat" cmpd="sng">
                      <a:solidFill>
                        <a:srgbClr val="647080"/>
                      </a:solidFill>
                      <a:prstDash val="solid"/>
                      <a:round/>
                      <a:headEnd type="none" w="sm" len="sm"/>
                      <a:tailEnd type="none" w="sm" len="sm"/>
                    </a:lnB>
                    <a:solidFill>
                      <a:srgbClr val="E6EAF0"/>
                    </a:solidFill>
                  </a:tcPr>
                </a:tc>
                <a:extLst>
                  <a:ext uri="{0D108BD9-81ED-4DB2-BD59-A6C34878D82A}">
                    <a16:rowId xmlns:a16="http://schemas.microsoft.com/office/drawing/2014/main" val="10001"/>
                  </a:ext>
                </a:extLst>
              </a:tr>
              <a:tr h="548650">
                <a:tc>
                  <a:txBody>
                    <a:bodyPr/>
                    <a:lstStyle/>
                    <a:p>
                      <a:pPr marL="0" marR="0" lvl="0" indent="0" algn="l" rtl="0">
                        <a:lnSpc>
                          <a:spcPct val="100000"/>
                        </a:lnSpc>
                        <a:spcBef>
                          <a:spcPts val="0"/>
                        </a:spcBef>
                        <a:spcAft>
                          <a:spcPts val="0"/>
                        </a:spcAft>
                        <a:buNone/>
                      </a:pPr>
                      <a:r>
                        <a:rPr lang="ru-RU" sz="1200" b="1" u="none" strike="noStrike" cap="none">
                          <a:solidFill>
                            <a:srgbClr val="13263A"/>
                          </a:solidFill>
                          <a:latin typeface="Arial"/>
                          <a:ea typeface="Arial"/>
                          <a:cs typeface="Arial"/>
                          <a:sym typeface="Arial"/>
                        </a:rPr>
                        <a:t>Veronika</a:t>
                      </a:r>
                      <a:endParaRPr b="1"/>
                    </a:p>
                  </a:txBody>
                  <a:tcPr marL="73150" marR="73150" marT="36575" marB="36575" anchor="ctr">
                    <a:lnL w="9525" cap="flat" cmpd="sng">
                      <a:solidFill>
                        <a:srgbClr val="647080"/>
                      </a:solidFill>
                      <a:prstDash val="solid"/>
                      <a:round/>
                      <a:headEnd type="none" w="sm" len="sm"/>
                      <a:tailEnd type="none" w="sm" len="sm"/>
                    </a:lnL>
                    <a:lnR w="9525" cap="flat" cmpd="sng">
                      <a:solidFill>
                        <a:srgbClr val="647080"/>
                      </a:solidFill>
                      <a:prstDash val="solid"/>
                      <a:round/>
                      <a:headEnd type="none" w="sm" len="sm"/>
                      <a:tailEnd type="none" w="sm" len="sm"/>
                    </a:lnR>
                    <a:lnT w="9525" cap="flat" cmpd="sng">
                      <a:solidFill>
                        <a:srgbClr val="647080"/>
                      </a:solidFill>
                      <a:prstDash val="solid"/>
                      <a:round/>
                      <a:headEnd type="none" w="sm" len="sm"/>
                      <a:tailEnd type="none" w="sm" len="sm"/>
                    </a:lnT>
                    <a:lnB w="9525" cap="flat" cmpd="sng">
                      <a:solidFill>
                        <a:srgbClr val="647080"/>
                      </a:solidFill>
                      <a:prstDash val="solid"/>
                      <a:round/>
                      <a:headEnd type="none" w="sm" len="sm"/>
                      <a:tailEnd type="none" w="sm" len="sm"/>
                    </a:lnB>
                    <a:solidFill>
                      <a:srgbClr val="EEF0F3"/>
                    </a:solidFill>
                  </a:tcPr>
                </a:tc>
                <a:tc>
                  <a:txBody>
                    <a:bodyPr/>
                    <a:lstStyle/>
                    <a:p>
                      <a:pPr marL="0" marR="0" lvl="0" indent="0" algn="l" rtl="0">
                        <a:lnSpc>
                          <a:spcPct val="100000"/>
                        </a:lnSpc>
                        <a:spcBef>
                          <a:spcPts val="0"/>
                        </a:spcBef>
                        <a:spcAft>
                          <a:spcPts val="0"/>
                        </a:spcAft>
                        <a:buNone/>
                      </a:pPr>
                      <a:r>
                        <a:rPr lang="ru-RU" sz="1200" b="0" u="none" strike="noStrike" cap="none">
                          <a:solidFill>
                            <a:srgbClr val="13263A"/>
                          </a:solidFill>
                          <a:latin typeface="Arial"/>
                          <a:ea typeface="Arial"/>
                          <a:cs typeface="Arial"/>
                          <a:sym typeface="Arial"/>
                        </a:rPr>
                        <a:t>Connect frontend calls; provider tests for timeout and bad output</a:t>
                      </a:r>
                      <a:endParaRPr/>
                    </a:p>
                  </a:txBody>
                  <a:tcPr marL="73150" marR="73150" marT="36575" marB="36575" anchor="ctr">
                    <a:lnL w="9525" cap="flat" cmpd="sng">
                      <a:solidFill>
                        <a:srgbClr val="647080"/>
                      </a:solidFill>
                      <a:prstDash val="solid"/>
                      <a:round/>
                      <a:headEnd type="none" w="sm" len="sm"/>
                      <a:tailEnd type="none" w="sm" len="sm"/>
                    </a:lnL>
                    <a:lnR w="9525" cap="flat" cmpd="sng">
                      <a:solidFill>
                        <a:srgbClr val="647080"/>
                      </a:solidFill>
                      <a:prstDash val="solid"/>
                      <a:round/>
                      <a:headEnd type="none" w="sm" len="sm"/>
                      <a:tailEnd type="none" w="sm" len="sm"/>
                    </a:lnR>
                    <a:lnT w="9525" cap="flat" cmpd="sng">
                      <a:solidFill>
                        <a:srgbClr val="647080"/>
                      </a:solidFill>
                      <a:prstDash val="solid"/>
                      <a:round/>
                      <a:headEnd type="none" w="sm" len="sm"/>
                      <a:tailEnd type="none" w="sm" len="sm"/>
                    </a:lnT>
                    <a:lnB w="9525" cap="flat" cmpd="sng">
                      <a:solidFill>
                        <a:srgbClr val="647080"/>
                      </a:solidFill>
                      <a:prstDash val="solid"/>
                      <a:round/>
                      <a:headEnd type="none" w="sm" len="sm"/>
                      <a:tailEnd type="none" w="sm" len="sm"/>
                    </a:lnB>
                    <a:solidFill>
                      <a:srgbClr val="EEF0F3"/>
                    </a:solidFill>
                  </a:tcPr>
                </a:tc>
                <a:tc>
                  <a:txBody>
                    <a:bodyPr/>
                    <a:lstStyle/>
                    <a:p>
                      <a:pPr marL="0" marR="0" lvl="0" indent="0" algn="l" rtl="0">
                        <a:lnSpc>
                          <a:spcPct val="100000"/>
                        </a:lnSpc>
                        <a:spcBef>
                          <a:spcPts val="0"/>
                        </a:spcBef>
                        <a:spcAft>
                          <a:spcPts val="0"/>
                        </a:spcAft>
                        <a:buNone/>
                      </a:pPr>
                      <a:r>
                        <a:rPr lang="ru-RU" sz="1200" b="0" u="none" strike="noStrike" cap="none">
                          <a:solidFill>
                            <a:srgbClr val="13263A"/>
                          </a:solidFill>
                          <a:latin typeface="Arial"/>
                          <a:ea typeface="Arial"/>
                          <a:cs typeface="Arial"/>
                          <a:sym typeface="Arial"/>
                        </a:rPr>
                        <a:t>Team runs backend from README</a:t>
                      </a:r>
                      <a:endParaRPr/>
                    </a:p>
                  </a:txBody>
                  <a:tcPr marL="73150" marR="73150" marT="36575" marB="36575" anchor="ctr">
                    <a:lnL w="9525" cap="flat" cmpd="sng">
                      <a:solidFill>
                        <a:srgbClr val="647080"/>
                      </a:solidFill>
                      <a:prstDash val="solid"/>
                      <a:round/>
                      <a:headEnd type="none" w="sm" len="sm"/>
                      <a:tailEnd type="none" w="sm" len="sm"/>
                    </a:lnL>
                    <a:lnR w="9525" cap="flat" cmpd="sng">
                      <a:solidFill>
                        <a:srgbClr val="647080"/>
                      </a:solidFill>
                      <a:prstDash val="solid"/>
                      <a:round/>
                      <a:headEnd type="none" w="sm" len="sm"/>
                      <a:tailEnd type="none" w="sm" len="sm"/>
                    </a:lnR>
                    <a:lnT w="9525" cap="flat" cmpd="sng">
                      <a:solidFill>
                        <a:srgbClr val="647080"/>
                      </a:solidFill>
                      <a:prstDash val="solid"/>
                      <a:round/>
                      <a:headEnd type="none" w="sm" len="sm"/>
                      <a:tailEnd type="none" w="sm" len="sm"/>
                    </a:lnT>
                    <a:lnB w="9525" cap="flat" cmpd="sng">
                      <a:solidFill>
                        <a:srgbClr val="647080"/>
                      </a:solidFill>
                      <a:prstDash val="solid"/>
                      <a:round/>
                      <a:headEnd type="none" w="sm" len="sm"/>
                      <a:tailEnd type="none" w="sm" len="sm"/>
                    </a:lnB>
                    <a:solidFill>
                      <a:srgbClr val="EEF0F3"/>
                    </a:solidFill>
                  </a:tcPr>
                </a:tc>
                <a:extLst>
                  <a:ext uri="{0D108BD9-81ED-4DB2-BD59-A6C34878D82A}">
                    <a16:rowId xmlns:a16="http://schemas.microsoft.com/office/drawing/2014/main" val="10002"/>
                  </a:ext>
                </a:extLst>
              </a:tr>
              <a:tr h="548650">
                <a:tc>
                  <a:txBody>
                    <a:bodyPr/>
                    <a:lstStyle/>
                    <a:p>
                      <a:pPr marL="0" marR="0" lvl="0" indent="0" algn="l" rtl="0">
                        <a:lnSpc>
                          <a:spcPct val="100000"/>
                        </a:lnSpc>
                        <a:spcBef>
                          <a:spcPts val="0"/>
                        </a:spcBef>
                        <a:spcAft>
                          <a:spcPts val="0"/>
                        </a:spcAft>
                        <a:buNone/>
                      </a:pPr>
                      <a:r>
                        <a:rPr lang="ru-RU" sz="1200" b="1" u="none" strike="noStrike" cap="none">
                          <a:solidFill>
                            <a:srgbClr val="13263A"/>
                          </a:solidFill>
                          <a:latin typeface="Arial"/>
                          <a:ea typeface="Arial"/>
                          <a:cs typeface="Arial"/>
                          <a:sym typeface="Arial"/>
                        </a:rPr>
                        <a:t>Jiahui</a:t>
                      </a:r>
                      <a:endParaRPr b="1"/>
                    </a:p>
                  </a:txBody>
                  <a:tcPr marL="73150" marR="73150" marT="36575" marB="36575" anchor="ctr">
                    <a:lnL w="9525" cap="flat" cmpd="sng">
                      <a:solidFill>
                        <a:srgbClr val="647080"/>
                      </a:solidFill>
                      <a:prstDash val="solid"/>
                      <a:round/>
                      <a:headEnd type="none" w="sm" len="sm"/>
                      <a:tailEnd type="none" w="sm" len="sm"/>
                    </a:lnL>
                    <a:lnR w="9525" cap="flat" cmpd="sng">
                      <a:solidFill>
                        <a:srgbClr val="647080"/>
                      </a:solidFill>
                      <a:prstDash val="solid"/>
                      <a:round/>
                      <a:headEnd type="none" w="sm" len="sm"/>
                      <a:tailEnd type="none" w="sm" len="sm"/>
                    </a:lnR>
                    <a:lnT w="9525" cap="flat" cmpd="sng">
                      <a:solidFill>
                        <a:srgbClr val="647080"/>
                      </a:solidFill>
                      <a:prstDash val="solid"/>
                      <a:round/>
                      <a:headEnd type="none" w="sm" len="sm"/>
                      <a:tailEnd type="none" w="sm" len="sm"/>
                    </a:lnT>
                    <a:lnB w="9525" cap="flat" cmpd="sng">
                      <a:solidFill>
                        <a:srgbClr val="647080"/>
                      </a:solidFill>
                      <a:prstDash val="solid"/>
                      <a:round/>
                      <a:headEnd type="none" w="sm" len="sm"/>
                      <a:tailEnd type="none" w="sm" len="sm"/>
                    </a:lnB>
                    <a:solidFill>
                      <a:srgbClr val="E6EAF0"/>
                    </a:solidFill>
                  </a:tcPr>
                </a:tc>
                <a:tc>
                  <a:txBody>
                    <a:bodyPr/>
                    <a:lstStyle/>
                    <a:p>
                      <a:pPr marL="0" marR="0" lvl="0" indent="0" algn="l" rtl="0">
                        <a:lnSpc>
                          <a:spcPct val="100000"/>
                        </a:lnSpc>
                        <a:spcBef>
                          <a:spcPts val="0"/>
                        </a:spcBef>
                        <a:spcAft>
                          <a:spcPts val="0"/>
                        </a:spcAft>
                        <a:buNone/>
                      </a:pPr>
                      <a:r>
                        <a:rPr lang="ru-RU" sz="1200" b="0" u="none" strike="noStrike" cap="none">
                          <a:solidFill>
                            <a:srgbClr val="13263A"/>
                          </a:solidFill>
                          <a:latin typeface="Arial"/>
                          <a:ea typeface="Arial"/>
                          <a:cs typeface="Arial"/>
                          <a:sym typeface="Arial"/>
                        </a:rPr>
                        <a:t>Real provider behind SentenceProvider; synthetic café photo test</a:t>
                      </a:r>
                      <a:endParaRPr/>
                    </a:p>
                  </a:txBody>
                  <a:tcPr marL="73150" marR="73150" marT="36575" marB="36575" anchor="ctr">
                    <a:lnL w="9525" cap="flat" cmpd="sng">
                      <a:solidFill>
                        <a:srgbClr val="647080"/>
                      </a:solidFill>
                      <a:prstDash val="solid"/>
                      <a:round/>
                      <a:headEnd type="none" w="sm" len="sm"/>
                      <a:tailEnd type="none" w="sm" len="sm"/>
                    </a:lnL>
                    <a:lnR w="9525" cap="flat" cmpd="sng">
                      <a:solidFill>
                        <a:srgbClr val="647080"/>
                      </a:solidFill>
                      <a:prstDash val="solid"/>
                      <a:round/>
                      <a:headEnd type="none" w="sm" len="sm"/>
                      <a:tailEnd type="none" w="sm" len="sm"/>
                    </a:lnR>
                    <a:lnT w="9525" cap="flat" cmpd="sng">
                      <a:solidFill>
                        <a:srgbClr val="647080"/>
                      </a:solidFill>
                      <a:prstDash val="solid"/>
                      <a:round/>
                      <a:headEnd type="none" w="sm" len="sm"/>
                      <a:tailEnd type="none" w="sm" len="sm"/>
                    </a:lnT>
                    <a:lnB w="9525" cap="flat" cmpd="sng">
                      <a:solidFill>
                        <a:srgbClr val="647080"/>
                      </a:solidFill>
                      <a:prstDash val="solid"/>
                      <a:round/>
                      <a:headEnd type="none" w="sm" len="sm"/>
                      <a:tailEnd type="none" w="sm" len="sm"/>
                    </a:lnB>
                    <a:solidFill>
                      <a:srgbClr val="E6EAF0"/>
                    </a:solidFill>
                  </a:tcPr>
                </a:tc>
                <a:tc>
                  <a:txBody>
                    <a:bodyPr/>
                    <a:lstStyle/>
                    <a:p>
                      <a:pPr marL="0" marR="0" lvl="0" indent="0" algn="l" rtl="0">
                        <a:lnSpc>
                          <a:spcPct val="100000"/>
                        </a:lnSpc>
                        <a:spcBef>
                          <a:spcPts val="0"/>
                        </a:spcBef>
                        <a:spcAft>
                          <a:spcPts val="0"/>
                        </a:spcAft>
                        <a:buNone/>
                      </a:pPr>
                      <a:r>
                        <a:rPr lang="ru-RU" sz="1200" b="0" u="none" strike="noStrike" cap="none">
                          <a:solidFill>
                            <a:srgbClr val="13263A"/>
                          </a:solidFill>
                          <a:latin typeface="Arial"/>
                          <a:ea typeface="Arial"/>
                          <a:cs typeface="Arial"/>
                          <a:sym typeface="Arial"/>
                        </a:rPr>
                        <a:t>Photo + intent give evaluated options</a:t>
                      </a:r>
                      <a:endParaRPr/>
                    </a:p>
                  </a:txBody>
                  <a:tcPr marL="73150" marR="73150" marT="36575" marB="36575" anchor="ctr">
                    <a:lnL w="9525" cap="flat" cmpd="sng">
                      <a:solidFill>
                        <a:srgbClr val="647080"/>
                      </a:solidFill>
                      <a:prstDash val="solid"/>
                      <a:round/>
                      <a:headEnd type="none" w="sm" len="sm"/>
                      <a:tailEnd type="none" w="sm" len="sm"/>
                    </a:lnL>
                    <a:lnR w="9525" cap="flat" cmpd="sng">
                      <a:solidFill>
                        <a:srgbClr val="647080"/>
                      </a:solidFill>
                      <a:prstDash val="solid"/>
                      <a:round/>
                      <a:headEnd type="none" w="sm" len="sm"/>
                      <a:tailEnd type="none" w="sm" len="sm"/>
                    </a:lnR>
                    <a:lnT w="9525" cap="flat" cmpd="sng">
                      <a:solidFill>
                        <a:srgbClr val="647080"/>
                      </a:solidFill>
                      <a:prstDash val="solid"/>
                      <a:round/>
                      <a:headEnd type="none" w="sm" len="sm"/>
                      <a:tailEnd type="none" w="sm" len="sm"/>
                    </a:lnT>
                    <a:lnB w="9525" cap="flat" cmpd="sng">
                      <a:solidFill>
                        <a:srgbClr val="647080"/>
                      </a:solidFill>
                      <a:prstDash val="solid"/>
                      <a:round/>
                      <a:headEnd type="none" w="sm" len="sm"/>
                      <a:tailEnd type="none" w="sm" len="sm"/>
                    </a:lnB>
                    <a:solidFill>
                      <a:srgbClr val="E6EAF0"/>
                    </a:solidFill>
                  </a:tcPr>
                </a:tc>
                <a:extLst>
                  <a:ext uri="{0D108BD9-81ED-4DB2-BD59-A6C34878D82A}">
                    <a16:rowId xmlns:a16="http://schemas.microsoft.com/office/drawing/2014/main" val="10003"/>
                  </a:ext>
                </a:extLst>
              </a:tr>
              <a:tr h="548650">
                <a:tc>
                  <a:txBody>
                    <a:bodyPr/>
                    <a:lstStyle/>
                    <a:p>
                      <a:pPr marL="0" marR="0" lvl="0" indent="0" algn="l" rtl="0">
                        <a:lnSpc>
                          <a:spcPct val="100000"/>
                        </a:lnSpc>
                        <a:spcBef>
                          <a:spcPts val="0"/>
                        </a:spcBef>
                        <a:spcAft>
                          <a:spcPts val="0"/>
                        </a:spcAft>
                        <a:buNone/>
                      </a:pPr>
                      <a:r>
                        <a:rPr lang="ru-RU" sz="1200" b="1" u="none" strike="noStrike" cap="none">
                          <a:solidFill>
                            <a:srgbClr val="13263A"/>
                          </a:solidFill>
                          <a:latin typeface="Arial"/>
                          <a:ea typeface="Arial"/>
                          <a:cs typeface="Arial"/>
                          <a:sym typeface="Arial"/>
                        </a:rPr>
                        <a:t>Abid Ali</a:t>
                      </a:r>
                      <a:endParaRPr b="1"/>
                    </a:p>
                  </a:txBody>
                  <a:tcPr marL="73150" marR="73150" marT="36575" marB="36575" anchor="ctr">
                    <a:lnL w="9525" cap="flat" cmpd="sng">
                      <a:solidFill>
                        <a:srgbClr val="647080"/>
                      </a:solidFill>
                      <a:prstDash val="solid"/>
                      <a:round/>
                      <a:headEnd type="none" w="sm" len="sm"/>
                      <a:tailEnd type="none" w="sm" len="sm"/>
                    </a:lnL>
                    <a:lnR w="9525" cap="flat" cmpd="sng">
                      <a:solidFill>
                        <a:srgbClr val="647080"/>
                      </a:solidFill>
                      <a:prstDash val="solid"/>
                      <a:round/>
                      <a:headEnd type="none" w="sm" len="sm"/>
                      <a:tailEnd type="none" w="sm" len="sm"/>
                    </a:lnR>
                    <a:lnT w="9525" cap="flat" cmpd="sng">
                      <a:solidFill>
                        <a:srgbClr val="647080"/>
                      </a:solidFill>
                      <a:prstDash val="solid"/>
                      <a:round/>
                      <a:headEnd type="none" w="sm" len="sm"/>
                      <a:tailEnd type="none" w="sm" len="sm"/>
                    </a:lnT>
                    <a:lnB w="9525" cap="flat" cmpd="sng">
                      <a:solidFill>
                        <a:srgbClr val="647080"/>
                      </a:solidFill>
                      <a:prstDash val="solid"/>
                      <a:round/>
                      <a:headEnd type="none" w="sm" len="sm"/>
                      <a:tailEnd type="none" w="sm" len="sm"/>
                    </a:lnB>
                    <a:solidFill>
                      <a:srgbClr val="EEF0F3"/>
                    </a:solidFill>
                  </a:tcPr>
                </a:tc>
                <a:tc>
                  <a:txBody>
                    <a:bodyPr/>
                    <a:lstStyle/>
                    <a:p>
                      <a:pPr marL="0" marR="0" lvl="0" indent="0" algn="l" rtl="0">
                        <a:lnSpc>
                          <a:spcPct val="100000"/>
                        </a:lnSpc>
                        <a:spcBef>
                          <a:spcPts val="0"/>
                        </a:spcBef>
                        <a:spcAft>
                          <a:spcPts val="0"/>
                        </a:spcAft>
                        <a:buNone/>
                      </a:pPr>
                      <a:r>
                        <a:rPr lang="ru-RU" sz="1200" b="0" u="none" strike="noStrike" cap="none">
                          <a:solidFill>
                            <a:srgbClr val="13263A"/>
                          </a:solidFill>
                          <a:latin typeface="Arial"/>
                          <a:ea typeface="Arial"/>
                          <a:cs typeface="Arial"/>
                          <a:sym typeface="Arial"/>
                        </a:rPr>
                        <a:t>Docker Compose stack; migration on isolated PostgreSQL</a:t>
                      </a:r>
                      <a:endParaRPr/>
                    </a:p>
                  </a:txBody>
                  <a:tcPr marL="73150" marR="73150" marT="36575" marB="36575" anchor="ctr">
                    <a:lnL w="9525" cap="flat" cmpd="sng">
                      <a:solidFill>
                        <a:srgbClr val="647080"/>
                      </a:solidFill>
                      <a:prstDash val="solid"/>
                      <a:round/>
                      <a:headEnd type="none" w="sm" len="sm"/>
                      <a:tailEnd type="none" w="sm" len="sm"/>
                    </a:lnL>
                    <a:lnR w="9525" cap="flat" cmpd="sng">
                      <a:solidFill>
                        <a:srgbClr val="647080"/>
                      </a:solidFill>
                      <a:prstDash val="solid"/>
                      <a:round/>
                      <a:headEnd type="none" w="sm" len="sm"/>
                      <a:tailEnd type="none" w="sm" len="sm"/>
                    </a:lnR>
                    <a:lnT w="9525" cap="flat" cmpd="sng">
                      <a:solidFill>
                        <a:srgbClr val="647080"/>
                      </a:solidFill>
                      <a:prstDash val="solid"/>
                      <a:round/>
                      <a:headEnd type="none" w="sm" len="sm"/>
                      <a:tailEnd type="none" w="sm" len="sm"/>
                    </a:lnT>
                    <a:lnB w="9525" cap="flat" cmpd="sng">
                      <a:solidFill>
                        <a:srgbClr val="647080"/>
                      </a:solidFill>
                      <a:prstDash val="solid"/>
                      <a:round/>
                      <a:headEnd type="none" w="sm" len="sm"/>
                      <a:tailEnd type="none" w="sm" len="sm"/>
                    </a:lnB>
                    <a:solidFill>
                      <a:srgbClr val="EEF0F3"/>
                    </a:solidFill>
                  </a:tcPr>
                </a:tc>
                <a:tc>
                  <a:txBody>
                    <a:bodyPr/>
                    <a:lstStyle/>
                    <a:p>
                      <a:pPr marL="0" marR="0" lvl="0" indent="0" algn="l" rtl="0">
                        <a:lnSpc>
                          <a:spcPct val="100000"/>
                        </a:lnSpc>
                        <a:spcBef>
                          <a:spcPts val="0"/>
                        </a:spcBef>
                        <a:spcAft>
                          <a:spcPts val="0"/>
                        </a:spcAft>
                        <a:buNone/>
                      </a:pPr>
                      <a:r>
                        <a:rPr lang="ru-RU" sz="1200" b="0" u="none" strike="noStrike" cap="none">
                          <a:solidFill>
                            <a:srgbClr val="13263A"/>
                          </a:solidFill>
                          <a:latin typeface="Arial"/>
                          <a:ea typeface="Arial"/>
                          <a:cs typeface="Arial"/>
                          <a:sym typeface="Arial"/>
                        </a:rPr>
                        <a:t>Stack starts, /ready is ready</a:t>
                      </a:r>
                      <a:endParaRPr/>
                    </a:p>
                  </a:txBody>
                  <a:tcPr marL="73150" marR="73150" marT="36575" marB="36575" anchor="ctr">
                    <a:lnL w="9525" cap="flat" cmpd="sng">
                      <a:solidFill>
                        <a:srgbClr val="647080"/>
                      </a:solidFill>
                      <a:prstDash val="solid"/>
                      <a:round/>
                      <a:headEnd type="none" w="sm" len="sm"/>
                      <a:tailEnd type="none" w="sm" len="sm"/>
                    </a:lnL>
                    <a:lnR w="9525" cap="flat" cmpd="sng">
                      <a:solidFill>
                        <a:srgbClr val="647080"/>
                      </a:solidFill>
                      <a:prstDash val="solid"/>
                      <a:round/>
                      <a:headEnd type="none" w="sm" len="sm"/>
                      <a:tailEnd type="none" w="sm" len="sm"/>
                    </a:lnR>
                    <a:lnT w="9525" cap="flat" cmpd="sng">
                      <a:solidFill>
                        <a:srgbClr val="647080"/>
                      </a:solidFill>
                      <a:prstDash val="solid"/>
                      <a:round/>
                      <a:headEnd type="none" w="sm" len="sm"/>
                      <a:tailEnd type="none" w="sm" len="sm"/>
                    </a:lnT>
                    <a:lnB w="9525" cap="flat" cmpd="sng">
                      <a:solidFill>
                        <a:srgbClr val="647080"/>
                      </a:solidFill>
                      <a:prstDash val="solid"/>
                      <a:round/>
                      <a:headEnd type="none" w="sm" len="sm"/>
                      <a:tailEnd type="none" w="sm" len="sm"/>
                    </a:lnB>
                    <a:solidFill>
                      <a:srgbClr val="EEF0F3"/>
                    </a:solidFill>
                  </a:tcPr>
                </a:tc>
                <a:extLst>
                  <a:ext uri="{0D108BD9-81ED-4DB2-BD59-A6C34878D82A}">
                    <a16:rowId xmlns:a16="http://schemas.microsoft.com/office/drawing/2014/main" val="10004"/>
                  </a:ext>
                </a:extLst>
              </a:tr>
              <a:tr h="548650">
                <a:tc>
                  <a:txBody>
                    <a:bodyPr/>
                    <a:lstStyle/>
                    <a:p>
                      <a:pPr marL="0" marR="0" lvl="0" indent="0" algn="l" rtl="0">
                        <a:lnSpc>
                          <a:spcPct val="100000"/>
                        </a:lnSpc>
                        <a:spcBef>
                          <a:spcPts val="0"/>
                        </a:spcBef>
                        <a:spcAft>
                          <a:spcPts val="0"/>
                        </a:spcAft>
                        <a:buNone/>
                      </a:pPr>
                      <a:r>
                        <a:rPr lang="ru-RU" sz="1200" b="1" u="none" strike="noStrike" cap="none" dirty="0">
                          <a:solidFill>
                            <a:srgbClr val="13263A"/>
                          </a:solidFill>
                          <a:latin typeface="Arial"/>
                          <a:ea typeface="Arial"/>
                          <a:cs typeface="Arial"/>
                          <a:sym typeface="Arial"/>
                        </a:rPr>
                        <a:t>All</a:t>
                      </a:r>
                      <a:endParaRPr b="1" dirty="0"/>
                    </a:p>
                  </a:txBody>
                  <a:tcPr marL="73150" marR="73150" marT="36575" marB="36575" anchor="ctr">
                    <a:lnL w="9525" cap="flat" cmpd="sng">
                      <a:solidFill>
                        <a:srgbClr val="647080"/>
                      </a:solidFill>
                      <a:prstDash val="solid"/>
                      <a:round/>
                      <a:headEnd type="none" w="sm" len="sm"/>
                      <a:tailEnd type="none" w="sm" len="sm"/>
                    </a:lnL>
                    <a:lnR w="9525" cap="flat" cmpd="sng">
                      <a:solidFill>
                        <a:srgbClr val="647080"/>
                      </a:solidFill>
                      <a:prstDash val="solid"/>
                      <a:round/>
                      <a:headEnd type="none" w="sm" len="sm"/>
                      <a:tailEnd type="none" w="sm" len="sm"/>
                    </a:lnR>
                    <a:lnT w="9525" cap="flat" cmpd="sng">
                      <a:solidFill>
                        <a:srgbClr val="647080"/>
                      </a:solidFill>
                      <a:prstDash val="solid"/>
                      <a:round/>
                      <a:headEnd type="none" w="sm" len="sm"/>
                      <a:tailEnd type="none" w="sm" len="sm"/>
                    </a:lnT>
                    <a:lnB w="9525" cap="flat" cmpd="sng">
                      <a:solidFill>
                        <a:srgbClr val="647080"/>
                      </a:solidFill>
                      <a:prstDash val="solid"/>
                      <a:round/>
                      <a:headEnd type="none" w="sm" len="sm"/>
                      <a:tailEnd type="none" w="sm" len="sm"/>
                    </a:lnB>
                    <a:solidFill>
                      <a:srgbClr val="E6EAF0"/>
                    </a:solidFill>
                  </a:tcPr>
                </a:tc>
                <a:tc>
                  <a:txBody>
                    <a:bodyPr/>
                    <a:lstStyle/>
                    <a:p>
                      <a:pPr marL="0" marR="0" lvl="0" indent="0" algn="l" rtl="0">
                        <a:lnSpc>
                          <a:spcPct val="100000"/>
                        </a:lnSpc>
                        <a:spcBef>
                          <a:spcPts val="0"/>
                        </a:spcBef>
                        <a:spcAft>
                          <a:spcPts val="0"/>
                        </a:spcAft>
                        <a:buNone/>
                      </a:pPr>
                      <a:r>
                        <a:rPr lang="ru-RU" sz="1200" b="0" u="none" strike="noStrike" cap="none">
                          <a:solidFill>
                            <a:srgbClr val="13263A"/>
                          </a:solidFill>
                          <a:latin typeface="Arial"/>
                          <a:ea typeface="Arial"/>
                          <a:cs typeface="Arial"/>
                          <a:sym typeface="Arial"/>
                        </a:rPr>
                        <a:t>First usability scenario and small evaluation set</a:t>
                      </a:r>
                      <a:endParaRPr/>
                    </a:p>
                  </a:txBody>
                  <a:tcPr marL="73150" marR="73150" marT="36575" marB="36575" anchor="ctr">
                    <a:lnL w="9525" cap="flat" cmpd="sng">
                      <a:solidFill>
                        <a:srgbClr val="647080"/>
                      </a:solidFill>
                      <a:prstDash val="solid"/>
                      <a:round/>
                      <a:headEnd type="none" w="sm" len="sm"/>
                      <a:tailEnd type="none" w="sm" len="sm"/>
                    </a:lnL>
                    <a:lnR w="9525" cap="flat" cmpd="sng">
                      <a:solidFill>
                        <a:srgbClr val="647080"/>
                      </a:solidFill>
                      <a:prstDash val="solid"/>
                      <a:round/>
                      <a:headEnd type="none" w="sm" len="sm"/>
                      <a:tailEnd type="none" w="sm" len="sm"/>
                    </a:lnR>
                    <a:lnT w="9525" cap="flat" cmpd="sng">
                      <a:solidFill>
                        <a:srgbClr val="647080"/>
                      </a:solidFill>
                      <a:prstDash val="solid"/>
                      <a:round/>
                      <a:headEnd type="none" w="sm" len="sm"/>
                      <a:tailEnd type="none" w="sm" len="sm"/>
                    </a:lnT>
                    <a:lnB w="9525" cap="flat" cmpd="sng">
                      <a:solidFill>
                        <a:srgbClr val="647080"/>
                      </a:solidFill>
                      <a:prstDash val="solid"/>
                      <a:round/>
                      <a:headEnd type="none" w="sm" len="sm"/>
                      <a:tailEnd type="none" w="sm" len="sm"/>
                    </a:lnB>
                    <a:solidFill>
                      <a:srgbClr val="E6EAF0"/>
                    </a:solidFill>
                  </a:tcPr>
                </a:tc>
                <a:tc>
                  <a:txBody>
                    <a:bodyPr/>
                    <a:lstStyle/>
                    <a:p>
                      <a:pPr marL="0" marR="0" lvl="0" indent="0" algn="l" rtl="0">
                        <a:lnSpc>
                          <a:spcPct val="100000"/>
                        </a:lnSpc>
                        <a:spcBef>
                          <a:spcPts val="0"/>
                        </a:spcBef>
                        <a:spcAft>
                          <a:spcPts val="0"/>
                        </a:spcAft>
                        <a:buNone/>
                      </a:pPr>
                      <a:r>
                        <a:rPr lang="ru-RU" sz="1200" b="0" u="none" strike="noStrike" cap="none" dirty="0">
                          <a:solidFill>
                            <a:srgbClr val="13263A"/>
                          </a:solidFill>
                          <a:latin typeface="Arial"/>
                          <a:ea typeface="Arial"/>
                          <a:cs typeface="Arial"/>
                          <a:sym typeface="Arial"/>
                        </a:rPr>
                        <a:t>Agreed and documented</a:t>
                      </a:r>
                      <a:endParaRPr dirty="0"/>
                    </a:p>
                  </a:txBody>
                  <a:tcPr marL="73150" marR="73150" marT="36575" marB="36575" anchor="ctr">
                    <a:lnL w="9525" cap="flat" cmpd="sng">
                      <a:solidFill>
                        <a:srgbClr val="647080"/>
                      </a:solidFill>
                      <a:prstDash val="solid"/>
                      <a:round/>
                      <a:headEnd type="none" w="sm" len="sm"/>
                      <a:tailEnd type="none" w="sm" len="sm"/>
                    </a:lnL>
                    <a:lnR w="9525" cap="flat" cmpd="sng">
                      <a:solidFill>
                        <a:srgbClr val="647080"/>
                      </a:solidFill>
                      <a:prstDash val="solid"/>
                      <a:round/>
                      <a:headEnd type="none" w="sm" len="sm"/>
                      <a:tailEnd type="none" w="sm" len="sm"/>
                    </a:lnR>
                    <a:lnT w="9525" cap="flat" cmpd="sng">
                      <a:solidFill>
                        <a:srgbClr val="647080"/>
                      </a:solidFill>
                      <a:prstDash val="solid"/>
                      <a:round/>
                      <a:headEnd type="none" w="sm" len="sm"/>
                      <a:tailEnd type="none" w="sm" len="sm"/>
                    </a:lnT>
                    <a:lnB w="9525" cap="flat" cmpd="sng">
                      <a:solidFill>
                        <a:srgbClr val="647080"/>
                      </a:solidFill>
                      <a:prstDash val="solid"/>
                      <a:round/>
                      <a:headEnd type="none" w="sm" len="sm"/>
                      <a:tailEnd type="none" w="sm" len="sm"/>
                    </a:lnB>
                    <a:solidFill>
                      <a:srgbClr val="E6EAF0"/>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3263A"/>
        </a:solidFill>
        <a:effectLst/>
      </p:bgPr>
    </p:bg>
    <p:spTree>
      <p:nvGrpSpPr>
        <p:cNvPr id="1" name="Shape 231"/>
        <p:cNvGrpSpPr/>
        <p:nvPr/>
      </p:nvGrpSpPr>
      <p:grpSpPr>
        <a:xfrm>
          <a:off x="0" y="0"/>
          <a:ext cx="0" cy="0"/>
          <a:chOff x="0" y="0"/>
          <a:chExt cx="0" cy="0"/>
        </a:xfrm>
      </p:grpSpPr>
      <p:sp>
        <p:nvSpPr>
          <p:cNvPr id="232" name="Google Shape;232;h62fd3f37f23572d3_3_1"/>
          <p:cNvSpPr/>
          <p:nvPr/>
        </p:nvSpPr>
        <p:spPr>
          <a:xfrm>
            <a:off x="619050" y="2903050"/>
            <a:ext cx="10953900" cy="762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FFFFF"/>
              </a:buClr>
              <a:buSzPts val="3300"/>
              <a:buFont typeface="Arial"/>
              <a:buNone/>
            </a:pPr>
            <a:r>
              <a:rPr lang="ru-RU" sz="3300" b="1" i="0" u="none" strike="noStrike" cap="none">
                <a:solidFill>
                  <a:srgbClr val="FFFFFF"/>
                </a:solidFill>
                <a:latin typeface="Arial"/>
                <a:ea typeface="Arial"/>
                <a:cs typeface="Arial"/>
                <a:sym typeface="Arial"/>
              </a:rPr>
              <a:t>THANK YOU FOR YOUR</a:t>
            </a:r>
            <a:endParaRPr sz="3300" b="1"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FFFFFF"/>
              </a:buClr>
              <a:buSzPts val="3300"/>
              <a:buFont typeface="Arial"/>
              <a:buNone/>
            </a:pPr>
            <a:r>
              <a:rPr lang="ru-RU" sz="3300" b="1" i="0" u="none" strike="noStrike" cap="none">
                <a:solidFill>
                  <a:srgbClr val="FFFFFF"/>
                </a:solidFill>
                <a:latin typeface="Arial"/>
                <a:ea typeface="Arial"/>
                <a:cs typeface="Arial"/>
                <a:sym typeface="Arial"/>
              </a:rPr>
              <a:t>ATTENTION!</a:t>
            </a:r>
            <a:endParaRPr sz="3300" b="1" i="0" u="none" strike="noStrike" cap="none">
              <a:solidFill>
                <a:srgbClr val="FFFFFF"/>
              </a:solidFill>
              <a:latin typeface="Arial"/>
              <a:ea typeface="Arial"/>
              <a:cs typeface="Arial"/>
              <a:sym typeface="Arial"/>
            </a:endParaRPr>
          </a:p>
        </p:txBody>
      </p:sp>
      <p:sp>
        <p:nvSpPr>
          <p:cNvPr id="233" name="Google Shape;233;h62fd3f37f23572d3_3_1"/>
          <p:cNvSpPr/>
          <p:nvPr/>
        </p:nvSpPr>
        <p:spPr>
          <a:xfrm>
            <a:off x="647700" y="5629275"/>
            <a:ext cx="10191900" cy="419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A8B6C7"/>
              </a:buClr>
              <a:buSzPts val="1725"/>
              <a:buFont typeface="Arial"/>
              <a:buNone/>
            </a:pPr>
            <a:r>
              <a:rPr lang="ru-RU" sz="1725" b="0" i="0" u="none" strike="noStrike" cap="none">
                <a:solidFill>
                  <a:srgbClr val="A8B6C7"/>
                </a:solidFill>
                <a:latin typeface="Arial"/>
                <a:ea typeface="Arial"/>
                <a:cs typeface="Arial"/>
                <a:sym typeface="Arial"/>
              </a:rPr>
              <a:t>Veronika, Jiahui, Thibaut and Abid</a:t>
            </a:r>
            <a:endParaRPr sz="1400" b="0" i="0" u="none" strike="noStrike" cap="none">
              <a:solidFill>
                <a:srgbClr val="000000"/>
              </a:solidFill>
              <a:latin typeface="Arial"/>
              <a:ea typeface="Arial"/>
              <a:cs typeface="Arial"/>
              <a:sym typeface="Arial"/>
            </a:endParaRPr>
          </a:p>
        </p:txBody>
      </p:sp>
      <p:pic>
        <p:nvPicPr>
          <p:cNvPr id="234" name="Google Shape;234;h62fd3f37f23572d3_3_1"/>
          <p:cNvPicPr preferRelativeResize="0"/>
          <p:nvPr/>
        </p:nvPicPr>
        <p:blipFill rotWithShape="1">
          <a:blip r:embed="rId3">
            <a:alphaModFix/>
          </a:blip>
          <a:srcRect/>
          <a:stretch/>
        </p:blipFill>
        <p:spPr>
          <a:xfrm>
            <a:off x="6819325" y="1430525"/>
            <a:ext cx="3707026" cy="3707026"/>
          </a:xfrm>
          <a:prstGeom prst="rect">
            <a:avLst/>
          </a:prstGeom>
          <a:noFill/>
          <a:ln>
            <a:noFill/>
          </a:ln>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itle"/>
          <p:cNvSpPr txBox="1"/>
          <p:nvPr/>
        </p:nvSpPr>
        <p:spPr>
          <a:xfrm>
            <a:off x="612648" y="457200"/>
            <a:ext cx="10954512" cy="758952"/>
          </a:xfrm>
          <a:prstGeom prst="rect">
            <a:avLst/>
          </a:prstGeom>
          <a:noFill/>
        </p:spPr>
        <p:txBody>
          <a:bodyPr wrap="square" lIns="45700" rIns="45700" tIns="27425" bIns="27425" anchor="ctr">
            <a:spAutoFit/>
          </a:bodyPr>
          <a:lstStyle/>
          <a:p>
            <a:pPr algn="l"/>
            <a:r>
              <a:rPr sz="3300" b="1">
                <a:solidFill>
                  <a:srgbClr val="13263A"/>
                </a:solidFill>
                <a:latin typeface="Arial"/>
              </a:rPr>
              <a:t>AI provider: hardware and budget limits</a:t>
            </a:r>
          </a:p>
        </p:txBody>
      </p:sp>
      <p:sp>
        <p:nvSpPr>
          <p:cNvPr id="3" name="Subtitle"/>
          <p:cNvSpPr txBox="1"/>
          <p:nvPr/>
        </p:nvSpPr>
        <p:spPr>
          <a:xfrm>
            <a:off x="630936" y="1216152"/>
            <a:ext cx="10570464" cy="411480"/>
          </a:xfrm>
          <a:prstGeom prst="rect">
            <a:avLst/>
          </a:prstGeom>
          <a:noFill/>
        </p:spPr>
        <p:txBody>
          <a:bodyPr wrap="square" lIns="45700" rIns="45700" tIns="27425" bIns="27425" anchor="t">
            <a:spAutoFit/>
          </a:bodyPr>
          <a:lstStyle/>
          <a:p>
            <a:pPr algn="l"/>
            <a:r>
              <a:rPr sz="1800" b="0">
                <a:solidFill>
                  <a:srgbClr val="647080"/>
                </a:solidFill>
                <a:latin typeface="Arial"/>
              </a:rPr>
              <a:t>01  Technical progress  ·  where the sentence model can run</a:t>
            </a:r>
          </a:p>
        </p:txBody>
      </p:sp>
      <p:sp>
        <p:nvSpPr>
          <p:cNvPr id="4" name="Page number"/>
          <p:cNvSpPr txBox="1"/>
          <p:nvPr/>
        </p:nvSpPr>
        <p:spPr>
          <a:xfrm>
            <a:off x="11045952" y="6245352"/>
            <a:ext cx="530352" cy="283464"/>
          </a:xfrm>
          <a:prstGeom prst="rect">
            <a:avLst/>
          </a:prstGeom>
          <a:noFill/>
        </p:spPr>
        <p:txBody>
          <a:bodyPr wrap="square" lIns="45700" rIns="45700" tIns="27425" bIns="27425" anchor="t">
            <a:spAutoFit/>
          </a:bodyPr>
          <a:lstStyle/>
          <a:p>
            <a:pPr algn="l"/>
            <a:r>
              <a:rPr sz="1350" b="0">
                <a:solidFill>
                  <a:srgbClr val="647080"/>
                </a:solidFill>
                <a:latin typeface="Arial"/>
              </a:rPr>
              <a:t>08</a:t>
            </a:r>
          </a:p>
        </p:txBody>
      </p:sp>
      <p:sp>
        <p:nvSpPr>
          <p:cNvPr id="5" name="Rectangle 4"/>
          <p:cNvSpPr/>
          <p:nvPr/>
        </p:nvSpPr>
        <p:spPr>
          <a:xfrm>
            <a:off x="630936" y="1783080"/>
            <a:ext cx="2606040" cy="178308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68096" y="1892807"/>
            <a:ext cx="2331720" cy="685800"/>
          </a:xfrm>
          <a:prstGeom prst="rect">
            <a:avLst/>
          </a:prstGeom>
          <a:noFill/>
        </p:spPr>
        <p:txBody>
          <a:bodyPr wrap="square" lIns="45700" rIns="45700" tIns="27425" bIns="27425" anchor="t">
            <a:spAutoFit/>
          </a:bodyPr>
          <a:lstStyle/>
          <a:p>
            <a:pPr algn="l"/>
            <a:r>
              <a:rPr sz="3400" b="1">
                <a:solidFill>
                  <a:srgbClr val="255CF0"/>
                </a:solidFill>
                <a:latin typeface="Arial"/>
              </a:rPr>
              <a:t>7.3 GB</a:t>
            </a:r>
          </a:p>
        </p:txBody>
      </p:sp>
      <p:sp>
        <p:nvSpPr>
          <p:cNvPr id="7" name="TextBox 6"/>
          <p:cNvSpPr txBox="1"/>
          <p:nvPr/>
        </p:nvSpPr>
        <p:spPr>
          <a:xfrm>
            <a:off x="768096" y="2560320"/>
            <a:ext cx="2331720" cy="914400"/>
          </a:xfrm>
          <a:prstGeom prst="rect">
            <a:avLst/>
          </a:prstGeom>
          <a:noFill/>
        </p:spPr>
        <p:txBody>
          <a:bodyPr wrap="square" lIns="45700" rIns="45700" tIns="27425" bIns="27425" anchor="t">
            <a:spAutoFit/>
          </a:bodyPr>
          <a:lstStyle/>
          <a:p>
            <a:pPr algn="l"/>
            <a:r>
              <a:rPr sz="1400" b="0">
                <a:solidFill>
                  <a:srgbClr val="647080"/>
                </a:solidFill>
                <a:latin typeface="Arial"/>
              </a:rPr>
              <a:t>RAM in total
(Ryzen 5 5500U laptop)</a:t>
            </a:r>
          </a:p>
        </p:txBody>
      </p:sp>
      <p:sp>
        <p:nvSpPr>
          <p:cNvPr id="8" name="Rectangle 7"/>
          <p:cNvSpPr/>
          <p:nvPr/>
        </p:nvSpPr>
        <p:spPr>
          <a:xfrm>
            <a:off x="3374136" y="1783080"/>
            <a:ext cx="2606040" cy="178308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511296" y="1892807"/>
            <a:ext cx="2331720" cy="685800"/>
          </a:xfrm>
          <a:prstGeom prst="rect">
            <a:avLst/>
          </a:prstGeom>
          <a:noFill/>
        </p:spPr>
        <p:txBody>
          <a:bodyPr wrap="square" lIns="45700" rIns="45700" tIns="27425" bIns="27425" anchor="t">
            <a:spAutoFit/>
          </a:bodyPr>
          <a:lstStyle/>
          <a:p>
            <a:pPr algn="l"/>
            <a:r>
              <a:rPr sz="3400" b="1">
                <a:solidFill>
                  <a:srgbClr val="255CF0"/>
                </a:solidFill>
                <a:latin typeface="Arial"/>
              </a:rPr>
              <a:t>0.92 GB</a:t>
            </a:r>
          </a:p>
        </p:txBody>
      </p:sp>
      <p:sp>
        <p:nvSpPr>
          <p:cNvPr id="10" name="TextBox 9"/>
          <p:cNvSpPr txBox="1"/>
          <p:nvPr/>
        </p:nvSpPr>
        <p:spPr>
          <a:xfrm>
            <a:off x="3511296" y="2560320"/>
            <a:ext cx="2331720" cy="914400"/>
          </a:xfrm>
          <a:prstGeom prst="rect">
            <a:avLst/>
          </a:prstGeom>
          <a:noFill/>
        </p:spPr>
        <p:txBody>
          <a:bodyPr wrap="square" lIns="45700" rIns="45700" tIns="27425" bIns="27425" anchor="t">
            <a:spAutoFit/>
          </a:bodyPr>
          <a:lstStyle/>
          <a:p>
            <a:pPr algn="l"/>
            <a:r>
              <a:rPr sz="1400" b="0">
                <a:solidFill>
                  <a:srgbClr val="647080"/>
                </a:solidFill>
                <a:latin typeface="Arial"/>
              </a:rPr>
              <a:t>RAM free with normal
apps open</a:t>
            </a:r>
          </a:p>
        </p:txBody>
      </p:sp>
      <p:sp>
        <p:nvSpPr>
          <p:cNvPr id="11" name="Rectangle 10"/>
          <p:cNvSpPr/>
          <p:nvPr/>
        </p:nvSpPr>
        <p:spPr>
          <a:xfrm>
            <a:off x="630936" y="3749039"/>
            <a:ext cx="2606040" cy="178308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68096" y="3858768"/>
            <a:ext cx="2331720" cy="685800"/>
          </a:xfrm>
          <a:prstGeom prst="rect">
            <a:avLst/>
          </a:prstGeom>
          <a:noFill/>
        </p:spPr>
        <p:txBody>
          <a:bodyPr wrap="square" lIns="45700" rIns="45700" tIns="27425" bIns="27425" anchor="t">
            <a:spAutoFit/>
          </a:bodyPr>
          <a:lstStyle/>
          <a:p>
            <a:pPr algn="l"/>
            <a:r>
              <a:rPr sz="3400" b="1">
                <a:solidFill>
                  <a:srgbClr val="255CF0"/>
                </a:solidFill>
                <a:latin typeface="Arial"/>
              </a:rPr>
              <a:t>No CUDA</a:t>
            </a:r>
          </a:p>
        </p:txBody>
      </p:sp>
      <p:sp>
        <p:nvSpPr>
          <p:cNvPr id="13" name="TextBox 12"/>
          <p:cNvSpPr txBox="1"/>
          <p:nvPr/>
        </p:nvSpPr>
        <p:spPr>
          <a:xfrm>
            <a:off x="768096" y="4526279"/>
            <a:ext cx="2331720" cy="914400"/>
          </a:xfrm>
          <a:prstGeom prst="rect">
            <a:avLst/>
          </a:prstGeom>
          <a:noFill/>
        </p:spPr>
        <p:txBody>
          <a:bodyPr wrap="square" lIns="45700" rIns="45700" tIns="27425" bIns="27425" anchor="t">
            <a:spAutoFit/>
          </a:bodyPr>
          <a:lstStyle/>
          <a:p>
            <a:pPr algn="l"/>
            <a:r>
              <a:rPr sz="1400" b="0">
                <a:solidFill>
                  <a:srgbClr val="647080"/>
                </a:solidFill>
                <a:latin typeface="Arial"/>
              </a:rPr>
              <a:t>integrated Radeon GPU,
512 MB</a:t>
            </a:r>
          </a:p>
        </p:txBody>
      </p:sp>
      <p:sp>
        <p:nvSpPr>
          <p:cNvPr id="14" name="Rectangle 13"/>
          <p:cNvSpPr/>
          <p:nvPr/>
        </p:nvSpPr>
        <p:spPr>
          <a:xfrm>
            <a:off x="3374136" y="3749039"/>
            <a:ext cx="2606040" cy="178308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11296" y="3858768"/>
            <a:ext cx="2331720" cy="685800"/>
          </a:xfrm>
          <a:prstGeom prst="rect">
            <a:avLst/>
          </a:prstGeom>
          <a:noFill/>
        </p:spPr>
        <p:txBody>
          <a:bodyPr wrap="square" lIns="45700" rIns="45700" tIns="27425" bIns="27425" anchor="t">
            <a:spAutoFit/>
          </a:bodyPr>
          <a:lstStyle/>
          <a:p>
            <a:pPr algn="l"/>
            <a:r>
              <a:rPr sz="3400" b="1">
                <a:solidFill>
                  <a:srgbClr val="255CF0"/>
                </a:solidFill>
                <a:latin typeface="Arial"/>
              </a:rPr>
              <a:t>0 €</a:t>
            </a:r>
          </a:p>
        </p:txBody>
      </p:sp>
      <p:sp>
        <p:nvSpPr>
          <p:cNvPr id="16" name="TextBox 15"/>
          <p:cNvSpPr txBox="1"/>
          <p:nvPr/>
        </p:nvSpPr>
        <p:spPr>
          <a:xfrm>
            <a:off x="3511296" y="4526279"/>
            <a:ext cx="2331720" cy="914400"/>
          </a:xfrm>
          <a:prstGeom prst="rect">
            <a:avLst/>
          </a:prstGeom>
          <a:noFill/>
        </p:spPr>
        <p:txBody>
          <a:bodyPr wrap="square" lIns="45700" rIns="45700" tIns="27425" bIns="27425" anchor="t">
            <a:spAutoFit/>
          </a:bodyPr>
          <a:lstStyle/>
          <a:p>
            <a:pPr algn="l"/>
            <a:r>
              <a:rPr sz="1400" b="0">
                <a:solidFill>
                  <a:srgbClr val="647080"/>
                </a:solidFill>
                <a:latin typeface="Arial"/>
              </a:rPr>
              <a:t>API budget:
free tiers only</a:t>
            </a:r>
          </a:p>
        </p:txBody>
      </p:sp>
      <p:sp>
        <p:nvSpPr>
          <p:cNvPr id="17" name="TextBox 16"/>
          <p:cNvSpPr txBox="1"/>
          <p:nvPr/>
        </p:nvSpPr>
        <p:spPr>
          <a:xfrm>
            <a:off x="6263640" y="1783080"/>
            <a:ext cx="5303520" cy="365760"/>
          </a:xfrm>
          <a:prstGeom prst="rect">
            <a:avLst/>
          </a:prstGeom>
          <a:noFill/>
        </p:spPr>
        <p:txBody>
          <a:bodyPr wrap="square" lIns="45700" rIns="45700" tIns="27425" bIns="27425" anchor="t">
            <a:spAutoFit/>
          </a:bodyPr>
          <a:lstStyle/>
          <a:p>
            <a:pPr algn="l"/>
            <a:r>
              <a:rPr sz="1650" b="1">
                <a:solidFill>
                  <a:srgbClr val="255CF0"/>
                </a:solidFill>
                <a:latin typeface="Arial"/>
              </a:rPr>
              <a:t>WHAT THIS RULES OUT</a:t>
            </a:r>
          </a:p>
        </p:txBody>
      </p:sp>
      <p:sp>
        <p:nvSpPr>
          <p:cNvPr id="18" name="TextBox 17"/>
          <p:cNvSpPr txBox="1"/>
          <p:nvPr/>
        </p:nvSpPr>
        <p:spPr>
          <a:xfrm>
            <a:off x="6263640" y="2240280"/>
            <a:ext cx="320040" cy="365760"/>
          </a:xfrm>
          <a:prstGeom prst="rect">
            <a:avLst/>
          </a:prstGeom>
          <a:noFill/>
        </p:spPr>
        <p:txBody>
          <a:bodyPr wrap="square" lIns="45700" rIns="45700" tIns="27425" bIns="27425" anchor="t">
            <a:spAutoFit/>
          </a:bodyPr>
          <a:lstStyle/>
          <a:p>
            <a:pPr algn="l"/>
            <a:r>
              <a:rPr sz="1650" b="1">
                <a:solidFill>
                  <a:srgbClr val="B42318"/>
                </a:solidFill>
                <a:latin typeface="Arial"/>
              </a:rPr>
              <a:t>✕</a:t>
            </a:r>
          </a:p>
        </p:txBody>
      </p:sp>
      <p:sp>
        <p:nvSpPr>
          <p:cNvPr id="19" name="TextBox 18"/>
          <p:cNvSpPr txBox="1"/>
          <p:nvPr/>
        </p:nvSpPr>
        <p:spPr>
          <a:xfrm>
            <a:off x="6611112" y="2240280"/>
            <a:ext cx="4956048" cy="713232"/>
          </a:xfrm>
          <a:prstGeom prst="rect">
            <a:avLst/>
          </a:prstGeom>
          <a:noFill/>
        </p:spPr>
        <p:txBody>
          <a:bodyPr wrap="square" lIns="45700" rIns="45700" tIns="27425" bIns="27425" anchor="t">
            <a:spAutoFit/>
          </a:bodyPr>
          <a:lstStyle/>
          <a:p>
            <a:pPr algn="l"/>
            <a:r>
              <a:rPr sz="1500" b="1">
                <a:solidFill>
                  <a:srgbClr val="13263A"/>
                </a:solidFill>
                <a:latin typeface="Arial"/>
              </a:rPr>
              <a:t>PyTorch / Transformers models</a:t>
            </a:r>
          </a:p>
          <a:p>
            <a:pPr algn="l">
              <a:spcBef>
                <a:spcPts val="400"/>
              </a:spcBef>
            </a:pPr>
            <a:r>
              <a:rPr sz="1400" b="0">
                <a:solidFill>
                  <a:srgbClr val="647080"/>
                </a:solidFill>
                <a:latin typeface="Arial"/>
              </a:rPr>
              <a:t>a 2B model in bf16 needs about 4–5 GB for weights</a:t>
            </a:r>
          </a:p>
        </p:txBody>
      </p:sp>
      <p:sp>
        <p:nvSpPr>
          <p:cNvPr id="20" name="TextBox 19"/>
          <p:cNvSpPr txBox="1"/>
          <p:nvPr/>
        </p:nvSpPr>
        <p:spPr>
          <a:xfrm>
            <a:off x="6263640" y="2953512"/>
            <a:ext cx="320040" cy="365760"/>
          </a:xfrm>
          <a:prstGeom prst="rect">
            <a:avLst/>
          </a:prstGeom>
          <a:noFill/>
        </p:spPr>
        <p:txBody>
          <a:bodyPr wrap="square" lIns="45700" rIns="45700" tIns="27425" bIns="27425" anchor="t">
            <a:spAutoFit/>
          </a:bodyPr>
          <a:lstStyle/>
          <a:p>
            <a:pPr algn="l"/>
            <a:r>
              <a:rPr sz="1650" b="1">
                <a:solidFill>
                  <a:srgbClr val="B42318"/>
                </a:solidFill>
                <a:latin typeface="Arial"/>
              </a:rPr>
              <a:t>✕</a:t>
            </a:r>
          </a:p>
        </p:txBody>
      </p:sp>
      <p:sp>
        <p:nvSpPr>
          <p:cNvPr id="21" name="TextBox 20"/>
          <p:cNvSpPr txBox="1"/>
          <p:nvPr/>
        </p:nvSpPr>
        <p:spPr>
          <a:xfrm>
            <a:off x="6611112" y="2953512"/>
            <a:ext cx="4956048" cy="713232"/>
          </a:xfrm>
          <a:prstGeom prst="rect">
            <a:avLst/>
          </a:prstGeom>
          <a:noFill/>
        </p:spPr>
        <p:txBody>
          <a:bodyPr wrap="square" lIns="45700" rIns="45700" tIns="27425" bIns="27425" anchor="t">
            <a:spAutoFit/>
          </a:bodyPr>
          <a:lstStyle/>
          <a:p>
            <a:pPr algn="l"/>
            <a:r>
              <a:rPr sz="1500" b="1">
                <a:solidFill>
                  <a:srgbClr val="13263A"/>
                </a:solidFill>
                <a:latin typeface="Arial"/>
              </a:rPr>
              <a:t>Local models of 4B or more</a:t>
            </a:r>
          </a:p>
          <a:p>
            <a:pPr algn="l">
              <a:spcBef>
                <a:spcPts val="400"/>
              </a:spcBef>
            </a:pPr>
            <a:r>
              <a:rPr sz="1400" b="0">
                <a:solidFill>
                  <a:srgbClr val="647080"/>
                </a:solidFill>
                <a:latin typeface="Arial"/>
              </a:rPr>
              <a:t>qwen3-vl:4b is 3.3 GB even when quantized</a:t>
            </a:r>
          </a:p>
        </p:txBody>
      </p:sp>
      <p:sp>
        <p:nvSpPr>
          <p:cNvPr id="22" name="TextBox 21"/>
          <p:cNvSpPr txBox="1"/>
          <p:nvPr/>
        </p:nvSpPr>
        <p:spPr>
          <a:xfrm>
            <a:off x="6263640" y="3666744"/>
            <a:ext cx="320040" cy="365760"/>
          </a:xfrm>
          <a:prstGeom prst="rect">
            <a:avLst/>
          </a:prstGeom>
          <a:noFill/>
        </p:spPr>
        <p:txBody>
          <a:bodyPr wrap="square" lIns="45700" rIns="45700" tIns="27425" bIns="27425" anchor="t">
            <a:spAutoFit/>
          </a:bodyPr>
          <a:lstStyle/>
          <a:p>
            <a:pPr algn="l"/>
            <a:r>
              <a:rPr sz="1650" b="1">
                <a:solidFill>
                  <a:srgbClr val="B42318"/>
                </a:solidFill>
                <a:latin typeface="Arial"/>
              </a:rPr>
              <a:t>✕</a:t>
            </a:r>
          </a:p>
        </p:txBody>
      </p:sp>
      <p:sp>
        <p:nvSpPr>
          <p:cNvPr id="23" name="TextBox 22"/>
          <p:cNvSpPr txBox="1"/>
          <p:nvPr/>
        </p:nvSpPr>
        <p:spPr>
          <a:xfrm>
            <a:off x="6611112" y="3666744"/>
            <a:ext cx="4956048" cy="713232"/>
          </a:xfrm>
          <a:prstGeom prst="rect">
            <a:avLst/>
          </a:prstGeom>
          <a:noFill/>
        </p:spPr>
        <p:txBody>
          <a:bodyPr wrap="square" lIns="45700" rIns="45700" tIns="27425" bIns="27425" anchor="t">
            <a:spAutoFit/>
          </a:bodyPr>
          <a:lstStyle/>
          <a:p>
            <a:pPr algn="l"/>
            <a:r>
              <a:rPr sz="1500" b="1">
                <a:solidFill>
                  <a:srgbClr val="13263A"/>
                </a:solidFill>
                <a:latin typeface="Arial"/>
              </a:rPr>
              <a:t>Paid-only APIs</a:t>
            </a:r>
          </a:p>
          <a:p>
            <a:pPr algn="l">
              <a:spcBef>
                <a:spcPts val="400"/>
              </a:spcBef>
            </a:pPr>
            <a:r>
              <a:rPr sz="1400" b="0">
                <a:solidFill>
                  <a:srgbClr val="647080"/>
                </a:solidFill>
                <a:latin typeface="Arial"/>
              </a:rPr>
              <a:t>no budget for per-call costs</a:t>
            </a:r>
          </a:p>
        </p:txBody>
      </p:sp>
      <p:sp>
        <p:nvSpPr>
          <p:cNvPr id="24" name="TextBox 23"/>
          <p:cNvSpPr txBox="1"/>
          <p:nvPr/>
        </p:nvSpPr>
        <p:spPr>
          <a:xfrm>
            <a:off x="6263640" y="4434840"/>
            <a:ext cx="5303520" cy="365760"/>
          </a:xfrm>
          <a:prstGeom prst="rect">
            <a:avLst/>
          </a:prstGeom>
          <a:noFill/>
        </p:spPr>
        <p:txBody>
          <a:bodyPr wrap="square" lIns="45700" rIns="45700" tIns="27425" bIns="27425" anchor="t">
            <a:spAutoFit/>
          </a:bodyPr>
          <a:lstStyle/>
          <a:p>
            <a:pPr algn="l"/>
            <a:r>
              <a:rPr sz="1650" b="1">
                <a:solidFill>
                  <a:srgbClr val="255CF0"/>
                </a:solidFill>
                <a:latin typeface="Arial"/>
              </a:rPr>
              <a:t>WHAT REMAINS</a:t>
            </a:r>
          </a:p>
        </p:txBody>
      </p:sp>
      <p:sp>
        <p:nvSpPr>
          <p:cNvPr id="25" name="TextBox 24"/>
          <p:cNvSpPr txBox="1"/>
          <p:nvPr/>
        </p:nvSpPr>
        <p:spPr>
          <a:xfrm>
            <a:off x="6263640" y="4846320"/>
            <a:ext cx="320040" cy="365760"/>
          </a:xfrm>
          <a:prstGeom prst="rect">
            <a:avLst/>
          </a:prstGeom>
          <a:noFill/>
        </p:spPr>
        <p:txBody>
          <a:bodyPr wrap="square" lIns="45700" rIns="45700" tIns="27425" bIns="27425" anchor="t">
            <a:spAutoFit/>
          </a:bodyPr>
          <a:lstStyle/>
          <a:p>
            <a:pPr algn="l"/>
            <a:r>
              <a:rPr sz="1650" b="1">
                <a:solidFill>
                  <a:srgbClr val="1F8A5B"/>
                </a:solidFill>
                <a:latin typeface="Arial"/>
              </a:rPr>
              <a:t>✓</a:t>
            </a:r>
          </a:p>
        </p:txBody>
      </p:sp>
      <p:sp>
        <p:nvSpPr>
          <p:cNvPr id="26" name="TextBox 25"/>
          <p:cNvSpPr txBox="1"/>
          <p:nvPr/>
        </p:nvSpPr>
        <p:spPr>
          <a:xfrm>
            <a:off x="6611112" y="4846320"/>
            <a:ext cx="4956048" cy="713232"/>
          </a:xfrm>
          <a:prstGeom prst="rect">
            <a:avLst/>
          </a:prstGeom>
          <a:noFill/>
        </p:spPr>
        <p:txBody>
          <a:bodyPr wrap="square" lIns="45700" rIns="45700" tIns="27425" bIns="27425" anchor="t">
            <a:spAutoFit/>
          </a:bodyPr>
          <a:lstStyle/>
          <a:p>
            <a:pPr algn="l"/>
            <a:r>
              <a:rPr sz="1500" b="1">
                <a:solidFill>
                  <a:srgbClr val="13263A"/>
                </a:solidFill>
                <a:latin typeface="Arial"/>
              </a:rPr>
              <a:t>Hosted vision model on a free tier</a:t>
            </a:r>
          </a:p>
          <a:p>
            <a:pPr algn="l">
              <a:spcBef>
                <a:spcPts val="400"/>
              </a:spcBef>
            </a:pPr>
            <a:r>
              <a:rPr sz="1400" b="0">
                <a:solidFill>
                  <a:srgbClr val="647080"/>
                </a:solidFill>
                <a:latin typeface="Arial"/>
              </a:rPr>
              <a:t>main option, nothing loads on the laptop</a:t>
            </a:r>
          </a:p>
        </p:txBody>
      </p:sp>
      <p:sp>
        <p:nvSpPr>
          <p:cNvPr id="27" name="TextBox 26"/>
          <p:cNvSpPr txBox="1"/>
          <p:nvPr/>
        </p:nvSpPr>
        <p:spPr>
          <a:xfrm>
            <a:off x="6263640" y="5559552"/>
            <a:ext cx="320040" cy="365760"/>
          </a:xfrm>
          <a:prstGeom prst="rect">
            <a:avLst/>
          </a:prstGeom>
          <a:noFill/>
        </p:spPr>
        <p:txBody>
          <a:bodyPr wrap="square" lIns="45700" rIns="45700" tIns="27425" bIns="27425" anchor="t">
            <a:spAutoFit/>
          </a:bodyPr>
          <a:lstStyle/>
          <a:p>
            <a:pPr algn="l"/>
            <a:r>
              <a:rPr sz="1650" b="1">
                <a:solidFill>
                  <a:srgbClr val="1F8A5B"/>
                </a:solidFill>
                <a:latin typeface="Arial"/>
              </a:rPr>
              <a:t>✓</a:t>
            </a:r>
          </a:p>
        </p:txBody>
      </p:sp>
      <p:sp>
        <p:nvSpPr>
          <p:cNvPr id="28" name="TextBox 27"/>
          <p:cNvSpPr txBox="1"/>
          <p:nvPr/>
        </p:nvSpPr>
        <p:spPr>
          <a:xfrm>
            <a:off x="6611112" y="5559552"/>
            <a:ext cx="4956048" cy="713232"/>
          </a:xfrm>
          <a:prstGeom prst="rect">
            <a:avLst/>
          </a:prstGeom>
          <a:noFill/>
        </p:spPr>
        <p:txBody>
          <a:bodyPr wrap="square" lIns="45700" rIns="45700" tIns="27425" bIns="27425" anchor="t">
            <a:spAutoFit/>
          </a:bodyPr>
          <a:lstStyle/>
          <a:p>
            <a:pPr algn="l"/>
            <a:r>
              <a:rPr sz="1500" b="1">
                <a:solidFill>
                  <a:srgbClr val="13263A"/>
                </a:solidFill>
                <a:latin typeface="Arial"/>
              </a:rPr>
              <a:t>qwen3-vl:2b (1.9 GB) via Ollama</a:t>
            </a:r>
          </a:p>
          <a:p>
            <a:pPr algn="l">
              <a:spcBef>
                <a:spcPts val="400"/>
              </a:spcBef>
            </a:pPr>
            <a:r>
              <a:rPr sz="1400" b="0">
                <a:solidFill>
                  <a:srgbClr val="647080"/>
                </a:solidFill>
                <a:latin typeface="Arial"/>
              </a:rPr>
              <a:t>offline backup only, off by default</a:t>
            </a:r>
          </a:p>
        </p:txBody>
      </p:sp>
      <p:sp>
        <p:nvSpPr>
          <p:cNvPr id="29" name="TextBox 28"/>
          <p:cNvSpPr txBox="1"/>
          <p:nvPr/>
        </p:nvSpPr>
        <p:spPr>
          <a:xfrm>
            <a:off x="630936" y="5806440"/>
            <a:ext cx="5394960" cy="320040"/>
          </a:xfrm>
          <a:prstGeom prst="rect">
            <a:avLst/>
          </a:prstGeom>
          <a:noFill/>
        </p:spPr>
        <p:txBody>
          <a:bodyPr wrap="square" lIns="45700" rIns="45700" tIns="27425" bIns="27425" anchor="t">
            <a:spAutoFit/>
          </a:bodyPr>
          <a:lstStyle/>
          <a:p>
            <a:pPr algn="l"/>
            <a:r>
              <a:rPr sz="1350" b="0">
                <a:solidFill>
                  <a:srgbClr val="647080"/>
                </a:solidFill>
                <a:latin typeface="Arial"/>
              </a:rPr>
              <a:t>Measured on the development laptop, 2026-10-20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itle"/>
          <p:cNvSpPr txBox="1"/>
          <p:nvPr/>
        </p:nvSpPr>
        <p:spPr>
          <a:xfrm>
            <a:off x="612648" y="457200"/>
            <a:ext cx="10954512" cy="758952"/>
          </a:xfrm>
          <a:prstGeom prst="rect">
            <a:avLst/>
          </a:prstGeom>
          <a:noFill/>
        </p:spPr>
        <p:txBody>
          <a:bodyPr wrap="square" lIns="45700" rIns="45700" tIns="27425" bIns="27425" anchor="ctr">
            <a:spAutoFit/>
          </a:bodyPr>
          <a:lstStyle/>
          <a:p>
            <a:pPr algn="l"/>
            <a:r>
              <a:rPr sz="3300" b="1">
                <a:solidFill>
                  <a:srgbClr val="13263A"/>
                </a:solidFill>
                <a:latin typeface="Arial"/>
              </a:rPr>
              <a:t>Model research: candidates compared</a:t>
            </a:r>
          </a:p>
        </p:txBody>
      </p:sp>
      <p:sp>
        <p:nvSpPr>
          <p:cNvPr id="3" name="Subtitle"/>
          <p:cNvSpPr txBox="1"/>
          <p:nvPr/>
        </p:nvSpPr>
        <p:spPr>
          <a:xfrm>
            <a:off x="630936" y="1216152"/>
            <a:ext cx="10570464" cy="411480"/>
          </a:xfrm>
          <a:prstGeom prst="rect">
            <a:avLst/>
          </a:prstGeom>
          <a:noFill/>
        </p:spPr>
        <p:txBody>
          <a:bodyPr wrap="square" lIns="45700" rIns="45700" tIns="27425" bIns="27425" anchor="t">
            <a:spAutoFit/>
          </a:bodyPr>
          <a:lstStyle/>
          <a:p>
            <a:pPr algn="l"/>
            <a:r>
              <a:rPr sz="1800" b="0">
                <a:solidFill>
                  <a:srgbClr val="647080"/>
                </a:solidFill>
                <a:latin typeface="Arial"/>
              </a:rPr>
              <a:t>01  Technical progress  ·  docs/design/AI_Model_Plan.md</a:t>
            </a:r>
          </a:p>
        </p:txBody>
      </p:sp>
      <p:sp>
        <p:nvSpPr>
          <p:cNvPr id="4" name="Page number"/>
          <p:cNvSpPr txBox="1"/>
          <p:nvPr/>
        </p:nvSpPr>
        <p:spPr>
          <a:xfrm>
            <a:off x="11045952" y="6245352"/>
            <a:ext cx="530352" cy="283464"/>
          </a:xfrm>
          <a:prstGeom prst="rect">
            <a:avLst/>
          </a:prstGeom>
          <a:noFill/>
        </p:spPr>
        <p:txBody>
          <a:bodyPr wrap="square" lIns="45700" rIns="45700" tIns="27425" bIns="27425" anchor="t">
            <a:spAutoFit/>
          </a:bodyPr>
          <a:lstStyle/>
          <a:p>
            <a:pPr algn="l"/>
            <a:r>
              <a:rPr sz="1350" b="0">
                <a:solidFill>
                  <a:srgbClr val="647080"/>
                </a:solidFill>
                <a:latin typeface="Arial"/>
              </a:rPr>
              <a:t>09</a:t>
            </a:r>
          </a:p>
        </p:txBody>
      </p:sp>
      <p:graphicFrame>
        <p:nvGraphicFramePr>
          <p:cNvPr id="5" name="Table 4"/>
          <p:cNvGraphicFramePr>
            <a:graphicFrameLocks noGrp="1"/>
          </p:cNvGraphicFramePr>
          <p:nvPr/>
        </p:nvGraphicFramePr>
        <p:xfrm>
          <a:off x="630936" y="1783080"/>
          <a:ext cx="10927080" cy="3657600"/>
        </p:xfrm>
        <a:graphic>
          <a:graphicData uri="http://schemas.openxmlformats.org/drawingml/2006/table">
            <a:tbl>
              <a:tblPr firstRow="0" bandRow="0"/>
              <a:tblGrid>
                <a:gridCol w="3017520"/>
                <a:gridCol w="1600200"/>
                <a:gridCol w="2514600"/>
                <a:gridCol w="3794760"/>
              </a:tblGrid>
              <a:tr h="457200">
                <a:tc>
                  <a:txBody>
                    <a:bodyPr/>
                    <a:lstStyle/>
                    <a:p>
                      <a:r>
                        <a:rPr sz="1500" b="1">
                          <a:solidFill>
                            <a:srgbClr val="FFFFFF"/>
                          </a:solidFill>
                          <a:latin typeface="Arial"/>
                        </a:rPr>
                        <a:t>Option</a:t>
                      </a:r>
                    </a:p>
                  </a:txBody>
                  <a:tcPr anchor="ctr" marL="73150" marR="73150">
                    <a:lnL w="9525">
                      <a:solidFill>
                        <a:srgbClr val="647080"/>
                      </a:solidFill>
                    </a:lnL>
                    <a:lnR w="9525">
                      <a:solidFill>
                        <a:srgbClr val="647080"/>
                      </a:solidFill>
                    </a:lnR>
                    <a:lnT w="9525">
                      <a:solidFill>
                        <a:srgbClr val="647080"/>
                      </a:solidFill>
                    </a:lnT>
                    <a:lnB w="9525">
                      <a:solidFill>
                        <a:srgbClr val="647080"/>
                      </a:solidFill>
                    </a:lnB>
                    <a:solidFill>
                      <a:srgbClr val="13263A"/>
                    </a:solidFill>
                  </a:tcPr>
                </a:tc>
                <a:tc>
                  <a:txBody>
                    <a:bodyPr/>
                    <a:lstStyle/>
                    <a:p>
                      <a:r>
                        <a:rPr sz="1500" b="1">
                          <a:solidFill>
                            <a:srgbClr val="FFFFFF"/>
                          </a:solidFill>
                          <a:latin typeface="Arial"/>
                        </a:rPr>
                        <a:t>Runs on</a:t>
                      </a:r>
                    </a:p>
                  </a:txBody>
                  <a:tcPr anchor="ctr" marL="73150" marR="73150">
                    <a:lnL w="9525">
                      <a:solidFill>
                        <a:srgbClr val="647080"/>
                      </a:solidFill>
                    </a:lnL>
                    <a:lnR w="9525">
                      <a:solidFill>
                        <a:srgbClr val="647080"/>
                      </a:solidFill>
                    </a:lnR>
                    <a:lnT w="9525">
                      <a:solidFill>
                        <a:srgbClr val="647080"/>
                      </a:solidFill>
                    </a:lnT>
                    <a:lnB w="9525">
                      <a:solidFill>
                        <a:srgbClr val="647080"/>
                      </a:solidFill>
                    </a:lnB>
                    <a:solidFill>
                      <a:srgbClr val="13263A"/>
                    </a:solidFill>
                  </a:tcPr>
                </a:tc>
                <a:tc>
                  <a:txBody>
                    <a:bodyPr/>
                    <a:lstStyle/>
                    <a:p>
                      <a:r>
                        <a:rPr sz="1500" b="1">
                          <a:solidFill>
                            <a:srgbClr val="FFFFFF"/>
                          </a:solidFill>
                          <a:latin typeface="Arial"/>
                        </a:rPr>
                        <a:t>Free access</a:t>
                      </a:r>
                    </a:p>
                  </a:txBody>
                  <a:tcPr anchor="ctr" marL="73150" marR="73150">
                    <a:lnL w="9525">
                      <a:solidFill>
                        <a:srgbClr val="647080"/>
                      </a:solidFill>
                    </a:lnL>
                    <a:lnR w="9525">
                      <a:solidFill>
                        <a:srgbClr val="647080"/>
                      </a:solidFill>
                    </a:lnR>
                    <a:lnT w="9525">
                      <a:solidFill>
                        <a:srgbClr val="647080"/>
                      </a:solidFill>
                    </a:lnT>
                    <a:lnB w="9525">
                      <a:solidFill>
                        <a:srgbClr val="647080"/>
                      </a:solidFill>
                    </a:lnB>
                    <a:solidFill>
                      <a:srgbClr val="13263A"/>
                    </a:solidFill>
                  </a:tcPr>
                </a:tc>
                <a:tc>
                  <a:txBody>
                    <a:bodyPr/>
                    <a:lstStyle/>
                    <a:p>
                      <a:r>
                        <a:rPr sz="1500" b="1">
                          <a:solidFill>
                            <a:srgbClr val="FFFFFF"/>
                          </a:solidFill>
                          <a:latin typeface="Arial"/>
                        </a:rPr>
                        <a:t>Decision</a:t>
                      </a:r>
                    </a:p>
                  </a:txBody>
                  <a:tcPr anchor="ctr" marL="73150" marR="73150">
                    <a:lnL w="9525">
                      <a:solidFill>
                        <a:srgbClr val="647080"/>
                      </a:solidFill>
                    </a:lnL>
                    <a:lnR w="9525">
                      <a:solidFill>
                        <a:srgbClr val="647080"/>
                      </a:solidFill>
                    </a:lnR>
                    <a:lnT w="9525">
                      <a:solidFill>
                        <a:srgbClr val="647080"/>
                      </a:solidFill>
                    </a:lnT>
                    <a:lnB w="9525">
                      <a:solidFill>
                        <a:srgbClr val="647080"/>
                      </a:solidFill>
                    </a:lnB>
                    <a:solidFill>
                      <a:srgbClr val="13263A"/>
                    </a:solidFill>
                  </a:tcPr>
                </a:tc>
              </a:tr>
              <a:tr h="457200">
                <a:tc>
                  <a:txBody>
                    <a:bodyPr/>
                    <a:lstStyle/>
                    <a:p>
                      <a:r>
                        <a:rPr sz="1500" b="1">
                          <a:solidFill>
                            <a:srgbClr val="13263A"/>
                          </a:solidFill>
                          <a:latin typeface="Arial"/>
                        </a:rPr>
                        <a:t>Gemini Flash (Google)</a:t>
                      </a:r>
                    </a:p>
                  </a:txBody>
                  <a:tcPr anchor="ctr" marL="73150" marR="73150">
                    <a:lnL w="9525">
                      <a:solidFill>
                        <a:srgbClr val="647080"/>
                      </a:solidFill>
                    </a:lnL>
                    <a:lnR w="9525">
                      <a:solidFill>
                        <a:srgbClr val="647080"/>
                      </a:solidFill>
                    </a:lnR>
                    <a:lnT w="9525">
                      <a:solidFill>
                        <a:srgbClr val="647080"/>
                      </a:solidFill>
                    </a:lnT>
                    <a:lnB w="9525">
                      <a:solidFill>
                        <a:srgbClr val="647080"/>
                      </a:solidFill>
                    </a:lnB>
                    <a:solidFill>
                      <a:srgbClr val="DCE5FD"/>
                    </a:solidFill>
                  </a:tcPr>
                </a:tc>
                <a:tc>
                  <a:txBody>
                    <a:bodyPr/>
                    <a:lstStyle/>
                    <a:p>
                      <a:r>
                        <a:rPr sz="1500" b="0">
                          <a:solidFill>
                            <a:srgbClr val="13263A"/>
                          </a:solidFill>
                          <a:latin typeface="Arial"/>
                        </a:rPr>
                        <a:t>hosted</a:t>
                      </a:r>
                    </a:p>
                  </a:txBody>
                  <a:tcPr anchor="ctr" marL="73150" marR="73150">
                    <a:lnL w="9525">
                      <a:solidFill>
                        <a:srgbClr val="647080"/>
                      </a:solidFill>
                    </a:lnL>
                    <a:lnR w="9525">
                      <a:solidFill>
                        <a:srgbClr val="647080"/>
                      </a:solidFill>
                    </a:lnR>
                    <a:lnT w="9525">
                      <a:solidFill>
                        <a:srgbClr val="647080"/>
                      </a:solidFill>
                    </a:lnT>
                    <a:lnB w="9525">
                      <a:solidFill>
                        <a:srgbClr val="647080"/>
                      </a:solidFill>
                    </a:lnB>
                    <a:solidFill>
                      <a:srgbClr val="DCE5FD"/>
                    </a:solidFill>
                  </a:tcPr>
                </a:tc>
                <a:tc>
                  <a:txBody>
                    <a:bodyPr/>
                    <a:lstStyle/>
                    <a:p>
                      <a:r>
                        <a:rPr sz="1500" b="0">
                          <a:solidFill>
                            <a:srgbClr val="13263A"/>
                          </a:solidFill>
                          <a:latin typeface="Arial"/>
                        </a:rPr>
                        <a:t>free tier, rate-limited</a:t>
                      </a:r>
                    </a:p>
                  </a:txBody>
                  <a:tcPr anchor="ctr" marL="73150" marR="73150">
                    <a:lnL w="9525">
                      <a:solidFill>
                        <a:srgbClr val="647080"/>
                      </a:solidFill>
                    </a:lnL>
                    <a:lnR w="9525">
                      <a:solidFill>
                        <a:srgbClr val="647080"/>
                      </a:solidFill>
                    </a:lnR>
                    <a:lnT w="9525">
                      <a:solidFill>
                        <a:srgbClr val="647080"/>
                      </a:solidFill>
                    </a:lnT>
                    <a:lnB w="9525">
                      <a:solidFill>
                        <a:srgbClr val="647080"/>
                      </a:solidFill>
                    </a:lnB>
                    <a:solidFill>
                      <a:srgbClr val="DCE5FD"/>
                    </a:solidFill>
                  </a:tcPr>
                </a:tc>
                <a:tc>
                  <a:txBody>
                    <a:bodyPr/>
                    <a:lstStyle/>
                    <a:p>
                      <a:r>
                        <a:rPr sz="1500" b="1">
                          <a:solidFill>
                            <a:srgbClr val="255CF0"/>
                          </a:solidFill>
                          <a:latin typeface="Arial"/>
                        </a:rPr>
                        <a:t>Primary · tested this week</a:t>
                      </a:r>
                    </a:p>
                  </a:txBody>
                  <a:tcPr anchor="ctr" marL="73150" marR="73150">
                    <a:lnL w="9525">
                      <a:solidFill>
                        <a:srgbClr val="647080"/>
                      </a:solidFill>
                    </a:lnL>
                    <a:lnR w="9525">
                      <a:solidFill>
                        <a:srgbClr val="647080"/>
                      </a:solidFill>
                    </a:lnR>
                    <a:lnT w="9525">
                      <a:solidFill>
                        <a:srgbClr val="647080"/>
                      </a:solidFill>
                    </a:lnT>
                    <a:lnB w="9525">
                      <a:solidFill>
                        <a:srgbClr val="647080"/>
                      </a:solidFill>
                    </a:lnB>
                    <a:solidFill>
                      <a:srgbClr val="DCE5FD"/>
                    </a:solidFill>
                  </a:tcPr>
                </a:tc>
              </a:tr>
              <a:tr h="457200">
                <a:tc>
                  <a:txBody>
                    <a:bodyPr/>
                    <a:lstStyle/>
                    <a:p>
                      <a:r>
                        <a:rPr sz="1500" b="1">
                          <a:solidFill>
                            <a:srgbClr val="13263A"/>
                          </a:solidFill>
                          <a:latin typeface="Arial"/>
                        </a:rPr>
                        <a:t>GLM-4.6V-Flash (Z.ai)</a:t>
                      </a:r>
                    </a:p>
                  </a:txBody>
                  <a:tcPr anchor="ctr" marL="73150" marR="73150">
                    <a:lnL w="9525">
                      <a:solidFill>
                        <a:srgbClr val="647080"/>
                      </a:solidFill>
                    </a:lnL>
                    <a:lnR w="9525">
                      <a:solidFill>
                        <a:srgbClr val="647080"/>
                      </a:solidFill>
                    </a:lnR>
                    <a:lnT w="9525">
                      <a:solidFill>
                        <a:srgbClr val="647080"/>
                      </a:solidFill>
                    </a:lnT>
                    <a:lnB w="9525">
                      <a:solidFill>
                        <a:srgbClr val="647080"/>
                      </a:solidFill>
                    </a:lnB>
                    <a:solidFill>
                      <a:srgbClr val="EEF0F3"/>
                    </a:solidFill>
                  </a:tcPr>
                </a:tc>
                <a:tc>
                  <a:txBody>
                    <a:bodyPr/>
                    <a:lstStyle/>
                    <a:p>
                      <a:r>
                        <a:rPr sz="1500" b="0">
                          <a:solidFill>
                            <a:srgbClr val="13263A"/>
                          </a:solidFill>
                          <a:latin typeface="Arial"/>
                        </a:rPr>
                        <a:t>hosted</a:t>
                      </a:r>
                    </a:p>
                  </a:txBody>
                  <a:tcPr anchor="ctr" marL="73150" marR="73150">
                    <a:lnL w="9525">
                      <a:solidFill>
                        <a:srgbClr val="647080"/>
                      </a:solidFill>
                    </a:lnL>
                    <a:lnR w="9525">
                      <a:solidFill>
                        <a:srgbClr val="647080"/>
                      </a:solidFill>
                    </a:lnR>
                    <a:lnT w="9525">
                      <a:solidFill>
                        <a:srgbClr val="647080"/>
                      </a:solidFill>
                    </a:lnT>
                    <a:lnB w="9525">
                      <a:solidFill>
                        <a:srgbClr val="647080"/>
                      </a:solidFill>
                    </a:lnB>
                    <a:solidFill>
                      <a:srgbClr val="EEF0F3"/>
                    </a:solidFill>
                  </a:tcPr>
                </a:tc>
                <a:tc>
                  <a:txBody>
                    <a:bodyPr/>
                    <a:lstStyle/>
                    <a:p>
                      <a:r>
                        <a:rPr sz="1500" b="0">
                          <a:solidFill>
                            <a:srgbClr val="13263A"/>
                          </a:solidFill>
                          <a:latin typeface="Arial"/>
                        </a:rPr>
                        <a:t>free</a:t>
                      </a:r>
                    </a:p>
                  </a:txBody>
                  <a:tcPr anchor="ctr" marL="73150" marR="73150">
                    <a:lnL w="9525">
                      <a:solidFill>
                        <a:srgbClr val="647080"/>
                      </a:solidFill>
                    </a:lnL>
                    <a:lnR w="9525">
                      <a:solidFill>
                        <a:srgbClr val="647080"/>
                      </a:solidFill>
                    </a:lnR>
                    <a:lnT w="9525">
                      <a:solidFill>
                        <a:srgbClr val="647080"/>
                      </a:solidFill>
                    </a:lnT>
                    <a:lnB w="9525">
                      <a:solidFill>
                        <a:srgbClr val="647080"/>
                      </a:solidFill>
                    </a:lnB>
                    <a:solidFill>
                      <a:srgbClr val="EEF0F3"/>
                    </a:solidFill>
                  </a:tcPr>
                </a:tc>
                <a:tc>
                  <a:txBody>
                    <a:bodyPr/>
                    <a:lstStyle/>
                    <a:p>
                      <a:r>
                        <a:rPr sz="1500" b="0">
                          <a:solidFill>
                            <a:srgbClr val="13263A"/>
                          </a:solidFill>
                          <a:latin typeface="Arial"/>
                        </a:rPr>
                        <a:t>Backup · reachable from China</a:t>
                      </a:r>
                    </a:p>
                  </a:txBody>
                  <a:tcPr anchor="ctr" marL="73150" marR="73150">
                    <a:lnL w="9525">
                      <a:solidFill>
                        <a:srgbClr val="647080"/>
                      </a:solidFill>
                    </a:lnL>
                    <a:lnR w="9525">
                      <a:solidFill>
                        <a:srgbClr val="647080"/>
                      </a:solidFill>
                    </a:lnR>
                    <a:lnT w="9525">
                      <a:solidFill>
                        <a:srgbClr val="647080"/>
                      </a:solidFill>
                    </a:lnT>
                    <a:lnB w="9525">
                      <a:solidFill>
                        <a:srgbClr val="647080"/>
                      </a:solidFill>
                    </a:lnB>
                    <a:solidFill>
                      <a:srgbClr val="EEF0F3"/>
                    </a:solidFill>
                  </a:tcPr>
                </a:tc>
              </a:tr>
              <a:tr h="457200">
                <a:tc>
                  <a:txBody>
                    <a:bodyPr/>
                    <a:lstStyle/>
                    <a:p>
                      <a:r>
                        <a:rPr sz="1500" b="1">
                          <a:solidFill>
                            <a:srgbClr val="13263A"/>
                          </a:solidFill>
                          <a:latin typeface="Arial"/>
                        </a:rPr>
                        <a:t>qwen3-vl:2b via Ollama</a:t>
                      </a:r>
                    </a:p>
                  </a:txBody>
                  <a:tcPr anchor="ctr" marL="73150" marR="73150">
                    <a:lnL w="9525">
                      <a:solidFill>
                        <a:srgbClr val="647080"/>
                      </a:solidFill>
                    </a:lnL>
                    <a:lnR w="9525">
                      <a:solidFill>
                        <a:srgbClr val="647080"/>
                      </a:solidFill>
                    </a:lnR>
                    <a:lnT w="9525">
                      <a:solidFill>
                        <a:srgbClr val="647080"/>
                      </a:solidFill>
                    </a:lnT>
                    <a:lnB w="9525">
                      <a:solidFill>
                        <a:srgbClr val="647080"/>
                      </a:solidFill>
                    </a:lnB>
                    <a:solidFill>
                      <a:srgbClr val="E6EAF0"/>
                    </a:solidFill>
                  </a:tcPr>
                </a:tc>
                <a:tc>
                  <a:txBody>
                    <a:bodyPr/>
                    <a:lstStyle/>
                    <a:p>
                      <a:r>
                        <a:rPr sz="1500" b="0">
                          <a:solidFill>
                            <a:srgbClr val="13263A"/>
                          </a:solidFill>
                          <a:latin typeface="Arial"/>
                        </a:rPr>
                        <a:t>this laptop</a:t>
                      </a:r>
                    </a:p>
                  </a:txBody>
                  <a:tcPr anchor="ctr" marL="73150" marR="73150">
                    <a:lnL w="9525">
                      <a:solidFill>
                        <a:srgbClr val="647080"/>
                      </a:solidFill>
                    </a:lnL>
                    <a:lnR w="9525">
                      <a:solidFill>
                        <a:srgbClr val="647080"/>
                      </a:solidFill>
                    </a:lnR>
                    <a:lnT w="9525">
                      <a:solidFill>
                        <a:srgbClr val="647080"/>
                      </a:solidFill>
                    </a:lnT>
                    <a:lnB w="9525">
                      <a:solidFill>
                        <a:srgbClr val="647080"/>
                      </a:solidFill>
                    </a:lnB>
                    <a:solidFill>
                      <a:srgbClr val="E6EAF0"/>
                    </a:solidFill>
                  </a:tcPr>
                </a:tc>
                <a:tc>
                  <a:txBody>
                    <a:bodyPr/>
                    <a:lstStyle/>
                    <a:p>
                      <a:r>
                        <a:rPr sz="1500" b="0">
                          <a:solidFill>
                            <a:srgbClr val="13263A"/>
                          </a:solidFill>
                          <a:latin typeface="Arial"/>
                        </a:rPr>
                        <a:t>free, 1.9 GB</a:t>
                      </a:r>
                    </a:p>
                  </a:txBody>
                  <a:tcPr anchor="ctr" marL="73150" marR="73150">
                    <a:lnL w="9525">
                      <a:solidFill>
                        <a:srgbClr val="647080"/>
                      </a:solidFill>
                    </a:lnL>
                    <a:lnR w="9525">
                      <a:solidFill>
                        <a:srgbClr val="647080"/>
                      </a:solidFill>
                    </a:lnR>
                    <a:lnT w="9525">
                      <a:solidFill>
                        <a:srgbClr val="647080"/>
                      </a:solidFill>
                    </a:lnT>
                    <a:lnB w="9525">
                      <a:solidFill>
                        <a:srgbClr val="647080"/>
                      </a:solidFill>
                    </a:lnB>
                    <a:solidFill>
                      <a:srgbClr val="E6EAF0"/>
                    </a:solidFill>
                  </a:tcPr>
                </a:tc>
                <a:tc>
                  <a:txBody>
                    <a:bodyPr/>
                    <a:lstStyle/>
                    <a:p>
                      <a:r>
                        <a:rPr sz="1500" b="0">
                          <a:solidFill>
                            <a:srgbClr val="13263A"/>
                          </a:solidFill>
                          <a:latin typeface="Arial"/>
                        </a:rPr>
                        <a:t>Offline backup, off by default</a:t>
                      </a:r>
                    </a:p>
                  </a:txBody>
                  <a:tcPr anchor="ctr" marL="73150" marR="73150">
                    <a:lnL w="9525">
                      <a:solidFill>
                        <a:srgbClr val="647080"/>
                      </a:solidFill>
                    </a:lnL>
                    <a:lnR w="9525">
                      <a:solidFill>
                        <a:srgbClr val="647080"/>
                      </a:solidFill>
                    </a:lnR>
                    <a:lnT w="9525">
                      <a:solidFill>
                        <a:srgbClr val="647080"/>
                      </a:solidFill>
                    </a:lnT>
                    <a:lnB w="9525">
                      <a:solidFill>
                        <a:srgbClr val="647080"/>
                      </a:solidFill>
                    </a:lnB>
                    <a:solidFill>
                      <a:srgbClr val="E6EAF0"/>
                    </a:solidFill>
                  </a:tcPr>
                </a:tc>
              </a:tr>
              <a:tr h="457200">
                <a:tc>
                  <a:txBody>
                    <a:bodyPr/>
                    <a:lstStyle/>
                    <a:p>
                      <a:r>
                        <a:rPr sz="1500" b="1">
                          <a:solidFill>
                            <a:srgbClr val="13263A"/>
                          </a:solidFill>
                          <a:latin typeface="Arial"/>
                        </a:rPr>
                        <a:t>Groq · Mistral · Alibaba</a:t>
                      </a:r>
                    </a:p>
                  </a:txBody>
                  <a:tcPr anchor="ctr" marL="73150" marR="73150">
                    <a:lnL w="9525">
                      <a:solidFill>
                        <a:srgbClr val="647080"/>
                      </a:solidFill>
                    </a:lnL>
                    <a:lnR w="9525">
                      <a:solidFill>
                        <a:srgbClr val="647080"/>
                      </a:solidFill>
                    </a:lnR>
                    <a:lnT w="9525">
                      <a:solidFill>
                        <a:srgbClr val="647080"/>
                      </a:solidFill>
                    </a:lnT>
                    <a:lnB w="9525">
                      <a:solidFill>
                        <a:srgbClr val="647080"/>
                      </a:solidFill>
                    </a:lnB>
                    <a:solidFill>
                      <a:srgbClr val="EEF0F3"/>
                    </a:solidFill>
                  </a:tcPr>
                </a:tc>
                <a:tc>
                  <a:txBody>
                    <a:bodyPr/>
                    <a:lstStyle/>
                    <a:p>
                      <a:r>
                        <a:rPr sz="1500" b="0">
                          <a:solidFill>
                            <a:srgbClr val="13263A"/>
                          </a:solidFill>
                          <a:latin typeface="Arial"/>
                        </a:rPr>
                        <a:t>hosted</a:t>
                      </a:r>
                    </a:p>
                  </a:txBody>
                  <a:tcPr anchor="ctr" marL="73150" marR="73150">
                    <a:lnL w="9525">
                      <a:solidFill>
                        <a:srgbClr val="647080"/>
                      </a:solidFill>
                    </a:lnL>
                    <a:lnR w="9525">
                      <a:solidFill>
                        <a:srgbClr val="647080"/>
                      </a:solidFill>
                    </a:lnR>
                    <a:lnT w="9525">
                      <a:solidFill>
                        <a:srgbClr val="647080"/>
                      </a:solidFill>
                    </a:lnT>
                    <a:lnB w="9525">
                      <a:solidFill>
                        <a:srgbClr val="647080"/>
                      </a:solidFill>
                    </a:lnB>
                    <a:solidFill>
                      <a:srgbClr val="EEF0F3"/>
                    </a:solidFill>
                  </a:tcPr>
                </a:tc>
                <a:tc>
                  <a:txBody>
                    <a:bodyPr/>
                    <a:lstStyle/>
                    <a:p>
                      <a:r>
                        <a:rPr sz="1500" b="0">
                          <a:solidFill>
                            <a:srgbClr val="13263A"/>
                          </a:solidFill>
                          <a:latin typeface="Arial"/>
                        </a:rPr>
                        <a:t>unclear or temporary</a:t>
                      </a:r>
                    </a:p>
                  </a:txBody>
                  <a:tcPr anchor="ctr" marL="73150" marR="73150">
                    <a:lnL w="9525">
                      <a:solidFill>
                        <a:srgbClr val="647080"/>
                      </a:solidFill>
                    </a:lnL>
                    <a:lnR w="9525">
                      <a:solidFill>
                        <a:srgbClr val="647080"/>
                      </a:solidFill>
                    </a:lnR>
                    <a:lnT w="9525">
                      <a:solidFill>
                        <a:srgbClr val="647080"/>
                      </a:solidFill>
                    </a:lnT>
                    <a:lnB w="9525">
                      <a:solidFill>
                        <a:srgbClr val="647080"/>
                      </a:solidFill>
                    </a:lnB>
                    <a:solidFill>
                      <a:srgbClr val="EEF0F3"/>
                    </a:solidFill>
                  </a:tcPr>
                </a:tc>
                <a:tc>
                  <a:txBody>
                    <a:bodyPr/>
                    <a:lstStyle/>
                    <a:p>
                      <a:r>
                        <a:rPr sz="1500" b="0">
                          <a:solidFill>
                            <a:srgbClr val="13263A"/>
                          </a:solidFill>
                          <a:latin typeface="Arial"/>
                        </a:rPr>
                        <a:t>Reserve only</a:t>
                      </a:r>
                    </a:p>
                  </a:txBody>
                  <a:tcPr anchor="ctr" marL="73150" marR="73150">
                    <a:lnL w="9525">
                      <a:solidFill>
                        <a:srgbClr val="647080"/>
                      </a:solidFill>
                    </a:lnL>
                    <a:lnR w="9525">
                      <a:solidFill>
                        <a:srgbClr val="647080"/>
                      </a:solidFill>
                    </a:lnR>
                    <a:lnT w="9525">
                      <a:solidFill>
                        <a:srgbClr val="647080"/>
                      </a:solidFill>
                    </a:lnT>
                    <a:lnB w="9525">
                      <a:solidFill>
                        <a:srgbClr val="647080"/>
                      </a:solidFill>
                    </a:lnB>
                    <a:solidFill>
                      <a:srgbClr val="EEF0F3"/>
                    </a:solidFill>
                  </a:tcPr>
                </a:tc>
              </a:tr>
              <a:tr h="457200">
                <a:tc>
                  <a:txBody>
                    <a:bodyPr/>
                    <a:lstStyle/>
                    <a:p>
                      <a:r>
                        <a:rPr sz="1500" b="1">
                          <a:solidFill>
                            <a:srgbClr val="13263A"/>
                          </a:solidFill>
                          <a:latin typeface="Arial"/>
                        </a:rPr>
                        <a:t>OpenRouter free models</a:t>
                      </a:r>
                    </a:p>
                  </a:txBody>
                  <a:tcPr anchor="ctr" marL="73150" marR="73150">
                    <a:lnL w="9525">
                      <a:solidFill>
                        <a:srgbClr val="647080"/>
                      </a:solidFill>
                    </a:lnL>
                    <a:lnR w="9525">
                      <a:solidFill>
                        <a:srgbClr val="647080"/>
                      </a:solidFill>
                    </a:lnR>
                    <a:lnT w="9525">
                      <a:solidFill>
                        <a:srgbClr val="647080"/>
                      </a:solidFill>
                    </a:lnT>
                    <a:lnB w="9525">
                      <a:solidFill>
                        <a:srgbClr val="647080"/>
                      </a:solidFill>
                    </a:lnB>
                    <a:solidFill>
                      <a:srgbClr val="E6EAF0"/>
                    </a:solidFill>
                  </a:tcPr>
                </a:tc>
                <a:tc>
                  <a:txBody>
                    <a:bodyPr/>
                    <a:lstStyle/>
                    <a:p>
                      <a:r>
                        <a:rPr sz="1500" b="0">
                          <a:solidFill>
                            <a:srgbClr val="13263A"/>
                          </a:solidFill>
                          <a:latin typeface="Arial"/>
                        </a:rPr>
                        <a:t>hosted</a:t>
                      </a:r>
                    </a:p>
                  </a:txBody>
                  <a:tcPr anchor="ctr" marL="73150" marR="73150">
                    <a:lnL w="9525">
                      <a:solidFill>
                        <a:srgbClr val="647080"/>
                      </a:solidFill>
                    </a:lnL>
                    <a:lnR w="9525">
                      <a:solidFill>
                        <a:srgbClr val="647080"/>
                      </a:solidFill>
                    </a:lnR>
                    <a:lnT w="9525">
                      <a:solidFill>
                        <a:srgbClr val="647080"/>
                      </a:solidFill>
                    </a:lnT>
                    <a:lnB w="9525">
                      <a:solidFill>
                        <a:srgbClr val="647080"/>
                      </a:solidFill>
                    </a:lnB>
                    <a:solidFill>
                      <a:srgbClr val="E6EAF0"/>
                    </a:solidFill>
                  </a:tcPr>
                </a:tc>
                <a:tc>
                  <a:txBody>
                    <a:bodyPr/>
                    <a:lstStyle/>
                    <a:p>
                      <a:r>
                        <a:rPr sz="1500" b="0">
                          <a:solidFill>
                            <a:srgbClr val="13263A"/>
                          </a:solidFill>
                          <a:latin typeface="Arial"/>
                        </a:rPr>
                        <a:t>50 requests / day</a:t>
                      </a:r>
                    </a:p>
                  </a:txBody>
                  <a:tcPr anchor="ctr" marL="73150" marR="73150">
                    <a:lnL w="9525">
                      <a:solidFill>
                        <a:srgbClr val="647080"/>
                      </a:solidFill>
                    </a:lnL>
                    <a:lnR w="9525">
                      <a:solidFill>
                        <a:srgbClr val="647080"/>
                      </a:solidFill>
                    </a:lnR>
                    <a:lnT w="9525">
                      <a:solidFill>
                        <a:srgbClr val="647080"/>
                      </a:solidFill>
                    </a:lnT>
                    <a:lnB w="9525">
                      <a:solidFill>
                        <a:srgbClr val="647080"/>
                      </a:solidFill>
                    </a:lnB>
                    <a:solidFill>
                      <a:srgbClr val="E6EAF0"/>
                    </a:solidFill>
                  </a:tcPr>
                </a:tc>
                <a:tc>
                  <a:txBody>
                    <a:bodyPr/>
                    <a:lstStyle/>
                    <a:p>
                      <a:r>
                        <a:rPr sz="1500" b="0">
                          <a:solidFill>
                            <a:srgbClr val="647080"/>
                          </a:solidFill>
                          <a:latin typeface="Arial"/>
                        </a:rPr>
                        <a:t>Rejected: too few requests</a:t>
                      </a:r>
                    </a:p>
                  </a:txBody>
                  <a:tcPr anchor="ctr" marL="73150" marR="73150">
                    <a:lnL w="9525">
                      <a:solidFill>
                        <a:srgbClr val="647080"/>
                      </a:solidFill>
                    </a:lnL>
                    <a:lnR w="9525">
                      <a:solidFill>
                        <a:srgbClr val="647080"/>
                      </a:solidFill>
                    </a:lnR>
                    <a:lnT w="9525">
                      <a:solidFill>
                        <a:srgbClr val="647080"/>
                      </a:solidFill>
                    </a:lnT>
                    <a:lnB w="9525">
                      <a:solidFill>
                        <a:srgbClr val="647080"/>
                      </a:solidFill>
                    </a:lnB>
                    <a:solidFill>
                      <a:srgbClr val="E6EAF0"/>
                    </a:solidFill>
                  </a:tcPr>
                </a:tc>
              </a:tr>
              <a:tr h="457200">
                <a:tc>
                  <a:txBody>
                    <a:bodyPr/>
                    <a:lstStyle/>
                    <a:p>
                      <a:r>
                        <a:rPr sz="1500" b="1">
                          <a:solidFill>
                            <a:srgbClr val="13263A"/>
                          </a:solidFill>
                          <a:latin typeface="Arial"/>
                        </a:rPr>
                        <a:t>GitHub Models</a:t>
                      </a:r>
                    </a:p>
                  </a:txBody>
                  <a:tcPr anchor="ctr" marL="73150" marR="73150">
                    <a:lnL w="9525">
                      <a:solidFill>
                        <a:srgbClr val="647080"/>
                      </a:solidFill>
                    </a:lnL>
                    <a:lnR w="9525">
                      <a:solidFill>
                        <a:srgbClr val="647080"/>
                      </a:solidFill>
                    </a:lnR>
                    <a:lnT w="9525">
                      <a:solidFill>
                        <a:srgbClr val="647080"/>
                      </a:solidFill>
                    </a:lnT>
                    <a:lnB w="9525">
                      <a:solidFill>
                        <a:srgbClr val="647080"/>
                      </a:solidFill>
                    </a:lnB>
                    <a:solidFill>
                      <a:srgbClr val="EEF0F3"/>
                    </a:solidFill>
                  </a:tcPr>
                </a:tc>
                <a:tc>
                  <a:txBody>
                    <a:bodyPr/>
                    <a:lstStyle/>
                    <a:p>
                      <a:r>
                        <a:rPr sz="1500" b="0">
                          <a:solidFill>
                            <a:srgbClr val="13263A"/>
                          </a:solidFill>
                          <a:latin typeface="Arial"/>
                        </a:rPr>
                        <a:t>—</a:t>
                      </a:r>
                    </a:p>
                  </a:txBody>
                  <a:tcPr anchor="ctr" marL="73150" marR="73150">
                    <a:lnL w="9525">
                      <a:solidFill>
                        <a:srgbClr val="647080"/>
                      </a:solidFill>
                    </a:lnL>
                    <a:lnR w="9525">
                      <a:solidFill>
                        <a:srgbClr val="647080"/>
                      </a:solidFill>
                    </a:lnR>
                    <a:lnT w="9525">
                      <a:solidFill>
                        <a:srgbClr val="647080"/>
                      </a:solidFill>
                    </a:lnT>
                    <a:lnB w="9525">
                      <a:solidFill>
                        <a:srgbClr val="647080"/>
                      </a:solidFill>
                    </a:lnB>
                    <a:solidFill>
                      <a:srgbClr val="EEF0F3"/>
                    </a:solidFill>
                  </a:tcPr>
                </a:tc>
                <a:tc>
                  <a:txBody>
                    <a:bodyPr/>
                    <a:lstStyle/>
                    <a:p>
                      <a:r>
                        <a:rPr sz="1500" b="0">
                          <a:solidFill>
                            <a:srgbClr val="13263A"/>
                          </a:solidFill>
                          <a:latin typeface="Arial"/>
                        </a:rPr>
                        <a:t>retired 2026-07-30</a:t>
                      </a:r>
                    </a:p>
                  </a:txBody>
                  <a:tcPr anchor="ctr" marL="73150" marR="73150">
                    <a:lnL w="9525">
                      <a:solidFill>
                        <a:srgbClr val="647080"/>
                      </a:solidFill>
                    </a:lnL>
                    <a:lnR w="9525">
                      <a:solidFill>
                        <a:srgbClr val="647080"/>
                      </a:solidFill>
                    </a:lnR>
                    <a:lnT w="9525">
                      <a:solidFill>
                        <a:srgbClr val="647080"/>
                      </a:solidFill>
                    </a:lnT>
                    <a:lnB w="9525">
                      <a:solidFill>
                        <a:srgbClr val="647080"/>
                      </a:solidFill>
                    </a:lnB>
                    <a:solidFill>
                      <a:srgbClr val="EEF0F3"/>
                    </a:solidFill>
                  </a:tcPr>
                </a:tc>
                <a:tc>
                  <a:txBody>
                    <a:bodyPr/>
                    <a:lstStyle/>
                    <a:p>
                      <a:r>
                        <a:rPr sz="1500" b="0">
                          <a:solidFill>
                            <a:srgbClr val="647080"/>
                          </a:solidFill>
                          <a:latin typeface="Arial"/>
                        </a:rPr>
                        <a:t>Rejected: no longer exists</a:t>
                      </a:r>
                    </a:p>
                  </a:txBody>
                  <a:tcPr anchor="ctr" marL="73150" marR="73150">
                    <a:lnL w="9525">
                      <a:solidFill>
                        <a:srgbClr val="647080"/>
                      </a:solidFill>
                    </a:lnL>
                    <a:lnR w="9525">
                      <a:solidFill>
                        <a:srgbClr val="647080"/>
                      </a:solidFill>
                    </a:lnR>
                    <a:lnT w="9525">
                      <a:solidFill>
                        <a:srgbClr val="647080"/>
                      </a:solidFill>
                    </a:lnT>
                    <a:lnB w="9525">
                      <a:solidFill>
                        <a:srgbClr val="647080"/>
                      </a:solidFill>
                    </a:lnB>
                    <a:solidFill>
                      <a:srgbClr val="EEF0F3"/>
                    </a:solidFill>
                  </a:tcPr>
                </a:tc>
              </a:tr>
              <a:tr h="457200">
                <a:tc>
                  <a:txBody>
                    <a:bodyPr/>
                    <a:lstStyle/>
                    <a:p>
                      <a:r>
                        <a:rPr sz="1500" b="1">
                          <a:solidFill>
                            <a:srgbClr val="13263A"/>
                          </a:solidFill>
                          <a:latin typeface="Arial"/>
                        </a:rPr>
                        <a:t>PyTorch local, 4B or more</a:t>
                      </a:r>
                    </a:p>
                  </a:txBody>
                  <a:tcPr anchor="ctr" marL="73150" marR="73150">
                    <a:lnL w="9525">
                      <a:solidFill>
                        <a:srgbClr val="647080"/>
                      </a:solidFill>
                    </a:lnL>
                    <a:lnR w="9525">
                      <a:solidFill>
                        <a:srgbClr val="647080"/>
                      </a:solidFill>
                    </a:lnR>
                    <a:lnT w="9525">
                      <a:solidFill>
                        <a:srgbClr val="647080"/>
                      </a:solidFill>
                    </a:lnT>
                    <a:lnB w="9525">
                      <a:solidFill>
                        <a:srgbClr val="647080"/>
                      </a:solidFill>
                    </a:lnB>
                    <a:solidFill>
                      <a:srgbClr val="E6EAF0"/>
                    </a:solidFill>
                  </a:tcPr>
                </a:tc>
                <a:tc>
                  <a:txBody>
                    <a:bodyPr/>
                    <a:lstStyle/>
                    <a:p>
                      <a:r>
                        <a:rPr sz="1500" b="0">
                          <a:solidFill>
                            <a:srgbClr val="13263A"/>
                          </a:solidFill>
                          <a:latin typeface="Arial"/>
                        </a:rPr>
                        <a:t>this laptop</a:t>
                      </a:r>
                    </a:p>
                  </a:txBody>
                  <a:tcPr anchor="ctr" marL="73150" marR="73150">
                    <a:lnL w="9525">
                      <a:solidFill>
                        <a:srgbClr val="647080"/>
                      </a:solidFill>
                    </a:lnL>
                    <a:lnR w="9525">
                      <a:solidFill>
                        <a:srgbClr val="647080"/>
                      </a:solidFill>
                    </a:lnR>
                    <a:lnT w="9525">
                      <a:solidFill>
                        <a:srgbClr val="647080"/>
                      </a:solidFill>
                    </a:lnT>
                    <a:lnB w="9525">
                      <a:solidFill>
                        <a:srgbClr val="647080"/>
                      </a:solidFill>
                    </a:lnB>
                    <a:solidFill>
                      <a:srgbClr val="E6EAF0"/>
                    </a:solidFill>
                  </a:tcPr>
                </a:tc>
                <a:tc>
                  <a:txBody>
                    <a:bodyPr/>
                    <a:lstStyle/>
                    <a:p>
                      <a:r>
                        <a:rPr sz="1500" b="0">
                          <a:solidFill>
                            <a:srgbClr val="13263A"/>
                          </a:solidFill>
                          <a:latin typeface="Arial"/>
                        </a:rPr>
                        <a:t>free</a:t>
                      </a:r>
                    </a:p>
                  </a:txBody>
                  <a:tcPr anchor="ctr" marL="73150" marR="73150">
                    <a:lnL w="9525">
                      <a:solidFill>
                        <a:srgbClr val="647080"/>
                      </a:solidFill>
                    </a:lnL>
                    <a:lnR w="9525">
                      <a:solidFill>
                        <a:srgbClr val="647080"/>
                      </a:solidFill>
                    </a:lnR>
                    <a:lnT w="9525">
                      <a:solidFill>
                        <a:srgbClr val="647080"/>
                      </a:solidFill>
                    </a:lnT>
                    <a:lnB w="9525">
                      <a:solidFill>
                        <a:srgbClr val="647080"/>
                      </a:solidFill>
                    </a:lnB>
                    <a:solidFill>
                      <a:srgbClr val="E6EAF0"/>
                    </a:solidFill>
                  </a:tcPr>
                </a:tc>
                <a:tc>
                  <a:txBody>
                    <a:bodyPr/>
                    <a:lstStyle/>
                    <a:p>
                      <a:r>
                        <a:rPr sz="1500" b="0">
                          <a:solidFill>
                            <a:srgbClr val="647080"/>
                          </a:solidFill>
                          <a:latin typeface="Arial"/>
                        </a:rPr>
                        <a:t>Rejected: does not fit in RAM</a:t>
                      </a:r>
                    </a:p>
                  </a:txBody>
                  <a:tcPr anchor="ctr" marL="73150" marR="73150">
                    <a:lnL w="9525">
                      <a:solidFill>
                        <a:srgbClr val="647080"/>
                      </a:solidFill>
                    </a:lnL>
                    <a:lnR w="9525">
                      <a:solidFill>
                        <a:srgbClr val="647080"/>
                      </a:solidFill>
                    </a:lnR>
                    <a:lnT w="9525">
                      <a:solidFill>
                        <a:srgbClr val="647080"/>
                      </a:solidFill>
                    </a:lnT>
                    <a:lnB w="9525">
                      <a:solidFill>
                        <a:srgbClr val="647080"/>
                      </a:solidFill>
                    </a:lnB>
                    <a:solidFill>
                      <a:srgbClr val="E6EAF0"/>
                    </a:solidFill>
                  </a:tcPr>
                </a:tc>
              </a:tr>
            </a:tbl>
          </a:graphicData>
        </a:graphic>
      </p:graphicFrame>
      <p:sp>
        <p:nvSpPr>
          <p:cNvPr id="6" name="Rectangle 5"/>
          <p:cNvSpPr/>
          <p:nvPr/>
        </p:nvSpPr>
        <p:spPr>
          <a:xfrm>
            <a:off x="630936" y="5669280"/>
            <a:ext cx="10927080" cy="45720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5669280"/>
            <a:ext cx="10607040" cy="457200"/>
          </a:xfrm>
          <a:prstGeom prst="rect">
            <a:avLst/>
          </a:prstGeom>
          <a:noFill/>
        </p:spPr>
        <p:txBody>
          <a:bodyPr wrap="square" lIns="45700" rIns="45700" tIns="27425" bIns="27425" anchor="ctr">
            <a:spAutoFit/>
          </a:bodyPr>
          <a:lstStyle/>
          <a:p>
            <a:pPr algn="l"/>
            <a:r>
              <a:rPr sz="1500" b="1">
                <a:solidFill>
                  <a:srgbClr val="255CF0"/>
                </a:solidFill>
                <a:latin typeface="Arial"/>
              </a:rPr>
              <a:t>Design:  </a:t>
            </a:r>
            <a:r>
              <a:rPr sz="1500" b="0">
                <a:solidFill>
                  <a:srgbClr val="13263A"/>
                </a:solidFill>
                <a:latin typeface="Arial"/>
              </a:rPr>
              <a:t>one call per request  ·  photo at low resolution  ·  lowest thinking level  →  about 450 tokens per request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itle"/>
          <p:cNvSpPr txBox="1"/>
          <p:nvPr/>
        </p:nvSpPr>
        <p:spPr>
          <a:xfrm>
            <a:off x="612648" y="457200"/>
            <a:ext cx="10954512" cy="758952"/>
          </a:xfrm>
          <a:prstGeom prst="rect">
            <a:avLst/>
          </a:prstGeom>
          <a:noFill/>
        </p:spPr>
        <p:txBody>
          <a:bodyPr wrap="square" lIns="45700" rIns="45700" tIns="27425" bIns="27425" anchor="ctr">
            <a:spAutoFit/>
          </a:bodyPr>
          <a:lstStyle/>
          <a:p>
            <a:pPr algn="l"/>
            <a:r>
              <a:rPr sz="3300" b="1">
                <a:solidFill>
                  <a:srgbClr val="13263A"/>
                </a:solidFill>
                <a:latin typeface="Arial"/>
              </a:rPr>
              <a:t>Example request: café photo + “water”</a:t>
            </a:r>
          </a:p>
        </p:txBody>
      </p:sp>
      <p:sp>
        <p:nvSpPr>
          <p:cNvPr id="3" name="Subtitle"/>
          <p:cNvSpPr txBox="1"/>
          <p:nvPr/>
        </p:nvSpPr>
        <p:spPr>
          <a:xfrm>
            <a:off x="630936" y="1216152"/>
            <a:ext cx="10570464" cy="411480"/>
          </a:xfrm>
          <a:prstGeom prst="rect">
            <a:avLst/>
          </a:prstGeom>
          <a:noFill/>
        </p:spPr>
        <p:txBody>
          <a:bodyPr wrap="square" lIns="45700" rIns="45700" tIns="27425" bIns="27425" anchor="t">
            <a:spAutoFit/>
          </a:bodyPr>
          <a:lstStyle/>
          <a:p>
            <a:pPr algn="l"/>
            <a:r>
              <a:rPr sz="1800" b="0">
                <a:solidFill>
                  <a:srgbClr val="647080"/>
                </a:solidFill>
                <a:latin typeface="Arial"/>
              </a:rPr>
              <a:t>02  Experimental progress  ·  first real call to Gemini 3.5 Flash, 2026-10-21</a:t>
            </a:r>
          </a:p>
        </p:txBody>
      </p:sp>
      <p:sp>
        <p:nvSpPr>
          <p:cNvPr id="4" name="Page number"/>
          <p:cNvSpPr txBox="1"/>
          <p:nvPr/>
        </p:nvSpPr>
        <p:spPr>
          <a:xfrm>
            <a:off x="11045952" y="6245352"/>
            <a:ext cx="530352" cy="283464"/>
          </a:xfrm>
          <a:prstGeom prst="rect">
            <a:avLst/>
          </a:prstGeom>
          <a:noFill/>
        </p:spPr>
        <p:txBody>
          <a:bodyPr wrap="square" lIns="45700" rIns="45700" tIns="27425" bIns="27425" anchor="t">
            <a:spAutoFit/>
          </a:bodyPr>
          <a:lstStyle/>
          <a:p>
            <a:pPr algn="l"/>
            <a:r>
              <a:rPr sz="1350" b="0">
                <a:solidFill>
                  <a:srgbClr val="647080"/>
                </a:solidFill>
                <a:latin typeface="Arial"/>
              </a:rPr>
              <a:t>10</a:t>
            </a:r>
          </a:p>
        </p:txBody>
      </p:sp>
      <p:pic>
        <p:nvPicPr>
          <p:cNvPr id="5" name="Drawn café scene" descr="cafe_sent_x4.png"/>
          <p:cNvPicPr>
            <a:picLocks noChangeAspect="1"/>
          </p:cNvPicPr>
          <p:nvPr/>
        </p:nvPicPr>
        <p:blipFill>
          <a:blip r:embed="rId3"/>
          <a:stretch>
            <a:fillRect/>
          </a:stretch>
        </p:blipFill>
        <p:spPr>
          <a:xfrm>
            <a:off x="630936" y="1783080"/>
            <a:ext cx="5486400" cy="4114800"/>
          </a:xfrm>
          <a:prstGeom prst="rect">
            <a:avLst/>
          </a:prstGeom>
          <a:ln w="9525">
            <a:solidFill>
              <a:srgbClr val="A8B6C7"/>
            </a:solidFill>
          </a:ln>
        </p:spPr>
      </p:pic>
      <p:sp>
        <p:nvSpPr>
          <p:cNvPr id="6" name="TextBox 5"/>
          <p:cNvSpPr txBox="1"/>
          <p:nvPr/>
        </p:nvSpPr>
        <p:spPr>
          <a:xfrm>
            <a:off x="630936" y="5943600"/>
            <a:ext cx="5486400" cy="320040"/>
          </a:xfrm>
          <a:prstGeom prst="rect">
            <a:avLst/>
          </a:prstGeom>
          <a:noFill/>
        </p:spPr>
        <p:txBody>
          <a:bodyPr wrap="square" lIns="45700" rIns="45700" tIns="27425" bIns="27425" anchor="t">
            <a:spAutoFit/>
          </a:bodyPr>
          <a:lstStyle/>
          <a:p>
            <a:pPr algn="l"/>
            <a:r>
              <a:rPr sz="1350" b="0">
                <a:solidFill>
                  <a:srgbClr val="647080"/>
                </a:solidFill>
                <a:latin typeface="Arial"/>
              </a:rPr>
              <a:t>Drawn café scene (synthetic): the exact 384 × 288 JPEG sent</a:t>
            </a:r>
          </a:p>
        </p:txBody>
      </p:sp>
      <p:sp>
        <p:nvSpPr>
          <p:cNvPr id="7" name="TextBox 6"/>
          <p:cNvSpPr txBox="1"/>
          <p:nvPr/>
        </p:nvSpPr>
        <p:spPr>
          <a:xfrm>
            <a:off x="6400800" y="1783080"/>
            <a:ext cx="5166360" cy="365760"/>
          </a:xfrm>
          <a:prstGeom prst="rect">
            <a:avLst/>
          </a:prstGeom>
          <a:noFill/>
        </p:spPr>
        <p:txBody>
          <a:bodyPr wrap="square" lIns="45700" rIns="45700" tIns="27425" bIns="27425" anchor="t">
            <a:spAutoFit/>
          </a:bodyPr>
          <a:lstStyle/>
          <a:p>
            <a:pPr algn="l"/>
            <a:r>
              <a:rPr sz="1650" b="1">
                <a:solidFill>
                  <a:srgbClr val="255CF0"/>
                </a:solidFill>
                <a:latin typeface="Arial"/>
              </a:rPr>
              <a:t>USER REQUEST</a:t>
            </a:r>
          </a:p>
        </p:txBody>
      </p:sp>
      <p:sp>
        <p:nvSpPr>
          <p:cNvPr id="8" name="Rectangle 7"/>
          <p:cNvSpPr/>
          <p:nvPr/>
        </p:nvSpPr>
        <p:spPr>
          <a:xfrm>
            <a:off x="6400800" y="2194560"/>
            <a:ext cx="5166360" cy="109728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583680" y="2240280"/>
            <a:ext cx="4846320" cy="1005840"/>
          </a:xfrm>
          <a:prstGeom prst="rect">
            <a:avLst/>
          </a:prstGeom>
          <a:noFill/>
        </p:spPr>
        <p:txBody>
          <a:bodyPr wrap="square" lIns="45700" rIns="45700" tIns="27425" bIns="27425" anchor="ctr">
            <a:spAutoFit/>
          </a:bodyPr>
          <a:lstStyle/>
          <a:p>
            <a:pPr algn="l"/>
            <a:r>
              <a:rPr sz="1600" b="0">
                <a:solidFill>
                  <a:srgbClr val="647080"/>
                </a:solidFill>
                <a:latin typeface="Arial"/>
              </a:rPr>
              <a:t>Symbol  </a:t>
            </a:r>
            <a:r>
              <a:rPr sz="3000" b="1">
                <a:solidFill>
                  <a:srgbClr val="13263A"/>
                </a:solidFill>
                <a:latin typeface="Arial"/>
              </a:rPr>
              <a:t>“water”</a:t>
            </a:r>
          </a:p>
          <a:p>
            <a:pPr algn="l">
              <a:spcBef>
                <a:spcPts val="400"/>
              </a:spcBef>
            </a:pPr>
            <a:r>
              <a:rPr sz="1600" b="0">
                <a:solidFill>
                  <a:srgbClr val="647080"/>
                </a:solidFill>
                <a:latin typeface="Arial"/>
              </a:rPr>
              <a:t>+ photo  ·  scene hint “A café”</a:t>
            </a:r>
          </a:p>
        </p:txBody>
      </p:sp>
      <p:sp>
        <p:nvSpPr>
          <p:cNvPr id="10" name="TextBox 9"/>
          <p:cNvSpPr txBox="1"/>
          <p:nvPr/>
        </p:nvSpPr>
        <p:spPr>
          <a:xfrm>
            <a:off x="6400800" y="3474720"/>
            <a:ext cx="5166360" cy="365760"/>
          </a:xfrm>
          <a:prstGeom prst="rect">
            <a:avLst/>
          </a:prstGeom>
          <a:noFill/>
        </p:spPr>
        <p:txBody>
          <a:bodyPr wrap="square" lIns="45700" rIns="45700" tIns="27425" bIns="27425" anchor="t">
            <a:spAutoFit/>
          </a:bodyPr>
          <a:lstStyle/>
          <a:p>
            <a:pPr algn="l"/>
            <a:r>
              <a:rPr sz="1650" b="1">
                <a:solidFill>
                  <a:srgbClr val="255CF0"/>
                </a:solidFill>
                <a:latin typeface="Arial"/>
              </a:rPr>
              <a:t>GEMINI 3.5 FLASH SUGGESTS</a:t>
            </a:r>
          </a:p>
        </p:txBody>
      </p:sp>
      <p:sp>
        <p:nvSpPr>
          <p:cNvPr id="11" name="Rectangle 10"/>
          <p:cNvSpPr/>
          <p:nvPr/>
        </p:nvSpPr>
        <p:spPr>
          <a:xfrm>
            <a:off x="6400800" y="3886200"/>
            <a:ext cx="5166360" cy="54864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510528" y="3886200"/>
            <a:ext cx="411480" cy="548640"/>
          </a:xfrm>
          <a:prstGeom prst="rect">
            <a:avLst/>
          </a:prstGeom>
          <a:noFill/>
        </p:spPr>
        <p:txBody>
          <a:bodyPr wrap="square" lIns="45700" rIns="45700" tIns="27425" bIns="27425" anchor="ctr">
            <a:spAutoFit/>
          </a:bodyPr>
          <a:lstStyle/>
          <a:p>
            <a:pPr algn="l"/>
            <a:r>
              <a:rPr sz="2200" b="1">
                <a:solidFill>
                  <a:srgbClr val="255CF0"/>
                </a:solidFill>
                <a:latin typeface="Arial"/>
              </a:rPr>
              <a:t>1</a:t>
            </a:r>
          </a:p>
        </p:txBody>
      </p:sp>
      <p:sp>
        <p:nvSpPr>
          <p:cNvPr id="13" name="TextBox 12"/>
          <p:cNvSpPr txBox="1"/>
          <p:nvPr/>
        </p:nvSpPr>
        <p:spPr>
          <a:xfrm>
            <a:off x="6903720" y="3886200"/>
            <a:ext cx="4572000" cy="548640"/>
          </a:xfrm>
          <a:prstGeom prst="rect">
            <a:avLst/>
          </a:prstGeom>
          <a:noFill/>
        </p:spPr>
        <p:txBody>
          <a:bodyPr wrap="square" lIns="45700" rIns="45700" tIns="27425" bIns="27425" anchor="ctr">
            <a:spAutoFit/>
          </a:bodyPr>
          <a:lstStyle/>
          <a:p>
            <a:pPr algn="l"/>
            <a:r>
              <a:rPr sz="2200" b="0">
                <a:solidFill>
                  <a:srgbClr val="13263A"/>
                </a:solidFill>
                <a:latin typeface="Arial"/>
              </a:rPr>
              <a:t>Water, please.</a:t>
            </a:r>
          </a:p>
        </p:txBody>
      </p:sp>
      <p:sp>
        <p:nvSpPr>
          <p:cNvPr id="14" name="Rectangle 13"/>
          <p:cNvSpPr/>
          <p:nvPr/>
        </p:nvSpPr>
        <p:spPr>
          <a:xfrm>
            <a:off x="6400800" y="4526280"/>
            <a:ext cx="5166360" cy="54864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510528" y="4526280"/>
            <a:ext cx="411480" cy="548640"/>
          </a:xfrm>
          <a:prstGeom prst="rect">
            <a:avLst/>
          </a:prstGeom>
          <a:noFill/>
        </p:spPr>
        <p:txBody>
          <a:bodyPr wrap="square" lIns="45700" rIns="45700" tIns="27425" bIns="27425" anchor="ctr">
            <a:spAutoFit/>
          </a:bodyPr>
          <a:lstStyle/>
          <a:p>
            <a:pPr algn="l"/>
            <a:r>
              <a:rPr sz="2200" b="1">
                <a:solidFill>
                  <a:srgbClr val="255CF0"/>
                </a:solidFill>
                <a:latin typeface="Arial"/>
              </a:rPr>
              <a:t>2</a:t>
            </a:r>
          </a:p>
        </p:txBody>
      </p:sp>
      <p:sp>
        <p:nvSpPr>
          <p:cNvPr id="16" name="TextBox 15"/>
          <p:cNvSpPr txBox="1"/>
          <p:nvPr/>
        </p:nvSpPr>
        <p:spPr>
          <a:xfrm>
            <a:off x="6903720" y="4526280"/>
            <a:ext cx="4572000" cy="548640"/>
          </a:xfrm>
          <a:prstGeom prst="rect">
            <a:avLst/>
          </a:prstGeom>
          <a:noFill/>
        </p:spPr>
        <p:txBody>
          <a:bodyPr wrap="square" lIns="45700" rIns="45700" tIns="27425" bIns="27425" anchor="ctr">
            <a:spAutoFit/>
          </a:bodyPr>
          <a:lstStyle/>
          <a:p>
            <a:pPr algn="l"/>
            <a:r>
              <a:rPr sz="2200" b="0">
                <a:solidFill>
                  <a:srgbClr val="13263A"/>
                </a:solidFill>
                <a:latin typeface="Arial"/>
              </a:rPr>
              <a:t>Could I have some water?</a:t>
            </a:r>
          </a:p>
        </p:txBody>
      </p:sp>
      <p:sp>
        <p:nvSpPr>
          <p:cNvPr id="17" name="Rectangle 16"/>
          <p:cNvSpPr/>
          <p:nvPr/>
        </p:nvSpPr>
        <p:spPr>
          <a:xfrm>
            <a:off x="6400800" y="5166360"/>
            <a:ext cx="5166360" cy="54864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510528" y="5166360"/>
            <a:ext cx="411480" cy="548640"/>
          </a:xfrm>
          <a:prstGeom prst="rect">
            <a:avLst/>
          </a:prstGeom>
          <a:noFill/>
        </p:spPr>
        <p:txBody>
          <a:bodyPr wrap="square" lIns="45700" rIns="45700" tIns="27425" bIns="27425" anchor="ctr">
            <a:spAutoFit/>
          </a:bodyPr>
          <a:lstStyle/>
          <a:p>
            <a:pPr algn="l"/>
            <a:r>
              <a:rPr sz="2200" b="1">
                <a:solidFill>
                  <a:srgbClr val="255CF0"/>
                </a:solidFill>
                <a:latin typeface="Arial"/>
              </a:rPr>
              <a:t>3</a:t>
            </a:r>
          </a:p>
        </p:txBody>
      </p:sp>
      <p:sp>
        <p:nvSpPr>
          <p:cNvPr id="19" name="TextBox 18"/>
          <p:cNvSpPr txBox="1"/>
          <p:nvPr/>
        </p:nvSpPr>
        <p:spPr>
          <a:xfrm>
            <a:off x="6903720" y="5166360"/>
            <a:ext cx="4572000" cy="548640"/>
          </a:xfrm>
          <a:prstGeom prst="rect">
            <a:avLst/>
          </a:prstGeom>
          <a:noFill/>
        </p:spPr>
        <p:txBody>
          <a:bodyPr wrap="square" lIns="45700" rIns="45700" tIns="27425" bIns="27425" anchor="ctr">
            <a:spAutoFit/>
          </a:bodyPr>
          <a:lstStyle/>
          <a:p>
            <a:pPr algn="l"/>
            <a:r>
              <a:rPr sz="2200" b="0">
                <a:solidFill>
                  <a:srgbClr val="13263A"/>
                </a:solidFill>
                <a:latin typeface="Arial"/>
              </a:rPr>
              <a:t>I would like water.</a:t>
            </a:r>
          </a:p>
        </p:txBody>
      </p:sp>
      <p:sp>
        <p:nvSpPr>
          <p:cNvPr id="20" name="TextBox 19"/>
          <p:cNvSpPr txBox="1"/>
          <p:nvPr/>
        </p:nvSpPr>
        <p:spPr>
          <a:xfrm>
            <a:off x="6400800" y="5852160"/>
            <a:ext cx="5166360" cy="320040"/>
          </a:xfrm>
          <a:prstGeom prst="rect">
            <a:avLst/>
          </a:prstGeom>
          <a:noFill/>
        </p:spPr>
        <p:txBody>
          <a:bodyPr wrap="square" lIns="45700" rIns="45700" tIns="27425" bIns="27425" anchor="t">
            <a:spAutoFit/>
          </a:bodyPr>
          <a:lstStyle/>
          <a:p>
            <a:pPr algn="l"/>
            <a:r>
              <a:rPr sz="1350" b="0">
                <a:solidFill>
                  <a:srgbClr val="647080"/>
                </a:solidFill>
                <a:latin typeface="Arial"/>
              </a:rPr>
              <a:t>10.1 s  ·  412 input tokens (266 image)  ·  36 output  ·  0 thinking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itle"/>
          <p:cNvSpPr txBox="1"/>
          <p:nvPr/>
        </p:nvSpPr>
        <p:spPr>
          <a:xfrm>
            <a:off x="612648" y="457200"/>
            <a:ext cx="10954512" cy="758952"/>
          </a:xfrm>
          <a:prstGeom prst="rect">
            <a:avLst/>
          </a:prstGeom>
          <a:noFill/>
        </p:spPr>
        <p:txBody>
          <a:bodyPr wrap="square" lIns="45700" rIns="45700" tIns="27425" bIns="27425" anchor="ctr">
            <a:spAutoFit/>
          </a:bodyPr>
          <a:lstStyle/>
          <a:p>
            <a:pPr algn="l"/>
            <a:r>
              <a:rPr sz="3300" b="1">
                <a:solidFill>
                  <a:srgbClr val="13263A"/>
                </a:solidFill>
                <a:latin typeface="Arial"/>
              </a:rPr>
              <a:t>Two more requests and their results</a:t>
            </a:r>
          </a:p>
        </p:txBody>
      </p:sp>
      <p:sp>
        <p:nvSpPr>
          <p:cNvPr id="3" name="Subtitle"/>
          <p:cNvSpPr txBox="1"/>
          <p:nvPr/>
        </p:nvSpPr>
        <p:spPr>
          <a:xfrm>
            <a:off x="630936" y="1216152"/>
            <a:ext cx="10570464" cy="411480"/>
          </a:xfrm>
          <a:prstGeom prst="rect">
            <a:avLst/>
          </a:prstGeom>
          <a:noFill/>
        </p:spPr>
        <p:txBody>
          <a:bodyPr wrap="square" lIns="45700" rIns="45700" tIns="27425" bIns="27425" anchor="t">
            <a:spAutoFit/>
          </a:bodyPr>
          <a:lstStyle/>
          <a:p>
            <a:pPr algn="l"/>
            <a:r>
              <a:rPr sz="1800" b="0">
                <a:solidFill>
                  <a:srgbClr val="647080"/>
                </a:solidFill>
                <a:latin typeface="Arial"/>
              </a:rPr>
              <a:t>02  Experimental progress  ·  same model and prompt, text only and a negation</a:t>
            </a:r>
          </a:p>
        </p:txBody>
      </p:sp>
      <p:sp>
        <p:nvSpPr>
          <p:cNvPr id="4" name="Page number"/>
          <p:cNvSpPr txBox="1"/>
          <p:nvPr/>
        </p:nvSpPr>
        <p:spPr>
          <a:xfrm>
            <a:off x="11045952" y="6245352"/>
            <a:ext cx="530352" cy="283464"/>
          </a:xfrm>
          <a:prstGeom prst="rect">
            <a:avLst/>
          </a:prstGeom>
          <a:noFill/>
        </p:spPr>
        <p:txBody>
          <a:bodyPr wrap="square" lIns="45700" rIns="45700" tIns="27425" bIns="27425" anchor="t">
            <a:spAutoFit/>
          </a:bodyPr>
          <a:lstStyle/>
          <a:p>
            <a:pPr algn="l"/>
            <a:r>
              <a:rPr sz="1350" b="0">
                <a:solidFill>
                  <a:srgbClr val="647080"/>
                </a:solidFill>
                <a:latin typeface="Arial"/>
              </a:rPr>
              <a:t>11</a:t>
            </a:r>
          </a:p>
        </p:txBody>
      </p:sp>
      <p:sp>
        <p:nvSpPr>
          <p:cNvPr id="5" name="TextBox 4"/>
          <p:cNvSpPr txBox="1"/>
          <p:nvPr/>
        </p:nvSpPr>
        <p:spPr>
          <a:xfrm>
            <a:off x="630936" y="1783080"/>
            <a:ext cx="5303520" cy="365760"/>
          </a:xfrm>
          <a:prstGeom prst="rect">
            <a:avLst/>
          </a:prstGeom>
          <a:noFill/>
        </p:spPr>
        <p:txBody>
          <a:bodyPr wrap="square" lIns="45700" rIns="45700" tIns="27425" bIns="27425" anchor="t">
            <a:spAutoFit/>
          </a:bodyPr>
          <a:lstStyle/>
          <a:p>
            <a:pPr algn="l"/>
            <a:r>
              <a:rPr sz="1650" b="1">
                <a:solidFill>
                  <a:srgbClr val="255CF0"/>
                </a:solidFill>
                <a:latin typeface="Arial"/>
              </a:rPr>
              <a:t>REQUEST 1  ·  TEXT ONLY</a:t>
            </a:r>
          </a:p>
        </p:txBody>
      </p:sp>
      <p:sp>
        <p:nvSpPr>
          <p:cNvPr id="6" name="Rectangle 5"/>
          <p:cNvSpPr/>
          <p:nvPr/>
        </p:nvSpPr>
        <p:spPr>
          <a:xfrm>
            <a:off x="630936" y="2194560"/>
            <a:ext cx="5303520" cy="118872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13815" y="2240280"/>
            <a:ext cx="4983480" cy="1097280"/>
          </a:xfrm>
          <a:prstGeom prst="rect">
            <a:avLst/>
          </a:prstGeom>
          <a:noFill/>
        </p:spPr>
        <p:txBody>
          <a:bodyPr wrap="square" lIns="45700" rIns="45700" tIns="27425" bIns="27425" anchor="ctr">
            <a:spAutoFit/>
          </a:bodyPr>
          <a:lstStyle/>
          <a:p>
            <a:pPr algn="l"/>
            <a:r>
              <a:rPr sz="3000" b="1">
                <a:solidFill>
                  <a:srgbClr val="13263A"/>
                </a:solidFill>
                <a:latin typeface="Arial"/>
              </a:rPr>
              <a:t>“water”</a:t>
            </a:r>
          </a:p>
          <a:p>
            <a:pPr algn="l">
              <a:spcBef>
                <a:spcPts val="400"/>
              </a:spcBef>
            </a:pPr>
            <a:r>
              <a:rPr sz="1500" b="0">
                <a:solidFill>
                  <a:srgbClr val="647080"/>
                </a:solidFill>
                <a:latin typeface="Arial"/>
              </a:rPr>
              <a:t>scene hint “A café”  ·  no photo</a:t>
            </a:r>
          </a:p>
        </p:txBody>
      </p:sp>
      <p:sp>
        <p:nvSpPr>
          <p:cNvPr id="8" name="TextBox 7"/>
          <p:cNvSpPr txBox="1"/>
          <p:nvPr/>
        </p:nvSpPr>
        <p:spPr>
          <a:xfrm>
            <a:off x="630936" y="3566160"/>
            <a:ext cx="2743200" cy="365760"/>
          </a:xfrm>
          <a:prstGeom prst="rect">
            <a:avLst/>
          </a:prstGeom>
          <a:noFill/>
        </p:spPr>
        <p:txBody>
          <a:bodyPr wrap="square" lIns="45700" rIns="45700" tIns="27425" bIns="27425" anchor="t">
            <a:spAutoFit/>
          </a:bodyPr>
          <a:lstStyle/>
          <a:p>
            <a:pPr algn="l"/>
            <a:r>
              <a:rPr sz="1650" b="1">
                <a:solidFill>
                  <a:srgbClr val="255CF0"/>
                </a:solidFill>
                <a:latin typeface="Arial"/>
              </a:rPr>
              <a:t>SUGGESTIONS</a:t>
            </a:r>
          </a:p>
        </p:txBody>
      </p:sp>
      <p:sp>
        <p:nvSpPr>
          <p:cNvPr id="9" name="Rectangle 8"/>
          <p:cNvSpPr/>
          <p:nvPr/>
        </p:nvSpPr>
        <p:spPr>
          <a:xfrm>
            <a:off x="630936" y="3977639"/>
            <a:ext cx="5303520" cy="512064"/>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40664" y="3977639"/>
            <a:ext cx="411480" cy="512064"/>
          </a:xfrm>
          <a:prstGeom prst="rect">
            <a:avLst/>
          </a:prstGeom>
          <a:noFill/>
        </p:spPr>
        <p:txBody>
          <a:bodyPr wrap="square" lIns="45700" rIns="45700" tIns="27425" bIns="27425" anchor="ctr">
            <a:spAutoFit/>
          </a:bodyPr>
          <a:lstStyle/>
          <a:p>
            <a:pPr algn="l"/>
            <a:r>
              <a:rPr sz="1900" b="1">
                <a:solidFill>
                  <a:srgbClr val="255CF0"/>
                </a:solidFill>
                <a:latin typeface="Arial"/>
              </a:rPr>
              <a:t>1</a:t>
            </a:r>
          </a:p>
        </p:txBody>
      </p:sp>
      <p:sp>
        <p:nvSpPr>
          <p:cNvPr id="11" name="TextBox 10"/>
          <p:cNvSpPr txBox="1"/>
          <p:nvPr/>
        </p:nvSpPr>
        <p:spPr>
          <a:xfrm>
            <a:off x="1133856" y="3977639"/>
            <a:ext cx="4709159" cy="512064"/>
          </a:xfrm>
          <a:prstGeom prst="rect">
            <a:avLst/>
          </a:prstGeom>
          <a:noFill/>
        </p:spPr>
        <p:txBody>
          <a:bodyPr wrap="square" lIns="45700" rIns="45700" tIns="27425" bIns="27425" anchor="ctr">
            <a:spAutoFit/>
          </a:bodyPr>
          <a:lstStyle/>
          <a:p>
            <a:pPr algn="l"/>
            <a:r>
              <a:rPr sz="1900" b="0">
                <a:solidFill>
                  <a:srgbClr val="13263A"/>
                </a:solidFill>
                <a:latin typeface="Arial"/>
              </a:rPr>
              <a:t>Water, please.</a:t>
            </a:r>
          </a:p>
        </p:txBody>
      </p:sp>
      <p:sp>
        <p:nvSpPr>
          <p:cNvPr id="12" name="Rectangle 11"/>
          <p:cNvSpPr/>
          <p:nvPr/>
        </p:nvSpPr>
        <p:spPr>
          <a:xfrm>
            <a:off x="630936" y="4581144"/>
            <a:ext cx="5303520" cy="512064"/>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40664" y="4581144"/>
            <a:ext cx="411480" cy="512064"/>
          </a:xfrm>
          <a:prstGeom prst="rect">
            <a:avLst/>
          </a:prstGeom>
          <a:noFill/>
        </p:spPr>
        <p:txBody>
          <a:bodyPr wrap="square" lIns="45700" rIns="45700" tIns="27425" bIns="27425" anchor="ctr">
            <a:spAutoFit/>
          </a:bodyPr>
          <a:lstStyle/>
          <a:p>
            <a:pPr algn="l"/>
            <a:r>
              <a:rPr sz="1900" b="1">
                <a:solidFill>
                  <a:srgbClr val="255CF0"/>
                </a:solidFill>
                <a:latin typeface="Arial"/>
              </a:rPr>
              <a:t>2</a:t>
            </a:r>
          </a:p>
        </p:txBody>
      </p:sp>
      <p:sp>
        <p:nvSpPr>
          <p:cNvPr id="14" name="TextBox 13"/>
          <p:cNvSpPr txBox="1"/>
          <p:nvPr/>
        </p:nvSpPr>
        <p:spPr>
          <a:xfrm>
            <a:off x="1133856" y="4581144"/>
            <a:ext cx="4709159" cy="512064"/>
          </a:xfrm>
          <a:prstGeom prst="rect">
            <a:avLst/>
          </a:prstGeom>
          <a:noFill/>
        </p:spPr>
        <p:txBody>
          <a:bodyPr wrap="square" lIns="45700" rIns="45700" tIns="27425" bIns="27425" anchor="ctr">
            <a:spAutoFit/>
          </a:bodyPr>
          <a:lstStyle/>
          <a:p>
            <a:pPr algn="l"/>
            <a:r>
              <a:rPr sz="1900" b="0">
                <a:solidFill>
                  <a:srgbClr val="13263A"/>
                </a:solidFill>
                <a:latin typeface="Arial"/>
              </a:rPr>
              <a:t>Can I have some water?</a:t>
            </a:r>
          </a:p>
        </p:txBody>
      </p:sp>
      <p:sp>
        <p:nvSpPr>
          <p:cNvPr id="15" name="Rectangle 14"/>
          <p:cNvSpPr/>
          <p:nvPr/>
        </p:nvSpPr>
        <p:spPr>
          <a:xfrm>
            <a:off x="630936" y="5184648"/>
            <a:ext cx="5303520" cy="512064"/>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40664" y="5184648"/>
            <a:ext cx="411480" cy="512064"/>
          </a:xfrm>
          <a:prstGeom prst="rect">
            <a:avLst/>
          </a:prstGeom>
          <a:noFill/>
        </p:spPr>
        <p:txBody>
          <a:bodyPr wrap="square" lIns="45700" rIns="45700" tIns="27425" bIns="27425" anchor="ctr">
            <a:spAutoFit/>
          </a:bodyPr>
          <a:lstStyle/>
          <a:p>
            <a:pPr algn="l"/>
            <a:r>
              <a:rPr sz="1900" b="1">
                <a:solidFill>
                  <a:srgbClr val="255CF0"/>
                </a:solidFill>
                <a:latin typeface="Arial"/>
              </a:rPr>
              <a:t>3</a:t>
            </a:r>
          </a:p>
        </p:txBody>
      </p:sp>
      <p:sp>
        <p:nvSpPr>
          <p:cNvPr id="17" name="TextBox 16"/>
          <p:cNvSpPr txBox="1"/>
          <p:nvPr/>
        </p:nvSpPr>
        <p:spPr>
          <a:xfrm>
            <a:off x="1133856" y="5184648"/>
            <a:ext cx="4709159" cy="512064"/>
          </a:xfrm>
          <a:prstGeom prst="rect">
            <a:avLst/>
          </a:prstGeom>
          <a:noFill/>
        </p:spPr>
        <p:txBody>
          <a:bodyPr wrap="square" lIns="45700" rIns="45700" tIns="27425" bIns="27425" anchor="ctr">
            <a:spAutoFit/>
          </a:bodyPr>
          <a:lstStyle/>
          <a:p>
            <a:pPr algn="l"/>
            <a:r>
              <a:rPr sz="1900" b="0">
                <a:solidFill>
                  <a:srgbClr val="13263A"/>
                </a:solidFill>
                <a:latin typeface="Arial"/>
              </a:rPr>
              <a:t>I would like some water.</a:t>
            </a:r>
          </a:p>
        </p:txBody>
      </p:sp>
      <p:sp>
        <p:nvSpPr>
          <p:cNvPr id="18" name="TextBox 17"/>
          <p:cNvSpPr txBox="1"/>
          <p:nvPr/>
        </p:nvSpPr>
        <p:spPr>
          <a:xfrm>
            <a:off x="630936" y="5852160"/>
            <a:ext cx="5303520" cy="320040"/>
          </a:xfrm>
          <a:prstGeom prst="rect">
            <a:avLst/>
          </a:prstGeom>
          <a:noFill/>
        </p:spPr>
        <p:txBody>
          <a:bodyPr wrap="square" lIns="45700" rIns="45700" tIns="27425" bIns="27425" anchor="t">
            <a:spAutoFit/>
          </a:bodyPr>
          <a:lstStyle/>
          <a:p>
            <a:pPr algn="l"/>
            <a:r>
              <a:rPr sz="1350" b="0">
                <a:solidFill>
                  <a:srgbClr val="647080"/>
                </a:solidFill>
                <a:latin typeface="Arial"/>
              </a:rPr>
              <a:t>15.2 s  ·  146 input tokens  ·  37 output  ·  0 thinking</a:t>
            </a:r>
          </a:p>
        </p:txBody>
      </p:sp>
      <p:sp>
        <p:nvSpPr>
          <p:cNvPr id="19" name="TextBox 18"/>
          <p:cNvSpPr txBox="1"/>
          <p:nvPr/>
        </p:nvSpPr>
        <p:spPr>
          <a:xfrm>
            <a:off x="6263640" y="1783080"/>
            <a:ext cx="5303520" cy="365760"/>
          </a:xfrm>
          <a:prstGeom prst="rect">
            <a:avLst/>
          </a:prstGeom>
          <a:noFill/>
        </p:spPr>
        <p:txBody>
          <a:bodyPr wrap="square" lIns="45700" rIns="45700" tIns="27425" bIns="27425" anchor="t">
            <a:spAutoFit/>
          </a:bodyPr>
          <a:lstStyle/>
          <a:p>
            <a:pPr algn="l"/>
            <a:r>
              <a:rPr sz="1650" b="1">
                <a:solidFill>
                  <a:srgbClr val="255CF0"/>
                </a:solidFill>
                <a:latin typeface="Arial"/>
              </a:rPr>
              <a:t>REQUEST 2  ·  NEGATION</a:t>
            </a:r>
          </a:p>
        </p:txBody>
      </p:sp>
      <p:sp>
        <p:nvSpPr>
          <p:cNvPr id="20" name="Rectangle 19"/>
          <p:cNvSpPr/>
          <p:nvPr/>
        </p:nvSpPr>
        <p:spPr>
          <a:xfrm>
            <a:off x="6263640" y="2194560"/>
            <a:ext cx="5303520" cy="118872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46520" y="2240280"/>
            <a:ext cx="4983480" cy="1097280"/>
          </a:xfrm>
          <a:prstGeom prst="rect">
            <a:avLst/>
          </a:prstGeom>
          <a:noFill/>
        </p:spPr>
        <p:txBody>
          <a:bodyPr wrap="square" lIns="45700" rIns="45700" tIns="27425" bIns="27425" anchor="ctr">
            <a:spAutoFit/>
          </a:bodyPr>
          <a:lstStyle/>
          <a:p>
            <a:pPr algn="l"/>
            <a:r>
              <a:rPr sz="3000" b="1">
                <a:solidFill>
                  <a:srgbClr val="13263A"/>
                </a:solidFill>
                <a:latin typeface="Arial"/>
              </a:rPr>
              <a:t>“coffee”</a:t>
            </a:r>
            <a:r>
              <a:rPr sz="1800" b="1">
                <a:solidFill>
                  <a:srgbClr val="13263A"/>
                </a:solidFill>
                <a:latin typeface="Arial"/>
              </a:rPr>
              <a:t>  +  “I do not want sugar”</a:t>
            </a:r>
          </a:p>
          <a:p>
            <a:pPr algn="l">
              <a:spcBef>
                <a:spcPts val="400"/>
              </a:spcBef>
            </a:pPr>
            <a:r>
              <a:rPr sz="1500" b="0">
                <a:solidFill>
                  <a:srgbClr val="647080"/>
                </a:solidFill>
                <a:latin typeface="Arial"/>
              </a:rPr>
              <a:t>scene hint “A café”  ·  same café photo</a:t>
            </a:r>
          </a:p>
        </p:txBody>
      </p:sp>
      <p:sp>
        <p:nvSpPr>
          <p:cNvPr id="22" name="TextBox 21"/>
          <p:cNvSpPr txBox="1"/>
          <p:nvPr/>
        </p:nvSpPr>
        <p:spPr>
          <a:xfrm>
            <a:off x="6263640" y="3566160"/>
            <a:ext cx="2743200" cy="365760"/>
          </a:xfrm>
          <a:prstGeom prst="rect">
            <a:avLst/>
          </a:prstGeom>
          <a:noFill/>
        </p:spPr>
        <p:txBody>
          <a:bodyPr wrap="square" lIns="45700" rIns="45700" tIns="27425" bIns="27425" anchor="t">
            <a:spAutoFit/>
          </a:bodyPr>
          <a:lstStyle/>
          <a:p>
            <a:pPr algn="l"/>
            <a:r>
              <a:rPr sz="1650" b="1">
                <a:solidFill>
                  <a:srgbClr val="255CF0"/>
                </a:solidFill>
                <a:latin typeface="Arial"/>
              </a:rPr>
              <a:t>SUGGESTIONS</a:t>
            </a:r>
          </a:p>
        </p:txBody>
      </p:sp>
      <p:sp>
        <p:nvSpPr>
          <p:cNvPr id="23" name="TextBox 22"/>
          <p:cNvSpPr txBox="1"/>
          <p:nvPr/>
        </p:nvSpPr>
        <p:spPr>
          <a:xfrm>
            <a:off x="8641080" y="3566160"/>
            <a:ext cx="2926080" cy="365760"/>
          </a:xfrm>
          <a:prstGeom prst="rect">
            <a:avLst/>
          </a:prstGeom>
          <a:noFill/>
        </p:spPr>
        <p:txBody>
          <a:bodyPr wrap="square" lIns="45700" rIns="45700" tIns="27425" bIns="27425" anchor="t">
            <a:spAutoFit/>
          </a:bodyPr>
          <a:lstStyle/>
          <a:p>
            <a:pPr algn="l"/>
            <a:r>
              <a:rPr sz="1500" b="1">
                <a:solidFill>
                  <a:srgbClr val="1F8A5B"/>
                </a:solidFill>
                <a:latin typeface="Arial"/>
              </a:rPr>
              <a:t>✓  negation kept in all three</a:t>
            </a:r>
          </a:p>
        </p:txBody>
      </p:sp>
      <p:sp>
        <p:nvSpPr>
          <p:cNvPr id="24" name="Rectangle 23"/>
          <p:cNvSpPr/>
          <p:nvPr/>
        </p:nvSpPr>
        <p:spPr>
          <a:xfrm>
            <a:off x="6263640" y="3977639"/>
            <a:ext cx="5303520" cy="512064"/>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373368" y="3977639"/>
            <a:ext cx="411480" cy="512064"/>
          </a:xfrm>
          <a:prstGeom prst="rect">
            <a:avLst/>
          </a:prstGeom>
          <a:noFill/>
        </p:spPr>
        <p:txBody>
          <a:bodyPr wrap="square" lIns="45700" rIns="45700" tIns="27425" bIns="27425" anchor="ctr">
            <a:spAutoFit/>
          </a:bodyPr>
          <a:lstStyle/>
          <a:p>
            <a:pPr algn="l"/>
            <a:r>
              <a:rPr sz="1900" b="1">
                <a:solidFill>
                  <a:srgbClr val="255CF0"/>
                </a:solidFill>
                <a:latin typeface="Arial"/>
              </a:rPr>
              <a:t>1</a:t>
            </a:r>
          </a:p>
        </p:txBody>
      </p:sp>
      <p:sp>
        <p:nvSpPr>
          <p:cNvPr id="26" name="TextBox 25"/>
          <p:cNvSpPr txBox="1"/>
          <p:nvPr/>
        </p:nvSpPr>
        <p:spPr>
          <a:xfrm>
            <a:off x="6766559" y="3977639"/>
            <a:ext cx="4709159" cy="512064"/>
          </a:xfrm>
          <a:prstGeom prst="rect">
            <a:avLst/>
          </a:prstGeom>
          <a:noFill/>
        </p:spPr>
        <p:txBody>
          <a:bodyPr wrap="square" lIns="45700" rIns="45700" tIns="27425" bIns="27425" anchor="ctr">
            <a:spAutoFit/>
          </a:bodyPr>
          <a:lstStyle/>
          <a:p>
            <a:pPr algn="l"/>
            <a:r>
              <a:rPr sz="1900" b="0">
                <a:solidFill>
                  <a:srgbClr val="13263A"/>
                </a:solidFill>
                <a:latin typeface="Arial"/>
              </a:rPr>
              <a:t>No sugar in my coffee, please.</a:t>
            </a:r>
          </a:p>
        </p:txBody>
      </p:sp>
      <p:sp>
        <p:nvSpPr>
          <p:cNvPr id="27" name="Rectangle 26"/>
          <p:cNvSpPr/>
          <p:nvPr/>
        </p:nvSpPr>
        <p:spPr>
          <a:xfrm>
            <a:off x="6263640" y="4581144"/>
            <a:ext cx="5303520" cy="512064"/>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373368" y="4581144"/>
            <a:ext cx="411480" cy="512064"/>
          </a:xfrm>
          <a:prstGeom prst="rect">
            <a:avLst/>
          </a:prstGeom>
          <a:noFill/>
        </p:spPr>
        <p:txBody>
          <a:bodyPr wrap="square" lIns="45700" rIns="45700" tIns="27425" bIns="27425" anchor="ctr">
            <a:spAutoFit/>
          </a:bodyPr>
          <a:lstStyle/>
          <a:p>
            <a:pPr algn="l"/>
            <a:r>
              <a:rPr sz="1900" b="1">
                <a:solidFill>
                  <a:srgbClr val="255CF0"/>
                </a:solidFill>
                <a:latin typeface="Arial"/>
              </a:rPr>
              <a:t>2</a:t>
            </a:r>
          </a:p>
        </p:txBody>
      </p:sp>
      <p:sp>
        <p:nvSpPr>
          <p:cNvPr id="29" name="TextBox 28"/>
          <p:cNvSpPr txBox="1"/>
          <p:nvPr/>
        </p:nvSpPr>
        <p:spPr>
          <a:xfrm>
            <a:off x="6766559" y="4581144"/>
            <a:ext cx="4709159" cy="512064"/>
          </a:xfrm>
          <a:prstGeom prst="rect">
            <a:avLst/>
          </a:prstGeom>
          <a:noFill/>
        </p:spPr>
        <p:txBody>
          <a:bodyPr wrap="square" lIns="45700" rIns="45700" tIns="27425" bIns="27425" anchor="ctr">
            <a:spAutoFit/>
          </a:bodyPr>
          <a:lstStyle/>
          <a:p>
            <a:pPr algn="l"/>
            <a:r>
              <a:rPr sz="1900" b="0">
                <a:solidFill>
                  <a:srgbClr val="13263A"/>
                </a:solidFill>
                <a:latin typeface="Arial"/>
              </a:rPr>
              <a:t>I would like coffee with no sugar.</a:t>
            </a:r>
          </a:p>
        </p:txBody>
      </p:sp>
      <p:sp>
        <p:nvSpPr>
          <p:cNvPr id="30" name="Rectangle 29"/>
          <p:cNvSpPr/>
          <p:nvPr/>
        </p:nvSpPr>
        <p:spPr>
          <a:xfrm>
            <a:off x="6263640" y="5184648"/>
            <a:ext cx="5303520" cy="512064"/>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373368" y="5184648"/>
            <a:ext cx="411480" cy="512064"/>
          </a:xfrm>
          <a:prstGeom prst="rect">
            <a:avLst/>
          </a:prstGeom>
          <a:noFill/>
        </p:spPr>
        <p:txBody>
          <a:bodyPr wrap="square" lIns="45700" rIns="45700" tIns="27425" bIns="27425" anchor="ctr">
            <a:spAutoFit/>
          </a:bodyPr>
          <a:lstStyle/>
          <a:p>
            <a:pPr algn="l"/>
            <a:r>
              <a:rPr sz="1900" b="1">
                <a:solidFill>
                  <a:srgbClr val="255CF0"/>
                </a:solidFill>
                <a:latin typeface="Arial"/>
              </a:rPr>
              <a:t>3</a:t>
            </a:r>
          </a:p>
        </p:txBody>
      </p:sp>
      <p:sp>
        <p:nvSpPr>
          <p:cNvPr id="32" name="TextBox 31"/>
          <p:cNvSpPr txBox="1"/>
          <p:nvPr/>
        </p:nvSpPr>
        <p:spPr>
          <a:xfrm>
            <a:off x="6766559" y="5184648"/>
            <a:ext cx="4709159" cy="512064"/>
          </a:xfrm>
          <a:prstGeom prst="rect">
            <a:avLst/>
          </a:prstGeom>
          <a:noFill/>
        </p:spPr>
        <p:txBody>
          <a:bodyPr wrap="square" lIns="45700" rIns="45700" tIns="27425" bIns="27425" anchor="ctr">
            <a:spAutoFit/>
          </a:bodyPr>
          <a:lstStyle/>
          <a:p>
            <a:pPr algn="l"/>
            <a:r>
              <a:rPr sz="1900" b="0">
                <a:solidFill>
                  <a:srgbClr val="13263A"/>
                </a:solidFill>
                <a:latin typeface="Arial"/>
              </a:rPr>
              <a:t>Please make my coffee without sugar.</a:t>
            </a:r>
          </a:p>
        </p:txBody>
      </p:sp>
      <p:sp>
        <p:nvSpPr>
          <p:cNvPr id="33" name="TextBox 32"/>
          <p:cNvSpPr txBox="1"/>
          <p:nvPr/>
        </p:nvSpPr>
        <p:spPr>
          <a:xfrm>
            <a:off x="6263640" y="5852160"/>
            <a:ext cx="5303520" cy="320040"/>
          </a:xfrm>
          <a:prstGeom prst="rect">
            <a:avLst/>
          </a:prstGeom>
          <a:noFill/>
        </p:spPr>
        <p:txBody>
          <a:bodyPr wrap="square" lIns="45700" rIns="45700" tIns="27425" bIns="27425" anchor="t">
            <a:spAutoFit/>
          </a:bodyPr>
          <a:lstStyle/>
          <a:p>
            <a:pPr algn="l"/>
            <a:r>
              <a:rPr sz="1350" b="0">
                <a:solidFill>
                  <a:srgbClr val="647080"/>
                </a:solidFill>
                <a:latin typeface="Arial"/>
              </a:rPr>
              <a:t>19.1 s  ·  418 input tokens (266 image)  ·  44 output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itle"/>
          <p:cNvSpPr txBox="1"/>
          <p:nvPr/>
        </p:nvSpPr>
        <p:spPr>
          <a:xfrm>
            <a:off x="612648" y="457200"/>
            <a:ext cx="10954512" cy="758952"/>
          </a:xfrm>
          <a:prstGeom prst="rect">
            <a:avLst/>
          </a:prstGeom>
          <a:noFill/>
        </p:spPr>
        <p:txBody>
          <a:bodyPr wrap="square" lIns="45700" rIns="45700" tIns="27425" bIns="27425" anchor="ctr">
            <a:spAutoFit/>
          </a:bodyPr>
          <a:lstStyle/>
          <a:p>
            <a:pPr algn="l"/>
            <a:r>
              <a:rPr sz="3300" b="1">
                <a:solidFill>
                  <a:srgbClr val="13263A"/>
                </a:solidFill>
                <a:latin typeface="Arial"/>
              </a:rPr>
              <a:t>Gemini probes: what we measured</a:t>
            </a:r>
          </a:p>
        </p:txBody>
      </p:sp>
      <p:sp>
        <p:nvSpPr>
          <p:cNvPr id="3" name="Subtitle"/>
          <p:cNvSpPr txBox="1"/>
          <p:nvPr/>
        </p:nvSpPr>
        <p:spPr>
          <a:xfrm>
            <a:off x="630936" y="1216152"/>
            <a:ext cx="10570464" cy="411480"/>
          </a:xfrm>
          <a:prstGeom prst="rect">
            <a:avLst/>
          </a:prstGeom>
          <a:noFill/>
        </p:spPr>
        <p:txBody>
          <a:bodyPr wrap="square" lIns="45700" rIns="45700" tIns="27425" bIns="27425" anchor="t">
            <a:spAutoFit/>
          </a:bodyPr>
          <a:lstStyle/>
          <a:p>
            <a:pPr algn="l"/>
            <a:r>
              <a:rPr sz="1800" b="0">
                <a:solidFill>
                  <a:srgbClr val="647080"/>
                </a:solidFill>
                <a:latin typeface="Arial"/>
              </a:rPr>
              <a:t>02  Experimental progress  ·  src/ai/gemini_rate_limit.py, free-tier key, 2026-10-21</a:t>
            </a:r>
          </a:p>
        </p:txBody>
      </p:sp>
      <p:sp>
        <p:nvSpPr>
          <p:cNvPr id="4" name="Page number"/>
          <p:cNvSpPr txBox="1"/>
          <p:nvPr/>
        </p:nvSpPr>
        <p:spPr>
          <a:xfrm>
            <a:off x="11045952" y="6245352"/>
            <a:ext cx="530352" cy="283464"/>
          </a:xfrm>
          <a:prstGeom prst="rect">
            <a:avLst/>
          </a:prstGeom>
          <a:noFill/>
        </p:spPr>
        <p:txBody>
          <a:bodyPr wrap="square" lIns="45700" rIns="45700" tIns="27425" bIns="27425" anchor="t">
            <a:spAutoFit/>
          </a:bodyPr>
          <a:lstStyle/>
          <a:p>
            <a:pPr algn="l"/>
            <a:r>
              <a:rPr sz="1350" b="0">
                <a:solidFill>
                  <a:srgbClr val="647080"/>
                </a:solidFill>
                <a:latin typeface="Arial"/>
              </a:rPr>
              <a:t>12</a:t>
            </a:r>
          </a:p>
        </p:txBody>
      </p:sp>
      <p:sp>
        <p:nvSpPr>
          <p:cNvPr id="5" name="Rectangle 4"/>
          <p:cNvSpPr/>
          <p:nvPr/>
        </p:nvSpPr>
        <p:spPr>
          <a:xfrm>
            <a:off x="630936" y="1783080"/>
            <a:ext cx="2240280" cy="164592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68096" y="1892807"/>
            <a:ext cx="1965960" cy="685800"/>
          </a:xfrm>
          <a:prstGeom prst="rect">
            <a:avLst/>
          </a:prstGeom>
          <a:noFill/>
        </p:spPr>
        <p:txBody>
          <a:bodyPr wrap="square" lIns="45700" rIns="45700" tIns="27425" bIns="27425" anchor="t">
            <a:spAutoFit/>
          </a:bodyPr>
          <a:lstStyle/>
          <a:p>
            <a:pPr algn="l"/>
            <a:r>
              <a:rPr sz="3200" b="1">
                <a:solidFill>
                  <a:srgbClr val="255CF0"/>
                </a:solidFill>
                <a:latin typeface="Arial"/>
              </a:rPr>
              <a:t>404</a:t>
            </a:r>
          </a:p>
        </p:txBody>
      </p:sp>
      <p:sp>
        <p:nvSpPr>
          <p:cNvPr id="7" name="TextBox 6"/>
          <p:cNvSpPr txBox="1"/>
          <p:nvPr/>
        </p:nvSpPr>
        <p:spPr>
          <a:xfrm>
            <a:off x="768096" y="2560320"/>
            <a:ext cx="1965960" cy="777240"/>
          </a:xfrm>
          <a:prstGeom prst="rect">
            <a:avLst/>
          </a:prstGeom>
          <a:noFill/>
        </p:spPr>
        <p:txBody>
          <a:bodyPr wrap="square" lIns="45700" rIns="45700" tIns="27425" bIns="27425" anchor="t">
            <a:spAutoFit/>
          </a:bodyPr>
          <a:lstStyle/>
          <a:p>
            <a:pPr algn="l"/>
            <a:r>
              <a:rPr sz="1400" b="0">
                <a:solidFill>
                  <a:srgbClr val="647080"/>
                </a:solidFill>
                <a:latin typeface="Arial"/>
              </a:rPr>
              <a:t>gemini-2.5-flash is closed to new API keys</a:t>
            </a:r>
          </a:p>
        </p:txBody>
      </p:sp>
      <p:sp>
        <p:nvSpPr>
          <p:cNvPr id="8" name="Rectangle 7"/>
          <p:cNvSpPr/>
          <p:nvPr/>
        </p:nvSpPr>
        <p:spPr>
          <a:xfrm>
            <a:off x="3008376" y="1783080"/>
            <a:ext cx="2240280" cy="164592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145536" y="1892807"/>
            <a:ext cx="1965960" cy="685800"/>
          </a:xfrm>
          <a:prstGeom prst="rect">
            <a:avLst/>
          </a:prstGeom>
          <a:noFill/>
        </p:spPr>
        <p:txBody>
          <a:bodyPr wrap="square" lIns="45700" rIns="45700" tIns="27425" bIns="27425" anchor="t">
            <a:spAutoFit/>
          </a:bodyPr>
          <a:lstStyle/>
          <a:p>
            <a:pPr algn="l"/>
            <a:r>
              <a:rPr sz="3200" b="1">
                <a:solidFill>
                  <a:srgbClr val="255CF0"/>
                </a:solidFill>
                <a:latin typeface="Arial"/>
              </a:rPr>
              <a:t>5 / min</a:t>
            </a:r>
          </a:p>
        </p:txBody>
      </p:sp>
      <p:sp>
        <p:nvSpPr>
          <p:cNvPr id="10" name="TextBox 9"/>
          <p:cNvSpPr txBox="1"/>
          <p:nvPr/>
        </p:nvSpPr>
        <p:spPr>
          <a:xfrm>
            <a:off x="3145536" y="2560320"/>
            <a:ext cx="1965960" cy="777240"/>
          </a:xfrm>
          <a:prstGeom prst="rect">
            <a:avLst/>
          </a:prstGeom>
          <a:noFill/>
        </p:spPr>
        <p:txBody>
          <a:bodyPr wrap="square" lIns="45700" rIns="45700" tIns="27425" bIns="27425" anchor="t">
            <a:spAutoFit/>
          </a:bodyPr>
          <a:lstStyle/>
          <a:p>
            <a:pPr algn="l"/>
            <a:r>
              <a:rPr sz="1400" b="0">
                <a:solidFill>
                  <a:srgbClr val="647080"/>
                </a:solidFill>
                <a:latin typeface="Arial"/>
              </a:rPr>
              <a:t>free-tier requests per minute</a:t>
            </a:r>
          </a:p>
        </p:txBody>
      </p:sp>
      <p:sp>
        <p:nvSpPr>
          <p:cNvPr id="11" name="Rectangle 10"/>
          <p:cNvSpPr/>
          <p:nvPr/>
        </p:nvSpPr>
        <p:spPr>
          <a:xfrm>
            <a:off x="5385816" y="1783080"/>
            <a:ext cx="2240280" cy="1645920"/>
          </a:xfrm>
          <a:prstGeom prst="rect">
            <a:avLst/>
          </a:prstGeom>
          <a:solidFill>
            <a:srgbClr val="13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522976" y="1892807"/>
            <a:ext cx="1965960" cy="685800"/>
          </a:xfrm>
          <a:prstGeom prst="rect">
            <a:avLst/>
          </a:prstGeom>
          <a:noFill/>
        </p:spPr>
        <p:txBody>
          <a:bodyPr wrap="square" lIns="45700" rIns="45700" tIns="27425" bIns="27425" anchor="t">
            <a:spAutoFit/>
          </a:bodyPr>
          <a:lstStyle/>
          <a:p>
            <a:pPr algn="l"/>
            <a:r>
              <a:rPr sz="3200" b="1">
                <a:solidFill>
                  <a:srgbClr val="FFFFFF"/>
                </a:solidFill>
                <a:latin typeface="Arial"/>
              </a:rPr>
              <a:t>20 / day</a:t>
            </a:r>
          </a:p>
        </p:txBody>
      </p:sp>
      <p:sp>
        <p:nvSpPr>
          <p:cNvPr id="13" name="TextBox 12"/>
          <p:cNvSpPr txBox="1"/>
          <p:nvPr/>
        </p:nvSpPr>
        <p:spPr>
          <a:xfrm>
            <a:off x="5522976" y="2560320"/>
            <a:ext cx="1965960" cy="777240"/>
          </a:xfrm>
          <a:prstGeom prst="rect">
            <a:avLst/>
          </a:prstGeom>
          <a:noFill/>
        </p:spPr>
        <p:txBody>
          <a:bodyPr wrap="square" lIns="45700" rIns="45700" tIns="27425" bIns="27425" anchor="t">
            <a:spAutoFit/>
          </a:bodyPr>
          <a:lstStyle/>
          <a:p>
            <a:pPr algn="l"/>
            <a:r>
              <a:rPr sz="1400" b="0">
                <a:solidFill>
                  <a:srgbClr val="D5DCE8"/>
                </a:solidFill>
                <a:latin typeface="Arial"/>
              </a:rPr>
              <a:t>free-tier requests per day: the real bottleneck</a:t>
            </a:r>
          </a:p>
        </p:txBody>
      </p:sp>
      <p:sp>
        <p:nvSpPr>
          <p:cNvPr id="14" name="Rectangle 13"/>
          <p:cNvSpPr/>
          <p:nvPr/>
        </p:nvSpPr>
        <p:spPr>
          <a:xfrm>
            <a:off x="630936" y="3566160"/>
            <a:ext cx="2240280" cy="164592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68096" y="3675887"/>
            <a:ext cx="1965960" cy="685800"/>
          </a:xfrm>
          <a:prstGeom prst="rect">
            <a:avLst/>
          </a:prstGeom>
          <a:noFill/>
        </p:spPr>
        <p:txBody>
          <a:bodyPr wrap="square" lIns="45700" rIns="45700" tIns="27425" bIns="27425" anchor="t">
            <a:spAutoFit/>
          </a:bodyPr>
          <a:lstStyle/>
          <a:p>
            <a:pPr algn="l"/>
            <a:r>
              <a:rPr sz="3200" b="1">
                <a:solidFill>
                  <a:srgbClr val="255CF0"/>
                </a:solidFill>
                <a:latin typeface="Arial"/>
              </a:rPr>
              <a:t>266</a:t>
            </a:r>
          </a:p>
        </p:txBody>
      </p:sp>
      <p:sp>
        <p:nvSpPr>
          <p:cNvPr id="16" name="TextBox 15"/>
          <p:cNvSpPr txBox="1"/>
          <p:nvPr/>
        </p:nvSpPr>
        <p:spPr>
          <a:xfrm>
            <a:off x="768096" y="4343400"/>
            <a:ext cx="1965960" cy="777240"/>
          </a:xfrm>
          <a:prstGeom prst="rect">
            <a:avLst/>
          </a:prstGeom>
          <a:noFill/>
        </p:spPr>
        <p:txBody>
          <a:bodyPr wrap="square" lIns="45700" rIns="45700" tIns="27425" bIns="27425" anchor="t">
            <a:spAutoFit/>
          </a:bodyPr>
          <a:lstStyle/>
          <a:p>
            <a:pPr algn="l"/>
            <a:r>
              <a:rPr sz="1400" b="0">
                <a:solidFill>
                  <a:srgbClr val="647080"/>
                </a:solidFill>
                <a:latin typeface="Arial"/>
              </a:rPr>
              <a:t>tokens per photo at low resolution (≈1,120 default)</a:t>
            </a:r>
          </a:p>
        </p:txBody>
      </p:sp>
      <p:sp>
        <p:nvSpPr>
          <p:cNvPr id="17" name="Rectangle 16"/>
          <p:cNvSpPr/>
          <p:nvPr/>
        </p:nvSpPr>
        <p:spPr>
          <a:xfrm>
            <a:off x="3008376" y="3566160"/>
            <a:ext cx="2240280" cy="164592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145536" y="3675887"/>
            <a:ext cx="1965960" cy="685800"/>
          </a:xfrm>
          <a:prstGeom prst="rect">
            <a:avLst/>
          </a:prstGeom>
          <a:noFill/>
        </p:spPr>
        <p:txBody>
          <a:bodyPr wrap="square" lIns="45700" rIns="45700" tIns="27425" bIns="27425" anchor="t">
            <a:spAutoFit/>
          </a:bodyPr>
          <a:lstStyle/>
          <a:p>
            <a:pPr algn="l"/>
            <a:r>
              <a:rPr sz="3200" b="1">
                <a:solidFill>
                  <a:srgbClr val="255CF0"/>
                </a:solidFill>
                <a:latin typeface="Arial"/>
              </a:rPr>
              <a:t>1.4–26 s</a:t>
            </a:r>
          </a:p>
        </p:txBody>
      </p:sp>
      <p:sp>
        <p:nvSpPr>
          <p:cNvPr id="19" name="TextBox 18"/>
          <p:cNvSpPr txBox="1"/>
          <p:nvPr/>
        </p:nvSpPr>
        <p:spPr>
          <a:xfrm>
            <a:off x="3145536" y="4343400"/>
            <a:ext cx="1965960" cy="777240"/>
          </a:xfrm>
          <a:prstGeom prst="rect">
            <a:avLst/>
          </a:prstGeom>
          <a:noFill/>
        </p:spPr>
        <p:txBody>
          <a:bodyPr wrap="square" lIns="45700" rIns="45700" tIns="27425" bIns="27425" anchor="t">
            <a:spAutoFit/>
          </a:bodyPr>
          <a:lstStyle/>
          <a:p>
            <a:pPr algn="l"/>
            <a:r>
              <a:rPr sz="1400" b="0">
                <a:solidFill>
                  <a:srgbClr val="647080"/>
                </a:solidFill>
                <a:latin typeface="Arial"/>
              </a:rPr>
              <a:t>time per request through our network</a:t>
            </a:r>
          </a:p>
        </p:txBody>
      </p:sp>
      <p:sp>
        <p:nvSpPr>
          <p:cNvPr id="20" name="Rectangle 19"/>
          <p:cNvSpPr/>
          <p:nvPr/>
        </p:nvSpPr>
        <p:spPr>
          <a:xfrm>
            <a:off x="5385816" y="3566160"/>
            <a:ext cx="2240280" cy="164592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522976" y="3675887"/>
            <a:ext cx="1965960" cy="685800"/>
          </a:xfrm>
          <a:prstGeom prst="rect">
            <a:avLst/>
          </a:prstGeom>
          <a:noFill/>
        </p:spPr>
        <p:txBody>
          <a:bodyPr wrap="square" lIns="45700" rIns="45700" tIns="27425" bIns="27425" anchor="t">
            <a:spAutoFit/>
          </a:bodyPr>
          <a:lstStyle/>
          <a:p>
            <a:pPr algn="l"/>
            <a:r>
              <a:rPr sz="3200" b="1">
                <a:solidFill>
                  <a:srgbClr val="255CF0"/>
                </a:solidFill>
                <a:latin typeface="Arial"/>
              </a:rPr>
              <a:t>1 in 10</a:t>
            </a:r>
          </a:p>
        </p:txBody>
      </p:sp>
      <p:sp>
        <p:nvSpPr>
          <p:cNvPr id="22" name="TextBox 21"/>
          <p:cNvSpPr txBox="1"/>
          <p:nvPr/>
        </p:nvSpPr>
        <p:spPr>
          <a:xfrm>
            <a:off x="5522976" y="4343400"/>
            <a:ext cx="1965960" cy="777240"/>
          </a:xfrm>
          <a:prstGeom prst="rect">
            <a:avLst/>
          </a:prstGeom>
          <a:noFill/>
        </p:spPr>
        <p:txBody>
          <a:bodyPr wrap="square" lIns="45700" rIns="45700" tIns="27425" bIns="27425" anchor="t">
            <a:spAutoFit/>
          </a:bodyPr>
          <a:lstStyle/>
          <a:p>
            <a:pPr algn="l"/>
            <a:r>
              <a:rPr sz="1400" b="0">
                <a:solidFill>
                  <a:srgbClr val="647080"/>
                </a:solidFill>
                <a:latin typeface="Arial"/>
              </a:rPr>
              <a:t>requests hit a temporary 503 overload</a:t>
            </a:r>
          </a:p>
        </p:txBody>
      </p:sp>
      <p:sp>
        <p:nvSpPr>
          <p:cNvPr id="23" name="TextBox 22"/>
          <p:cNvSpPr txBox="1"/>
          <p:nvPr/>
        </p:nvSpPr>
        <p:spPr>
          <a:xfrm>
            <a:off x="630936" y="5394960"/>
            <a:ext cx="6995160" cy="365760"/>
          </a:xfrm>
          <a:prstGeom prst="rect">
            <a:avLst/>
          </a:prstGeom>
          <a:noFill/>
        </p:spPr>
        <p:txBody>
          <a:bodyPr wrap="square" lIns="45700" rIns="45700" tIns="27425" bIns="27425" anchor="t">
            <a:spAutoFit/>
          </a:bodyPr>
          <a:lstStyle/>
          <a:p>
            <a:pPr algn="l"/>
            <a:r>
              <a:rPr sz="1350" b="0">
                <a:solidFill>
                  <a:srgbClr val="647080"/>
                </a:solidFill>
                <a:latin typeface="Arial"/>
              </a:rPr>
              <a:t>Limits read from the quota names in Google's own 429 answers</a:t>
            </a:r>
          </a:p>
        </p:txBody>
      </p:sp>
      <p:sp>
        <p:nvSpPr>
          <p:cNvPr id="24" name="TextBox 23"/>
          <p:cNvSpPr txBox="1"/>
          <p:nvPr/>
        </p:nvSpPr>
        <p:spPr>
          <a:xfrm>
            <a:off x="8001000" y="1783080"/>
            <a:ext cx="3566160" cy="365760"/>
          </a:xfrm>
          <a:prstGeom prst="rect">
            <a:avLst/>
          </a:prstGeom>
          <a:noFill/>
        </p:spPr>
        <p:txBody>
          <a:bodyPr wrap="square" lIns="45700" rIns="45700" tIns="27425" bIns="27425" anchor="t">
            <a:spAutoFit/>
          </a:bodyPr>
          <a:lstStyle/>
          <a:p>
            <a:pPr algn="l"/>
            <a:r>
              <a:rPr sz="1650" b="1">
                <a:solidFill>
                  <a:srgbClr val="255CF0"/>
                </a:solidFill>
                <a:latin typeface="Arial"/>
              </a:rPr>
              <a:t>NEXT STEPS</a:t>
            </a:r>
          </a:p>
        </p:txBody>
      </p:sp>
      <p:sp>
        <p:nvSpPr>
          <p:cNvPr id="25" name="Oval 24"/>
          <p:cNvSpPr/>
          <p:nvPr/>
        </p:nvSpPr>
        <p:spPr>
          <a:xfrm>
            <a:off x="8001000" y="2286000"/>
            <a:ext cx="457200" cy="457200"/>
          </a:xfrm>
          <a:prstGeom prst="ellipse">
            <a:avLst/>
          </a:prstGeom>
          <a:solidFill>
            <a:srgbClr val="255C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Arial"/>
              </a:rPr>
              <a:t>1</a:t>
            </a:r>
          </a:p>
        </p:txBody>
      </p:sp>
      <p:sp>
        <p:nvSpPr>
          <p:cNvPr id="26" name="TextBox 25"/>
          <p:cNvSpPr txBox="1"/>
          <p:nvPr/>
        </p:nvSpPr>
        <p:spPr>
          <a:xfrm>
            <a:off x="8595360" y="2240280"/>
            <a:ext cx="2971800" cy="868680"/>
          </a:xfrm>
          <a:prstGeom prst="rect">
            <a:avLst/>
          </a:prstGeom>
          <a:noFill/>
        </p:spPr>
        <p:txBody>
          <a:bodyPr wrap="square" lIns="45700" rIns="45700" tIns="27425" bIns="27425" anchor="t">
            <a:spAutoFit/>
          </a:bodyPr>
          <a:lstStyle/>
          <a:p>
            <a:pPr algn="l"/>
            <a:r>
              <a:rPr sz="1500" b="1">
                <a:solidFill>
                  <a:srgbClr val="13263A"/>
                </a:solidFill>
                <a:latin typeface="Arial"/>
              </a:rPr>
              <a:t>Check the Flash-Lite quota</a:t>
            </a:r>
          </a:p>
          <a:p>
            <a:pPr algn="l">
              <a:spcBef>
                <a:spcPts val="400"/>
              </a:spcBef>
            </a:pPr>
            <a:r>
              <a:rPr sz="1350" b="0">
                <a:solidFill>
                  <a:srgbClr val="647080"/>
                </a:solidFill>
                <a:latin typeface="Arial"/>
              </a:rPr>
              <a:t>20 a day is too few for the evaluation</a:t>
            </a:r>
          </a:p>
        </p:txBody>
      </p:sp>
      <p:sp>
        <p:nvSpPr>
          <p:cNvPr id="27" name="Oval 26"/>
          <p:cNvSpPr/>
          <p:nvPr/>
        </p:nvSpPr>
        <p:spPr>
          <a:xfrm>
            <a:off x="8001000" y="3218688"/>
            <a:ext cx="457200" cy="457200"/>
          </a:xfrm>
          <a:prstGeom prst="ellipse">
            <a:avLst/>
          </a:prstGeom>
          <a:solidFill>
            <a:srgbClr val="255C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Arial"/>
              </a:rPr>
              <a:t>2</a:t>
            </a:r>
          </a:p>
        </p:txBody>
      </p:sp>
      <p:sp>
        <p:nvSpPr>
          <p:cNvPr id="28" name="TextBox 27"/>
          <p:cNvSpPr txBox="1"/>
          <p:nvPr/>
        </p:nvSpPr>
        <p:spPr>
          <a:xfrm>
            <a:off x="8595360" y="3172968"/>
            <a:ext cx="2971800" cy="868680"/>
          </a:xfrm>
          <a:prstGeom prst="rect">
            <a:avLst/>
          </a:prstGeom>
          <a:noFill/>
        </p:spPr>
        <p:txBody>
          <a:bodyPr wrap="square" lIns="45700" rIns="45700" tIns="27425" bIns="27425" anchor="t">
            <a:spAutoFit/>
          </a:bodyPr>
          <a:lstStyle/>
          <a:p>
            <a:pPr algn="l"/>
            <a:r>
              <a:rPr sz="1500" b="1">
                <a:solidFill>
                  <a:srgbClr val="13263A"/>
                </a:solidFill>
                <a:latin typeface="Arial"/>
              </a:rPr>
              <a:t>Add GLM-4.6V-Flash</a:t>
            </a:r>
          </a:p>
          <a:p>
            <a:pPr algn="l">
              <a:spcBef>
                <a:spcPts val="400"/>
              </a:spcBef>
            </a:pPr>
            <a:r>
              <a:rPr sz="1350" b="0">
                <a:solidFill>
                  <a:srgbClr val="647080"/>
                </a:solidFill>
                <a:latin typeface="Arial"/>
              </a:rPr>
              <a:t>second free provider, works from China</a:t>
            </a:r>
          </a:p>
        </p:txBody>
      </p:sp>
      <p:sp>
        <p:nvSpPr>
          <p:cNvPr id="29" name="Oval 28"/>
          <p:cNvSpPr/>
          <p:nvPr/>
        </p:nvSpPr>
        <p:spPr>
          <a:xfrm>
            <a:off x="8001000" y="4151376"/>
            <a:ext cx="457200" cy="457200"/>
          </a:xfrm>
          <a:prstGeom prst="ellipse">
            <a:avLst/>
          </a:prstGeom>
          <a:solidFill>
            <a:srgbClr val="255C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Arial"/>
              </a:rPr>
              <a:t>3</a:t>
            </a:r>
          </a:p>
        </p:txBody>
      </p:sp>
      <p:sp>
        <p:nvSpPr>
          <p:cNvPr id="30" name="TextBox 29"/>
          <p:cNvSpPr txBox="1"/>
          <p:nvPr/>
        </p:nvSpPr>
        <p:spPr>
          <a:xfrm>
            <a:off x="8595360" y="4105656"/>
            <a:ext cx="2971800" cy="868680"/>
          </a:xfrm>
          <a:prstGeom prst="rect">
            <a:avLst/>
          </a:prstGeom>
          <a:noFill/>
        </p:spPr>
        <p:txBody>
          <a:bodyPr wrap="square" lIns="45700" rIns="45700" tIns="27425" bIns="27425" anchor="t">
            <a:spAutoFit/>
          </a:bodyPr>
          <a:lstStyle/>
          <a:p>
            <a:pPr algn="l"/>
            <a:r>
              <a:rPr sz="1500" b="1">
                <a:solidFill>
                  <a:srgbClr val="13263A"/>
                </a:solidFill>
                <a:latin typeface="Arial"/>
              </a:rPr>
              <a:t>Connect to the backend</a:t>
            </a:r>
          </a:p>
          <a:p>
            <a:pPr algn="l">
              <a:spcBef>
                <a:spcPts val="400"/>
              </a:spcBef>
            </a:pPr>
            <a:r>
              <a:rPr sz="1350" b="0">
                <a:solidFill>
                  <a:srgbClr val="647080"/>
                </a:solidFill>
                <a:latin typeface="Arial"/>
              </a:rPr>
              <a:t>real SentenceProvider, timeouts, daily cap</a:t>
            </a:r>
          </a:p>
        </p:txBody>
      </p:sp>
      <p:sp>
        <p:nvSpPr>
          <p:cNvPr id="31" name="Oval 30"/>
          <p:cNvSpPr/>
          <p:nvPr/>
        </p:nvSpPr>
        <p:spPr>
          <a:xfrm>
            <a:off x="8001000" y="5084064"/>
            <a:ext cx="457200" cy="457200"/>
          </a:xfrm>
          <a:prstGeom prst="ellipse">
            <a:avLst/>
          </a:prstGeom>
          <a:solidFill>
            <a:srgbClr val="255C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Arial"/>
              </a:rPr>
              <a:t>4</a:t>
            </a:r>
          </a:p>
        </p:txBody>
      </p:sp>
      <p:sp>
        <p:nvSpPr>
          <p:cNvPr id="32" name="TextBox 31"/>
          <p:cNvSpPr txBox="1"/>
          <p:nvPr/>
        </p:nvSpPr>
        <p:spPr>
          <a:xfrm>
            <a:off x="8595360" y="5038344"/>
            <a:ext cx="2971800" cy="868680"/>
          </a:xfrm>
          <a:prstGeom prst="rect">
            <a:avLst/>
          </a:prstGeom>
          <a:noFill/>
        </p:spPr>
        <p:txBody>
          <a:bodyPr wrap="square" lIns="45700" rIns="45700" tIns="27425" bIns="27425" anchor="t">
            <a:spAutoFit/>
          </a:bodyPr>
          <a:lstStyle/>
          <a:p>
            <a:pPr algn="l"/>
            <a:r>
              <a:rPr sz="1500" b="1">
                <a:solidFill>
                  <a:srgbClr val="13263A"/>
                </a:solidFill>
                <a:latin typeface="Arial"/>
              </a:rPr>
              <a:t>Build the evaluation set</a:t>
            </a:r>
          </a:p>
          <a:p>
            <a:pPr algn="l">
              <a:spcBef>
                <a:spcPts val="400"/>
              </a:spcBef>
            </a:pPr>
            <a:r>
              <a:rPr sz="1350" b="0">
                <a:solidFill>
                  <a:srgbClr val="647080"/>
                </a:solidFill>
                <a:latin typeface="Arial"/>
              </a:rPr>
              <a:t>negation, wrong scene, injection, retries</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TotalTime>
  <Words>1581</Words>
  <Application>Microsoft Office PowerPoint</Application>
  <PresentationFormat>Widescreen</PresentationFormat>
  <Paragraphs>226</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Walnut Exporter</dc:creator>
  <cp:lastModifiedBy>Abid Ali</cp:lastModifiedBy>
  <cp:revision>2</cp:revision>
  <dcterms:created xsi:type="dcterms:W3CDTF">2026-09-23T01:37:38Z</dcterms:created>
  <dcterms:modified xsi:type="dcterms:W3CDTF">2026-10-20T14:10:51Z</dcterms:modified>
</cp:coreProperties>
</file>