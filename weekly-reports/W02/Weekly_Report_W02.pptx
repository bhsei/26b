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gzggscZF+fUWb3eVClHCW10OSg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93E722F-40F9-4D76-B785-BA3ECA4E30A6}">
  <a:tblStyle styleId="{E93E722F-40F9-4D76-B785-BA3ECA4E30A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 name="Google Shape;1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30 seconds. Introduce B - The Outliers and our selected topic: a context-aware augmentative and alternative communication (AAC) board. Presentation plan: approximately 9 minutes plus 1 minute for questions.</a:t>
            </a:r>
            <a:endParaRPr/>
          </a:p>
        </p:txBody>
      </p:sp>
      <p:sp>
        <p:nvSpPr>
          <p:cNvPr id="14" name="Google Shape;1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g3fbe36eb8f0_0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 name="Google Shape;23;g3fbe36eb8f0_0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 name="Google Shape;24;g3fbe36eb8f0_0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Introduce your education, relevant experience and selected work.</a:t>
            </a:r>
            <a:endParaRPr/>
          </a:p>
          <a:p>
            <a:pPr indent="0" lvl="0" marL="0" rtl="0" algn="l">
              <a:spcBef>
                <a:spcPts val="0"/>
              </a:spcBef>
              <a:spcAft>
                <a:spcPts val="0"/>
              </a:spcAft>
              <a:buNone/>
            </a:pPr>
            <a:r>
              <a:rPr lang="ru-RU" sz="1200"/>
              <a:t>SPbPU: Peter the Great St. Petersburg Polytechnic University. Professional technologies: C#, Razor, Groovy, SQL (PostgreSQL). University coursework: Java, Python, Oracle, Flutter (Dart).</a:t>
            </a:r>
            <a:endParaRPr/>
          </a:p>
        </p:txBody>
      </p:sp>
      <p:sp>
        <p:nvSpPr>
          <p:cNvPr id="40" name="Google Shape;4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Introduce your education, relevant experience and selected work.</a:t>
            </a:r>
            <a:endParaRPr/>
          </a:p>
          <a:p>
            <a:pPr indent="0" lvl="0" marL="0" rtl="0" algn="l">
              <a:spcBef>
                <a:spcPts val="0"/>
              </a:spcBef>
              <a:spcAft>
                <a:spcPts val="0"/>
              </a:spcAft>
              <a:buNone/>
            </a:pPr>
            <a:r>
              <a:rPr lang="ru-RU" sz="1200"/>
              <a:t>Curricular internship at Barcelona Supercomputing Center (BSC-CNS). Benchmarked DeepSeek-OCR, GOT-OCR2, Nougat and Qwen2.5-VL-based models on BOE and DOUE legal document transcription. Ran batch inference using SLURM and vLLM on MareNostrum 5. Used OmniDocBench NED and BLEU metrics, statistical analysis and visualizations. Deployed INCEpTION and Argilla with Docker behind Nginx with TLS. Additional technologies: Docker Compose, ROS 1 / Gazebo, LaTeX, RDF, SPARQL, GraphDB.</a:t>
            </a:r>
            <a:endParaRPr/>
          </a:p>
        </p:txBody>
      </p:sp>
      <p:sp>
        <p:nvSpPr>
          <p:cNvPr id="52" name="Google Shape;52;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Introduce your education, relevant experience and selected work.</a:t>
            </a:r>
            <a:endParaRPr/>
          </a:p>
          <a:p>
            <a:pPr indent="0" lvl="0" marL="0" rtl="0" algn="l">
              <a:spcBef>
                <a:spcPts val="0"/>
              </a:spcBef>
              <a:spcAft>
                <a:spcPts val="0"/>
              </a:spcAft>
              <a:buNone/>
            </a:pPr>
            <a:r>
              <a:rPr lang="ru-RU" sz="1200"/>
              <a:t>LATMOS internship: studied anomalies affecting the EUV and FUV ultraviolet observations on BepiColombo using WebMust and Excel. Compared observations regarding PHEBUS using Notepad++. Prepared a bibliography on gain sag.</a:t>
            </a:r>
            <a:endParaRPr/>
          </a:p>
        </p:txBody>
      </p:sp>
      <p:sp>
        <p:nvSpPr>
          <p:cNvPr id="63" name="Google Shape;6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 name="Google Shape;7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15 seconds. AAC means augmentative and alternative communication. We will extend the open-source Cboard communication board. Our goal is to help users compose context-relevant English sentences with fewer selections. This is a benefit we plan to evaluate, not an achieved result. Initial situations include a café, bus travel or a doctor’s visit. Source: https://github.com/cboard-org/cboard</a:t>
            </a:r>
            <a:endParaRPr/>
          </a:p>
        </p:txBody>
      </p:sp>
      <p:sp>
        <p:nvSpPr>
          <p:cNvPr id="74" name="Google Shape;7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15 seconds. Example: the user adds a café photo and selects water. A vision-language model provides scene context, and a language model proposes a complete request. The user confirms the intended message before the app speaks. The photo alone cannot reliably reveal intent. Rejection triggers another generation. The example is illustrative.</a:t>
            </a:r>
            <a:endParaRPr/>
          </a:p>
        </p:txBody>
      </p:sp>
      <p:sp>
        <p:nvSpPr>
          <p:cNvPr id="88" name="Google Shape;88;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15 seconds. This is the proposed stack for extending Cboard. React/JavaScript is the existing frontend stack. FastAPI keeps backend and AI integration in Python. PostgreSQL stores user data, accepted phrases and feedback. We will assess whether caching benefits repeated requests. A hosted model API or local inference is still to be selected. pgvector is optional if semantic caching proves useful. Sources: https://github.com/cboard-org/cboard and https://github.com/cboard-org/cboard/blob/master/package.json</a:t>
            </a:r>
            <a:endParaRPr/>
          </a:p>
        </p:txBody>
      </p:sp>
      <p:sp>
        <p:nvSpPr>
          <p:cNvPr id="103" name="Google Shape;10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1 minute. Jiahui has the most direct model and evaluation experience, so those tasks stay together. Veronika’s information systems education, PostgreSQL and CRM work fit data, permissions and backend logic. Experience translating requirements into workflows supports project coordination, without implying prior formal PM expertise. Thibaut’s engineering and CATIA experience support structured design and prototyping. React/Cboard is a learning area, supported by team code review. Jiahui supports Docker and deployment. Veronika supports user flows. All members develop software and contribute to integration and testing.</a:t>
            </a:r>
            <a:endParaRPr/>
          </a:p>
        </p:txBody>
      </p:sp>
      <p:sp>
        <p:nvSpPr>
          <p:cNvPr id="112" name="Google Shape;11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 name="Google Shape;120;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45 seconds, then approximately 1 minute for questions. Deliver a working web application, source code and project documentation. Focus first on a single end-to-end scenario. Mobile packaging remains optional and depends on feasibility and available time.</a:t>
            </a:r>
            <a:endParaRPr/>
          </a:p>
        </p:txBody>
      </p:sp>
      <p:sp>
        <p:nvSpPr>
          <p:cNvPr id="121" name="Google Shape;121;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h62fd3f37f23572d3_3_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h62fd3f37f23572d3_3_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ru-RU" sz="1200"/>
              <a:t>Timing: 30 seconds. Introduce B - The Outliers and our selected topic: a context-aware augmentative and alternative communication (AAC) board. Presentation plan: approximately 9 minutes plus 1 minute for questions.</a:t>
            </a:r>
            <a:endParaRPr/>
          </a:p>
        </p:txBody>
      </p:sp>
      <p:sp>
        <p:nvSpPr>
          <p:cNvPr id="132" name="Google Shape;132;h62fd3f37f23572d3_3_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3.jpg"/><Relationship Id="rId5"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63A"/>
        </a:solidFill>
      </p:bgPr>
    </p:bg>
    <p:spTree>
      <p:nvGrpSpPr>
        <p:cNvPr id="15" name="Shape 15"/>
        <p:cNvGrpSpPr/>
        <p:nvPr/>
      </p:nvGrpSpPr>
      <p:grpSpPr>
        <a:xfrm>
          <a:off x="0" y="0"/>
          <a:ext cx="0" cy="0"/>
          <a:chOff x="0" y="0"/>
          <a:chExt cx="0" cy="0"/>
        </a:xfrm>
      </p:grpSpPr>
      <p:sp>
        <p:nvSpPr>
          <p:cNvPr id="16" name="Google Shape;16;p1"/>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300"/>
              <a:buFont typeface="Arial"/>
              <a:buNone/>
            </a:pPr>
            <a:r>
              <a:rPr b="1" lang="ru-RU" sz="3300">
                <a:solidFill>
                  <a:srgbClr val="FFFFFF"/>
                </a:solidFill>
                <a:latin typeface="Arial"/>
                <a:ea typeface="Arial"/>
                <a:cs typeface="Arial"/>
                <a:sym typeface="Arial"/>
              </a:rPr>
              <a:t>B - The Outliers</a:t>
            </a:r>
            <a:endParaRPr/>
          </a:p>
        </p:txBody>
      </p:sp>
      <p:sp>
        <p:nvSpPr>
          <p:cNvPr id="17" name="Google Shape;17;p1"/>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350"/>
              <a:buFont typeface="Arial"/>
              <a:buNone/>
            </a:pPr>
            <a:r>
              <a:rPr b="0" lang="ru-RU" sz="1350">
                <a:solidFill>
                  <a:srgbClr val="A8B6C7"/>
                </a:solidFill>
                <a:latin typeface="Arial"/>
                <a:ea typeface="Arial"/>
                <a:cs typeface="Arial"/>
                <a:sym typeface="Arial"/>
              </a:rPr>
              <a:t>01</a:t>
            </a:r>
            <a:endParaRPr/>
          </a:p>
        </p:txBody>
      </p:sp>
      <p:sp>
        <p:nvSpPr>
          <p:cNvPr id="18" name="Google Shape;18;p1"/>
          <p:cNvSpPr/>
          <p:nvPr/>
        </p:nvSpPr>
        <p:spPr>
          <a:xfrm>
            <a:off x="647700" y="1638300"/>
            <a:ext cx="9906000" cy="4762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9BFFB"/>
              </a:buClr>
              <a:buSzPts val="2100"/>
              <a:buFont typeface="Arial"/>
              <a:buNone/>
            </a:pPr>
            <a:r>
              <a:rPr b="0" lang="ru-RU" sz="2100">
                <a:solidFill>
                  <a:srgbClr val="A9BFFB"/>
                </a:solidFill>
                <a:latin typeface="Arial"/>
                <a:ea typeface="Arial"/>
                <a:cs typeface="Arial"/>
                <a:sym typeface="Arial"/>
              </a:rPr>
              <a:t>Software Engineering Project</a:t>
            </a:r>
            <a:endParaRPr/>
          </a:p>
        </p:txBody>
      </p:sp>
      <p:sp>
        <p:nvSpPr>
          <p:cNvPr id="19" name="Google Shape;19;p1"/>
          <p:cNvSpPr/>
          <p:nvPr/>
        </p:nvSpPr>
        <p:spPr>
          <a:xfrm>
            <a:off x="628650" y="2619375"/>
            <a:ext cx="10858500" cy="13335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825"/>
              <a:buFont typeface="Arial"/>
              <a:buNone/>
            </a:pPr>
            <a:r>
              <a:rPr b="0" lang="ru-RU" sz="3825">
                <a:solidFill>
                  <a:srgbClr val="FFFFFF"/>
                </a:solidFill>
                <a:latin typeface="Arial"/>
                <a:ea typeface="Arial"/>
                <a:cs typeface="Arial"/>
                <a:sym typeface="Arial"/>
              </a:rPr>
              <a:t>Context-aware AAC board</a:t>
            </a:r>
            <a:endParaRPr/>
          </a:p>
        </p:txBody>
      </p:sp>
      <p:sp>
        <p:nvSpPr>
          <p:cNvPr id="20" name="Google Shape;20;p1"/>
          <p:cNvSpPr/>
          <p:nvPr/>
        </p:nvSpPr>
        <p:spPr>
          <a:xfrm>
            <a:off x="647700" y="5629275"/>
            <a:ext cx="1019175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725"/>
              <a:buFont typeface="Arial"/>
              <a:buNone/>
            </a:pPr>
            <a:r>
              <a:rPr b="0" lang="ru-RU" sz="1725">
                <a:solidFill>
                  <a:srgbClr val="A8B6C7"/>
                </a:solidFill>
                <a:latin typeface="Arial"/>
                <a:ea typeface="Arial"/>
                <a:cs typeface="Arial"/>
                <a:sym typeface="Arial"/>
              </a:rPr>
              <a:t>Veronika, Jiahui and Thibaut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25" name="Shape 25"/>
        <p:cNvGrpSpPr/>
        <p:nvPr/>
      </p:nvGrpSpPr>
      <p:grpSpPr>
        <a:xfrm>
          <a:off x="0" y="0"/>
          <a:ext cx="0" cy="0"/>
          <a:chOff x="0" y="0"/>
          <a:chExt cx="0" cy="0"/>
        </a:xfrm>
      </p:grpSpPr>
      <p:sp>
        <p:nvSpPr>
          <p:cNvPr id="26" name="Google Shape;26;g3fbe36eb8f0_0_1"/>
          <p:cNvSpPr/>
          <p:nvPr/>
        </p:nvSpPr>
        <p:spPr>
          <a:xfrm>
            <a:off x="609600" y="457200"/>
            <a:ext cx="1095390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ru-RU" sz="3300">
                <a:solidFill>
                  <a:srgbClr val="13263A"/>
                </a:solidFill>
              </a:rPr>
              <a:t>Team composition</a:t>
            </a:r>
            <a:endParaRPr/>
          </a:p>
        </p:txBody>
      </p:sp>
      <p:sp>
        <p:nvSpPr>
          <p:cNvPr id="27" name="Google Shape;27;g3fbe36eb8f0_0_1"/>
          <p:cNvSpPr/>
          <p:nvPr/>
        </p:nvSpPr>
        <p:spPr>
          <a:xfrm>
            <a:off x="11049000" y="6248400"/>
            <a:ext cx="533400" cy="28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lang="ru-RU" sz="1350">
                <a:solidFill>
                  <a:srgbClr val="647080"/>
                </a:solidFill>
                <a:latin typeface="Arial"/>
                <a:ea typeface="Arial"/>
                <a:cs typeface="Arial"/>
                <a:sym typeface="Arial"/>
              </a:rPr>
              <a:t>0</a:t>
            </a:r>
            <a:r>
              <a:rPr lang="ru-RU" sz="1350">
                <a:solidFill>
                  <a:srgbClr val="647080"/>
                </a:solidFill>
              </a:rPr>
              <a:t>2</a:t>
            </a:r>
            <a:endParaRPr/>
          </a:p>
        </p:txBody>
      </p:sp>
      <p:sp>
        <p:nvSpPr>
          <p:cNvPr id="28" name="Google Shape;28;g3fbe36eb8f0_0_1"/>
          <p:cNvSpPr/>
          <p:nvPr/>
        </p:nvSpPr>
        <p:spPr>
          <a:xfrm>
            <a:off x="628650" y="4752975"/>
            <a:ext cx="32862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ru-RU" sz="2250">
                <a:solidFill>
                  <a:srgbClr val="13263A"/>
                </a:solidFill>
              </a:rPr>
              <a:t>Veronika Surianinova</a:t>
            </a:r>
            <a:endParaRPr/>
          </a:p>
        </p:txBody>
      </p:sp>
      <p:sp>
        <p:nvSpPr>
          <p:cNvPr id="29" name="Google Shape;29;g3fbe36eb8f0_0_1"/>
          <p:cNvSpPr/>
          <p:nvPr/>
        </p:nvSpPr>
        <p:spPr>
          <a:xfrm>
            <a:off x="628650" y="5458081"/>
            <a:ext cx="3333900" cy="36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00"/>
              </a:buClr>
              <a:buFont typeface="Arial"/>
              <a:buNone/>
            </a:pPr>
            <a:r>
              <a:rPr b="1" lang="ru-RU" sz="1650">
                <a:solidFill>
                  <a:srgbClr val="255CF0"/>
                </a:solidFill>
              </a:rPr>
              <a:t>Mathematical Support and Administration of Information Systems</a:t>
            </a:r>
            <a:endParaRPr/>
          </a:p>
        </p:txBody>
      </p:sp>
      <p:sp>
        <p:nvSpPr>
          <p:cNvPr id="30" name="Google Shape;30;g3fbe36eb8f0_0_1"/>
          <p:cNvSpPr/>
          <p:nvPr/>
        </p:nvSpPr>
        <p:spPr>
          <a:xfrm>
            <a:off x="4343400" y="4752975"/>
            <a:ext cx="32862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ru-RU" sz="2250">
                <a:solidFill>
                  <a:srgbClr val="13263A"/>
                </a:solidFill>
              </a:rPr>
              <a:t>Jiahui Chen</a:t>
            </a:r>
            <a:endParaRPr/>
          </a:p>
        </p:txBody>
      </p:sp>
      <p:sp>
        <p:nvSpPr>
          <p:cNvPr id="31" name="Google Shape;31;g3fbe36eb8f0_0_1"/>
          <p:cNvSpPr/>
          <p:nvPr/>
        </p:nvSpPr>
        <p:spPr>
          <a:xfrm>
            <a:off x="4343400" y="5267325"/>
            <a:ext cx="3333900" cy="36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ru-RU" sz="1650">
                <a:solidFill>
                  <a:srgbClr val="255CF0"/>
                </a:solidFill>
              </a:rPr>
              <a:t>Artificial Intelligence Engineer </a:t>
            </a:r>
            <a:endParaRPr b="1" sz="1650">
              <a:solidFill>
                <a:srgbClr val="255CF0"/>
              </a:solidFill>
            </a:endParaRPr>
          </a:p>
        </p:txBody>
      </p:sp>
      <p:sp>
        <p:nvSpPr>
          <p:cNvPr id="32" name="Google Shape;32;g3fbe36eb8f0_0_1"/>
          <p:cNvSpPr/>
          <p:nvPr/>
        </p:nvSpPr>
        <p:spPr>
          <a:xfrm>
            <a:off x="8058150" y="4752975"/>
            <a:ext cx="32862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ru-RU" sz="2250">
                <a:solidFill>
                  <a:srgbClr val="13263A"/>
                </a:solidFill>
              </a:rPr>
              <a:t>Thibaut de Robien</a:t>
            </a:r>
            <a:endParaRPr/>
          </a:p>
        </p:txBody>
      </p:sp>
      <p:sp>
        <p:nvSpPr>
          <p:cNvPr id="33" name="Google Shape;33;g3fbe36eb8f0_0_1"/>
          <p:cNvSpPr/>
          <p:nvPr/>
        </p:nvSpPr>
        <p:spPr>
          <a:xfrm>
            <a:off x="8058150" y="5267325"/>
            <a:ext cx="3333900" cy="36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lang="ru-RU" sz="1650">
                <a:solidFill>
                  <a:srgbClr val="255CF0"/>
                </a:solidFill>
              </a:rPr>
              <a:t>Aerospace Engineering</a:t>
            </a:r>
            <a:endParaRPr/>
          </a:p>
        </p:txBody>
      </p:sp>
      <p:pic>
        <p:nvPicPr>
          <p:cNvPr id="34" name="Google Shape;34;g3fbe36eb8f0_0_1" title="IMG-20260427-WA0004(1).jpg"/>
          <p:cNvPicPr preferRelativeResize="0"/>
          <p:nvPr/>
        </p:nvPicPr>
        <p:blipFill>
          <a:blip r:embed="rId3">
            <a:alphaModFix/>
          </a:blip>
          <a:stretch>
            <a:fillRect/>
          </a:stretch>
        </p:blipFill>
        <p:spPr>
          <a:xfrm>
            <a:off x="8058153" y="1809350"/>
            <a:ext cx="2691146" cy="2715023"/>
          </a:xfrm>
          <a:prstGeom prst="rect">
            <a:avLst/>
          </a:prstGeom>
          <a:noFill/>
          <a:ln>
            <a:noFill/>
          </a:ln>
        </p:spPr>
      </p:pic>
      <p:pic>
        <p:nvPicPr>
          <p:cNvPr id="35" name="Google Shape;35;g3fbe36eb8f0_0_1" title="IMG_2648.jpeg"/>
          <p:cNvPicPr preferRelativeResize="0"/>
          <p:nvPr/>
        </p:nvPicPr>
        <p:blipFill rotWithShape="1">
          <a:blip r:embed="rId4">
            <a:alphaModFix/>
          </a:blip>
          <a:srcRect b="0" l="9176" r="22396" t="37012"/>
          <a:stretch/>
        </p:blipFill>
        <p:spPr>
          <a:xfrm>
            <a:off x="962325" y="1933574"/>
            <a:ext cx="2153587" cy="2643026"/>
          </a:xfrm>
          <a:prstGeom prst="rect">
            <a:avLst/>
          </a:prstGeom>
          <a:noFill/>
          <a:ln>
            <a:noFill/>
          </a:ln>
        </p:spPr>
      </p:pic>
      <p:pic>
        <p:nvPicPr>
          <p:cNvPr id="36" name="Google Shape;36;g3fbe36eb8f0_0_1"/>
          <p:cNvPicPr preferRelativeResize="0"/>
          <p:nvPr/>
        </p:nvPicPr>
        <p:blipFill rotWithShape="1">
          <a:blip r:embed="rId5">
            <a:alphaModFix/>
          </a:blip>
          <a:srcRect b="14362" l="0" r="0" t="0"/>
          <a:stretch/>
        </p:blipFill>
        <p:spPr>
          <a:xfrm>
            <a:off x="4364570" y="1845294"/>
            <a:ext cx="2471006" cy="282275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41" name="Shape 41"/>
        <p:cNvGrpSpPr/>
        <p:nvPr/>
      </p:nvGrpSpPr>
      <p:grpSpPr>
        <a:xfrm>
          <a:off x="0" y="0"/>
          <a:ext cx="0" cy="0"/>
          <a:chOff x="0" y="0"/>
          <a:chExt cx="0" cy="0"/>
        </a:xfrm>
      </p:grpSpPr>
      <p:sp>
        <p:nvSpPr>
          <p:cNvPr id="42" name="Google Shape;42;p3"/>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Veronika</a:t>
            </a:r>
            <a:endParaRPr/>
          </a:p>
        </p:txBody>
      </p:sp>
      <p:sp>
        <p:nvSpPr>
          <p:cNvPr id="43" name="Google Shape;43;p3"/>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3</a:t>
            </a:r>
            <a:endParaRPr b="0" sz="1350">
              <a:solidFill>
                <a:srgbClr val="647080"/>
              </a:solidFill>
              <a:latin typeface="Arial"/>
              <a:ea typeface="Arial"/>
              <a:cs typeface="Arial"/>
              <a:sym typeface="Arial"/>
            </a:endParaRPr>
          </a:p>
        </p:txBody>
      </p:sp>
      <p:sp>
        <p:nvSpPr>
          <p:cNvPr id="44" name="Google Shape;44;p3"/>
          <p:cNvSpPr/>
          <p:nvPr/>
        </p:nvSpPr>
        <p:spPr>
          <a:xfrm>
            <a:off x="628650" y="1762125"/>
            <a:ext cx="50958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EDUCATION &amp; MAJOR</a:t>
            </a:r>
            <a:endParaRPr/>
          </a:p>
        </p:txBody>
      </p:sp>
      <p:sp>
        <p:nvSpPr>
          <p:cNvPr id="45" name="Google Shape;45;p3"/>
          <p:cNvSpPr/>
          <p:nvPr/>
        </p:nvSpPr>
        <p:spPr>
          <a:xfrm>
            <a:off x="6648450" y="1762125"/>
            <a:ext cx="49053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EXPERIENCE &amp; SELECTED WORK</a:t>
            </a:r>
            <a:endParaRPr/>
          </a:p>
        </p:txBody>
      </p:sp>
      <p:sp>
        <p:nvSpPr>
          <p:cNvPr id="46" name="Google Shape;46;p3"/>
          <p:cNvSpPr/>
          <p:nvPr/>
        </p:nvSpPr>
        <p:spPr>
          <a:xfrm>
            <a:off x="628650" y="2352675"/>
            <a:ext cx="50958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BSc, Information Systems and Technologies</a:t>
            </a:r>
            <a:endParaRPr/>
          </a:p>
          <a:p>
            <a:pPr indent="0" lvl="0" marL="0" marR="0" rtl="0" algn="l">
              <a:spcBef>
                <a:spcPts val="0"/>
              </a:spcBef>
              <a:spcAft>
                <a:spcPts val="0"/>
              </a:spcAft>
              <a:buClr>
                <a:schemeClr val="dk1"/>
              </a:buClr>
              <a:buSzPts val="1875"/>
              <a:buFont typeface="Arial"/>
              <a:buNone/>
            </a:pPr>
            <a:r>
              <a:rPr lang="ru-RU" sz="1875">
                <a:solidFill>
                  <a:schemeClr val="dk1"/>
                </a:solidFill>
                <a:latin typeface="Arial"/>
                <a:ea typeface="Arial"/>
                <a:cs typeface="Arial"/>
                <a:sym typeface="Arial"/>
              </a:rPr>
              <a:t>SPbPU</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250"/>
              <a:buFont typeface="Arial"/>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chemeClr val="dk1"/>
              </a:buClr>
              <a:buSzPts val="1875"/>
              <a:buFont typeface="Arial"/>
              <a:buNone/>
            </a:pPr>
            <a:r>
              <a:rPr lang="ru-RU" sz="1875">
                <a:solidFill>
                  <a:schemeClr val="dk1"/>
                </a:solidFill>
                <a:latin typeface="Arial"/>
                <a:ea typeface="Arial"/>
                <a:cs typeface="Arial"/>
                <a:sym typeface="Arial"/>
              </a:rPr>
              <a:t>MSc student, Mathematical Support and Administration of Information Systems</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SPbPU</a:t>
            </a:r>
            <a:endParaRPr/>
          </a:p>
          <a:p>
            <a:pPr indent="0" lvl="0" marL="0" marR="0" rtl="0" algn="l">
              <a:spcBef>
                <a:spcPts val="0"/>
              </a:spcBef>
              <a:spcAft>
                <a:spcPts val="0"/>
              </a:spcAft>
              <a:buClr>
                <a:srgbClr val="13263A"/>
              </a:buClr>
              <a:buSzPts val="1875"/>
              <a:buFont typeface="Arial"/>
              <a:buNone/>
            </a:pPr>
            <a:r>
              <a:t/>
            </a:r>
            <a:endParaRPr b="0" sz="1875">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Exchange: Computer Science and Engineering, Beihang</a:t>
            </a:r>
            <a:endParaRPr/>
          </a:p>
        </p:txBody>
      </p:sp>
      <p:sp>
        <p:nvSpPr>
          <p:cNvPr id="47" name="Google Shape;47;p3"/>
          <p:cNvSpPr/>
          <p:nvPr/>
        </p:nvSpPr>
        <p:spPr>
          <a:xfrm>
            <a:off x="6648450" y="2352675"/>
            <a:ext cx="49053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Low-code Developer &amp; CRM Administrator</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Business workflows, document generation, SQL reports, user permissions and troubleshooting</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1" lang="ru-RU" sz="1875">
                <a:solidFill>
                  <a:srgbClr val="13263A"/>
                </a:solidFill>
              </a:rPr>
              <a:t>Selected work:</a:t>
            </a:r>
            <a:r>
              <a:rPr b="0" lang="ru-RU" sz="1875">
                <a:solidFill>
                  <a:srgbClr val="13263A"/>
                </a:solidFill>
                <a:latin typeface="Arial"/>
                <a:ea typeface="Arial"/>
                <a:cs typeface="Arial"/>
                <a:sym typeface="Arial"/>
              </a:rPr>
              <a:t> overtime request submission and approval workflow</a:t>
            </a:r>
            <a:endParaRPr/>
          </a:p>
        </p:txBody>
      </p:sp>
      <p:sp>
        <p:nvSpPr>
          <p:cNvPr id="48" name="Google Shape;48;p3"/>
          <p:cNvSpPr/>
          <p:nvPr/>
        </p:nvSpPr>
        <p:spPr>
          <a:xfrm>
            <a:off x="628650" y="5915025"/>
            <a:ext cx="10763250" cy="2762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425"/>
              <a:buFont typeface="Arial"/>
              <a:buNone/>
            </a:pPr>
            <a:r>
              <a:rPr b="0" lang="ru-RU" sz="1425">
                <a:solidFill>
                  <a:srgbClr val="255CF0"/>
                </a:solidFill>
                <a:latin typeface="Arial"/>
                <a:ea typeface="Arial"/>
                <a:cs typeface="Arial"/>
                <a:sym typeface="Arial"/>
              </a:rPr>
              <a:t>Professional: C#, Razor, Groovy, PostgreSQL    Coursework: Java, Python, Oracle, Flutter/Dart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53" name="Shape 53"/>
        <p:cNvGrpSpPr/>
        <p:nvPr/>
      </p:nvGrpSpPr>
      <p:grpSpPr>
        <a:xfrm>
          <a:off x="0" y="0"/>
          <a:ext cx="0" cy="0"/>
          <a:chOff x="0" y="0"/>
          <a:chExt cx="0" cy="0"/>
        </a:xfrm>
      </p:grpSpPr>
      <p:sp>
        <p:nvSpPr>
          <p:cNvPr id="54" name="Google Shape;54;p2"/>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Jiahui</a:t>
            </a:r>
            <a:endParaRPr/>
          </a:p>
        </p:txBody>
      </p:sp>
      <p:sp>
        <p:nvSpPr>
          <p:cNvPr id="55" name="Google Shape;55;p2"/>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4</a:t>
            </a:r>
            <a:endParaRPr b="0" sz="1350">
              <a:solidFill>
                <a:srgbClr val="647080"/>
              </a:solidFill>
              <a:latin typeface="Arial"/>
              <a:ea typeface="Arial"/>
              <a:cs typeface="Arial"/>
              <a:sym typeface="Arial"/>
            </a:endParaRPr>
          </a:p>
        </p:txBody>
      </p:sp>
      <p:sp>
        <p:nvSpPr>
          <p:cNvPr id="56" name="Google Shape;56;p2"/>
          <p:cNvSpPr/>
          <p:nvPr/>
        </p:nvSpPr>
        <p:spPr>
          <a:xfrm>
            <a:off x="628650" y="1762125"/>
            <a:ext cx="50958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EDUCATION &amp; EXPERIENCE</a:t>
            </a:r>
            <a:endParaRPr/>
          </a:p>
        </p:txBody>
      </p:sp>
      <p:sp>
        <p:nvSpPr>
          <p:cNvPr id="57" name="Google Shape;57;p2"/>
          <p:cNvSpPr/>
          <p:nvPr/>
        </p:nvSpPr>
        <p:spPr>
          <a:xfrm>
            <a:off x="6648450" y="1762125"/>
            <a:ext cx="49053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TECHNOLOGIES &amp; SELECTED WORK</a:t>
            </a:r>
            <a:endParaRPr/>
          </a:p>
        </p:txBody>
      </p:sp>
      <p:sp>
        <p:nvSpPr>
          <p:cNvPr id="58" name="Google Shape;58;p2"/>
          <p:cNvSpPr/>
          <p:nvPr/>
        </p:nvSpPr>
        <p:spPr>
          <a:xfrm>
            <a:off x="628650" y="2352675"/>
            <a:ext cx="50958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BSc, Artificial Intelligence</a:t>
            </a:r>
            <a:endParaRPr/>
          </a:p>
          <a:p>
            <a:pPr indent="0" lvl="0" marL="0" marR="0" rtl="0" algn="l">
              <a:spcBef>
                <a:spcPts val="0"/>
              </a:spcBef>
              <a:spcAft>
                <a:spcPts val="0"/>
              </a:spcAft>
              <a:buClr>
                <a:schemeClr val="dk1"/>
              </a:buClr>
              <a:buSzPts val="1875"/>
              <a:buFont typeface="Arial"/>
              <a:buNone/>
            </a:pPr>
            <a:r>
              <a:rPr lang="ru-RU" sz="1875">
                <a:solidFill>
                  <a:schemeClr val="dk1"/>
                </a:solidFill>
                <a:latin typeface="Arial"/>
                <a:ea typeface="Arial"/>
                <a:cs typeface="Arial"/>
                <a:sym typeface="Arial"/>
              </a:rPr>
              <a:t>FIB, Universitat Politècnica de Catalunya (UPC)</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250"/>
              <a:buFont typeface="Arial"/>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chemeClr val="dk1"/>
              </a:buClr>
              <a:buSzPts val="1875"/>
              <a:buFont typeface="Arial"/>
              <a:buNone/>
            </a:pPr>
            <a:r>
              <a:rPr lang="ru-RU" sz="1875">
                <a:solidFill>
                  <a:schemeClr val="dk1"/>
                </a:solidFill>
                <a:latin typeface="Arial"/>
                <a:ea typeface="Arial"/>
                <a:cs typeface="Arial"/>
                <a:sym typeface="Arial"/>
              </a:rPr>
              <a:t>Research Assistant, BSC-CNS</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Computational Social Sciences and Humanities</a:t>
            </a:r>
            <a:endParaRPr/>
          </a:p>
          <a:p>
            <a:pPr indent="0" lvl="0" marL="0" marR="0" rtl="0" algn="l">
              <a:spcBef>
                <a:spcPts val="0"/>
              </a:spcBef>
              <a:spcAft>
                <a:spcPts val="0"/>
              </a:spcAft>
              <a:buClr>
                <a:srgbClr val="13263A"/>
              </a:buClr>
              <a:buSzPts val="1875"/>
              <a:buFont typeface="Arial"/>
              <a:buNone/>
            </a:pPr>
            <a:r>
              <a:t/>
            </a:r>
            <a:endParaRPr b="0" sz="1875">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Languages: Catalan, Spanish, English, Chinese</a:t>
            </a:r>
            <a:endParaRPr/>
          </a:p>
        </p:txBody>
      </p:sp>
      <p:sp>
        <p:nvSpPr>
          <p:cNvPr id="59" name="Google Shape;59;p2"/>
          <p:cNvSpPr/>
          <p:nvPr/>
        </p:nvSpPr>
        <p:spPr>
          <a:xfrm>
            <a:off x="6648450" y="2352675"/>
            <a:ext cx="49053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Python, TensorFlow / PyTorch, SQL, C++, MATLAB</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VLMs / OCR, vLLM, SLURM, Linux, Docker, Nginx,</a:t>
            </a:r>
            <a:r>
              <a:rPr lang="ru-RU" sz="1875">
                <a:solidFill>
                  <a:srgbClr val="13263A"/>
                </a:solidFill>
              </a:rPr>
              <a:t> </a:t>
            </a:r>
            <a:r>
              <a:rPr b="0" lang="ru-RU" sz="1875">
                <a:solidFill>
                  <a:srgbClr val="13263A"/>
                </a:solidFill>
                <a:latin typeface="Arial"/>
                <a:ea typeface="Arial"/>
                <a:cs typeface="Arial"/>
                <a:sym typeface="Arial"/>
              </a:rPr>
              <a:t>Git/GitLab</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1" lang="ru-RU" sz="1875">
                <a:solidFill>
                  <a:srgbClr val="13263A"/>
                </a:solidFill>
              </a:rPr>
              <a:t>Selected work:</a:t>
            </a:r>
            <a:r>
              <a:rPr b="0" lang="ru-RU" sz="1875">
                <a:solidFill>
                  <a:srgbClr val="13263A"/>
                </a:solidFill>
                <a:latin typeface="Arial"/>
                <a:ea typeface="Arial"/>
                <a:cs typeface="Arial"/>
                <a:sym typeface="Arial"/>
              </a:rPr>
              <a:t> OCR / VLM benchmark for Spanish legal documents on MareNostrum 5</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64" name="Shape 64"/>
        <p:cNvGrpSpPr/>
        <p:nvPr/>
      </p:nvGrpSpPr>
      <p:grpSpPr>
        <a:xfrm>
          <a:off x="0" y="0"/>
          <a:ext cx="0" cy="0"/>
          <a:chOff x="0" y="0"/>
          <a:chExt cx="0" cy="0"/>
        </a:xfrm>
      </p:grpSpPr>
      <p:sp>
        <p:nvSpPr>
          <p:cNvPr id="65" name="Google Shape;65;p4"/>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Thibaut</a:t>
            </a:r>
            <a:endParaRPr/>
          </a:p>
        </p:txBody>
      </p:sp>
      <p:sp>
        <p:nvSpPr>
          <p:cNvPr id="66" name="Google Shape;66;p4"/>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5</a:t>
            </a:r>
            <a:endParaRPr/>
          </a:p>
        </p:txBody>
      </p:sp>
      <p:sp>
        <p:nvSpPr>
          <p:cNvPr id="67" name="Google Shape;67;p4"/>
          <p:cNvSpPr/>
          <p:nvPr/>
        </p:nvSpPr>
        <p:spPr>
          <a:xfrm>
            <a:off x="628650" y="1762125"/>
            <a:ext cx="50958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EDUCATION &amp; EXPERIENCE</a:t>
            </a:r>
            <a:endParaRPr/>
          </a:p>
        </p:txBody>
      </p:sp>
      <p:sp>
        <p:nvSpPr>
          <p:cNvPr id="68" name="Google Shape;68;p4"/>
          <p:cNvSpPr/>
          <p:nvPr/>
        </p:nvSpPr>
        <p:spPr>
          <a:xfrm>
            <a:off x="6648450" y="1762125"/>
            <a:ext cx="49053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TECHNOLOGIES &amp; SELECTED WORK</a:t>
            </a:r>
            <a:endParaRPr/>
          </a:p>
        </p:txBody>
      </p:sp>
      <p:sp>
        <p:nvSpPr>
          <p:cNvPr id="69" name="Google Shape;69;p4"/>
          <p:cNvSpPr/>
          <p:nvPr/>
        </p:nvSpPr>
        <p:spPr>
          <a:xfrm>
            <a:off x="628650" y="2352675"/>
            <a:ext cx="50958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Master’s student, IPSA Paris</a:t>
            </a:r>
            <a:endParaRPr/>
          </a:p>
          <a:p>
            <a:pPr indent="0" lvl="0" marL="0" marR="0" rtl="0" algn="l">
              <a:spcBef>
                <a:spcPts val="0"/>
              </a:spcBef>
              <a:spcAft>
                <a:spcPts val="0"/>
              </a:spcAft>
              <a:buClr>
                <a:schemeClr val="dk1"/>
              </a:buClr>
              <a:buSzPts val="1875"/>
              <a:buFont typeface="Arial"/>
              <a:buNone/>
            </a:pPr>
            <a:r>
              <a:rPr lang="ru-RU" sz="1875">
                <a:solidFill>
                  <a:schemeClr val="dk1"/>
                </a:solidFill>
                <a:latin typeface="Arial"/>
                <a:ea typeface="Arial"/>
                <a:cs typeface="Arial"/>
                <a:sym typeface="Arial"/>
              </a:rPr>
              <a:t>Aerospace Propulsion specialty</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250"/>
              <a:buFont typeface="Arial"/>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chemeClr val="dk1"/>
              </a:buClr>
              <a:buSzPts val="1875"/>
              <a:buFont typeface="Arial"/>
              <a:buNone/>
            </a:pPr>
            <a:r>
              <a:rPr lang="ru-RU" sz="1875">
                <a:solidFill>
                  <a:schemeClr val="dk1"/>
                </a:solidFill>
                <a:latin typeface="Arial"/>
                <a:ea typeface="Arial"/>
                <a:cs typeface="Arial"/>
                <a:sym typeface="Arial"/>
              </a:rPr>
              <a:t>Exchange: School of Aeronautics, Beihang</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250"/>
              <a:buFont typeface="Arial"/>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Two-month internship at LATMOS, Paris: BepiColombo / PHEBUS observation analysis</a:t>
            </a:r>
            <a:endParaRPr/>
          </a:p>
        </p:txBody>
      </p:sp>
      <p:sp>
        <p:nvSpPr>
          <p:cNvPr id="70" name="Google Shape;70;p4"/>
          <p:cNvSpPr/>
          <p:nvPr/>
        </p:nvSpPr>
        <p:spPr>
          <a:xfrm>
            <a:off x="6648450" y="2352675"/>
            <a:ext cx="49053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Python (VS Code, Spyder), SQL / MySQL</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0" lang="ru-RU" sz="1875">
                <a:solidFill>
                  <a:srgbClr val="13263A"/>
                </a:solidFill>
                <a:latin typeface="Arial"/>
                <a:ea typeface="Arial"/>
                <a:cs typeface="Arial"/>
                <a:sym typeface="Arial"/>
              </a:rPr>
              <a:t>MATLAB / Simulink, Star-CCM+, FlexPDE, CATIA</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1875"/>
              <a:buFont typeface="Arial"/>
              <a:buNone/>
            </a:pPr>
            <a:r>
              <a:rPr b="1" lang="ru-RU" sz="1875">
                <a:solidFill>
                  <a:srgbClr val="13263A"/>
                </a:solidFill>
              </a:rPr>
              <a:t>Selected work: </a:t>
            </a:r>
            <a:r>
              <a:rPr b="0" lang="ru-RU" sz="1875">
                <a:solidFill>
                  <a:srgbClr val="13263A"/>
                </a:solidFill>
                <a:latin typeface="Arial"/>
                <a:ea typeface="Arial"/>
                <a:cs typeface="Arial"/>
                <a:sym typeface="Arial"/>
              </a:rPr>
              <a:t>group design of a 1:10 McLaren MP4/8 Formula 1 model in CATIA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75" name="Shape 75"/>
        <p:cNvGrpSpPr/>
        <p:nvPr/>
      </p:nvGrpSpPr>
      <p:grpSpPr>
        <a:xfrm>
          <a:off x="0" y="0"/>
          <a:ext cx="0" cy="0"/>
          <a:chOff x="0" y="0"/>
          <a:chExt cx="0" cy="0"/>
        </a:xfrm>
      </p:grpSpPr>
      <p:sp>
        <p:nvSpPr>
          <p:cNvPr id="76" name="Google Shape;76;p5"/>
          <p:cNvSpPr/>
          <p:nvPr/>
        </p:nvSpPr>
        <p:spPr>
          <a:xfrm>
            <a:off x="628650" y="1879302"/>
            <a:ext cx="7096200" cy="981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3300"/>
              <a:buFont typeface="Arial"/>
              <a:buNone/>
            </a:pPr>
            <a:r>
              <a:rPr b="1" lang="ru-RU" sz="3300">
                <a:solidFill>
                  <a:srgbClr val="255CF0"/>
                </a:solidFill>
                <a:latin typeface="Arial"/>
                <a:ea typeface="Arial"/>
                <a:cs typeface="Arial"/>
                <a:sym typeface="Arial"/>
              </a:rPr>
              <a:t>Everyday communication</a:t>
            </a:r>
            <a:endParaRPr/>
          </a:p>
        </p:txBody>
      </p:sp>
      <p:sp>
        <p:nvSpPr>
          <p:cNvPr id="77" name="Google Shape;77;p5"/>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Our project: context-aware AAC</a:t>
            </a:r>
            <a:endParaRPr/>
          </a:p>
        </p:txBody>
      </p:sp>
      <p:sp>
        <p:nvSpPr>
          <p:cNvPr id="78" name="Google Shape;78;p5"/>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6</a:t>
            </a:r>
            <a:endParaRPr/>
          </a:p>
        </p:txBody>
      </p:sp>
      <p:sp>
        <p:nvSpPr>
          <p:cNvPr id="79" name="Google Shape;79;p5"/>
          <p:cNvSpPr/>
          <p:nvPr/>
        </p:nvSpPr>
        <p:spPr>
          <a:xfrm>
            <a:off x="628650" y="2698452"/>
            <a:ext cx="6924600" cy="18573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250"/>
              <a:buFont typeface="Arial"/>
              <a:buNone/>
            </a:pPr>
            <a:r>
              <a:rPr b="0" lang="ru-RU" sz="2250">
                <a:solidFill>
                  <a:srgbClr val="13263A"/>
                </a:solidFill>
                <a:latin typeface="Arial"/>
                <a:ea typeface="Arial"/>
                <a:cs typeface="Arial"/>
                <a:sym typeface="Arial"/>
              </a:rPr>
              <a:t>Extend Cboard with AI to suggest complete English sentences from a scene photo and the user’s selected symbols or text.</a:t>
            </a:r>
            <a:endParaRPr/>
          </a:p>
        </p:txBody>
      </p:sp>
      <p:sp>
        <p:nvSpPr>
          <p:cNvPr id="80" name="Google Shape;80;p5"/>
          <p:cNvSpPr/>
          <p:nvPr/>
        </p:nvSpPr>
        <p:spPr>
          <a:xfrm>
            <a:off x="609600" y="4843463"/>
            <a:ext cx="3048000" cy="36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WHO IT HELPS</a:t>
            </a:r>
            <a:endParaRPr/>
          </a:p>
        </p:txBody>
      </p:sp>
      <p:sp>
        <p:nvSpPr>
          <p:cNvPr id="81" name="Google Shape;81;p5"/>
          <p:cNvSpPr/>
          <p:nvPr/>
        </p:nvSpPr>
        <p:spPr>
          <a:xfrm>
            <a:off x="609600" y="5391150"/>
            <a:ext cx="3238500" cy="1143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025"/>
              <a:buFont typeface="Arial"/>
              <a:buNone/>
            </a:pPr>
            <a:r>
              <a:rPr b="0" lang="ru-RU" sz="2025">
                <a:solidFill>
                  <a:srgbClr val="13263A"/>
                </a:solidFill>
                <a:latin typeface="Arial"/>
                <a:ea typeface="Arial"/>
                <a:cs typeface="Arial"/>
                <a:sym typeface="Arial"/>
              </a:rPr>
              <a:t>People with speech or language impairments</a:t>
            </a:r>
            <a:endParaRPr/>
          </a:p>
        </p:txBody>
      </p:sp>
      <p:sp>
        <p:nvSpPr>
          <p:cNvPr id="82" name="Google Shape;82;p5"/>
          <p:cNvSpPr/>
          <p:nvPr/>
        </p:nvSpPr>
        <p:spPr>
          <a:xfrm>
            <a:off x="7065121" y="4843550"/>
            <a:ext cx="3238500" cy="362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WHY THIS PROJECT</a:t>
            </a:r>
            <a:endParaRPr/>
          </a:p>
        </p:txBody>
      </p:sp>
      <p:sp>
        <p:nvSpPr>
          <p:cNvPr id="83" name="Google Shape;83;p5"/>
          <p:cNvSpPr/>
          <p:nvPr/>
        </p:nvSpPr>
        <p:spPr>
          <a:xfrm>
            <a:off x="7107771" y="5370443"/>
            <a:ext cx="3238500" cy="1190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025"/>
              <a:buFont typeface="Arial"/>
              <a:buNone/>
            </a:pPr>
            <a:r>
              <a:rPr lang="ru-RU" sz="2025">
                <a:solidFill>
                  <a:srgbClr val="13263A"/>
                </a:solidFill>
              </a:rPr>
              <a:t>Non-profit project a</a:t>
            </a:r>
            <a:r>
              <a:rPr b="0" lang="ru-RU" sz="2025">
                <a:solidFill>
                  <a:srgbClr val="13263A"/>
                </a:solidFill>
                <a:latin typeface="Arial"/>
                <a:ea typeface="Arial"/>
                <a:cs typeface="Arial"/>
                <a:sym typeface="Arial"/>
              </a:rPr>
              <a:t>iming to reduce the effort of composing everyday requests.</a:t>
            </a:r>
            <a:endParaRPr/>
          </a:p>
        </p:txBody>
      </p:sp>
      <p:pic>
        <p:nvPicPr>
          <p:cNvPr id="84" name="Google Shape;84;p5"/>
          <p:cNvPicPr preferRelativeResize="0"/>
          <p:nvPr/>
        </p:nvPicPr>
        <p:blipFill>
          <a:blip r:embed="rId3">
            <a:alphaModFix/>
          </a:blip>
          <a:stretch>
            <a:fillRect/>
          </a:stretch>
        </p:blipFill>
        <p:spPr>
          <a:xfrm>
            <a:off x="8265050" y="0"/>
            <a:ext cx="3926951" cy="3855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89" name="Shape 89"/>
        <p:cNvGrpSpPr/>
        <p:nvPr/>
      </p:nvGrpSpPr>
      <p:grpSpPr>
        <a:xfrm>
          <a:off x="0" y="0"/>
          <a:ext cx="0" cy="0"/>
          <a:chOff x="0" y="0"/>
          <a:chExt cx="0" cy="0"/>
        </a:xfrm>
      </p:grpSpPr>
      <p:sp>
        <p:nvSpPr>
          <p:cNvPr id="90" name="Google Shape;90;p6"/>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How the application will work</a:t>
            </a:r>
            <a:endParaRPr/>
          </a:p>
        </p:txBody>
      </p:sp>
      <p:sp>
        <p:nvSpPr>
          <p:cNvPr id="91" name="Google Shape;91;p6"/>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7</a:t>
            </a:r>
            <a:endParaRPr/>
          </a:p>
        </p:txBody>
      </p:sp>
      <p:sp>
        <p:nvSpPr>
          <p:cNvPr id="92" name="Google Shape;92;p6"/>
          <p:cNvSpPr/>
          <p:nvPr/>
        </p:nvSpPr>
        <p:spPr>
          <a:xfrm>
            <a:off x="628650" y="1304925"/>
            <a:ext cx="10572750" cy="5143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800"/>
              <a:buFont typeface="Arial"/>
              <a:buNone/>
            </a:pPr>
            <a:r>
              <a:rPr b="0" lang="ru-RU" sz="1800">
                <a:solidFill>
                  <a:srgbClr val="647080"/>
                </a:solidFill>
                <a:latin typeface="Arial"/>
                <a:ea typeface="Arial"/>
                <a:cs typeface="Arial"/>
                <a:sym typeface="Arial"/>
              </a:rPr>
              <a:t>English interface, sentence suggestions and speech output</a:t>
            </a:r>
            <a:endParaRPr/>
          </a:p>
        </p:txBody>
      </p:sp>
      <p:sp>
        <p:nvSpPr>
          <p:cNvPr id="93" name="Google Shape;93;p6"/>
          <p:cNvSpPr/>
          <p:nvPr/>
        </p:nvSpPr>
        <p:spPr>
          <a:xfrm>
            <a:off x="628650" y="2457450"/>
            <a:ext cx="3286125" cy="3619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725"/>
              <a:buFont typeface="Arial"/>
              <a:buNone/>
            </a:pPr>
            <a:r>
              <a:rPr b="1" lang="ru-RU" sz="1725">
                <a:solidFill>
                  <a:srgbClr val="255CF0"/>
                </a:solidFill>
                <a:latin typeface="Arial"/>
                <a:ea typeface="Arial"/>
                <a:cs typeface="Arial"/>
                <a:sym typeface="Arial"/>
              </a:rPr>
              <a:t>01   Add context</a:t>
            </a:r>
            <a:endParaRPr/>
          </a:p>
        </p:txBody>
      </p:sp>
      <p:sp>
        <p:nvSpPr>
          <p:cNvPr id="94" name="Google Shape;94;p6"/>
          <p:cNvSpPr/>
          <p:nvPr/>
        </p:nvSpPr>
        <p:spPr>
          <a:xfrm>
            <a:off x="628650" y="3028950"/>
            <a:ext cx="3286125" cy="20669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Photo of the scene</a:t>
            </a:r>
            <a:endParaRPr/>
          </a:p>
          <a:p>
            <a:pPr indent="0" lvl="0" marL="0" marR="0" rtl="0" algn="l">
              <a:spcBef>
                <a:spcPts val="0"/>
              </a:spcBef>
              <a:spcAft>
                <a:spcPts val="0"/>
              </a:spcAft>
              <a:buClr>
                <a:srgbClr val="13263A"/>
              </a:buClr>
              <a:buSzPts val="2100"/>
              <a:buFont typeface="Arial"/>
              <a:buNone/>
            </a:pPr>
            <a:r>
              <a:t/>
            </a:r>
            <a:endParaRPr b="0" sz="210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Symbols or text to express the user’s intent.</a:t>
            </a:r>
            <a:endParaRPr/>
          </a:p>
        </p:txBody>
      </p:sp>
      <p:sp>
        <p:nvSpPr>
          <p:cNvPr id="95" name="Google Shape;95;p6"/>
          <p:cNvSpPr/>
          <p:nvPr/>
        </p:nvSpPr>
        <p:spPr>
          <a:xfrm>
            <a:off x="4343400" y="2457450"/>
            <a:ext cx="3286125" cy="3619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725"/>
              <a:buFont typeface="Arial"/>
              <a:buNone/>
            </a:pPr>
            <a:r>
              <a:rPr b="1" lang="ru-RU" sz="1725">
                <a:solidFill>
                  <a:srgbClr val="255CF0"/>
                </a:solidFill>
                <a:latin typeface="Arial"/>
                <a:ea typeface="Arial"/>
                <a:cs typeface="Arial"/>
                <a:sym typeface="Arial"/>
              </a:rPr>
              <a:t>02   Generate</a:t>
            </a:r>
            <a:endParaRPr/>
          </a:p>
        </p:txBody>
      </p:sp>
      <p:sp>
        <p:nvSpPr>
          <p:cNvPr id="96" name="Google Shape;96;p6"/>
          <p:cNvSpPr/>
          <p:nvPr/>
        </p:nvSpPr>
        <p:spPr>
          <a:xfrm>
            <a:off x="4343400" y="3028950"/>
            <a:ext cx="3286125" cy="20669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AI uses the scene and intent to suggest complete English sentences.</a:t>
            </a:r>
            <a:endParaRPr/>
          </a:p>
        </p:txBody>
      </p:sp>
      <p:sp>
        <p:nvSpPr>
          <p:cNvPr id="97" name="Google Shape;97;p6"/>
          <p:cNvSpPr/>
          <p:nvPr/>
        </p:nvSpPr>
        <p:spPr>
          <a:xfrm>
            <a:off x="8058150" y="2457450"/>
            <a:ext cx="3286125" cy="3619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725"/>
              <a:buFont typeface="Arial"/>
              <a:buNone/>
            </a:pPr>
            <a:r>
              <a:rPr b="1" lang="ru-RU" sz="1725">
                <a:solidFill>
                  <a:srgbClr val="255CF0"/>
                </a:solidFill>
                <a:latin typeface="Arial"/>
                <a:ea typeface="Arial"/>
                <a:cs typeface="Arial"/>
                <a:sym typeface="Arial"/>
              </a:rPr>
              <a:t>03   Choose &amp; speak</a:t>
            </a:r>
            <a:endParaRPr/>
          </a:p>
        </p:txBody>
      </p:sp>
      <p:sp>
        <p:nvSpPr>
          <p:cNvPr id="98" name="Google Shape;98;p6"/>
          <p:cNvSpPr/>
          <p:nvPr/>
        </p:nvSpPr>
        <p:spPr>
          <a:xfrm>
            <a:off x="8058150" y="3028950"/>
            <a:ext cx="3286125" cy="20669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Accept a sentence and confirm speech.</a:t>
            </a:r>
            <a:endParaRPr/>
          </a:p>
          <a:p>
            <a:pPr indent="0" lvl="0" marL="0" marR="0" rtl="0" algn="l">
              <a:spcBef>
                <a:spcPts val="0"/>
              </a:spcBef>
              <a:spcAft>
                <a:spcPts val="0"/>
              </a:spcAft>
              <a:buClr>
                <a:srgbClr val="13263A"/>
              </a:buClr>
              <a:buSzPts val="2100"/>
              <a:buFont typeface="Arial"/>
              <a:buNone/>
            </a:pPr>
            <a:r>
              <a:t/>
            </a:r>
            <a:endParaRPr b="0" sz="210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Reject to generate new options.</a:t>
            </a:r>
            <a:endParaRPr/>
          </a:p>
        </p:txBody>
      </p:sp>
      <p:sp>
        <p:nvSpPr>
          <p:cNvPr id="99" name="Google Shape;99;p6"/>
          <p:cNvSpPr/>
          <p:nvPr/>
        </p:nvSpPr>
        <p:spPr>
          <a:xfrm>
            <a:off x="628650" y="5429250"/>
            <a:ext cx="10477500" cy="619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875"/>
              <a:buFont typeface="Arial"/>
              <a:buNone/>
            </a:pPr>
            <a:r>
              <a:rPr b="1" lang="ru-RU" sz="1875">
                <a:solidFill>
                  <a:srgbClr val="255CF0"/>
                </a:solidFill>
                <a:latin typeface="Arial"/>
                <a:ea typeface="Arial"/>
                <a:cs typeface="Arial"/>
                <a:sym typeface="Arial"/>
              </a:rPr>
              <a:t>Example: at a café, requesting water: “Could I have a glass of water, please?”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104" name="Shape 104"/>
        <p:cNvGrpSpPr/>
        <p:nvPr/>
      </p:nvGrpSpPr>
      <p:grpSpPr>
        <a:xfrm>
          <a:off x="0" y="0"/>
          <a:ext cx="0" cy="0"/>
          <a:chOff x="0" y="0"/>
          <a:chExt cx="0" cy="0"/>
        </a:xfrm>
      </p:grpSpPr>
      <p:sp>
        <p:nvSpPr>
          <p:cNvPr id="105" name="Google Shape;105;p7"/>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Possible technology stack</a:t>
            </a:r>
            <a:endParaRPr/>
          </a:p>
        </p:txBody>
      </p:sp>
      <p:sp>
        <p:nvSpPr>
          <p:cNvPr id="106" name="Google Shape;106;p7"/>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8</a:t>
            </a:r>
            <a:endParaRPr/>
          </a:p>
        </p:txBody>
      </p:sp>
      <p:graphicFrame>
        <p:nvGraphicFramePr>
          <p:cNvPr id="107" name="Google Shape;107;p7"/>
          <p:cNvGraphicFramePr/>
          <p:nvPr/>
        </p:nvGraphicFramePr>
        <p:xfrm>
          <a:off x="628650" y="1714500"/>
          <a:ext cx="3000000" cy="3000000"/>
        </p:xfrm>
        <a:graphic>
          <a:graphicData uri="http://schemas.openxmlformats.org/drawingml/2006/table">
            <a:tbl>
              <a:tblPr>
                <a:noFill/>
                <a:tableStyleId>{E93E722F-40F9-4D76-B785-BA3ECA4E30A6}</a:tableStyleId>
              </a:tblPr>
              <a:tblGrid>
                <a:gridCol w="2266950"/>
                <a:gridCol w="4476750"/>
                <a:gridCol w="4191000"/>
              </a:tblGrid>
              <a:tr h="476250">
                <a:tc>
                  <a:txBody>
                    <a:bodyPr/>
                    <a:lstStyle/>
                    <a:p>
                      <a:pPr indent="0" lvl="0" marL="0" marR="0" rtl="0" algn="l">
                        <a:spcBef>
                          <a:spcPts val="0"/>
                        </a:spcBef>
                        <a:spcAft>
                          <a:spcPts val="0"/>
                        </a:spcAft>
                        <a:buClr>
                          <a:srgbClr val="FFFFFF"/>
                        </a:buClr>
                        <a:buSzPts val="1725"/>
                        <a:buFont typeface="Arial"/>
                        <a:buNone/>
                      </a:pPr>
                      <a:r>
                        <a:rPr b="1" lang="ru-RU" sz="1725" u="none" cap="none" strike="noStrike">
                          <a:solidFill>
                            <a:srgbClr val="FFFFFF"/>
                          </a:solidFill>
                          <a:latin typeface="Arial"/>
                          <a:ea typeface="Arial"/>
                          <a:cs typeface="Arial"/>
                          <a:sym typeface="Arial"/>
                        </a:rPr>
                        <a:t>Layer</a:t>
                      </a:r>
                      <a:endParaRPr/>
                    </a:p>
                  </a:txBody>
                  <a:tcPr marT="45725" marB="45725" marR="91450" marL="91450">
                    <a:solidFill>
                      <a:srgbClr val="13263A"/>
                    </a:solidFill>
                  </a:tcPr>
                </a:tc>
                <a:tc>
                  <a:txBody>
                    <a:bodyPr/>
                    <a:lstStyle/>
                    <a:p>
                      <a:pPr indent="0" lvl="0" marL="0" marR="0" rtl="0" algn="l">
                        <a:spcBef>
                          <a:spcPts val="0"/>
                        </a:spcBef>
                        <a:spcAft>
                          <a:spcPts val="0"/>
                        </a:spcAft>
                        <a:buClr>
                          <a:srgbClr val="FFFFFF"/>
                        </a:buClr>
                        <a:buSzPts val="1725"/>
                        <a:buFont typeface="Arial"/>
                        <a:buNone/>
                      </a:pPr>
                      <a:r>
                        <a:rPr b="1" lang="ru-RU" sz="1725">
                          <a:solidFill>
                            <a:srgbClr val="FFFFFF"/>
                          </a:solidFill>
                          <a:latin typeface="Arial"/>
                          <a:ea typeface="Arial"/>
                          <a:cs typeface="Arial"/>
                          <a:sym typeface="Arial"/>
                        </a:rPr>
                        <a:t>Proposed technology</a:t>
                      </a:r>
                      <a:endParaRPr/>
                    </a:p>
                  </a:txBody>
                  <a:tcPr marT="45725" marB="45725" marR="91450" marL="91450">
                    <a:solidFill>
                      <a:srgbClr val="13263A"/>
                    </a:solidFill>
                  </a:tcPr>
                </a:tc>
                <a:tc>
                  <a:txBody>
                    <a:bodyPr/>
                    <a:lstStyle/>
                    <a:p>
                      <a:pPr indent="0" lvl="0" marL="0" marR="0" rtl="0" algn="l">
                        <a:spcBef>
                          <a:spcPts val="0"/>
                        </a:spcBef>
                        <a:spcAft>
                          <a:spcPts val="0"/>
                        </a:spcAft>
                        <a:buClr>
                          <a:srgbClr val="FFFFFF"/>
                        </a:buClr>
                        <a:buSzPts val="1725"/>
                        <a:buFont typeface="Arial"/>
                        <a:buNone/>
                      </a:pPr>
                      <a:r>
                        <a:rPr b="1" lang="ru-RU" sz="1725">
                          <a:solidFill>
                            <a:srgbClr val="FFFFFF"/>
                          </a:solidFill>
                          <a:latin typeface="Arial"/>
                          <a:ea typeface="Arial"/>
                          <a:cs typeface="Arial"/>
                          <a:sym typeface="Arial"/>
                        </a:rPr>
                        <a:t>Main responsibility</a:t>
                      </a:r>
                      <a:endParaRPr/>
                    </a:p>
                  </a:txBody>
                  <a:tcPr marT="45725" marB="45725" marR="91450" marL="91450">
                    <a:solidFill>
                      <a:srgbClr val="13263A"/>
                    </a:solidFill>
                  </a:tcPr>
                </a:tc>
              </a:tr>
              <a:tr h="904875">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Frontend</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React / JavaScript</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Thibaut</a:t>
                      </a:r>
                      <a:endParaRPr/>
                    </a:p>
                  </a:txBody>
                  <a:tcPr marT="45725" marB="45725" marR="91450" marL="91450">
                    <a:solidFill>
                      <a:srgbClr val="E6EAF0"/>
                    </a:solidFill>
                  </a:tcPr>
                </a:tc>
              </a:tr>
              <a:tr h="904875">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Backend + data</a:t>
                      </a:r>
                      <a:endParaRPr/>
                    </a:p>
                  </a:txBody>
                  <a:tcPr marT="45725" marB="45725" marR="91450" marL="91450">
                    <a:solidFill>
                      <a:srgbClr val="EEF0F3"/>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Python / FastAPI</a:t>
                      </a:r>
                      <a:endParaRPr/>
                    </a:p>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PostgreSQL, cache</a:t>
                      </a:r>
                      <a:endParaRPr/>
                    </a:p>
                  </a:txBody>
                  <a:tcPr marT="45725" marB="45725" marR="91450" marL="91450">
                    <a:solidFill>
                      <a:srgbClr val="EEF0F3"/>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Veronika</a:t>
                      </a:r>
                      <a:endParaRPr/>
                    </a:p>
                  </a:txBody>
                  <a:tcPr marT="45725" marB="45725" marR="91450" marL="91450">
                    <a:solidFill>
                      <a:srgbClr val="EEF0F3"/>
                    </a:solidFill>
                  </a:tcPr>
                </a:tc>
              </a:tr>
              <a:tr h="904875">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AI</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VLM / LLM API</a:t>
                      </a:r>
                      <a:endParaRPr/>
                    </a:p>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PyTorch if hosted locally</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Jiahui</a:t>
                      </a:r>
                      <a:endParaRPr/>
                    </a:p>
                  </a:txBody>
                  <a:tcPr marT="45725" marB="45725" marR="91450" marL="91450">
                    <a:solidFill>
                      <a:srgbClr val="E6EAF0"/>
                    </a:solidFill>
                  </a:tcPr>
                </a:tc>
              </a:tr>
              <a:tr h="904875">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Deployment</a:t>
                      </a:r>
                      <a:endParaRPr/>
                    </a:p>
                  </a:txBody>
                  <a:tcPr marT="45725" marB="45725" marR="91450" marL="91450">
                    <a:solidFill>
                      <a:srgbClr val="EEF0F3"/>
                    </a:solidFill>
                  </a:tcPr>
                </a:tc>
                <a:tc>
                  <a:txBody>
                    <a:bodyPr/>
                    <a:lstStyle/>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Docker Compose</a:t>
                      </a:r>
                      <a:endParaRPr/>
                    </a:p>
                    <a:p>
                      <a:pPr indent="0" lvl="0" marL="0" marR="0" rtl="0" algn="l">
                        <a:spcBef>
                          <a:spcPts val="0"/>
                        </a:spcBef>
                        <a:spcAft>
                          <a:spcPts val="0"/>
                        </a:spcAft>
                        <a:buClr>
                          <a:srgbClr val="13263A"/>
                        </a:buClr>
                        <a:buSzPts val="1725"/>
                        <a:buFont typeface="Arial"/>
                        <a:buNone/>
                      </a:pPr>
                      <a:r>
                        <a:rPr b="0" lang="ru-RU" sz="1725">
                          <a:solidFill>
                            <a:srgbClr val="13263A"/>
                          </a:solidFill>
                          <a:latin typeface="Arial"/>
                          <a:ea typeface="Arial"/>
                          <a:cs typeface="Arial"/>
                          <a:sym typeface="Arial"/>
                        </a:rPr>
                        <a:t>Hosting to be selected</a:t>
                      </a:r>
                      <a:endParaRPr/>
                    </a:p>
                  </a:txBody>
                  <a:tcPr marT="45725" marB="45725" marR="91450" marL="91450">
                    <a:solidFill>
                      <a:srgbClr val="EEF0F3"/>
                    </a:solidFill>
                  </a:tcPr>
                </a:tc>
                <a:tc>
                  <a:txBody>
                    <a:bodyPr/>
                    <a:lstStyle/>
                    <a:p>
                      <a:pPr indent="0" lvl="0" marL="0" marR="0" rtl="0" algn="l">
                        <a:spcBef>
                          <a:spcPts val="0"/>
                        </a:spcBef>
                        <a:spcAft>
                          <a:spcPts val="0"/>
                        </a:spcAft>
                        <a:buClr>
                          <a:srgbClr val="13263A"/>
                        </a:buClr>
                        <a:buSzPts val="1725"/>
                        <a:buFont typeface="Arial"/>
                        <a:buNone/>
                      </a:pPr>
                      <a:r>
                        <a:rPr lang="ru-RU" sz="1725">
                          <a:solidFill>
                            <a:srgbClr val="13263A"/>
                          </a:solidFill>
                        </a:rPr>
                        <a:t>All</a:t>
                      </a:r>
                      <a:endParaRPr/>
                    </a:p>
                  </a:txBody>
                  <a:tcPr marT="45725" marB="45725" marR="91450" marL="91450">
                    <a:solidFill>
                      <a:srgbClr val="EEF0F3"/>
                    </a:solidFill>
                  </a:tcPr>
                </a:tc>
              </a:tr>
            </a:tbl>
          </a:graphicData>
        </a:graphic>
      </p:graphicFrame>
      <p:sp>
        <p:nvSpPr>
          <p:cNvPr id="108" name="Google Shape;108;p7"/>
          <p:cNvSpPr/>
          <p:nvPr/>
        </p:nvSpPr>
        <p:spPr>
          <a:xfrm>
            <a:off x="628650" y="5934075"/>
            <a:ext cx="10810875"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425"/>
              <a:buFont typeface="Arial"/>
              <a:buNone/>
            </a:pPr>
            <a:r>
              <a:rPr b="0" lang="ru-RU" sz="1425">
                <a:solidFill>
                  <a:srgbClr val="647080"/>
                </a:solidFill>
                <a:latin typeface="Arial"/>
                <a:ea typeface="Arial"/>
                <a:cs typeface="Arial"/>
                <a:sym typeface="Arial"/>
              </a:rPr>
              <a:t>Shared tools: GitHub and Google Drive. Model and hosting choices remain open.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113" name="Shape 113"/>
        <p:cNvGrpSpPr/>
        <p:nvPr/>
      </p:nvGrpSpPr>
      <p:grpSpPr>
        <a:xfrm>
          <a:off x="0" y="0"/>
          <a:ext cx="0" cy="0"/>
          <a:chOff x="0" y="0"/>
          <a:chExt cx="0" cy="0"/>
        </a:xfrm>
      </p:grpSpPr>
      <p:sp>
        <p:nvSpPr>
          <p:cNvPr id="114" name="Google Shape;114;p8"/>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Who does what, and why?</a:t>
            </a:r>
            <a:endParaRPr/>
          </a:p>
        </p:txBody>
      </p:sp>
      <p:sp>
        <p:nvSpPr>
          <p:cNvPr id="115" name="Google Shape;115;p8"/>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b="0" lang="ru-RU" sz="1350">
                <a:solidFill>
                  <a:srgbClr val="647080"/>
                </a:solidFill>
                <a:latin typeface="Arial"/>
                <a:ea typeface="Arial"/>
                <a:cs typeface="Arial"/>
                <a:sym typeface="Arial"/>
              </a:rPr>
              <a:t>0</a:t>
            </a:r>
            <a:r>
              <a:rPr lang="ru-RU" sz="1350">
                <a:solidFill>
                  <a:srgbClr val="647080"/>
                </a:solidFill>
              </a:rPr>
              <a:t>9</a:t>
            </a:r>
            <a:endParaRPr/>
          </a:p>
        </p:txBody>
      </p:sp>
      <p:graphicFrame>
        <p:nvGraphicFramePr>
          <p:cNvPr id="116" name="Google Shape;116;p8"/>
          <p:cNvGraphicFramePr/>
          <p:nvPr/>
        </p:nvGraphicFramePr>
        <p:xfrm>
          <a:off x="628650" y="1714500"/>
          <a:ext cx="3000000" cy="3000000"/>
        </p:xfrm>
        <a:graphic>
          <a:graphicData uri="http://schemas.openxmlformats.org/drawingml/2006/table">
            <a:tbl>
              <a:tblPr>
                <a:noFill/>
                <a:tableStyleId>{E93E722F-40F9-4D76-B785-BA3ECA4E30A6}</a:tableStyleId>
              </a:tblPr>
              <a:tblGrid>
                <a:gridCol w="2524125"/>
                <a:gridCol w="4238625"/>
                <a:gridCol w="4171950"/>
              </a:tblGrid>
              <a:tr h="476250">
                <a:tc>
                  <a:txBody>
                    <a:bodyPr/>
                    <a:lstStyle/>
                    <a:p>
                      <a:pPr indent="0" lvl="0" marL="0" marR="0" rtl="0" algn="l">
                        <a:spcBef>
                          <a:spcPts val="0"/>
                        </a:spcBef>
                        <a:spcAft>
                          <a:spcPts val="0"/>
                        </a:spcAft>
                        <a:buClr>
                          <a:srgbClr val="FFFFFF"/>
                        </a:buClr>
                        <a:buSzPts val="1650"/>
                        <a:buFont typeface="Arial"/>
                        <a:buNone/>
                      </a:pPr>
                      <a:r>
                        <a:rPr b="1" lang="ru-RU" sz="1650">
                          <a:solidFill>
                            <a:srgbClr val="FFFFFF"/>
                          </a:solidFill>
                          <a:latin typeface="Arial"/>
                          <a:ea typeface="Arial"/>
                          <a:cs typeface="Arial"/>
                          <a:sym typeface="Arial"/>
                        </a:rPr>
                        <a:t>Member / role</a:t>
                      </a:r>
                      <a:endParaRPr/>
                    </a:p>
                  </a:txBody>
                  <a:tcPr marT="45725" marB="45725" marR="91450" marL="91450">
                    <a:solidFill>
                      <a:srgbClr val="13263A"/>
                    </a:solidFill>
                  </a:tcPr>
                </a:tc>
                <a:tc>
                  <a:txBody>
                    <a:bodyPr/>
                    <a:lstStyle/>
                    <a:p>
                      <a:pPr indent="0" lvl="0" marL="0" marR="0" rtl="0" algn="l">
                        <a:spcBef>
                          <a:spcPts val="0"/>
                        </a:spcBef>
                        <a:spcAft>
                          <a:spcPts val="0"/>
                        </a:spcAft>
                        <a:buClr>
                          <a:srgbClr val="FFFFFF"/>
                        </a:buClr>
                        <a:buSzPts val="1650"/>
                        <a:buFont typeface="Arial"/>
                        <a:buNone/>
                      </a:pPr>
                      <a:r>
                        <a:rPr b="1" lang="ru-RU" sz="1650">
                          <a:solidFill>
                            <a:srgbClr val="FFFFFF"/>
                          </a:solidFill>
                          <a:latin typeface="Arial"/>
                          <a:ea typeface="Arial"/>
                          <a:cs typeface="Arial"/>
                          <a:sym typeface="Arial"/>
                        </a:rPr>
                        <a:t>Main tasks</a:t>
                      </a:r>
                      <a:endParaRPr/>
                    </a:p>
                  </a:txBody>
                  <a:tcPr marT="45725" marB="45725" marR="91450" marL="91450">
                    <a:solidFill>
                      <a:srgbClr val="13263A"/>
                    </a:solidFill>
                  </a:tcPr>
                </a:tc>
                <a:tc>
                  <a:txBody>
                    <a:bodyPr/>
                    <a:lstStyle/>
                    <a:p>
                      <a:pPr indent="0" lvl="0" marL="0" marR="0" rtl="0" algn="l">
                        <a:spcBef>
                          <a:spcPts val="0"/>
                        </a:spcBef>
                        <a:spcAft>
                          <a:spcPts val="0"/>
                        </a:spcAft>
                        <a:buClr>
                          <a:srgbClr val="FFFFFF"/>
                        </a:buClr>
                        <a:buSzPts val="1650"/>
                        <a:buFont typeface="Arial"/>
                        <a:buNone/>
                      </a:pPr>
                      <a:r>
                        <a:rPr b="1" lang="ru-RU" sz="1650">
                          <a:solidFill>
                            <a:srgbClr val="FFFFFF"/>
                          </a:solidFill>
                          <a:latin typeface="Arial"/>
                          <a:ea typeface="Arial"/>
                          <a:cs typeface="Arial"/>
                          <a:sym typeface="Arial"/>
                        </a:rPr>
                        <a:t>Relevant background</a:t>
                      </a:r>
                      <a:endParaRPr/>
                    </a:p>
                  </a:txBody>
                  <a:tcPr marT="45725" marB="45725" marR="91450" marL="91450">
                    <a:solidFill>
                      <a:srgbClr val="13263A"/>
                    </a:solidFill>
                  </a:tcPr>
                </a:tc>
              </a:tr>
              <a:tr h="1190625">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A / Thibaut</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Frontend</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650"/>
                        <a:buFont typeface="Arial"/>
                        <a:buNone/>
                      </a:pPr>
                      <a:r>
                        <a:rPr lang="ru-RU" sz="1650">
                          <a:solidFill>
                            <a:srgbClr val="13263A"/>
                          </a:solidFill>
                        </a:rPr>
                        <a:t>Design, </a:t>
                      </a:r>
                      <a:r>
                        <a:rPr lang="ru-RU" sz="1650">
                          <a:solidFill>
                            <a:srgbClr val="13263A"/>
                          </a:solidFill>
                        </a:rPr>
                        <a:t>prototyping</a:t>
                      </a:r>
                      <a:r>
                        <a:rPr lang="ru-RU" sz="1650">
                          <a:solidFill>
                            <a:srgbClr val="13263A"/>
                          </a:solidFill>
                        </a:rPr>
                        <a:t> and deploying </a:t>
                      </a:r>
                      <a:endParaRPr sz="1650">
                        <a:solidFill>
                          <a:srgbClr val="13263A"/>
                        </a:solidFill>
                      </a:endParaRPr>
                    </a:p>
                    <a:p>
                      <a:pPr indent="0" lvl="0" marL="0" marR="0" rtl="0" algn="l">
                        <a:spcBef>
                          <a:spcPts val="0"/>
                        </a:spcBef>
                        <a:spcAft>
                          <a:spcPts val="0"/>
                        </a:spcAft>
                        <a:buClr>
                          <a:srgbClr val="13263A"/>
                        </a:buClr>
                        <a:buSzPts val="1650"/>
                        <a:buFont typeface="Arial"/>
                        <a:buNone/>
                      </a:pPr>
                      <a:r>
                        <a:rPr lang="ru-RU" sz="1650">
                          <a:solidFill>
                            <a:srgbClr val="13263A"/>
                          </a:solidFill>
                        </a:rPr>
                        <a:t>UI interface</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Engineering and CATIA: design</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and prototyping. Python basics.</a:t>
                      </a:r>
                      <a:endParaRPr/>
                    </a:p>
                  </a:txBody>
                  <a:tcPr marT="45725" marB="45725" marR="91450" marL="91450">
                    <a:solidFill>
                      <a:srgbClr val="E6EAF0"/>
                    </a:solidFill>
                  </a:tcPr>
                </a:tc>
              </a:tr>
              <a:tr h="1190625">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B / Jiahui</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AI</a:t>
                      </a:r>
                      <a:endParaRPr/>
                    </a:p>
                  </a:txBody>
                  <a:tcPr marT="45725" marB="45725" marR="91450" marL="91450">
                    <a:solidFill>
                      <a:srgbClr val="EEF0F3"/>
                    </a:solidFill>
                  </a:tcPr>
                </a:tc>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Model selection and prompts</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Sentence quality and evaluation</a:t>
                      </a:r>
                      <a:endParaRPr/>
                    </a:p>
                  </a:txBody>
                  <a:tcPr marT="45725" marB="45725" marR="91450" marL="91450">
                    <a:solidFill>
                      <a:srgbClr val="EEF0F3"/>
                    </a:solidFill>
                  </a:tcPr>
                </a:tc>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AI degree and BSC experience</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with VLMs and benchmarking.</a:t>
                      </a:r>
                      <a:endParaRPr/>
                    </a:p>
                  </a:txBody>
                  <a:tcPr marT="45725" marB="45725" marR="91450" marL="91450">
                    <a:solidFill>
                      <a:srgbClr val="EEF0F3"/>
                    </a:solidFill>
                  </a:tcPr>
                </a:tc>
              </a:tr>
              <a:tr h="1190625">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C / Veronika</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Backend</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API, database and deployment</a:t>
                      </a:r>
                      <a:endParaRPr/>
                    </a:p>
                  </a:txBody>
                  <a:tcPr marT="45725" marB="45725" marR="91450" marL="91450">
                    <a:solidFill>
                      <a:srgbClr val="E6EAF0"/>
                    </a:solidFill>
                  </a:tcPr>
                </a:tc>
                <a:tc>
                  <a:txBody>
                    <a:bodyPr/>
                    <a:lstStyle/>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Information systems studies,</a:t>
                      </a:r>
                      <a:endParaRPr/>
                    </a:p>
                    <a:p>
                      <a:pPr indent="0" lvl="0" marL="0" marR="0" rtl="0" algn="l">
                        <a:spcBef>
                          <a:spcPts val="0"/>
                        </a:spcBef>
                        <a:spcAft>
                          <a:spcPts val="0"/>
                        </a:spcAft>
                        <a:buClr>
                          <a:srgbClr val="13263A"/>
                        </a:buClr>
                        <a:buSzPts val="1650"/>
                        <a:buFont typeface="Arial"/>
                        <a:buNone/>
                      </a:pPr>
                      <a:r>
                        <a:rPr b="0" lang="ru-RU" sz="1650">
                          <a:solidFill>
                            <a:srgbClr val="13263A"/>
                          </a:solidFill>
                          <a:latin typeface="Arial"/>
                          <a:ea typeface="Arial"/>
                          <a:cs typeface="Arial"/>
                          <a:sym typeface="Arial"/>
                        </a:rPr>
                        <a:t>SQL and CRM workflow development.</a:t>
                      </a:r>
                      <a:endParaRPr/>
                    </a:p>
                  </a:txBody>
                  <a:tcPr marT="45725" marB="45725" marR="91450" marL="91450">
                    <a:solidFill>
                      <a:srgbClr val="E6EAF0"/>
                    </a:solidFill>
                  </a:tcPr>
                </a:tc>
              </a:tr>
            </a:tbl>
          </a:graphicData>
        </a:graphic>
      </p:graphicFrame>
      <p:sp>
        <p:nvSpPr>
          <p:cNvPr id="117" name="Google Shape;117;p8"/>
          <p:cNvSpPr/>
          <p:nvPr/>
        </p:nvSpPr>
        <p:spPr>
          <a:xfrm>
            <a:off x="628650" y="5934075"/>
            <a:ext cx="10810875" cy="2667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425"/>
              <a:buFont typeface="Arial"/>
              <a:buNone/>
            </a:pPr>
            <a:r>
              <a:rPr b="0" lang="ru-RU" sz="1425">
                <a:solidFill>
                  <a:srgbClr val="647080"/>
                </a:solidFill>
                <a:latin typeface="Arial"/>
                <a:ea typeface="Arial"/>
                <a:cs typeface="Arial"/>
                <a:sym typeface="Arial"/>
              </a:rPr>
              <a:t>All members contribute to requirements, testing and integration.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4F0"/>
        </a:solidFill>
      </p:bgPr>
    </p:bg>
    <p:spTree>
      <p:nvGrpSpPr>
        <p:cNvPr id="122" name="Shape 122"/>
        <p:cNvGrpSpPr/>
        <p:nvPr/>
      </p:nvGrpSpPr>
      <p:grpSpPr>
        <a:xfrm>
          <a:off x="0" y="0"/>
          <a:ext cx="0" cy="0"/>
          <a:chOff x="0" y="0"/>
          <a:chExt cx="0" cy="0"/>
        </a:xfrm>
      </p:grpSpPr>
      <p:sp>
        <p:nvSpPr>
          <p:cNvPr id="123" name="Google Shape;123;p9"/>
          <p:cNvSpPr/>
          <p:nvPr/>
        </p:nvSpPr>
        <p:spPr>
          <a:xfrm>
            <a:off x="609600" y="457200"/>
            <a:ext cx="1095375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3300"/>
              <a:buFont typeface="Arial"/>
              <a:buNone/>
            </a:pPr>
            <a:r>
              <a:rPr b="1" lang="ru-RU" sz="3300">
                <a:solidFill>
                  <a:srgbClr val="13263A"/>
                </a:solidFill>
                <a:latin typeface="Arial"/>
                <a:ea typeface="Arial"/>
                <a:cs typeface="Arial"/>
                <a:sym typeface="Arial"/>
              </a:rPr>
              <a:t>What we plan to deliver</a:t>
            </a:r>
            <a:endParaRPr/>
          </a:p>
        </p:txBody>
      </p:sp>
      <p:sp>
        <p:nvSpPr>
          <p:cNvPr id="124" name="Google Shape;124;p9"/>
          <p:cNvSpPr/>
          <p:nvPr/>
        </p:nvSpPr>
        <p:spPr>
          <a:xfrm>
            <a:off x="11049000" y="6248400"/>
            <a:ext cx="533400" cy="2857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647080"/>
              </a:buClr>
              <a:buSzPts val="1350"/>
              <a:buFont typeface="Arial"/>
              <a:buNone/>
            </a:pPr>
            <a:r>
              <a:rPr lang="ru-RU" sz="1350">
                <a:solidFill>
                  <a:srgbClr val="647080"/>
                </a:solidFill>
              </a:rPr>
              <a:t>10</a:t>
            </a:r>
            <a:endParaRPr/>
          </a:p>
        </p:txBody>
      </p:sp>
      <p:sp>
        <p:nvSpPr>
          <p:cNvPr id="125" name="Google Shape;125;p9"/>
          <p:cNvSpPr/>
          <p:nvPr/>
        </p:nvSpPr>
        <p:spPr>
          <a:xfrm>
            <a:off x="628650" y="1762125"/>
            <a:ext cx="50958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CORE PRODUCT</a:t>
            </a:r>
            <a:endParaRPr/>
          </a:p>
        </p:txBody>
      </p:sp>
      <p:sp>
        <p:nvSpPr>
          <p:cNvPr id="126" name="Google Shape;126;p9"/>
          <p:cNvSpPr/>
          <p:nvPr/>
        </p:nvSpPr>
        <p:spPr>
          <a:xfrm>
            <a:off x="6648450" y="1762125"/>
            <a:ext cx="4905375"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255CF0"/>
              </a:buClr>
              <a:buSzPts val="1650"/>
              <a:buFont typeface="Arial"/>
              <a:buNone/>
            </a:pPr>
            <a:r>
              <a:rPr b="1" lang="ru-RU" sz="1650">
                <a:solidFill>
                  <a:srgbClr val="255CF0"/>
                </a:solidFill>
                <a:latin typeface="Arial"/>
                <a:ea typeface="Arial"/>
                <a:cs typeface="Arial"/>
                <a:sym typeface="Arial"/>
              </a:rPr>
              <a:t>FIRST DEVELOPMENT STEPS</a:t>
            </a:r>
            <a:endParaRPr/>
          </a:p>
        </p:txBody>
      </p:sp>
      <p:sp>
        <p:nvSpPr>
          <p:cNvPr id="127" name="Google Shape;127;p9"/>
          <p:cNvSpPr/>
          <p:nvPr/>
        </p:nvSpPr>
        <p:spPr>
          <a:xfrm>
            <a:off x="628650" y="2352675"/>
            <a:ext cx="50958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A working web application in English</a:t>
            </a:r>
            <a:endParaRPr/>
          </a:p>
          <a:p>
            <a:pPr indent="0" lvl="0" marL="0" marR="0" rtl="0" algn="l">
              <a:spcBef>
                <a:spcPts val="0"/>
              </a:spcBef>
              <a:spcAft>
                <a:spcPts val="0"/>
              </a:spcAft>
              <a:buClr>
                <a:schemeClr val="dk1"/>
              </a:buClr>
              <a:buSzPts val="2250"/>
              <a:buFont typeface="Arial"/>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Scene-based sentence suggestions</a:t>
            </a:r>
            <a:endParaRPr/>
          </a:p>
          <a:p>
            <a:pPr indent="0" lvl="0" marL="0" marR="0" rtl="0" algn="l">
              <a:spcBef>
                <a:spcPts val="0"/>
              </a:spcBef>
              <a:spcAft>
                <a:spcPts val="0"/>
              </a:spcAft>
              <a:buClr>
                <a:schemeClr val="dk1"/>
              </a:buClr>
              <a:buSzPts val="2250"/>
              <a:buFont typeface="Arial"/>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User confirmation before speech</a:t>
            </a:r>
            <a:endParaRPr/>
          </a:p>
          <a:p>
            <a:pPr indent="0" lvl="0" marL="0" marR="0" rtl="0" algn="l">
              <a:spcBef>
                <a:spcPts val="0"/>
              </a:spcBef>
              <a:spcAft>
                <a:spcPts val="0"/>
              </a:spcAft>
              <a:buClr>
                <a:srgbClr val="13263A"/>
              </a:buClr>
              <a:buSzPts val="2100"/>
              <a:buFont typeface="Arial"/>
              <a:buNone/>
            </a:pPr>
            <a:r>
              <a:t/>
            </a:r>
            <a:endParaRPr b="0" sz="210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Mobile version: optional extension</a:t>
            </a:r>
            <a:endParaRPr/>
          </a:p>
        </p:txBody>
      </p:sp>
      <p:sp>
        <p:nvSpPr>
          <p:cNvPr id="128" name="Google Shape;128;p9"/>
          <p:cNvSpPr/>
          <p:nvPr/>
        </p:nvSpPr>
        <p:spPr>
          <a:xfrm>
            <a:off x="6648450" y="2352675"/>
            <a:ext cx="4905375" cy="34766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Set up Cboard locally</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Connect one complete café scenario</a:t>
            </a:r>
            <a:endParaRPr/>
          </a:p>
          <a:p>
            <a:pPr indent="0" lvl="0" marL="0" marR="0" rtl="0" algn="l">
              <a:spcBef>
                <a:spcPts val="0"/>
              </a:spcBef>
              <a:spcAft>
                <a:spcPts val="0"/>
              </a:spcAft>
              <a:buNone/>
            </a:pPr>
            <a:r>
              <a:t/>
            </a:r>
            <a:endParaRPr b="0" sz="225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Evaluate sentence quality and response time</a:t>
            </a:r>
            <a:endParaRPr/>
          </a:p>
          <a:p>
            <a:pPr indent="0" lvl="0" marL="0" marR="0" rtl="0" algn="l">
              <a:spcBef>
                <a:spcPts val="0"/>
              </a:spcBef>
              <a:spcAft>
                <a:spcPts val="0"/>
              </a:spcAft>
              <a:buClr>
                <a:srgbClr val="13263A"/>
              </a:buClr>
              <a:buSzPts val="2100"/>
              <a:buFont typeface="Arial"/>
              <a:buNone/>
            </a:pPr>
            <a:r>
              <a:t/>
            </a:r>
            <a:endParaRPr b="0" sz="2100">
              <a:solidFill>
                <a:srgbClr val="13263A"/>
              </a:solidFill>
              <a:latin typeface="Arial"/>
              <a:ea typeface="Arial"/>
              <a:cs typeface="Arial"/>
              <a:sym typeface="Arial"/>
            </a:endParaRPr>
          </a:p>
          <a:p>
            <a:pPr indent="0" lvl="0" marL="0" marR="0" rtl="0" algn="l">
              <a:spcBef>
                <a:spcPts val="0"/>
              </a:spcBef>
              <a:spcAft>
                <a:spcPts val="0"/>
              </a:spcAft>
              <a:buClr>
                <a:srgbClr val="13263A"/>
              </a:buClr>
              <a:buSzPts val="2100"/>
              <a:buFont typeface="Arial"/>
              <a:buNone/>
            </a:pPr>
            <a:r>
              <a:rPr b="0" lang="ru-RU" sz="2100">
                <a:solidFill>
                  <a:srgbClr val="13263A"/>
                </a:solidFill>
                <a:latin typeface="Arial"/>
                <a:ea typeface="Arial"/>
                <a:cs typeface="Arial"/>
                <a:sym typeface="Arial"/>
              </a:rPr>
              <a:t>Expand to more everyday situations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63A"/>
        </a:solidFill>
      </p:bgPr>
    </p:bg>
    <p:spTree>
      <p:nvGrpSpPr>
        <p:cNvPr id="133" name="Shape 133"/>
        <p:cNvGrpSpPr/>
        <p:nvPr/>
      </p:nvGrpSpPr>
      <p:grpSpPr>
        <a:xfrm>
          <a:off x="0" y="0"/>
          <a:ext cx="0" cy="0"/>
          <a:chOff x="0" y="0"/>
          <a:chExt cx="0" cy="0"/>
        </a:xfrm>
      </p:grpSpPr>
      <p:sp>
        <p:nvSpPr>
          <p:cNvPr id="134" name="Google Shape;134;h62fd3f37f23572d3_3_1"/>
          <p:cNvSpPr/>
          <p:nvPr/>
        </p:nvSpPr>
        <p:spPr>
          <a:xfrm>
            <a:off x="619050" y="2903050"/>
            <a:ext cx="10953900" cy="7620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FFFFFF"/>
              </a:buClr>
              <a:buSzPts val="3300"/>
              <a:buFont typeface="Arial"/>
              <a:buNone/>
            </a:pPr>
            <a:r>
              <a:rPr b="1" lang="ru-RU" sz="3300">
                <a:solidFill>
                  <a:srgbClr val="FFFFFF"/>
                </a:solidFill>
              </a:rPr>
              <a:t>THANK YOU FOR YOUR</a:t>
            </a:r>
            <a:endParaRPr b="1" sz="3300">
              <a:solidFill>
                <a:srgbClr val="FFFFFF"/>
              </a:solidFill>
            </a:endParaRPr>
          </a:p>
          <a:p>
            <a:pPr indent="0" lvl="0" marL="0" marR="0" rtl="0" algn="l">
              <a:spcBef>
                <a:spcPts val="0"/>
              </a:spcBef>
              <a:spcAft>
                <a:spcPts val="0"/>
              </a:spcAft>
              <a:buClr>
                <a:srgbClr val="FFFFFF"/>
              </a:buClr>
              <a:buSzPts val="3300"/>
              <a:buFont typeface="Arial"/>
              <a:buNone/>
            </a:pPr>
            <a:r>
              <a:rPr b="1" lang="ru-RU" sz="3300">
                <a:solidFill>
                  <a:srgbClr val="FFFFFF"/>
                </a:solidFill>
              </a:rPr>
              <a:t>ATTENTION!</a:t>
            </a:r>
            <a:endParaRPr b="1" sz="3300">
              <a:solidFill>
                <a:srgbClr val="FFFFFF"/>
              </a:solidFill>
            </a:endParaRPr>
          </a:p>
        </p:txBody>
      </p:sp>
      <p:sp>
        <p:nvSpPr>
          <p:cNvPr id="135" name="Google Shape;135;h62fd3f37f23572d3_3_1"/>
          <p:cNvSpPr/>
          <p:nvPr/>
        </p:nvSpPr>
        <p:spPr>
          <a:xfrm>
            <a:off x="11049000" y="6248400"/>
            <a:ext cx="533400" cy="2859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350"/>
              <a:buFont typeface="Arial"/>
              <a:buNone/>
            </a:pPr>
            <a:r>
              <a:rPr b="0" lang="ru-RU" sz="1350">
                <a:solidFill>
                  <a:srgbClr val="A8B6C7"/>
                </a:solidFill>
                <a:latin typeface="Arial"/>
                <a:ea typeface="Arial"/>
                <a:cs typeface="Arial"/>
                <a:sym typeface="Arial"/>
              </a:rPr>
              <a:t>01</a:t>
            </a:r>
            <a:endParaRPr/>
          </a:p>
        </p:txBody>
      </p:sp>
      <p:sp>
        <p:nvSpPr>
          <p:cNvPr id="136" name="Google Shape;136;h62fd3f37f23572d3_3_1"/>
          <p:cNvSpPr/>
          <p:nvPr/>
        </p:nvSpPr>
        <p:spPr>
          <a:xfrm>
            <a:off x="647700" y="5629275"/>
            <a:ext cx="10191900" cy="419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A8B6C7"/>
              </a:buClr>
              <a:buSzPts val="1725"/>
              <a:buFont typeface="Arial"/>
              <a:buNone/>
            </a:pPr>
            <a:r>
              <a:rPr b="0" lang="ru-RU" sz="1725">
                <a:solidFill>
                  <a:srgbClr val="A8B6C7"/>
                </a:solidFill>
                <a:latin typeface="Arial"/>
                <a:ea typeface="Arial"/>
                <a:cs typeface="Arial"/>
                <a:sym typeface="Arial"/>
              </a:rPr>
              <a:t>Veronika, Jiahui and </a:t>
            </a:r>
            <a:r>
              <a:rPr b="0" lang="ru-RU" sz="1725">
                <a:solidFill>
                  <a:srgbClr val="A8B6C7"/>
                </a:solidFill>
                <a:latin typeface="Arial"/>
                <a:ea typeface="Arial"/>
                <a:cs typeface="Arial"/>
                <a:sym typeface="Arial"/>
              </a:rPr>
              <a:t>Thibaut    </a:t>
            </a:r>
            <a:endParaRPr/>
          </a:p>
        </p:txBody>
      </p:sp>
      <p:pic>
        <p:nvPicPr>
          <p:cNvPr id="137" name="Google Shape;137;h62fd3f37f23572d3_3_1"/>
          <p:cNvPicPr preferRelativeResize="0"/>
          <p:nvPr/>
        </p:nvPicPr>
        <p:blipFill>
          <a:blip r:embed="rId3">
            <a:alphaModFix/>
          </a:blip>
          <a:stretch>
            <a:fillRect/>
          </a:stretch>
        </p:blipFill>
        <p:spPr>
          <a:xfrm>
            <a:off x="6819325" y="1430525"/>
            <a:ext cx="3707026" cy="370702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2026-09-23T01:37:38Z</dcterms:created>
  <dc:creator>Walnut Exporter</dc:creator>
</cp:coreProperties>
</file>