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67" r:id="rId18"/>
    <p:sldId id="268" r:id="rId19"/>
    <p:sldId id="269" r:id="rId20"/>
    <p:sldId id="270" r:id="rId21"/>
    <p:sldId id="271" r:id="rId22"/>
    <p:sldId id="272" r:id="rId23"/>
    <p:sldId id="273" r:id="rId24"/>
    <p:sldId id="274" r:id="rId25"/>
    <p:sldId id="275" r:id="rId26"/>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zggscZF+fUWb3eVClHCW10OSg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3E722F-40F9-4D76-B785-BA3ECA4E30A6}">
  <a:tblStyle styleId="{E93E722F-40F9-4D76-B785-BA3ECA4E30A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16" Type="http://schemas.openxmlformats.org/officeDocument/2006/relationships/slide" Target="slides/slide11.xml"/><Relationship Id="rId17" Type="http://customschemas.google.com/relationships/presentationmetadata" Target="metadata"/><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Passed</c:v>
                </c:pt>
              </c:strCache>
            </c:strRef>
          </c:tx>
          <c:spPr>
            <a:solidFill>
              <a:srgbClr val="1F8A5B"/>
            </a:solidFill>
          </c:spPr>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Sheet1!$B$2:$B$7</c:f>
              <c:numCache>
                <c:formatCode>General</c:formatCode>
                <c:ptCount val="6"/>
                <c:pt idx="0">
                  <c:v>2</c:v>
                </c:pt>
                <c:pt idx="1">
                  <c:v>2</c:v>
                </c:pt>
                <c:pt idx="2">
                  <c:v>0</c:v>
                </c:pt>
                <c:pt idx="3">
                  <c:v>6</c:v>
                </c:pt>
                <c:pt idx="4">
                  <c:v>7</c:v>
                </c:pt>
                <c:pt idx="5">
                  <c:v>2</c:v>
                </c:pt>
              </c:numCache>
            </c:numRef>
          </c:val>
        </c:ser>
        <c:ser>
          <c:idx val="1"/>
          <c:order val="1"/>
          <c:tx>
            <c:strRef>
              <c:f>Sheet1!$C$1</c:f>
              <c:strCache>
                <c:ptCount val="1"/>
                <c:pt idx="0">
                  <c:v>In progress</c:v>
                </c:pt>
              </c:strCache>
            </c:strRef>
          </c:tx>
          <c:spPr>
            <a:solidFill>
              <a:srgbClr val="255CF0"/>
            </a:solidFill>
          </c:spPr>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Sheet1!$C$2:$C$7</c:f>
              <c:numCache>
                <c:formatCode>General</c:formatCode>
                <c:ptCount val="6"/>
                <c:pt idx="0">
                  <c:v>1</c:v>
                </c:pt>
                <c:pt idx="1">
                  <c:v>3</c:v>
                </c:pt>
                <c:pt idx="2">
                  <c:v>1</c:v>
                </c:pt>
                <c:pt idx="3">
                  <c:v>3</c:v>
                </c:pt>
                <c:pt idx="4">
                  <c:v>0</c:v>
                </c:pt>
                <c:pt idx="5">
                  <c:v>0</c:v>
                </c:pt>
              </c:numCache>
            </c:numRef>
          </c:val>
        </c:ser>
        <c:ser>
          <c:idx val="2"/>
          <c:order val="2"/>
          <c:tx>
            <c:strRef>
              <c:f>Sheet1!$D$1</c:f>
              <c:strCache>
                <c:ptCount val="1"/>
                <c:pt idx="0">
                  <c:v>Manual check not run</c:v>
                </c:pt>
              </c:strCache>
            </c:strRef>
          </c:tx>
          <c:spPr>
            <a:solidFill>
              <a:srgbClr val="A8B6C7"/>
            </a:solidFill>
          </c:spPr>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Sheet1!$D$2:$D$7</c:f>
              <c:numCache>
                <c:formatCode>General</c:formatCode>
                <c:ptCount val="6"/>
                <c:pt idx="0">
                  <c:v>1</c:v>
                </c:pt>
                <c:pt idx="1">
                  <c:v>0</c:v>
                </c:pt>
                <c:pt idx="2">
                  <c:v>0</c:v>
                </c:pt>
                <c:pt idx="3">
                  <c:v>0</c:v>
                </c:pt>
                <c:pt idx="4">
                  <c:v>2</c:v>
                </c:pt>
                <c:pt idx="5">
                  <c:v>3</c:v>
                </c:pt>
              </c:numCache>
            </c:numRef>
          </c:val>
        </c:ser>
        <c:ser>
          <c:idx val="3"/>
          <c:order val="3"/>
          <c:tx>
            <c:strRef>
              <c:f>Sheet1!$E$1</c:f>
              <c:strCache>
                <c:ptCount val="1"/>
                <c:pt idx="0">
                  <c:v>Not started</c:v>
                </c:pt>
              </c:strCache>
            </c:strRef>
          </c:tx>
          <c:spPr>
            <a:solidFill>
              <a:srgbClr val="647080"/>
            </a:solidFill>
          </c:spPr>
          <c:cat>
            <c:strRef>
              <c:f>Sheet1!$A$2:$A$7</c:f>
              <c:strCache>
                <c:ptCount val="6"/>
                <c:pt idx="0">
                  <c:v>3.6 AI/ML (6)</c:v>
                </c:pt>
                <c:pt idx="1">
                  <c:v>3.5 Design &amp; implementation (7)</c:v>
                </c:pt>
                <c:pt idx="2">
                  <c:v>3.4 Compliance (2)</c:v>
                </c:pt>
                <c:pt idx="3">
                  <c:v>3.3 Quality of service (13)</c:v>
                </c:pt>
                <c:pt idx="4">
                  <c:v>3.2 Functional (11)</c:v>
                </c:pt>
                <c:pt idx="5">
                  <c:v>3.1 External interfaces (6)</c:v>
                </c:pt>
              </c:strCache>
            </c:strRef>
          </c:cat>
          <c:val>
            <c:numRef>
              <c:f>Sheet1!$E$2:$E$7</c:f>
              <c:numCache>
                <c:formatCode>General</c:formatCode>
                <c:ptCount val="6"/>
                <c:pt idx="0">
                  <c:v>2</c:v>
                </c:pt>
                <c:pt idx="1">
                  <c:v>2</c:v>
                </c:pt>
                <c:pt idx="2">
                  <c:v>1</c:v>
                </c:pt>
                <c:pt idx="3">
                  <c:v>4</c:v>
                </c:pt>
                <c:pt idx="4">
                  <c:v>2</c:v>
                </c:pt>
                <c:pt idx="5">
                  <c:v>1</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l"/>
        <c:majorTickMark val="out"/>
        <c:minorTickMark val="none"/>
        <c:tickLblPos val="nextTo"/>
        <c:spPr>
          <a:ln>
            <a:solidFill>
              <a:srgbClr val="A8B6C7"/>
            </a:solidFill>
          </a:ln>
        </c:spPr>
        <c:txPr>
          <a:bodyPr/>
          <a:lstStyle/>
          <a:p>
            <a:pPr>
              <a:defRPr sz="1200">
                <a:solidFill>
                  <a:srgbClr val="13263A"/>
                </a:solidFill>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200">
              <a:solidFill>
                <a:srgbClr val="13263A"/>
              </a:solidFill>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15 seconds. Weekly progress report for week 3: technical progress, deliverables (Assignment 1, the SRS) and team management. Total about 10 minutes.</a:t>
            </a: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62fd3f37f23572d3_3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h62fd3f37f23572d3_3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15 seconds. Thank the audience and take questions.</a:t>
            </a:r>
          </a:p>
        </p:txBody>
      </p:sp>
      <p:sp>
        <p:nvSpPr>
          <p:cNvPr id="132" name="Google Shape;132;h62fd3f37f23572d3_3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20 seconds. We follow the three-part structure: technical progress, deliverables, and team collaboration and management.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50 seconds. The Context-aware AAC Board is a new standalone web application; Cboard is only inspiration. The user adds context, the backend asks a replaceable sentence provider for up to three complete English sentences, and nothing is spoken until the user confirms. Requests, suggestions and feedback are stored for evaluation.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15 seconds. The backend starter v0.1 is the foundation. It already validates input and photos, generates suggestions with a mock provider (fixed water/coffee templates, not AI), records feedback and survives restarts. 26 pytest cases, Ruff and the migration check passed on Linux with SQLite. Not verified yet: live PostgreSQL, Windows, real speech audio and browser click-through. Missing on purpose: real AI, our own frontend, authentication and deployment.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15 seconds. The SRS has 45 requirements with IDs REQ-AREA-NNN, grouped in the six IEEE areas. 19 pass their tests, 5 of them only partly (mock or backend only). 8 are in progress, 6 are implemented in the demo page but the manual check has not been run, and 12 are not started. Most of the open work is in quality of service, design and implementation, and AI/ML.</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15 seconds. The remaining requirements are grouped by when they are needed. Increment 1 is the cafe scenario in our own frontend with the real AI provider. Security and deployment requirements must be done before any public trial; consent and licensing before real users. Increment 2 adds more everyday situations. The mobile version stays optional.</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15 seconds. The SRS follows the IEEE-based template. Version 0.1 was drafted from the proposal and the backend starter; version 0.2 redefined the product as standalone, with Cboard only as inspiration. All five sections are drafted: 45 requirements, each with a verification method and status. Course milestones are recorded in 3.5.8 and the context diagram is in Mermaid so GitHub renders it. Ten decisions are still TBD.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15 seconds. The remaining SRS work is split by the ownership in SRS 2.6: each owner closes the TBD values and open issues of their own area, and shared items are done by everyone. Before submission in Week 7 we run the cross-team peer review through GitHub Issues. Dates for the individual steps are still to be agreed (open issue 10).</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Each component has one owner. Thibaut owns the web frontend, Veronika the backend and data, Jiahui the AI provider, and Abid Ali deployment, operations and CI. Everyone contributes to requirements, testing and integration.</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We work on main in bhsei/26B, one commit per document with the course message format, peer reviews as GitHub Issues, and CI on every push. The first experimental tasks come from TEAM_NEXT_STEPS and are adapted to the standalone frontend: each owner has one small, checkable task, and all of us define the first usability scenario and evaluation set.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15" name="Shape 15"/>
        <p:cNvGrpSpPr/>
        <p:nvPr/>
      </p:nvGrpSpPr>
      <p:grpSpPr>
        <a:xfrm>
          <a:off x="0" y="0"/>
          <a:ext cx="0" cy="0"/>
          <a:chOff x="0" y="0"/>
          <a:chExt cx="0" cy="0"/>
        </a:xfrm>
      </p:grpSpPr>
      <p:sp>
        <p:nvSpPr>
          <p:cNvPr id="16" name="Google Shape;16;p1"/>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300"/>
              <a:buFont typeface="Arial"/>
              <a:buNone/>
            </a:pPr>
            <a:r>
              <a:rPr b="1" lang="ru-RU" sz="3300">
                <a:solidFill>
                  <a:srgbClr val="FFFFFF"/>
                </a:solidFill>
                <a:latin typeface="Arial"/>
                <a:ea typeface="Arial"/>
                <a:cs typeface="Arial"/>
                <a:sym typeface="Arial"/>
              </a:rPr>
              <a:t>B - The Outliers</a:t>
            </a:r>
            <a:endParaRPr/>
          </a:p>
        </p:txBody>
      </p:sp>
      <p:sp>
        <p:nvSpPr>
          <p:cNvPr id="17" name="Google Shape;17;p1"/>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350"/>
              <a:buFont typeface="Arial"/>
              <a:buNone/>
            </a:pPr>
            <a:r>
              <a:rPr b="0" lang="ru-RU" sz="1350">
                <a:solidFill>
                  <a:srgbClr val="A8B6C7"/>
                </a:solidFill>
                <a:latin typeface="Arial"/>
                <a:ea typeface="Arial"/>
                <a:cs typeface="Arial"/>
                <a:sym typeface="Arial"/>
              </a:rPr>
              <a:t>01</a:t>
            </a:r>
            <a:endParaRPr/>
          </a:p>
        </p:txBody>
      </p:sp>
      <p:sp>
        <p:nvSpPr>
          <p:cNvPr id="18" name="Google Shape;18;p1"/>
          <p:cNvSpPr/>
          <p:nvPr/>
        </p:nvSpPr>
        <p:spPr>
          <a:xfrm>
            <a:off x="647700" y="1638300"/>
            <a:ext cx="990600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BFFB"/>
              </a:buClr>
              <a:buSzPts val="2100"/>
              <a:buFont typeface="Arial"/>
              <a:buNone/>
            </a:pPr>
            <a:r>
              <a:rPr b="0" lang="ru-RU" sz="2100">
                <a:solidFill>
                  <a:srgbClr val="A9BFFB"/>
                </a:solidFill>
                <a:latin typeface="Arial"/>
                <a:ea typeface="Arial"/>
                <a:cs typeface="Arial"/>
                <a:sym typeface="Arial"/>
              </a:rPr>
              <a:t>Software Engineering Project  ·  Weekly Progress Report W03</a:t>
            </a:r>
            <a:endParaRPr/>
          </a:p>
        </p:txBody>
      </p:sp>
      <p:sp>
        <p:nvSpPr>
          <p:cNvPr id="19" name="Google Shape;19;p1"/>
          <p:cNvSpPr/>
          <p:nvPr/>
        </p:nvSpPr>
        <p:spPr>
          <a:xfrm>
            <a:off x="628650" y="2619375"/>
            <a:ext cx="10858500" cy="1333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25"/>
              <a:buFont typeface="Arial"/>
              <a:buNone/>
            </a:pPr>
            <a:r>
              <a:rPr b="0" lang="ru-RU" sz="3825">
                <a:solidFill>
                  <a:srgbClr val="FFFFFF"/>
                </a:solidFill>
                <a:latin typeface="Arial"/>
                <a:ea typeface="Arial"/>
                <a:cs typeface="Arial"/>
                <a:sym typeface="Arial"/>
              </a:rPr>
              <a:t>Context-aware AAC board</a:t>
            </a:r>
            <a:endParaRPr/>
          </a:p>
        </p:txBody>
      </p:sp>
      <p:sp>
        <p:nvSpPr>
          <p:cNvPr id="20" name="Google Shape;20;p1"/>
          <p:cNvSpPr/>
          <p:nvPr/>
        </p:nvSpPr>
        <p:spPr>
          <a:xfrm>
            <a:off x="647700" y="5629275"/>
            <a:ext cx="1019175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725"/>
              <a:buFont typeface="Arial"/>
              <a:buNone/>
            </a:pPr>
            <a:r>
              <a:rPr b="0" lang="ru-RU" sz="1725">
                <a:solidFill>
                  <a:srgbClr val="A8B6C7"/>
                </a:solidFill>
                <a:latin typeface="Arial"/>
                <a:ea typeface="Arial"/>
                <a:cs typeface="Arial"/>
                <a:sym typeface="Arial"/>
              </a:rPr>
              <a:t>Veronika, Jiahui, Thibaut and Abid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133" name="Shape 133"/>
        <p:cNvGrpSpPr/>
        <p:nvPr/>
      </p:nvGrpSpPr>
      <p:grpSpPr>
        <a:xfrm>
          <a:off x="0" y="0"/>
          <a:ext cx="0" cy="0"/>
          <a:chOff x="0" y="0"/>
          <a:chExt cx="0" cy="0"/>
        </a:xfrm>
      </p:grpSpPr>
      <p:sp>
        <p:nvSpPr>
          <p:cNvPr id="134" name="Google Shape;134;h62fd3f37f23572d3_3_1"/>
          <p:cNvSpPr/>
          <p:nvPr/>
        </p:nvSpPr>
        <p:spPr>
          <a:xfrm>
            <a:off x="619050" y="2903050"/>
            <a:ext cx="1095390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300"/>
              <a:buFont typeface="Arial"/>
              <a:buNone/>
            </a:pPr>
            <a:r>
              <a:rPr b="1" lang="ru-RU" sz="3300">
                <a:solidFill>
                  <a:srgbClr val="FFFFFF"/>
                </a:solidFill>
              </a:rPr>
              <a:t>THANK YOU FOR YOUR</a:t>
            </a:r>
            <a:endParaRPr b="1" sz="3300">
              <a:solidFill>
                <a:srgbClr val="FFFFFF"/>
              </a:solidFill>
            </a:endParaRPr>
          </a:p>
          <a:p>
            <a:pPr indent="0" lvl="0" marL="0" marR="0" rtl="0" algn="l">
              <a:spcBef>
                <a:spcPts val="0"/>
              </a:spcBef>
              <a:spcAft>
                <a:spcPts val="0"/>
              </a:spcAft>
              <a:buClr>
                <a:srgbClr val="FFFFFF"/>
              </a:buClr>
              <a:buSzPts val="3300"/>
              <a:buFont typeface="Arial"/>
              <a:buNone/>
            </a:pPr>
            <a:r>
              <a:rPr b="1" lang="ru-RU" sz="3300">
                <a:solidFill>
                  <a:srgbClr val="FFFFFF"/>
                </a:solidFill>
              </a:rPr>
              <a:t>ATTENTION!</a:t>
            </a:r>
            <a:endParaRPr b="1" sz="3300">
              <a:solidFill>
                <a:srgbClr val="FFFFFF"/>
              </a:solidFill>
            </a:endParaRPr>
          </a:p>
        </p:txBody>
      </p:sp>
      <p:sp>
        <p:nvSpPr>
          <p:cNvPr id="135" name="Google Shape;135;h62fd3f37f23572d3_3_1"/>
          <p:cNvSpPr/>
          <p:nvPr/>
        </p:nvSpPr>
        <p:spPr>
          <a:xfrm>
            <a:off x="11049000" y="6248400"/>
            <a:ext cx="533400" cy="28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350"/>
              <a:buFont typeface="Arial"/>
              <a:buNone/>
            </a:pPr>
            <a:r>
              <a:rPr b="0" lang="ru-RU" sz="1350">
                <a:solidFill>
                  <a:srgbClr val="A8B6C7"/>
                </a:solidFill>
                <a:latin typeface="Arial"/>
                <a:ea typeface="Arial"/>
                <a:cs typeface="Arial"/>
                <a:sym typeface="Arial"/>
              </a:rPr>
              <a:t>11</a:t>
            </a:r>
            <a:endParaRPr/>
          </a:p>
        </p:txBody>
      </p:sp>
      <p:sp>
        <p:nvSpPr>
          <p:cNvPr id="136" name="Google Shape;136;h62fd3f37f23572d3_3_1"/>
          <p:cNvSpPr/>
          <p:nvPr/>
        </p:nvSpPr>
        <p:spPr>
          <a:xfrm>
            <a:off x="647700" y="5629275"/>
            <a:ext cx="101919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725"/>
              <a:buFont typeface="Arial"/>
              <a:buNone/>
            </a:pPr>
            <a:r>
              <a:rPr b="0" lang="ru-RU" sz="1725">
                <a:solidFill>
                  <a:srgbClr val="A8B6C7"/>
                </a:solidFill>
                <a:latin typeface="Arial"/>
                <a:ea typeface="Arial"/>
                <a:cs typeface="Arial"/>
                <a:sym typeface="Arial"/>
              </a:rPr>
              <a:t>Veronika, Jiahui, Thibaut and Abid</a:t>
            </a:r>
            <a:r>
              <a:rPr b="0" lang="ru-RU" sz="1725">
                <a:solidFill>
                  <a:srgbClr val="A8B6C7"/>
                </a:solidFill>
                <a:latin typeface="Arial"/>
                <a:ea typeface="Arial"/>
                <a:cs typeface="Arial"/>
                <a:sym typeface="Arial"/>
              </a:rPr>
              <a:t/>
            </a:r>
            <a:endParaRPr/>
          </a:p>
        </p:txBody>
      </p:sp>
      <p:pic>
        <p:nvPicPr>
          <p:cNvPr id="137" name="Google Shape;137;h62fd3f37f23572d3_3_1"/>
          <p:cNvPicPr preferRelativeResize="0"/>
          <p:nvPr/>
        </p:nvPicPr>
        <p:blipFill>
          <a:blip r:embed="rId3">
            <a:alphaModFix/>
          </a:blip>
          <a:stretch>
            <a:fillRect/>
          </a:stretch>
        </p:blipFill>
        <p:spPr>
          <a:xfrm>
            <a:off x="6819325" y="1430525"/>
            <a:ext cx="3707026" cy="3707026"/>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Progress report outline</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02</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Three parts, about 10 minutes in total</a:t>
            </a:r>
          </a:p>
        </p:txBody>
      </p:sp>
      <p:sp>
        <p:nvSpPr>
          <p:cNvPr id="5" name="Rectangle 4"/>
          <p:cNvSpPr/>
          <p:nvPr/>
        </p:nvSpPr>
        <p:spPr>
          <a:xfrm>
            <a:off x="630936" y="2103120"/>
            <a:ext cx="3429000" cy="33832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86000"/>
            <a:ext cx="1371600" cy="822960"/>
          </a:xfrm>
          <a:prstGeom prst="rect">
            <a:avLst/>
          </a:prstGeom>
          <a:noFill/>
        </p:spPr>
        <p:txBody>
          <a:bodyPr wrap="square" anchor="t" lIns="45720" rIns="45720" tIns="27432" bIns="27432">
            <a:spAutoFit/>
          </a:bodyPr>
          <a:lstStyle/>
          <a:p>
            <a:pPr algn="l"/>
            <a:r>
              <a:rPr sz="4000" b="1">
                <a:solidFill>
                  <a:srgbClr val="255CF0"/>
                </a:solidFill>
                <a:latin typeface="Arial"/>
              </a:rPr>
              <a:t>01</a:t>
            </a:r>
          </a:p>
        </p:txBody>
      </p:sp>
      <p:sp>
        <p:nvSpPr>
          <p:cNvPr id="7" name="TextBox 6"/>
          <p:cNvSpPr txBox="1"/>
          <p:nvPr/>
        </p:nvSpPr>
        <p:spPr>
          <a:xfrm>
            <a:off x="859536" y="3154680"/>
            <a:ext cx="3017520" cy="411480"/>
          </a:xfrm>
          <a:prstGeom prst="rect">
            <a:avLst/>
          </a:prstGeom>
          <a:noFill/>
        </p:spPr>
        <p:txBody>
          <a:bodyPr wrap="square" anchor="t" lIns="45720" rIns="45720" tIns="27432" bIns="27432">
            <a:spAutoFit/>
          </a:bodyPr>
          <a:lstStyle/>
          <a:p>
            <a:pPr algn="l"/>
            <a:r>
              <a:rPr sz="2000" b="1">
                <a:solidFill>
                  <a:srgbClr val="13263A"/>
                </a:solidFill>
                <a:latin typeface="Arial"/>
              </a:rPr>
              <a:t>Technical progress</a:t>
            </a:r>
          </a:p>
        </p:txBody>
      </p:sp>
      <p:sp>
        <p:nvSpPr>
          <p:cNvPr id="8" name="TextBox 7"/>
          <p:cNvSpPr txBox="1"/>
          <p:nvPr/>
        </p:nvSpPr>
        <p:spPr>
          <a:xfrm>
            <a:off x="859536" y="3566160"/>
            <a:ext cx="3017520" cy="365760"/>
          </a:xfrm>
          <a:prstGeom prst="rect">
            <a:avLst/>
          </a:prstGeom>
          <a:noFill/>
        </p:spPr>
        <p:txBody>
          <a:bodyPr wrap="square" anchor="t" lIns="45720" rIns="45720" tIns="27432" bIns="27432">
            <a:spAutoFit/>
          </a:bodyPr>
          <a:lstStyle/>
          <a:p>
            <a:pPr algn="l"/>
            <a:r>
              <a:rPr sz="1500" b="0">
                <a:solidFill>
                  <a:srgbClr val="647080"/>
                </a:solidFill>
                <a:latin typeface="Arial"/>
              </a:rPr>
              <a:t>System development</a:t>
            </a:r>
          </a:p>
        </p:txBody>
      </p:sp>
      <p:sp>
        <p:nvSpPr>
          <p:cNvPr id="9" name="TextBox 8"/>
          <p:cNvSpPr txBox="1"/>
          <p:nvPr/>
        </p:nvSpPr>
        <p:spPr>
          <a:xfrm>
            <a:off x="859536" y="4069080"/>
            <a:ext cx="3017520" cy="914400"/>
          </a:xfrm>
          <a:prstGeom prst="rect">
            <a:avLst/>
          </a:prstGeom>
          <a:noFill/>
        </p:spPr>
        <p:txBody>
          <a:bodyPr wrap="square" anchor="t" lIns="45720" rIns="45720" tIns="27432" bIns="27432">
            <a:spAutoFit/>
          </a:bodyPr>
          <a:lstStyle/>
          <a:p>
            <a:pPr algn="l"/>
            <a:r>
              <a:rPr sz="1400" b="0">
                <a:solidFill>
                  <a:srgbClr val="13263A"/>
                </a:solidFill>
                <a:latin typeface="Arial"/>
              </a:rPr>
              <a:t>Requirements overview, existing foundation and the structure of the remaining requirements</a:t>
            </a:r>
          </a:p>
        </p:txBody>
      </p:sp>
      <p:sp>
        <p:nvSpPr>
          <p:cNvPr id="10" name="TextBox 9"/>
          <p:cNvSpPr txBox="1"/>
          <p:nvPr/>
        </p:nvSpPr>
        <p:spPr>
          <a:xfrm>
            <a:off x="859536" y="5029200"/>
            <a:ext cx="3017520" cy="320040"/>
          </a:xfrm>
          <a:prstGeom prst="rect">
            <a:avLst/>
          </a:prstGeom>
          <a:noFill/>
        </p:spPr>
        <p:txBody>
          <a:bodyPr wrap="square" anchor="t" lIns="45720" rIns="45720" tIns="27432" bIns="27432">
            <a:spAutoFit/>
          </a:bodyPr>
          <a:lstStyle/>
          <a:p>
            <a:pPr algn="l"/>
            <a:r>
              <a:rPr sz="1400" b="1">
                <a:solidFill>
                  <a:srgbClr val="255CF0"/>
                </a:solidFill>
                <a:latin typeface="Arial"/>
              </a:rPr>
              <a:t>≈ 4.5 min</a:t>
            </a:r>
          </a:p>
        </p:txBody>
      </p:sp>
      <p:sp>
        <p:nvSpPr>
          <p:cNvPr id="11" name="Rectangle 10"/>
          <p:cNvSpPr/>
          <p:nvPr/>
        </p:nvSpPr>
        <p:spPr>
          <a:xfrm>
            <a:off x="4379975" y="2103120"/>
            <a:ext cx="3429000" cy="33832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5" y="2286000"/>
            <a:ext cx="1371600" cy="822960"/>
          </a:xfrm>
          <a:prstGeom prst="rect">
            <a:avLst/>
          </a:prstGeom>
          <a:noFill/>
        </p:spPr>
        <p:txBody>
          <a:bodyPr wrap="square" anchor="t" lIns="45720" rIns="45720" tIns="27432" bIns="27432">
            <a:spAutoFit/>
          </a:bodyPr>
          <a:lstStyle/>
          <a:p>
            <a:pPr algn="l"/>
            <a:r>
              <a:rPr sz="4000" b="1">
                <a:solidFill>
                  <a:srgbClr val="255CF0"/>
                </a:solidFill>
                <a:latin typeface="Arial"/>
              </a:rPr>
              <a:t>02</a:t>
            </a:r>
          </a:p>
        </p:txBody>
      </p:sp>
      <p:sp>
        <p:nvSpPr>
          <p:cNvPr id="13" name="TextBox 12"/>
          <p:cNvSpPr txBox="1"/>
          <p:nvPr/>
        </p:nvSpPr>
        <p:spPr>
          <a:xfrm>
            <a:off x="4608575" y="3154680"/>
            <a:ext cx="3017520" cy="411480"/>
          </a:xfrm>
          <a:prstGeom prst="rect">
            <a:avLst/>
          </a:prstGeom>
          <a:noFill/>
        </p:spPr>
        <p:txBody>
          <a:bodyPr wrap="square" anchor="t" lIns="45720" rIns="45720" tIns="27432" bIns="27432">
            <a:spAutoFit/>
          </a:bodyPr>
          <a:lstStyle/>
          <a:p>
            <a:pPr algn="l"/>
            <a:r>
              <a:rPr sz="2000" b="1">
                <a:solidFill>
                  <a:srgbClr val="13263A"/>
                </a:solidFill>
                <a:latin typeface="Arial"/>
              </a:rPr>
              <a:t>Experimental progress</a:t>
            </a:r>
          </a:p>
        </p:txBody>
      </p:sp>
      <p:sp>
        <p:nvSpPr>
          <p:cNvPr id="14" name="TextBox 13"/>
          <p:cNvSpPr txBox="1"/>
          <p:nvPr/>
        </p:nvSpPr>
        <p:spPr>
          <a:xfrm>
            <a:off x="4608575" y="3566160"/>
            <a:ext cx="3017520" cy="365760"/>
          </a:xfrm>
          <a:prstGeom prst="rect">
            <a:avLst/>
          </a:prstGeom>
          <a:noFill/>
        </p:spPr>
        <p:txBody>
          <a:bodyPr wrap="square" anchor="t" lIns="45720" rIns="45720" tIns="27432" bIns="27432">
            <a:spAutoFit/>
          </a:bodyPr>
          <a:lstStyle/>
          <a:p>
            <a:pPr algn="l"/>
            <a:r>
              <a:rPr sz="1500" b="0">
                <a:solidFill>
                  <a:srgbClr val="647080"/>
                </a:solidFill>
                <a:latin typeface="Arial"/>
              </a:rPr>
              <a:t>Deliverables</a:t>
            </a:r>
          </a:p>
        </p:txBody>
      </p:sp>
      <p:sp>
        <p:nvSpPr>
          <p:cNvPr id="15" name="TextBox 14"/>
          <p:cNvSpPr txBox="1"/>
          <p:nvPr/>
        </p:nvSpPr>
        <p:spPr>
          <a:xfrm>
            <a:off x="4608575" y="4069080"/>
            <a:ext cx="3017520" cy="914400"/>
          </a:xfrm>
          <a:prstGeom prst="rect">
            <a:avLst/>
          </a:prstGeom>
          <a:noFill/>
        </p:spPr>
        <p:txBody>
          <a:bodyPr wrap="square" anchor="t" lIns="45720" rIns="45720" tIns="27432" bIns="27432">
            <a:spAutoFit/>
          </a:bodyPr>
          <a:lstStyle/>
          <a:p>
            <a:pPr algn="l"/>
            <a:r>
              <a:rPr sz="1400" b="0">
                <a:solidFill>
                  <a:srgbClr val="13263A"/>
                </a:solidFill>
                <a:latin typeface="Arial"/>
              </a:rPr>
              <a:t>Completed SRS content and the allocation of the remaining Assignment 1 work</a:t>
            </a:r>
          </a:p>
        </p:txBody>
      </p:sp>
      <p:sp>
        <p:nvSpPr>
          <p:cNvPr id="16" name="TextBox 15"/>
          <p:cNvSpPr txBox="1"/>
          <p:nvPr/>
        </p:nvSpPr>
        <p:spPr>
          <a:xfrm>
            <a:off x="4608575" y="5029200"/>
            <a:ext cx="3017520" cy="320040"/>
          </a:xfrm>
          <a:prstGeom prst="rect">
            <a:avLst/>
          </a:prstGeom>
          <a:noFill/>
        </p:spPr>
        <p:txBody>
          <a:bodyPr wrap="square" anchor="t" lIns="45720" rIns="45720" tIns="27432" bIns="27432">
            <a:spAutoFit/>
          </a:bodyPr>
          <a:lstStyle/>
          <a:p>
            <a:pPr algn="l"/>
            <a:r>
              <a:rPr sz="1400" b="1">
                <a:solidFill>
                  <a:srgbClr val="255CF0"/>
                </a:solidFill>
                <a:latin typeface="Arial"/>
              </a:rPr>
              <a:t>≈ 2.5 min</a:t>
            </a:r>
          </a:p>
        </p:txBody>
      </p:sp>
      <p:sp>
        <p:nvSpPr>
          <p:cNvPr id="17" name="Rectangle 16"/>
          <p:cNvSpPr/>
          <p:nvPr/>
        </p:nvSpPr>
        <p:spPr>
          <a:xfrm>
            <a:off x="8129015" y="2103120"/>
            <a:ext cx="3429000" cy="33832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5" y="2286000"/>
            <a:ext cx="1371600" cy="822960"/>
          </a:xfrm>
          <a:prstGeom prst="rect">
            <a:avLst/>
          </a:prstGeom>
          <a:noFill/>
        </p:spPr>
        <p:txBody>
          <a:bodyPr wrap="square" anchor="t" lIns="45720" rIns="45720" tIns="27432" bIns="27432">
            <a:spAutoFit/>
          </a:bodyPr>
          <a:lstStyle/>
          <a:p>
            <a:pPr algn="l"/>
            <a:r>
              <a:rPr sz="4000" b="1">
                <a:solidFill>
                  <a:srgbClr val="255CF0"/>
                </a:solidFill>
                <a:latin typeface="Arial"/>
              </a:rPr>
              <a:t>03</a:t>
            </a:r>
          </a:p>
        </p:txBody>
      </p:sp>
      <p:sp>
        <p:nvSpPr>
          <p:cNvPr id="19" name="TextBox 18"/>
          <p:cNvSpPr txBox="1"/>
          <p:nvPr/>
        </p:nvSpPr>
        <p:spPr>
          <a:xfrm>
            <a:off x="8357615" y="3154680"/>
            <a:ext cx="3017520" cy="411480"/>
          </a:xfrm>
          <a:prstGeom prst="rect">
            <a:avLst/>
          </a:prstGeom>
          <a:noFill/>
        </p:spPr>
        <p:txBody>
          <a:bodyPr wrap="square" anchor="t" lIns="45720" rIns="45720" tIns="27432" bIns="27432">
            <a:spAutoFit/>
          </a:bodyPr>
          <a:lstStyle/>
          <a:p>
            <a:pPr algn="l"/>
            <a:r>
              <a:rPr sz="2000" b="1">
                <a:solidFill>
                  <a:srgbClr val="13263A"/>
                </a:solidFill>
                <a:latin typeface="Arial"/>
              </a:rPr>
              <a:t>Project progress</a:t>
            </a:r>
          </a:p>
        </p:txBody>
      </p:sp>
      <p:sp>
        <p:nvSpPr>
          <p:cNvPr id="20" name="TextBox 19"/>
          <p:cNvSpPr txBox="1"/>
          <p:nvPr/>
        </p:nvSpPr>
        <p:spPr>
          <a:xfrm>
            <a:off x="8357615" y="3566160"/>
            <a:ext cx="3017520" cy="365760"/>
          </a:xfrm>
          <a:prstGeom prst="rect">
            <a:avLst/>
          </a:prstGeom>
          <a:noFill/>
        </p:spPr>
        <p:txBody>
          <a:bodyPr wrap="square" anchor="t" lIns="45720" rIns="45720" tIns="27432" bIns="27432">
            <a:spAutoFit/>
          </a:bodyPr>
          <a:lstStyle/>
          <a:p>
            <a:pPr algn="l"/>
            <a:r>
              <a:rPr sz="1500" b="0">
                <a:solidFill>
                  <a:srgbClr val="647080"/>
                </a:solidFill>
                <a:latin typeface="Arial"/>
              </a:rPr>
              <a:t>Team collaboration and management</a:t>
            </a:r>
          </a:p>
        </p:txBody>
      </p:sp>
      <p:sp>
        <p:nvSpPr>
          <p:cNvPr id="21" name="TextBox 20"/>
          <p:cNvSpPr txBox="1"/>
          <p:nvPr/>
        </p:nvSpPr>
        <p:spPr>
          <a:xfrm>
            <a:off x="8357615" y="4069080"/>
            <a:ext cx="3017520" cy="914400"/>
          </a:xfrm>
          <a:prstGeom prst="rect">
            <a:avLst/>
          </a:prstGeom>
          <a:noFill/>
        </p:spPr>
        <p:txBody>
          <a:bodyPr wrap="square" anchor="t" lIns="45720" rIns="45720" tIns="27432" bIns="27432">
            <a:spAutoFit/>
          </a:bodyPr>
          <a:lstStyle/>
          <a:p>
            <a:pPr algn="l"/>
            <a:r>
              <a:rPr sz="1400" b="0">
                <a:solidFill>
                  <a:srgbClr val="13263A"/>
                </a:solidFill>
                <a:latin typeface="Arial"/>
              </a:rPr>
              <a:t>Roles, responsibilities and the allocation of experimental tasks</a:t>
            </a:r>
          </a:p>
        </p:txBody>
      </p:sp>
      <p:sp>
        <p:nvSpPr>
          <p:cNvPr id="22" name="TextBox 21"/>
          <p:cNvSpPr txBox="1"/>
          <p:nvPr/>
        </p:nvSpPr>
        <p:spPr>
          <a:xfrm>
            <a:off x="8357615" y="5029200"/>
            <a:ext cx="3017520" cy="320040"/>
          </a:xfrm>
          <a:prstGeom prst="rect">
            <a:avLst/>
          </a:prstGeom>
          <a:noFill/>
        </p:spPr>
        <p:txBody>
          <a:bodyPr wrap="square" anchor="t" lIns="45720" rIns="45720" tIns="27432" bIns="27432">
            <a:spAutoFit/>
          </a:bodyPr>
          <a:lstStyle/>
          <a:p>
            <a:pPr algn="l"/>
            <a:r>
              <a:rPr sz="1400" b="1">
                <a:solidFill>
                  <a:srgbClr val="255CF0"/>
                </a:solidFill>
                <a:latin typeface="Arial"/>
              </a:rPr>
              <a:t>≈ 2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System requirements overview</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03</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01  Technical progress  ·  what the system must do</a:t>
            </a:r>
          </a:p>
        </p:txBody>
      </p:sp>
      <p:sp>
        <p:nvSpPr>
          <p:cNvPr id="5" name="TextBox 4"/>
          <p:cNvSpPr txBox="1"/>
          <p:nvPr/>
        </p:nvSpPr>
        <p:spPr>
          <a:xfrm>
            <a:off x="630936" y="1783080"/>
            <a:ext cx="5943600" cy="384048"/>
          </a:xfrm>
          <a:prstGeom prst="rect">
            <a:avLst/>
          </a:prstGeom>
          <a:noFill/>
        </p:spPr>
        <p:txBody>
          <a:bodyPr wrap="square" anchor="t" lIns="45720" rIns="45720" tIns="27432" bIns="27432">
            <a:spAutoFit/>
          </a:bodyPr>
          <a:lstStyle/>
          <a:p>
            <a:pPr algn="l"/>
            <a:r>
              <a:rPr sz="1650" b="1">
                <a:solidFill>
                  <a:srgbClr val="255CF0"/>
                </a:solidFill>
                <a:latin typeface="Arial"/>
              </a:rPr>
              <a:t>ARCHITECTURE (SRS 2.1)</a:t>
            </a:r>
          </a:p>
        </p:txBody>
      </p:sp>
      <p:sp>
        <p:nvSpPr>
          <p:cNvPr id="6" name="Rectangle 5"/>
          <p:cNvSpPr/>
          <p:nvPr/>
        </p:nvSpPr>
        <p:spPr>
          <a:xfrm>
            <a:off x="630936" y="2697480"/>
            <a:ext cx="1097280" cy="822960"/>
          </a:xfrm>
          <a:prstGeom prst="rect">
            <a:avLst/>
          </a:prstGeom>
          <a:solidFill>
            <a:srgbClr val="E6EAF0"/>
          </a:solidFill>
          <a:ln w="9525">
            <a:solidFill>
              <a:srgbClr val="647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13263A"/>
                </a:solidFill>
                <a:latin typeface="Arial"/>
              </a:rPr>
              <a:t>User</a:t>
            </a:r>
          </a:p>
          <a:p>
            <a:pPr algn="ctr"/>
            <a:r>
              <a:rPr sz="1150" b="0">
                <a:solidFill>
                  <a:srgbClr val="13263A"/>
                </a:solidFill>
                <a:latin typeface="Arial"/>
              </a:rPr>
              <a:t>AAC user</a:t>
            </a:r>
          </a:p>
        </p:txBody>
      </p:sp>
      <p:sp>
        <p:nvSpPr>
          <p:cNvPr id="7" name="Rectangle 6"/>
          <p:cNvSpPr/>
          <p:nvPr/>
        </p:nvSpPr>
        <p:spPr>
          <a:xfrm>
            <a:off x="2103120" y="2697480"/>
            <a:ext cx="1645920" cy="82296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Frontend</a:t>
            </a:r>
          </a:p>
          <a:p>
            <a:pPr algn="ctr"/>
            <a:r>
              <a:rPr sz="1150" b="0">
                <a:solidFill>
                  <a:srgbClr val="FFFFFF"/>
                </a:solidFill>
                <a:latin typeface="Arial"/>
              </a:rPr>
              <a:t>React, browser</a:t>
            </a:r>
          </a:p>
        </p:txBody>
      </p:sp>
      <p:sp>
        <p:nvSpPr>
          <p:cNvPr id="8" name="Rectangle 7"/>
          <p:cNvSpPr/>
          <p:nvPr/>
        </p:nvSpPr>
        <p:spPr>
          <a:xfrm>
            <a:off x="4663440" y="2697480"/>
            <a:ext cx="1645920" cy="82296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Backend API</a:t>
            </a:r>
          </a:p>
          <a:p>
            <a:pPr algn="ctr"/>
            <a:r>
              <a:rPr sz="1150" b="0">
                <a:solidFill>
                  <a:srgbClr val="FFFFFF"/>
                </a:solidFill>
                <a:latin typeface="Arial"/>
              </a:rPr>
              <a:t>FastAPI</a:t>
            </a:r>
          </a:p>
        </p:txBody>
      </p:sp>
      <p:sp>
        <p:nvSpPr>
          <p:cNvPr id="9" name="Rectangle 8"/>
          <p:cNvSpPr/>
          <p:nvPr/>
        </p:nvSpPr>
        <p:spPr>
          <a:xfrm>
            <a:off x="2103120" y="4251960"/>
            <a:ext cx="1645920" cy="822960"/>
          </a:xfrm>
          <a:prstGeom prst="rect">
            <a:avLst/>
          </a:prstGeom>
          <a:solidFill>
            <a:srgbClr val="E6EAF0"/>
          </a:solidFill>
          <a:ln w="9525">
            <a:solidFill>
              <a:srgbClr val="647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13263A"/>
                </a:solidFill>
                <a:latin typeface="Arial"/>
              </a:rPr>
              <a:t>Speech output</a:t>
            </a:r>
          </a:p>
          <a:p>
            <a:pPr algn="ctr"/>
            <a:r>
              <a:rPr sz="1150" b="0">
                <a:solidFill>
                  <a:srgbClr val="13263A"/>
                </a:solidFill>
                <a:latin typeface="Arial"/>
              </a:rPr>
              <a:t>English voice</a:t>
            </a:r>
          </a:p>
        </p:txBody>
      </p:sp>
      <p:sp>
        <p:nvSpPr>
          <p:cNvPr id="10" name="Rectangle 9"/>
          <p:cNvSpPr/>
          <p:nvPr/>
        </p:nvSpPr>
        <p:spPr>
          <a:xfrm>
            <a:off x="3977639" y="4251960"/>
            <a:ext cx="1783080" cy="822960"/>
          </a:xfrm>
          <a:prstGeom prst="rect">
            <a:avLst/>
          </a:prstGeom>
          <a:solidFill>
            <a:srgbClr val="E6EAF0"/>
          </a:solidFill>
          <a:ln w="9525">
            <a:solidFill>
              <a:srgbClr val="647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13263A"/>
                </a:solidFill>
                <a:latin typeface="Arial"/>
              </a:rPr>
              <a:t>Sentence provider</a:t>
            </a:r>
          </a:p>
          <a:p>
            <a:pPr algn="ctr"/>
            <a:r>
              <a:rPr sz="1150" b="0">
                <a:solidFill>
                  <a:srgbClr val="13263A"/>
                </a:solidFill>
                <a:latin typeface="Arial"/>
              </a:rPr>
              <a:t>mock now; VLM/LLM later</a:t>
            </a:r>
          </a:p>
        </p:txBody>
      </p:sp>
      <p:sp>
        <p:nvSpPr>
          <p:cNvPr id="11" name="Rectangle 10"/>
          <p:cNvSpPr/>
          <p:nvPr/>
        </p:nvSpPr>
        <p:spPr>
          <a:xfrm>
            <a:off x="5989320" y="4251960"/>
            <a:ext cx="1280160" cy="822960"/>
          </a:xfrm>
          <a:prstGeom prst="rect">
            <a:avLst/>
          </a:prstGeom>
          <a:solidFill>
            <a:srgbClr val="E6EAF0"/>
          </a:solidFill>
          <a:ln w="9525">
            <a:solidFill>
              <a:srgbClr val="647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13263A"/>
                </a:solidFill>
                <a:latin typeface="Arial"/>
              </a:rPr>
              <a:t>Database</a:t>
            </a:r>
          </a:p>
          <a:p>
            <a:pPr algn="ctr"/>
            <a:r>
              <a:rPr sz="1150" b="0">
                <a:solidFill>
                  <a:srgbClr val="13263A"/>
                </a:solidFill>
                <a:latin typeface="Arial"/>
              </a:rPr>
              <a:t>SQLite / PostgreSQL</a:t>
            </a:r>
          </a:p>
        </p:txBody>
      </p:sp>
      <p:cxnSp>
        <p:nvCxnSpPr>
          <p:cNvPr id="12" name="Connector 11"/>
          <p:cNvCxnSpPr/>
          <p:nvPr/>
        </p:nvCxnSpPr>
        <p:spPr>
          <a:xfrm>
            <a:off x="1728216" y="3108960"/>
            <a:ext cx="37490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49039" y="3108960"/>
            <a:ext cx="914401"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49039" y="2743200"/>
            <a:ext cx="914400" cy="274320"/>
          </a:xfrm>
          <a:prstGeom prst="rect">
            <a:avLst/>
          </a:prstGeom>
          <a:noFill/>
        </p:spPr>
        <p:txBody>
          <a:bodyPr wrap="square" anchor="t" lIns="45720" rIns="45720" tIns="27432" bIns="27432">
            <a:spAutoFit/>
          </a:bodyPr>
          <a:lstStyle/>
          <a:p>
            <a:pPr algn="ctr"/>
            <a:r>
              <a:rPr sz="1000" b="0">
                <a:solidFill>
                  <a:srgbClr val="647080"/>
                </a:solidFill>
                <a:latin typeface="Arial"/>
              </a:rPr>
              <a:t>HTTP/JSON</a:t>
            </a:r>
          </a:p>
        </p:txBody>
      </p:sp>
      <p:cxnSp>
        <p:nvCxnSpPr>
          <p:cNvPr id="15" name="Connector 14"/>
          <p:cNvCxnSpPr/>
          <p:nvPr/>
        </p:nvCxnSpPr>
        <p:spPr>
          <a:xfrm>
            <a:off x="2926080" y="3520440"/>
            <a:ext cx="0" cy="73152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892040" y="3520440"/>
            <a:ext cx="320040" cy="73152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52160" y="3520440"/>
            <a:ext cx="548640" cy="73152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06640" y="1783080"/>
            <a:ext cx="4206240" cy="384048"/>
          </a:xfrm>
          <a:prstGeom prst="rect">
            <a:avLst/>
          </a:prstGeom>
          <a:noFill/>
        </p:spPr>
        <p:txBody>
          <a:bodyPr wrap="square" anchor="t" lIns="45720" rIns="45720" tIns="27432" bIns="27432">
            <a:spAutoFit/>
          </a:bodyPr>
          <a:lstStyle/>
          <a:p>
            <a:pPr algn="l"/>
            <a:r>
              <a:rPr sz="1650" b="1">
                <a:solidFill>
                  <a:srgbClr val="255CF0"/>
                </a:solidFill>
                <a:latin typeface="Arial"/>
              </a:rPr>
              <a:t>PRODUCT FUNCTIONS (SRS 2.2)</a:t>
            </a:r>
          </a:p>
        </p:txBody>
      </p:sp>
      <p:sp>
        <p:nvSpPr>
          <p:cNvPr id="19" name="TextBox 18"/>
          <p:cNvSpPr txBox="1"/>
          <p:nvPr/>
        </p:nvSpPr>
        <p:spPr>
          <a:xfrm>
            <a:off x="7406640" y="228600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01</a:t>
            </a:r>
          </a:p>
        </p:txBody>
      </p:sp>
      <p:sp>
        <p:nvSpPr>
          <p:cNvPr id="20" name="TextBox 19"/>
          <p:cNvSpPr txBox="1"/>
          <p:nvPr/>
        </p:nvSpPr>
        <p:spPr>
          <a:xfrm>
            <a:off x="7818120" y="228600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Add context</a:t>
            </a:r>
          </a:p>
          <a:p>
            <a:pPr algn="l"/>
            <a:r>
              <a:rPr sz="1200" b="0">
                <a:solidFill>
                  <a:srgbClr val="647080"/>
                </a:solidFill>
                <a:latin typeface="Arial"/>
              </a:rPr>
              <a:t>symbols / intent text, scene hint, optional photo</a:t>
            </a:r>
          </a:p>
        </p:txBody>
      </p:sp>
      <p:sp>
        <p:nvSpPr>
          <p:cNvPr id="21" name="TextBox 20"/>
          <p:cNvSpPr txBox="1"/>
          <p:nvPr/>
        </p:nvSpPr>
        <p:spPr>
          <a:xfrm>
            <a:off x="7406640" y="283464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02</a:t>
            </a:r>
          </a:p>
        </p:txBody>
      </p:sp>
      <p:sp>
        <p:nvSpPr>
          <p:cNvPr id="22" name="TextBox 21"/>
          <p:cNvSpPr txBox="1"/>
          <p:nvPr/>
        </p:nvSpPr>
        <p:spPr>
          <a:xfrm>
            <a:off x="7818120" y="283464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Generate</a:t>
            </a:r>
          </a:p>
          <a:p>
            <a:pPr algn="l"/>
            <a:r>
              <a:rPr sz="1200" b="0">
                <a:solidFill>
                  <a:srgbClr val="647080"/>
                </a:solidFill>
                <a:latin typeface="Arial"/>
              </a:rPr>
              <a:t>up to three complete English sentences</a:t>
            </a:r>
          </a:p>
        </p:txBody>
      </p:sp>
      <p:sp>
        <p:nvSpPr>
          <p:cNvPr id="23" name="TextBox 22"/>
          <p:cNvSpPr txBox="1"/>
          <p:nvPr/>
        </p:nvSpPr>
        <p:spPr>
          <a:xfrm>
            <a:off x="7406640" y="338328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03</a:t>
            </a:r>
          </a:p>
        </p:txBody>
      </p:sp>
      <p:sp>
        <p:nvSpPr>
          <p:cNvPr id="24" name="TextBox 23"/>
          <p:cNvSpPr txBox="1"/>
          <p:nvPr/>
        </p:nvSpPr>
        <p:spPr>
          <a:xfrm>
            <a:off x="7818120" y="338328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Choose &amp; speak</a:t>
            </a:r>
          </a:p>
          <a:p>
            <a:pPr algn="l"/>
            <a:r>
              <a:rPr sz="1200" b="0">
                <a:solidFill>
                  <a:srgbClr val="647080"/>
                </a:solidFill>
                <a:latin typeface="Arial"/>
              </a:rPr>
              <a:t>spoken only after explicit confirmation</a:t>
            </a:r>
          </a:p>
        </p:txBody>
      </p:sp>
      <p:sp>
        <p:nvSpPr>
          <p:cNvPr id="25" name="TextBox 24"/>
          <p:cNvSpPr txBox="1"/>
          <p:nvPr/>
        </p:nvSpPr>
        <p:spPr>
          <a:xfrm>
            <a:off x="7406640" y="393192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04</a:t>
            </a:r>
          </a:p>
        </p:txBody>
      </p:sp>
      <p:sp>
        <p:nvSpPr>
          <p:cNvPr id="26" name="TextBox 25"/>
          <p:cNvSpPr txBox="1"/>
          <p:nvPr/>
        </p:nvSpPr>
        <p:spPr>
          <a:xfrm>
            <a:off x="7818120" y="393192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Reject &amp; regenerate</a:t>
            </a:r>
          </a:p>
          <a:p>
            <a:pPr algn="l"/>
            <a:r>
              <a:rPr sz="1200" b="0">
                <a:solidFill>
                  <a:srgbClr val="647080"/>
                </a:solidFill>
                <a:latin typeface="Arial"/>
              </a:rPr>
              <a:t>new options, no repeats</a:t>
            </a:r>
          </a:p>
        </p:txBody>
      </p:sp>
      <p:sp>
        <p:nvSpPr>
          <p:cNvPr id="27" name="TextBox 26"/>
          <p:cNvSpPr txBox="1"/>
          <p:nvPr/>
        </p:nvSpPr>
        <p:spPr>
          <a:xfrm>
            <a:off x="7406640" y="448056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05</a:t>
            </a:r>
          </a:p>
        </p:txBody>
      </p:sp>
      <p:sp>
        <p:nvSpPr>
          <p:cNvPr id="28" name="TextBox 27"/>
          <p:cNvSpPr txBox="1"/>
          <p:nvPr/>
        </p:nvSpPr>
        <p:spPr>
          <a:xfrm>
            <a:off x="7818120" y="448056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Keep records</a:t>
            </a:r>
          </a:p>
          <a:p>
            <a:pPr algn="l"/>
            <a:r>
              <a:rPr sz="1200" b="0">
                <a:solidFill>
                  <a:srgbClr val="647080"/>
                </a:solidFill>
                <a:latin typeface="Arial"/>
              </a:rPr>
              <a:t>requests, suggestions, feedback</a:t>
            </a:r>
          </a:p>
        </p:txBody>
      </p:sp>
      <p:sp>
        <p:nvSpPr>
          <p:cNvPr id="29" name="TextBox 28"/>
          <p:cNvSpPr txBox="1"/>
          <p:nvPr/>
        </p:nvSpPr>
        <p:spPr>
          <a:xfrm>
            <a:off x="7406640" y="5029200"/>
            <a:ext cx="411480" cy="457200"/>
          </a:xfrm>
          <a:prstGeom prst="rect">
            <a:avLst/>
          </a:prstGeom>
          <a:noFill/>
        </p:spPr>
        <p:txBody>
          <a:bodyPr wrap="square" anchor="t" lIns="45720" rIns="45720" tIns="27432" bIns="27432">
            <a:spAutoFit/>
          </a:bodyPr>
          <a:lstStyle/>
          <a:p>
            <a:pPr algn="l"/>
            <a:r>
              <a:rPr sz="1400" b="1">
                <a:solidFill>
                  <a:srgbClr val="255CF0"/>
                </a:solidFill>
                <a:latin typeface="Arial"/>
              </a:rPr>
              <a:t>06</a:t>
            </a:r>
          </a:p>
        </p:txBody>
      </p:sp>
      <p:sp>
        <p:nvSpPr>
          <p:cNvPr id="30" name="TextBox 29"/>
          <p:cNvSpPr txBox="1"/>
          <p:nvPr/>
        </p:nvSpPr>
        <p:spPr>
          <a:xfrm>
            <a:off x="7818120" y="5029200"/>
            <a:ext cx="3749039" cy="502920"/>
          </a:xfrm>
          <a:prstGeom prst="rect">
            <a:avLst/>
          </a:prstGeom>
          <a:noFill/>
        </p:spPr>
        <p:txBody>
          <a:bodyPr wrap="square" anchor="t" lIns="45720" rIns="45720" tIns="27432" bIns="27432">
            <a:spAutoFit/>
          </a:bodyPr>
          <a:lstStyle/>
          <a:p>
            <a:pPr algn="l"/>
            <a:r>
              <a:rPr sz="1400" b="1">
                <a:solidFill>
                  <a:srgbClr val="13263A"/>
                </a:solidFill>
                <a:latin typeface="Arial"/>
              </a:rPr>
              <a:t>Operate</a:t>
            </a:r>
          </a:p>
          <a:p>
            <a:pPr algn="l"/>
            <a:r>
              <a:rPr sz="1200" b="0">
                <a:solidFill>
                  <a:srgbClr val="647080"/>
                </a:solidFill>
                <a:latin typeface="Arial"/>
              </a:rPr>
              <a:t>health / readiness, configuration</a:t>
            </a:r>
          </a:p>
        </p:txBody>
      </p:sp>
      <p:sp>
        <p:nvSpPr>
          <p:cNvPr id="31" name="TextBox 30"/>
          <p:cNvSpPr txBox="1"/>
          <p:nvPr/>
        </p:nvSpPr>
        <p:spPr>
          <a:xfrm>
            <a:off x="630936" y="5669280"/>
            <a:ext cx="6583680" cy="365760"/>
          </a:xfrm>
          <a:prstGeom prst="rect">
            <a:avLst/>
          </a:prstGeom>
          <a:noFill/>
        </p:spPr>
        <p:txBody>
          <a:bodyPr wrap="square" anchor="t" lIns="45720" rIns="45720" tIns="27432" bIns="27432">
            <a:spAutoFit/>
          </a:bodyPr>
          <a:lstStyle/>
          <a:p>
            <a:pPr algn="l"/>
            <a:r>
              <a:rPr sz="1400" b="1">
                <a:solidFill>
                  <a:srgbClr val="255CF0"/>
                </a:solidFill>
                <a:latin typeface="Arial"/>
              </a:rPr>
              <a:t>English only  ·  web first, mobile optional  ·  AI behind one interface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Existing foundation: backend starter v0.1</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04</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01  Technical progress  ·  what already runs</a:t>
            </a:r>
          </a:p>
        </p:txBody>
      </p:sp>
      <p:sp>
        <p:nvSpPr>
          <p:cNvPr id="5" name="Rectangle 4"/>
          <p:cNvSpPr/>
          <p:nvPr/>
        </p:nvSpPr>
        <p:spPr>
          <a:xfrm>
            <a:off x="630936" y="1783080"/>
            <a:ext cx="3429000" cy="12344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5" y="1828800"/>
            <a:ext cx="3108960" cy="685800"/>
          </a:xfrm>
          <a:prstGeom prst="rect">
            <a:avLst/>
          </a:prstGeom>
          <a:noFill/>
        </p:spPr>
        <p:txBody>
          <a:bodyPr wrap="square" anchor="t" lIns="45720" rIns="45720" tIns="27432" bIns="27432">
            <a:spAutoFit/>
          </a:bodyPr>
          <a:lstStyle/>
          <a:p>
            <a:pPr algn="l"/>
            <a:r>
              <a:rPr sz="3600" b="1">
                <a:solidFill>
                  <a:srgbClr val="255CF0"/>
                </a:solidFill>
                <a:latin typeface="Arial"/>
              </a:rPr>
              <a:t>6</a:t>
            </a:r>
          </a:p>
        </p:txBody>
      </p:sp>
      <p:sp>
        <p:nvSpPr>
          <p:cNvPr id="7" name="TextBox 6"/>
          <p:cNvSpPr txBox="1"/>
          <p:nvPr/>
        </p:nvSpPr>
        <p:spPr>
          <a:xfrm>
            <a:off x="813815" y="2542032"/>
            <a:ext cx="3108960" cy="365760"/>
          </a:xfrm>
          <a:prstGeom prst="rect">
            <a:avLst/>
          </a:prstGeom>
          <a:noFill/>
        </p:spPr>
        <p:txBody>
          <a:bodyPr wrap="square" anchor="t" lIns="45720" rIns="45720" tIns="27432" bIns="27432">
            <a:spAutoFit/>
          </a:bodyPr>
          <a:lstStyle/>
          <a:p>
            <a:pPr algn="l"/>
            <a:r>
              <a:rPr sz="1400" b="0">
                <a:solidFill>
                  <a:srgbClr val="647080"/>
                </a:solidFill>
                <a:latin typeface="Arial"/>
              </a:rPr>
              <a:t>API endpoints (API v0.1)</a:t>
            </a:r>
          </a:p>
        </p:txBody>
      </p:sp>
      <p:sp>
        <p:nvSpPr>
          <p:cNvPr id="8" name="Rectangle 7"/>
          <p:cNvSpPr/>
          <p:nvPr/>
        </p:nvSpPr>
        <p:spPr>
          <a:xfrm>
            <a:off x="4379975" y="1783080"/>
            <a:ext cx="3429000" cy="12344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5" y="1828800"/>
            <a:ext cx="3108960" cy="685800"/>
          </a:xfrm>
          <a:prstGeom prst="rect">
            <a:avLst/>
          </a:prstGeom>
          <a:noFill/>
        </p:spPr>
        <p:txBody>
          <a:bodyPr wrap="square" anchor="t" lIns="45720" rIns="45720" tIns="27432" bIns="27432">
            <a:spAutoFit/>
          </a:bodyPr>
          <a:lstStyle/>
          <a:p>
            <a:pPr algn="l"/>
            <a:r>
              <a:rPr sz="3600" b="1">
                <a:solidFill>
                  <a:srgbClr val="255CF0"/>
                </a:solidFill>
                <a:latin typeface="Arial"/>
              </a:rPr>
              <a:t>26</a:t>
            </a:r>
          </a:p>
        </p:txBody>
      </p:sp>
      <p:sp>
        <p:nvSpPr>
          <p:cNvPr id="10" name="TextBox 9"/>
          <p:cNvSpPr txBox="1"/>
          <p:nvPr/>
        </p:nvSpPr>
        <p:spPr>
          <a:xfrm>
            <a:off x="4562855" y="2542032"/>
            <a:ext cx="3108960" cy="365760"/>
          </a:xfrm>
          <a:prstGeom prst="rect">
            <a:avLst/>
          </a:prstGeom>
          <a:noFill/>
        </p:spPr>
        <p:txBody>
          <a:bodyPr wrap="square" anchor="t" lIns="45720" rIns="45720" tIns="27432" bIns="27432">
            <a:spAutoFit/>
          </a:bodyPr>
          <a:lstStyle/>
          <a:p>
            <a:pPr algn="l"/>
            <a:r>
              <a:rPr sz="1400" b="0">
                <a:solidFill>
                  <a:srgbClr val="647080"/>
                </a:solidFill>
                <a:latin typeface="Arial"/>
              </a:rPr>
              <a:t>automated test cases passed</a:t>
            </a:r>
          </a:p>
        </p:txBody>
      </p:sp>
      <p:sp>
        <p:nvSpPr>
          <p:cNvPr id="11" name="Rectangle 10"/>
          <p:cNvSpPr/>
          <p:nvPr/>
        </p:nvSpPr>
        <p:spPr>
          <a:xfrm>
            <a:off x="8129015" y="1783080"/>
            <a:ext cx="3429000" cy="12344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1895" y="1828800"/>
            <a:ext cx="3108960" cy="685800"/>
          </a:xfrm>
          <a:prstGeom prst="rect">
            <a:avLst/>
          </a:prstGeom>
          <a:noFill/>
        </p:spPr>
        <p:txBody>
          <a:bodyPr wrap="square" anchor="t" lIns="45720" rIns="45720" tIns="27432" bIns="27432">
            <a:spAutoFit/>
          </a:bodyPr>
          <a:lstStyle/>
          <a:p>
            <a:pPr algn="l"/>
            <a:r>
              <a:rPr sz="3600" b="1">
                <a:solidFill>
                  <a:srgbClr val="255CF0"/>
                </a:solidFill>
                <a:latin typeface="Arial"/>
              </a:rPr>
              <a:t>19 / 45</a:t>
            </a:r>
          </a:p>
        </p:txBody>
      </p:sp>
      <p:sp>
        <p:nvSpPr>
          <p:cNvPr id="13" name="TextBox 12"/>
          <p:cNvSpPr txBox="1"/>
          <p:nvPr/>
        </p:nvSpPr>
        <p:spPr>
          <a:xfrm>
            <a:off x="8311895" y="2542032"/>
            <a:ext cx="3108960" cy="365760"/>
          </a:xfrm>
          <a:prstGeom prst="rect">
            <a:avLst/>
          </a:prstGeom>
          <a:noFill/>
        </p:spPr>
        <p:txBody>
          <a:bodyPr wrap="square" anchor="t" lIns="45720" rIns="45720" tIns="27432" bIns="27432">
            <a:spAutoFit/>
          </a:bodyPr>
          <a:lstStyle/>
          <a:p>
            <a:pPr algn="l"/>
            <a:r>
              <a:rPr sz="1400" b="0">
                <a:solidFill>
                  <a:srgbClr val="647080"/>
                </a:solidFill>
                <a:latin typeface="Arial"/>
              </a:rPr>
              <a:t>requirements passed (5 partly)</a:t>
            </a:r>
          </a:p>
        </p:txBody>
      </p:sp>
      <p:sp>
        <p:nvSpPr>
          <p:cNvPr id="14" name="TextBox 13"/>
          <p:cNvSpPr txBox="1"/>
          <p:nvPr/>
        </p:nvSpPr>
        <p:spPr>
          <a:xfrm>
            <a:off x="630936" y="3246120"/>
            <a:ext cx="5303520" cy="384048"/>
          </a:xfrm>
          <a:prstGeom prst="rect">
            <a:avLst/>
          </a:prstGeom>
          <a:noFill/>
        </p:spPr>
        <p:txBody>
          <a:bodyPr wrap="square" anchor="t" lIns="45720" rIns="45720" tIns="27432" bIns="27432">
            <a:spAutoFit/>
          </a:bodyPr>
          <a:lstStyle/>
          <a:p>
            <a:pPr algn="l"/>
            <a:r>
              <a:rPr sz="1650" b="1">
                <a:solidFill>
                  <a:srgbClr val="255CF0"/>
                </a:solidFill>
                <a:latin typeface="Arial"/>
              </a:rPr>
              <a:t>WHAT WORKS</a:t>
            </a:r>
          </a:p>
        </p:txBody>
      </p:sp>
      <p:sp>
        <p:nvSpPr>
          <p:cNvPr id="15" name="TextBox 14"/>
          <p:cNvSpPr txBox="1"/>
          <p:nvPr/>
        </p:nvSpPr>
        <p:spPr>
          <a:xfrm>
            <a:off x="630936" y="3657600"/>
            <a:ext cx="5303520" cy="2194560"/>
          </a:xfrm>
          <a:prstGeom prst="rect">
            <a:avLst/>
          </a:prstGeom>
          <a:noFill/>
        </p:spPr>
        <p:txBody>
          <a:bodyPr wrap="square" anchor="t" lIns="45720" rIns="45720" tIns="27432" bIns="27432">
            <a:spAutoFit/>
          </a:bodyPr>
          <a:lstStyle/>
          <a:p>
            <a:pPr algn="l">
              <a:spcAft>
                <a:spcPts val="500"/>
              </a:spcAft>
            </a:pPr>
            <a:r>
              <a:rPr sz="1500" b="1">
                <a:solidFill>
                  <a:srgbClr val="1F8A5B"/>
                </a:solidFill>
                <a:latin typeface="Arial"/>
              </a:rPr>
              <a:t>✓  </a:t>
            </a:r>
            <a:r>
              <a:rPr sz="1500" b="0">
                <a:solidFill>
                  <a:srgbClr val="13263A"/>
                </a:solidFill>
                <a:latin typeface="Arial"/>
              </a:rPr>
              <a:t>Input validation: symbols, intent, scene hint</a:t>
            </a:r>
          </a:p>
          <a:p>
            <a:pPr algn="l">
              <a:spcAft>
                <a:spcPts val="500"/>
              </a:spcAft>
            </a:pPr>
            <a:r>
              <a:rPr sz="1500" b="1">
                <a:solidFill>
                  <a:srgbClr val="1F8A5B"/>
                </a:solidFill>
                <a:latin typeface="Arial"/>
              </a:rPr>
              <a:t>✓  </a:t>
            </a:r>
            <a:r>
              <a:rPr sz="1500" b="0">
                <a:solidFill>
                  <a:srgbClr val="13263A"/>
                </a:solidFill>
                <a:latin typeface="Arial"/>
              </a:rPr>
              <a:t>Photo check, resize and metadata removal</a:t>
            </a:r>
          </a:p>
          <a:p>
            <a:pPr algn="l">
              <a:spcAft>
                <a:spcPts val="500"/>
              </a:spcAft>
            </a:pPr>
            <a:r>
              <a:rPr sz="1500" b="1">
                <a:solidFill>
                  <a:srgbClr val="1F8A5B"/>
                </a:solidFill>
                <a:latin typeface="Arial"/>
              </a:rPr>
              <a:t>✓  </a:t>
            </a:r>
            <a:r>
              <a:rPr sz="1500" b="0">
                <a:solidFill>
                  <a:srgbClr val="13263A"/>
                </a:solidFill>
                <a:latin typeface="Arial"/>
              </a:rPr>
              <a:t>Mock suggestions, accept / reject, no repeats</a:t>
            </a:r>
          </a:p>
          <a:p>
            <a:pPr algn="l">
              <a:spcAft>
                <a:spcPts val="500"/>
              </a:spcAft>
            </a:pPr>
            <a:r>
              <a:rPr sz="1500" b="1">
                <a:solidFill>
                  <a:srgbClr val="1F8A5B"/>
                </a:solidFill>
                <a:latin typeface="Arial"/>
              </a:rPr>
              <a:t>✓  </a:t>
            </a:r>
            <a:r>
              <a:rPr sz="1500" b="0">
                <a:solidFill>
                  <a:srgbClr val="13263A"/>
                </a:solidFill>
                <a:latin typeface="Arial"/>
              </a:rPr>
              <a:t>Persistence with Alembic migrations (SQLite)</a:t>
            </a:r>
          </a:p>
          <a:p>
            <a:pPr algn="l">
              <a:spcAft>
                <a:spcPts val="500"/>
              </a:spcAft>
            </a:pPr>
            <a:r>
              <a:rPr sz="1500" b="1">
                <a:solidFill>
                  <a:srgbClr val="1F8A5B"/>
                </a:solidFill>
                <a:latin typeface="Arial"/>
              </a:rPr>
              <a:t>✓  </a:t>
            </a:r>
            <a:r>
              <a:rPr sz="1500" b="0">
                <a:solidFill>
                  <a:srgbClr val="13263A"/>
                </a:solidFill>
                <a:latin typeface="Arial"/>
              </a:rPr>
              <a:t>/health and /ready checks; CI on every push</a:t>
            </a:r>
          </a:p>
        </p:txBody>
      </p:sp>
      <p:sp>
        <p:nvSpPr>
          <p:cNvPr id="16" name="TextBox 15"/>
          <p:cNvSpPr txBox="1"/>
          <p:nvPr/>
        </p:nvSpPr>
        <p:spPr>
          <a:xfrm>
            <a:off x="6400800" y="3246120"/>
            <a:ext cx="5212080" cy="384048"/>
          </a:xfrm>
          <a:prstGeom prst="rect">
            <a:avLst/>
          </a:prstGeom>
          <a:noFill/>
        </p:spPr>
        <p:txBody>
          <a:bodyPr wrap="square" anchor="t" lIns="45720" rIns="45720" tIns="27432" bIns="27432">
            <a:spAutoFit/>
          </a:bodyPr>
          <a:lstStyle/>
          <a:p>
            <a:pPr algn="l"/>
            <a:r>
              <a:rPr sz="1650" b="1">
                <a:solidFill>
                  <a:srgbClr val="255CF0"/>
                </a:solidFill>
                <a:latin typeface="Arial"/>
              </a:rPr>
              <a:t>NOT YET DONE</a:t>
            </a:r>
          </a:p>
        </p:txBody>
      </p:sp>
      <p:sp>
        <p:nvSpPr>
          <p:cNvPr id="17" name="TextBox 16"/>
          <p:cNvSpPr txBox="1"/>
          <p:nvPr/>
        </p:nvSpPr>
        <p:spPr>
          <a:xfrm>
            <a:off x="6400800" y="3657600"/>
            <a:ext cx="5212080" cy="2194560"/>
          </a:xfrm>
          <a:prstGeom prst="rect">
            <a:avLst/>
          </a:prstGeom>
          <a:noFill/>
        </p:spPr>
        <p:txBody>
          <a:bodyPr wrap="square" anchor="t" lIns="45720" rIns="45720" tIns="27432" bIns="27432">
            <a:spAutoFit/>
          </a:bodyPr>
          <a:lstStyle/>
          <a:p>
            <a:pPr algn="l">
              <a:spcAft>
                <a:spcPts val="500"/>
              </a:spcAft>
            </a:pPr>
            <a:r>
              <a:rPr sz="1500" b="1">
                <a:solidFill>
                  <a:srgbClr val="255CF0"/>
                </a:solidFill>
                <a:latin typeface="Arial"/>
              </a:rPr>
              <a:t>○  </a:t>
            </a:r>
            <a:r>
              <a:rPr sz="1500" b="0">
                <a:solidFill>
                  <a:srgbClr val="13263A"/>
                </a:solidFill>
                <a:latin typeface="Arial"/>
              </a:rPr>
              <a:t>Real AI provider (mock only, not AI)</a:t>
            </a:r>
          </a:p>
          <a:p>
            <a:pPr algn="l">
              <a:spcAft>
                <a:spcPts val="500"/>
              </a:spcAft>
            </a:pPr>
            <a:r>
              <a:rPr sz="1500" b="1">
                <a:solidFill>
                  <a:srgbClr val="255CF0"/>
                </a:solidFill>
                <a:latin typeface="Arial"/>
              </a:rPr>
              <a:t>○  </a:t>
            </a:r>
            <a:r>
              <a:rPr sz="1500" b="0">
                <a:solidFill>
                  <a:srgbClr val="13263A"/>
                </a:solidFill>
                <a:latin typeface="Arial"/>
              </a:rPr>
              <a:t>Team web frontend (only a demo test page)</a:t>
            </a:r>
          </a:p>
          <a:p>
            <a:pPr algn="l">
              <a:spcAft>
                <a:spcPts val="500"/>
              </a:spcAft>
            </a:pPr>
            <a:r>
              <a:rPr sz="1500" b="1">
                <a:solidFill>
                  <a:srgbClr val="255CF0"/>
                </a:solidFill>
                <a:latin typeface="Arial"/>
              </a:rPr>
              <a:t>○  </a:t>
            </a:r>
            <a:r>
              <a:rPr sz="1500" b="0">
                <a:solidFill>
                  <a:srgbClr val="13263A"/>
                </a:solidFill>
                <a:latin typeface="Arial"/>
              </a:rPr>
              <a:t>Authentication and user ownership</a:t>
            </a:r>
          </a:p>
          <a:p>
            <a:pPr algn="l">
              <a:spcAft>
                <a:spcPts val="500"/>
              </a:spcAft>
            </a:pPr>
            <a:r>
              <a:rPr sz="1500" b="1">
                <a:solidFill>
                  <a:srgbClr val="255CF0"/>
                </a:solidFill>
                <a:latin typeface="Arial"/>
              </a:rPr>
              <a:t>○  </a:t>
            </a:r>
            <a:r>
              <a:rPr sz="1500" b="0">
                <a:solidFill>
                  <a:srgbClr val="13263A"/>
                </a:solidFill>
                <a:latin typeface="Arial"/>
              </a:rPr>
              <a:t>Docker Compose deployment and hosting</a:t>
            </a:r>
          </a:p>
          <a:p>
            <a:pPr algn="l">
              <a:spcAft>
                <a:spcPts val="500"/>
              </a:spcAft>
            </a:pPr>
            <a:r>
              <a:rPr sz="1500" b="1">
                <a:solidFill>
                  <a:srgbClr val="255CF0"/>
                </a:solidFill>
                <a:latin typeface="Arial"/>
              </a:rPr>
              <a:t>○  </a:t>
            </a:r>
            <a:r>
              <a:rPr sz="1500" b="0">
                <a:solidFill>
                  <a:srgbClr val="13263A"/>
                </a:solidFill>
                <a:latin typeface="Arial"/>
              </a:rPr>
              <a:t>Live PostgreSQL and Windows verification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45 requirements in six areas</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05</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01  Technical progress  ·  classification and current status (SRS 3 and 4)</a:t>
            </a:r>
          </a:p>
        </p:txBody>
      </p:sp>
      <p:graphicFrame>
        <p:nvGraphicFramePr>
          <p:cNvPr id="5" name="Chart 4"/>
          <p:cNvGraphicFramePr>
            <a:graphicFrameLocks noGrp="1"/>
          </p:cNvGraphicFramePr>
          <p:nvPr/>
        </p:nvGraphicFramePr>
        <p:xfrm>
          <a:off x="457200" y="1737360"/>
          <a:ext cx="7589520" cy="4343400"/>
        </p:xfrm>
        <a:graphic>
          <a:graphicData uri="http://schemas.openxmlformats.org/drawingml/2006/chart">
            <c:chart xmlns:c="http://schemas.openxmlformats.org/drawingml/2006/chart" r:id="rId3"/>
          </a:graphicData>
        </a:graphic>
      </p:graphicFrame>
      <p:sp>
        <p:nvSpPr>
          <p:cNvPr id="6" name="TextBox 5"/>
          <p:cNvSpPr txBox="1"/>
          <p:nvPr/>
        </p:nvSpPr>
        <p:spPr>
          <a:xfrm>
            <a:off x="8503920" y="1828800"/>
            <a:ext cx="1280160" cy="685800"/>
          </a:xfrm>
          <a:prstGeom prst="rect">
            <a:avLst/>
          </a:prstGeom>
          <a:noFill/>
        </p:spPr>
        <p:txBody>
          <a:bodyPr wrap="square" anchor="t" lIns="45720" rIns="45720" tIns="27432" bIns="27432">
            <a:spAutoFit/>
          </a:bodyPr>
          <a:lstStyle/>
          <a:p>
            <a:pPr algn="l"/>
            <a:r>
              <a:rPr sz="3600" b="1">
                <a:solidFill>
                  <a:srgbClr val="1F8A5B"/>
                </a:solidFill>
                <a:latin typeface="Arial"/>
              </a:rPr>
              <a:t>19</a:t>
            </a:r>
          </a:p>
        </p:txBody>
      </p:sp>
      <p:sp>
        <p:nvSpPr>
          <p:cNvPr id="7" name="TextBox 6"/>
          <p:cNvSpPr txBox="1"/>
          <p:nvPr/>
        </p:nvSpPr>
        <p:spPr>
          <a:xfrm>
            <a:off x="9692640" y="1993392"/>
            <a:ext cx="1920240" cy="457200"/>
          </a:xfrm>
          <a:prstGeom prst="rect">
            <a:avLst/>
          </a:prstGeom>
          <a:noFill/>
        </p:spPr>
        <p:txBody>
          <a:bodyPr wrap="square" anchor="t" lIns="45720" rIns="45720" tIns="27432" bIns="27432">
            <a:spAutoFit/>
          </a:bodyPr>
          <a:lstStyle/>
          <a:p>
            <a:pPr algn="l"/>
            <a:r>
              <a:rPr sz="1400" b="0">
                <a:solidFill>
                  <a:srgbClr val="647080"/>
                </a:solidFill>
                <a:latin typeface="Arial"/>
              </a:rPr>
              <a:t>passed</a:t>
            </a:r>
          </a:p>
        </p:txBody>
      </p:sp>
      <p:sp>
        <p:nvSpPr>
          <p:cNvPr id="8" name="TextBox 7"/>
          <p:cNvSpPr txBox="1"/>
          <p:nvPr/>
        </p:nvSpPr>
        <p:spPr>
          <a:xfrm>
            <a:off x="8503920" y="2834640"/>
            <a:ext cx="1280160" cy="685800"/>
          </a:xfrm>
          <a:prstGeom prst="rect">
            <a:avLst/>
          </a:prstGeom>
          <a:noFill/>
        </p:spPr>
        <p:txBody>
          <a:bodyPr wrap="square" anchor="t" lIns="45720" rIns="45720" tIns="27432" bIns="27432">
            <a:spAutoFit/>
          </a:bodyPr>
          <a:lstStyle/>
          <a:p>
            <a:pPr algn="l"/>
            <a:r>
              <a:rPr sz="3600" b="1">
                <a:solidFill>
                  <a:srgbClr val="255CF0"/>
                </a:solidFill>
                <a:latin typeface="Arial"/>
              </a:rPr>
              <a:t>8</a:t>
            </a:r>
          </a:p>
        </p:txBody>
      </p:sp>
      <p:sp>
        <p:nvSpPr>
          <p:cNvPr id="9" name="TextBox 8"/>
          <p:cNvSpPr txBox="1"/>
          <p:nvPr/>
        </p:nvSpPr>
        <p:spPr>
          <a:xfrm>
            <a:off x="9692640" y="2999232"/>
            <a:ext cx="1920240" cy="457200"/>
          </a:xfrm>
          <a:prstGeom prst="rect">
            <a:avLst/>
          </a:prstGeom>
          <a:noFill/>
        </p:spPr>
        <p:txBody>
          <a:bodyPr wrap="square" anchor="t" lIns="45720" rIns="45720" tIns="27432" bIns="27432">
            <a:spAutoFit/>
          </a:bodyPr>
          <a:lstStyle/>
          <a:p>
            <a:pPr algn="l"/>
            <a:r>
              <a:rPr sz="1400" b="0">
                <a:solidFill>
                  <a:srgbClr val="647080"/>
                </a:solidFill>
                <a:latin typeface="Arial"/>
              </a:rPr>
              <a:t>in progress</a:t>
            </a:r>
          </a:p>
        </p:txBody>
      </p:sp>
      <p:sp>
        <p:nvSpPr>
          <p:cNvPr id="10" name="TextBox 9"/>
          <p:cNvSpPr txBox="1"/>
          <p:nvPr/>
        </p:nvSpPr>
        <p:spPr>
          <a:xfrm>
            <a:off x="8503920" y="3840480"/>
            <a:ext cx="1280160" cy="685800"/>
          </a:xfrm>
          <a:prstGeom prst="rect">
            <a:avLst/>
          </a:prstGeom>
          <a:noFill/>
        </p:spPr>
        <p:txBody>
          <a:bodyPr wrap="square" anchor="t" lIns="45720" rIns="45720" tIns="27432" bIns="27432">
            <a:spAutoFit/>
          </a:bodyPr>
          <a:lstStyle/>
          <a:p>
            <a:pPr algn="l"/>
            <a:r>
              <a:rPr sz="3600" b="1">
                <a:solidFill>
                  <a:srgbClr val="647080"/>
                </a:solidFill>
                <a:latin typeface="Arial"/>
              </a:rPr>
              <a:t>6</a:t>
            </a:r>
          </a:p>
        </p:txBody>
      </p:sp>
      <p:sp>
        <p:nvSpPr>
          <p:cNvPr id="11" name="TextBox 10"/>
          <p:cNvSpPr txBox="1"/>
          <p:nvPr/>
        </p:nvSpPr>
        <p:spPr>
          <a:xfrm>
            <a:off x="9692640" y="4005072"/>
            <a:ext cx="1920240" cy="457200"/>
          </a:xfrm>
          <a:prstGeom prst="rect">
            <a:avLst/>
          </a:prstGeom>
          <a:noFill/>
        </p:spPr>
        <p:txBody>
          <a:bodyPr wrap="square" anchor="t" lIns="45720" rIns="45720" tIns="27432" bIns="27432">
            <a:spAutoFit/>
          </a:bodyPr>
          <a:lstStyle/>
          <a:p>
            <a:pPr algn="l"/>
            <a:r>
              <a:rPr sz="1400" b="0">
                <a:solidFill>
                  <a:srgbClr val="647080"/>
                </a:solidFill>
                <a:latin typeface="Arial"/>
              </a:rPr>
              <a:t>manual check not run</a:t>
            </a:r>
          </a:p>
        </p:txBody>
      </p:sp>
      <p:sp>
        <p:nvSpPr>
          <p:cNvPr id="12" name="TextBox 11"/>
          <p:cNvSpPr txBox="1"/>
          <p:nvPr/>
        </p:nvSpPr>
        <p:spPr>
          <a:xfrm>
            <a:off x="8503920" y="4846320"/>
            <a:ext cx="1280160" cy="685800"/>
          </a:xfrm>
          <a:prstGeom prst="rect">
            <a:avLst/>
          </a:prstGeom>
          <a:noFill/>
        </p:spPr>
        <p:txBody>
          <a:bodyPr wrap="square" anchor="t" lIns="45720" rIns="45720" tIns="27432" bIns="27432">
            <a:spAutoFit/>
          </a:bodyPr>
          <a:lstStyle/>
          <a:p>
            <a:pPr algn="l"/>
            <a:r>
              <a:rPr sz="3600" b="1">
                <a:solidFill>
                  <a:srgbClr val="13263A"/>
                </a:solidFill>
                <a:latin typeface="Arial"/>
              </a:rPr>
              <a:t>12</a:t>
            </a:r>
          </a:p>
        </p:txBody>
      </p:sp>
      <p:sp>
        <p:nvSpPr>
          <p:cNvPr id="13" name="TextBox 12"/>
          <p:cNvSpPr txBox="1"/>
          <p:nvPr/>
        </p:nvSpPr>
        <p:spPr>
          <a:xfrm>
            <a:off x="9692640" y="5010912"/>
            <a:ext cx="1920240" cy="457200"/>
          </a:xfrm>
          <a:prstGeom prst="rect">
            <a:avLst/>
          </a:prstGeom>
          <a:noFill/>
        </p:spPr>
        <p:txBody>
          <a:bodyPr wrap="square" anchor="t" lIns="45720" rIns="45720" tIns="27432" bIns="27432">
            <a:spAutoFit/>
          </a:bodyPr>
          <a:lstStyle/>
          <a:p>
            <a:pPr algn="l"/>
            <a:r>
              <a:rPr sz="1400" b="0">
                <a:solidFill>
                  <a:srgbClr val="647080"/>
                </a:solidFill>
                <a:latin typeface="Arial"/>
              </a:rPr>
              <a:t>not started</a:t>
            </a:r>
          </a:p>
        </p:txBody>
      </p:sp>
      <p:sp>
        <p:nvSpPr>
          <p:cNvPr id="14" name="TextBox 13"/>
          <p:cNvSpPr txBox="1"/>
          <p:nvPr/>
        </p:nvSpPr>
        <p:spPr>
          <a:xfrm>
            <a:off x="8503920" y="5852160"/>
            <a:ext cx="3108960" cy="274320"/>
          </a:xfrm>
          <a:prstGeom prst="rect">
            <a:avLst/>
          </a:prstGeom>
          <a:noFill/>
        </p:spPr>
        <p:txBody>
          <a:bodyPr wrap="square" anchor="t" lIns="45720" rIns="45720" tIns="27432" bIns="27432">
            <a:spAutoFit/>
          </a:bodyPr>
          <a:lstStyle/>
          <a:p>
            <a:pPr algn="l"/>
            <a:r>
              <a:rPr sz="1100" b="0">
                <a:solidFill>
                  <a:srgbClr val="647080"/>
                </a:solidFill>
                <a:latin typeface="Arial"/>
              </a:rPr>
              <a:t>Source: SRS 4, Verification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Requirements still to develop</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06</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01  Technical progress  ·  grouped by increment (SRS 2.6)</a:t>
            </a:r>
          </a:p>
        </p:txBody>
      </p:sp>
      <p:sp>
        <p:nvSpPr>
          <p:cNvPr id="5" name="Rectangle 4"/>
          <p:cNvSpPr/>
          <p:nvPr/>
        </p:nvSpPr>
        <p:spPr>
          <a:xfrm>
            <a:off x="630936" y="1783080"/>
            <a:ext cx="2560320" cy="7772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50" b="1">
                <a:solidFill>
                  <a:srgbClr val="FFFFFF"/>
                </a:solidFill>
                <a:latin typeface="Arial"/>
              </a:rPr>
              <a:t>INCREMENT 1</a:t>
            </a:r>
          </a:p>
          <a:p>
            <a:pPr algn="l"/>
            <a:r>
              <a:rPr sz="1200" b="0">
                <a:solidFill>
                  <a:srgbClr val="FFFFFF"/>
                </a:solidFill>
                <a:latin typeface="Arial"/>
              </a:rPr>
              <a:t>Café scenario</a:t>
            </a:r>
          </a:p>
        </p:txBody>
      </p:sp>
      <p:sp>
        <p:nvSpPr>
          <p:cNvPr id="6" name="Rectangle 5"/>
          <p:cNvSpPr/>
          <p:nvPr/>
        </p:nvSpPr>
        <p:spPr>
          <a:xfrm>
            <a:off x="630936" y="2560320"/>
            <a:ext cx="2560320" cy="2926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5" y="2651760"/>
            <a:ext cx="2377439" cy="2377440"/>
          </a:xfrm>
          <a:prstGeom prst="rect">
            <a:avLst/>
          </a:prstGeom>
          <a:noFill/>
        </p:spPr>
        <p:txBody>
          <a:bodyPr wrap="square" anchor="t" lIns="45720" rIns="45720" tIns="27432" bIns="27432">
            <a:spAutoFit/>
          </a:bodyPr>
          <a:lstStyle/>
          <a:p>
            <a:pPr algn="l">
              <a:spcAft>
                <a:spcPts val="400"/>
              </a:spcAft>
            </a:pPr>
            <a:r>
              <a:rPr sz="1250" b="1">
                <a:solidFill>
                  <a:srgbClr val="13263A"/>
                </a:solidFill>
                <a:latin typeface="Arial"/>
              </a:rPr>
              <a:t>REQ-POC-001</a:t>
            </a:r>
            <a:r>
              <a:rPr sz="1200" b="0">
                <a:solidFill>
                  <a:srgbClr val="647080"/>
                </a:solidFill>
                <a:latin typeface="Arial"/>
              </a:rPr>
              <a:t>
café end to end</a:t>
            </a:r>
          </a:p>
          <a:p>
            <a:pPr algn="l">
              <a:spcAft>
                <a:spcPts val="400"/>
              </a:spcAft>
            </a:pPr>
            <a:r>
              <a:rPr sz="1250" b="1">
                <a:solidFill>
                  <a:srgbClr val="13263A"/>
                </a:solidFill>
                <a:latin typeface="Arial"/>
              </a:rPr>
              <a:t>REQ-FUNC-010</a:t>
            </a:r>
            <a:r>
              <a:rPr sz="1200" b="0">
                <a:solidFill>
                  <a:srgbClr val="647080"/>
                </a:solidFill>
                <a:latin typeface="Arial"/>
              </a:rPr>
              <a:t>
web frontend flow</a:t>
            </a:r>
          </a:p>
          <a:p>
            <a:pPr algn="l">
              <a:spcAft>
                <a:spcPts val="400"/>
              </a:spcAft>
            </a:pPr>
            <a:r>
              <a:rPr sz="1250" b="1">
                <a:solidFill>
                  <a:srgbClr val="13263A"/>
                </a:solidFill>
                <a:latin typeface="Arial"/>
              </a:rPr>
              <a:t>REQ-INT-006</a:t>
            </a:r>
            <a:r>
              <a:rPr sz="1200" b="0">
                <a:solidFill>
                  <a:srgbClr val="647080"/>
                </a:solidFill>
                <a:latin typeface="Arial"/>
              </a:rPr>
              <a:t>
symbol board mapping</a:t>
            </a:r>
          </a:p>
          <a:p>
            <a:pPr algn="l">
              <a:spcAft>
                <a:spcPts val="400"/>
              </a:spcAft>
            </a:pPr>
            <a:r>
              <a:rPr sz="1250" b="1">
                <a:solidFill>
                  <a:srgbClr val="13263A"/>
                </a:solidFill>
                <a:latin typeface="Arial"/>
              </a:rPr>
              <a:t>REQ-ML-001…006</a:t>
            </a:r>
            <a:r>
              <a:rPr sz="1200" b="0">
                <a:solidFill>
                  <a:srgbClr val="647080"/>
                </a:solidFill>
                <a:latin typeface="Arial"/>
              </a:rPr>
              <a:t>
real provider</a:t>
            </a:r>
          </a:p>
          <a:p>
            <a:pPr algn="l">
              <a:spcAft>
                <a:spcPts val="400"/>
              </a:spcAft>
            </a:pPr>
            <a:r>
              <a:rPr sz="1250" b="1">
                <a:solidFill>
                  <a:srgbClr val="13263A"/>
                </a:solidFill>
                <a:latin typeface="Arial"/>
              </a:rPr>
              <a:t>REQ-SEC-004</a:t>
            </a:r>
            <a:r>
              <a:rPr sz="1200" b="0">
                <a:solidFill>
                  <a:srgbClr val="647080"/>
                </a:solidFill>
                <a:latin typeface="Arial"/>
              </a:rPr>
              <a:t>
safe display</a:t>
            </a:r>
          </a:p>
        </p:txBody>
      </p:sp>
      <p:sp>
        <p:nvSpPr>
          <p:cNvPr id="8" name="TextBox 7"/>
          <p:cNvSpPr txBox="1"/>
          <p:nvPr/>
        </p:nvSpPr>
        <p:spPr>
          <a:xfrm>
            <a:off x="722375" y="5074920"/>
            <a:ext cx="2377439" cy="320040"/>
          </a:xfrm>
          <a:prstGeom prst="rect">
            <a:avLst/>
          </a:prstGeom>
          <a:noFill/>
        </p:spPr>
        <p:txBody>
          <a:bodyPr wrap="square" anchor="t" lIns="45720" rIns="45720" tIns="27432" bIns="27432">
            <a:spAutoFit/>
          </a:bodyPr>
          <a:lstStyle/>
          <a:p>
            <a:pPr algn="l"/>
            <a:r>
              <a:rPr sz="1250" b="1">
                <a:solidFill>
                  <a:srgbClr val="255CF0"/>
                </a:solidFill>
                <a:latin typeface="Arial"/>
              </a:rPr>
              <a:t>Thibaut · Veronika · Jiahui</a:t>
            </a:r>
          </a:p>
        </p:txBody>
      </p:sp>
      <p:cxnSp>
        <p:nvCxnSpPr>
          <p:cNvPr id="9" name="Connector 8"/>
          <p:cNvCxnSpPr/>
          <p:nvPr/>
        </p:nvCxnSpPr>
        <p:spPr>
          <a:xfrm>
            <a:off x="3209544" y="2167128"/>
            <a:ext cx="19202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419856" y="1783080"/>
            <a:ext cx="2560320" cy="7772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50" b="1">
                <a:solidFill>
                  <a:srgbClr val="FFFFFF"/>
                </a:solidFill>
                <a:latin typeface="Arial"/>
              </a:rPr>
              <a:t>BEFORE PUBLIC TRIAL</a:t>
            </a:r>
          </a:p>
          <a:p>
            <a:pPr algn="l"/>
            <a:r>
              <a:rPr sz="1200" b="0">
                <a:solidFill>
                  <a:srgbClr val="FFFFFF"/>
                </a:solidFill>
                <a:latin typeface="Arial"/>
              </a:rPr>
              <a:t>Deploy and protect</a:t>
            </a:r>
          </a:p>
        </p:txBody>
      </p:sp>
      <p:sp>
        <p:nvSpPr>
          <p:cNvPr id="11" name="Rectangle 10"/>
          <p:cNvSpPr/>
          <p:nvPr/>
        </p:nvSpPr>
        <p:spPr>
          <a:xfrm>
            <a:off x="3419856" y="2560320"/>
            <a:ext cx="2560320" cy="2926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1296" y="2651760"/>
            <a:ext cx="2377439" cy="2377440"/>
          </a:xfrm>
          <a:prstGeom prst="rect">
            <a:avLst/>
          </a:prstGeom>
          <a:noFill/>
        </p:spPr>
        <p:txBody>
          <a:bodyPr wrap="square" anchor="t" lIns="45720" rIns="45720" tIns="27432" bIns="27432">
            <a:spAutoFit/>
          </a:bodyPr>
          <a:lstStyle/>
          <a:p>
            <a:pPr algn="l">
              <a:spcAft>
                <a:spcPts val="400"/>
              </a:spcAft>
            </a:pPr>
            <a:r>
              <a:rPr sz="1250" b="1">
                <a:solidFill>
                  <a:srgbClr val="13263A"/>
                </a:solidFill>
                <a:latin typeface="Arial"/>
              </a:rPr>
              <a:t>REQ-DIST-001</a:t>
            </a:r>
            <a:r>
              <a:rPr sz="1200" b="0">
                <a:solidFill>
                  <a:srgbClr val="647080"/>
                </a:solidFill>
                <a:latin typeface="Arial"/>
              </a:rPr>
              <a:t>
Docker Compose</a:t>
            </a:r>
          </a:p>
          <a:p>
            <a:pPr algn="l">
              <a:spcAft>
                <a:spcPts val="400"/>
              </a:spcAft>
            </a:pPr>
            <a:r>
              <a:rPr sz="1250" b="1">
                <a:solidFill>
                  <a:srgbClr val="13263A"/>
                </a:solidFill>
                <a:latin typeface="Arial"/>
              </a:rPr>
              <a:t>REQ-SEC-005</a:t>
            </a:r>
            <a:r>
              <a:rPr sz="1200" b="0">
                <a:solidFill>
                  <a:srgbClr val="647080"/>
                </a:solidFill>
                <a:latin typeface="Arial"/>
              </a:rPr>
              <a:t>
authentication</a:t>
            </a:r>
          </a:p>
          <a:p>
            <a:pPr algn="l">
              <a:spcAft>
                <a:spcPts val="400"/>
              </a:spcAft>
            </a:pPr>
            <a:r>
              <a:rPr sz="1250" b="1">
                <a:solidFill>
                  <a:srgbClr val="13263A"/>
                </a:solidFill>
                <a:latin typeface="Arial"/>
              </a:rPr>
              <a:t>REQ-SEC-006</a:t>
            </a:r>
            <a:r>
              <a:rPr sz="1200" b="0">
                <a:solidFill>
                  <a:srgbClr val="647080"/>
                </a:solidFill>
                <a:latin typeface="Arial"/>
              </a:rPr>
              <a:t>
rate / cost limits</a:t>
            </a:r>
          </a:p>
          <a:p>
            <a:pPr algn="l">
              <a:spcAft>
                <a:spcPts val="400"/>
              </a:spcAft>
            </a:pPr>
            <a:r>
              <a:rPr sz="1250" b="1">
                <a:solidFill>
                  <a:srgbClr val="13263A"/>
                </a:solidFill>
                <a:latin typeface="Arial"/>
              </a:rPr>
              <a:t>REQ-SEC-003</a:t>
            </a:r>
            <a:r>
              <a:rPr sz="1200" b="0">
                <a:solidFill>
                  <a:srgbClr val="647080"/>
                </a:solidFill>
                <a:latin typeface="Arial"/>
              </a:rPr>
              <a:t>
secrets</a:t>
            </a:r>
          </a:p>
          <a:p>
            <a:pPr algn="l">
              <a:spcAft>
                <a:spcPts val="400"/>
              </a:spcAft>
            </a:pPr>
            <a:r>
              <a:rPr sz="1250" b="1">
                <a:solidFill>
                  <a:srgbClr val="13263A"/>
                </a:solidFill>
                <a:latin typeface="Arial"/>
              </a:rPr>
              <a:t>REQ-OBS-001</a:t>
            </a:r>
            <a:r>
              <a:rPr sz="1200" b="0">
                <a:solidFill>
                  <a:srgbClr val="647080"/>
                </a:solidFill>
                <a:latin typeface="Arial"/>
              </a:rPr>
              <a:t>
privacy-safe logs</a:t>
            </a:r>
          </a:p>
        </p:txBody>
      </p:sp>
      <p:sp>
        <p:nvSpPr>
          <p:cNvPr id="13" name="TextBox 12"/>
          <p:cNvSpPr txBox="1"/>
          <p:nvPr/>
        </p:nvSpPr>
        <p:spPr>
          <a:xfrm>
            <a:off x="3511296" y="5074920"/>
            <a:ext cx="2377439" cy="320040"/>
          </a:xfrm>
          <a:prstGeom prst="rect">
            <a:avLst/>
          </a:prstGeom>
          <a:noFill/>
        </p:spPr>
        <p:txBody>
          <a:bodyPr wrap="square" anchor="t" lIns="45720" rIns="45720" tIns="27432" bIns="27432">
            <a:spAutoFit/>
          </a:bodyPr>
          <a:lstStyle/>
          <a:p>
            <a:pPr algn="l"/>
            <a:r>
              <a:rPr sz="1250" b="1">
                <a:solidFill>
                  <a:srgbClr val="255CF0"/>
                </a:solidFill>
                <a:latin typeface="Arial"/>
              </a:rPr>
              <a:t>Abid Ali</a:t>
            </a:r>
          </a:p>
        </p:txBody>
      </p:sp>
      <p:cxnSp>
        <p:nvCxnSpPr>
          <p:cNvPr id="14" name="Connector 13"/>
          <p:cNvCxnSpPr/>
          <p:nvPr/>
        </p:nvCxnSpPr>
        <p:spPr>
          <a:xfrm>
            <a:off x="5998463" y="2167128"/>
            <a:ext cx="192025"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08775" y="1783080"/>
            <a:ext cx="2560320" cy="7772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50" b="1">
                <a:solidFill>
                  <a:srgbClr val="FFFFFF"/>
                </a:solidFill>
                <a:latin typeface="Arial"/>
              </a:rPr>
              <a:t>BEFORE REAL USERS</a:t>
            </a:r>
          </a:p>
          <a:p>
            <a:pPr algn="l"/>
            <a:r>
              <a:rPr sz="1200" b="0">
                <a:solidFill>
                  <a:srgbClr val="FFFFFF"/>
                </a:solidFill>
                <a:latin typeface="Arial"/>
              </a:rPr>
              <a:t>Consent and licence</a:t>
            </a:r>
          </a:p>
        </p:txBody>
      </p:sp>
      <p:sp>
        <p:nvSpPr>
          <p:cNvPr id="16" name="Rectangle 15"/>
          <p:cNvSpPr/>
          <p:nvPr/>
        </p:nvSpPr>
        <p:spPr>
          <a:xfrm>
            <a:off x="6208775" y="2560320"/>
            <a:ext cx="2560320" cy="2926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5" y="2651760"/>
            <a:ext cx="2377439" cy="2377440"/>
          </a:xfrm>
          <a:prstGeom prst="rect">
            <a:avLst/>
          </a:prstGeom>
          <a:noFill/>
        </p:spPr>
        <p:txBody>
          <a:bodyPr wrap="square" anchor="t" lIns="45720" rIns="45720" tIns="27432" bIns="27432">
            <a:spAutoFit/>
          </a:bodyPr>
          <a:lstStyle/>
          <a:p>
            <a:pPr algn="l">
              <a:spcAft>
                <a:spcPts val="400"/>
              </a:spcAft>
            </a:pPr>
            <a:r>
              <a:rPr sz="1250" b="1">
                <a:solidFill>
                  <a:srgbClr val="13263A"/>
                </a:solidFill>
                <a:latin typeface="Arial"/>
              </a:rPr>
              <a:t>REQ-SEC-007</a:t>
            </a:r>
            <a:r>
              <a:rPr sz="1200" b="0">
                <a:solidFill>
                  <a:srgbClr val="647080"/>
                </a:solidFill>
                <a:latin typeface="Arial"/>
              </a:rPr>
              <a:t>
consent, retention</a:t>
            </a:r>
          </a:p>
          <a:p>
            <a:pPr algn="l">
              <a:spcAft>
                <a:spcPts val="400"/>
              </a:spcAft>
            </a:pPr>
            <a:r>
              <a:rPr sz="1250" b="1">
                <a:solidFill>
                  <a:srgbClr val="13263A"/>
                </a:solidFill>
                <a:latin typeface="Arial"/>
              </a:rPr>
              <a:t>REQ-COMP-001</a:t>
            </a:r>
            <a:r>
              <a:rPr sz="1200" b="0">
                <a:solidFill>
                  <a:srgbClr val="647080"/>
                </a:solidFill>
                <a:latin typeface="Arial"/>
              </a:rPr>
              <a:t>
licences</a:t>
            </a:r>
          </a:p>
        </p:txBody>
      </p:sp>
      <p:sp>
        <p:nvSpPr>
          <p:cNvPr id="18" name="TextBox 17"/>
          <p:cNvSpPr txBox="1"/>
          <p:nvPr/>
        </p:nvSpPr>
        <p:spPr>
          <a:xfrm>
            <a:off x="6300215" y="5074920"/>
            <a:ext cx="2377439" cy="320040"/>
          </a:xfrm>
          <a:prstGeom prst="rect">
            <a:avLst/>
          </a:prstGeom>
          <a:noFill/>
        </p:spPr>
        <p:txBody>
          <a:bodyPr wrap="square" anchor="t" lIns="45720" rIns="45720" tIns="27432" bIns="27432">
            <a:spAutoFit/>
          </a:bodyPr>
          <a:lstStyle/>
          <a:p>
            <a:pPr algn="l"/>
            <a:r>
              <a:rPr sz="1250" b="1">
                <a:solidFill>
                  <a:srgbClr val="255CF0"/>
                </a:solidFill>
                <a:latin typeface="Arial"/>
              </a:rPr>
              <a:t>All</a:t>
            </a:r>
          </a:p>
        </p:txBody>
      </p:sp>
      <p:cxnSp>
        <p:nvCxnSpPr>
          <p:cNvPr id="19" name="Connector 18"/>
          <p:cNvCxnSpPr/>
          <p:nvPr/>
        </p:nvCxnSpPr>
        <p:spPr>
          <a:xfrm>
            <a:off x="8787384" y="2167128"/>
            <a:ext cx="19202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997695" y="1783080"/>
            <a:ext cx="2560320" cy="7772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50" b="1">
                <a:solidFill>
                  <a:srgbClr val="FFFFFF"/>
                </a:solidFill>
                <a:latin typeface="Arial"/>
              </a:rPr>
              <a:t>INCREMENT 2</a:t>
            </a:r>
          </a:p>
          <a:p>
            <a:pPr algn="l"/>
            <a:r>
              <a:rPr sz="1200" b="0">
                <a:solidFill>
                  <a:srgbClr val="FFFFFF"/>
                </a:solidFill>
                <a:latin typeface="Arial"/>
              </a:rPr>
              <a:t>More situations</a:t>
            </a:r>
          </a:p>
        </p:txBody>
      </p:sp>
      <p:sp>
        <p:nvSpPr>
          <p:cNvPr id="21" name="Rectangle 20"/>
          <p:cNvSpPr/>
          <p:nvPr/>
        </p:nvSpPr>
        <p:spPr>
          <a:xfrm>
            <a:off x="8997695" y="2560320"/>
            <a:ext cx="2560320" cy="292608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9135" y="2651760"/>
            <a:ext cx="2377439" cy="2377440"/>
          </a:xfrm>
          <a:prstGeom prst="rect">
            <a:avLst/>
          </a:prstGeom>
          <a:noFill/>
        </p:spPr>
        <p:txBody>
          <a:bodyPr wrap="square" anchor="t" lIns="45720" rIns="45720" tIns="27432" bIns="27432">
            <a:spAutoFit/>
          </a:bodyPr>
          <a:lstStyle/>
          <a:p>
            <a:pPr algn="l">
              <a:spcAft>
                <a:spcPts val="400"/>
              </a:spcAft>
            </a:pPr>
            <a:r>
              <a:rPr sz="1250" b="1">
                <a:solidFill>
                  <a:srgbClr val="13263A"/>
                </a:solidFill>
                <a:latin typeface="Arial"/>
              </a:rPr>
              <a:t>REQ-FUNC-011</a:t>
            </a:r>
            <a:r>
              <a:rPr sz="1200" b="0">
                <a:solidFill>
                  <a:srgbClr val="647080"/>
                </a:solidFill>
                <a:latin typeface="Arial"/>
              </a:rPr>
              <a:t>
bus, doctor, …</a:t>
            </a:r>
          </a:p>
          <a:p>
            <a:pPr algn="l">
              <a:spcAft>
                <a:spcPts val="400"/>
              </a:spcAft>
            </a:pPr>
            <a:r>
              <a:rPr sz="1250" b="1">
                <a:solidFill>
                  <a:srgbClr val="13263A"/>
                </a:solidFill>
                <a:latin typeface="Arial"/>
              </a:rPr>
              <a:t>Mobile version (optional)</a:t>
            </a:r>
          </a:p>
        </p:txBody>
      </p:sp>
      <p:sp>
        <p:nvSpPr>
          <p:cNvPr id="23" name="TextBox 22"/>
          <p:cNvSpPr txBox="1"/>
          <p:nvPr/>
        </p:nvSpPr>
        <p:spPr>
          <a:xfrm>
            <a:off x="9089135" y="5074920"/>
            <a:ext cx="2377439" cy="320040"/>
          </a:xfrm>
          <a:prstGeom prst="rect">
            <a:avLst/>
          </a:prstGeom>
          <a:noFill/>
        </p:spPr>
        <p:txBody>
          <a:bodyPr wrap="square" anchor="t" lIns="45720" rIns="45720" tIns="27432" bIns="27432">
            <a:spAutoFit/>
          </a:bodyPr>
          <a:lstStyle/>
          <a:p>
            <a:pPr algn="l"/>
            <a:r>
              <a:rPr sz="1250" b="1">
                <a:solidFill>
                  <a:srgbClr val="255CF0"/>
                </a:solidFill>
                <a:latin typeface="Arial"/>
              </a:rPr>
              <a:t>All · Thibaut</a:t>
            </a:r>
          </a:p>
        </p:txBody>
      </p:sp>
      <p:sp>
        <p:nvSpPr>
          <p:cNvPr id="24" name="TextBox 23"/>
          <p:cNvSpPr txBox="1"/>
          <p:nvPr/>
        </p:nvSpPr>
        <p:spPr>
          <a:xfrm>
            <a:off x="630936" y="5669280"/>
            <a:ext cx="10789920" cy="365760"/>
          </a:xfrm>
          <a:prstGeom prst="rect">
            <a:avLst/>
          </a:prstGeom>
          <a:noFill/>
        </p:spPr>
        <p:txBody>
          <a:bodyPr wrap="square" anchor="t" lIns="45720" rIns="45720" tIns="27432" bIns="27432">
            <a:spAutoFit/>
          </a:bodyPr>
          <a:lstStyle/>
          <a:p>
            <a:pPr algn="l"/>
            <a:r>
              <a:rPr sz="1400" b="0">
                <a:solidFill>
                  <a:srgbClr val="647080"/>
                </a:solidFill>
                <a:latin typeface="Arial"/>
              </a:rPr>
              <a:t>Also open: 10 TBD decisions in SRS Appendix B (targets, model, hosting, auth method, limits,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Assignment 1: SRS completed so far</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07</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02  Experimental progress  ·  docs/requirements/SRS.md (IEEE template)</a:t>
            </a:r>
          </a:p>
        </p:txBody>
      </p:sp>
      <p:sp>
        <p:nvSpPr>
          <p:cNvPr id="5" name="TextBox 4"/>
          <p:cNvSpPr txBox="1"/>
          <p:nvPr/>
        </p:nvSpPr>
        <p:spPr>
          <a:xfrm>
            <a:off x="630936" y="1783080"/>
            <a:ext cx="6675120" cy="384048"/>
          </a:xfrm>
          <a:prstGeom prst="rect">
            <a:avLst/>
          </a:prstGeom>
          <a:noFill/>
        </p:spPr>
        <p:txBody>
          <a:bodyPr wrap="square" anchor="t" lIns="45720" rIns="45720" tIns="27432" bIns="27432">
            <a:spAutoFit/>
          </a:bodyPr>
          <a:lstStyle/>
          <a:p>
            <a:pPr algn="l"/>
            <a:r>
              <a:rPr sz="1650" b="1">
                <a:solidFill>
                  <a:srgbClr val="255CF0"/>
                </a:solidFill>
                <a:latin typeface="Arial"/>
              </a:rPr>
              <a:t>SECTIONS DRAFTED</a:t>
            </a:r>
          </a:p>
        </p:txBody>
      </p:sp>
      <p:sp>
        <p:nvSpPr>
          <p:cNvPr id="6" name="Oval 5"/>
          <p:cNvSpPr/>
          <p:nvPr/>
        </p:nvSpPr>
        <p:spPr>
          <a:xfrm>
            <a:off x="630936" y="2240280"/>
            <a:ext cx="457200" cy="45720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a:t>
            </a:r>
          </a:p>
        </p:txBody>
      </p:sp>
      <p:sp>
        <p:nvSpPr>
          <p:cNvPr id="7" name="TextBox 6"/>
          <p:cNvSpPr txBox="1"/>
          <p:nvPr/>
        </p:nvSpPr>
        <p:spPr>
          <a:xfrm>
            <a:off x="1234440" y="2194560"/>
            <a:ext cx="6035040" cy="594360"/>
          </a:xfrm>
          <a:prstGeom prst="rect">
            <a:avLst/>
          </a:prstGeom>
          <a:noFill/>
        </p:spPr>
        <p:txBody>
          <a:bodyPr wrap="square" anchor="t" lIns="45720" rIns="45720" tIns="27432" bIns="27432">
            <a:spAutoFit/>
          </a:bodyPr>
          <a:lstStyle/>
          <a:p>
            <a:pPr algn="l"/>
            <a:r>
              <a:rPr sz="1500" b="1">
                <a:solidFill>
                  <a:srgbClr val="13263A"/>
                </a:solidFill>
                <a:latin typeface="Arial"/>
              </a:rPr>
              <a:t>1. Introduction</a:t>
            </a:r>
          </a:p>
          <a:p>
            <a:pPr algn="l"/>
            <a:r>
              <a:rPr sz="1250" b="0">
                <a:solidFill>
                  <a:srgbClr val="647080"/>
                </a:solidFill>
                <a:latin typeface="Arial"/>
              </a:rPr>
              <a:t>purpose, scope, glossary, references</a:t>
            </a:r>
          </a:p>
        </p:txBody>
      </p:sp>
      <p:sp>
        <p:nvSpPr>
          <p:cNvPr id="8" name="Oval 7"/>
          <p:cNvSpPr/>
          <p:nvPr/>
        </p:nvSpPr>
        <p:spPr>
          <a:xfrm>
            <a:off x="630936" y="2926080"/>
            <a:ext cx="457200" cy="45720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a:t>
            </a:r>
          </a:p>
        </p:txBody>
      </p:sp>
      <p:sp>
        <p:nvSpPr>
          <p:cNvPr id="9" name="TextBox 8"/>
          <p:cNvSpPr txBox="1"/>
          <p:nvPr/>
        </p:nvSpPr>
        <p:spPr>
          <a:xfrm>
            <a:off x="1234440" y="2880360"/>
            <a:ext cx="6035040" cy="594360"/>
          </a:xfrm>
          <a:prstGeom prst="rect">
            <a:avLst/>
          </a:prstGeom>
          <a:noFill/>
        </p:spPr>
        <p:txBody>
          <a:bodyPr wrap="square" anchor="t" lIns="45720" rIns="45720" tIns="27432" bIns="27432">
            <a:spAutoFit/>
          </a:bodyPr>
          <a:lstStyle/>
          <a:p>
            <a:pPr algn="l"/>
            <a:r>
              <a:rPr sz="1500" b="1">
                <a:solidFill>
                  <a:srgbClr val="13263A"/>
                </a:solidFill>
                <a:latin typeface="Arial"/>
              </a:rPr>
              <a:t>2. Product overview</a:t>
            </a:r>
          </a:p>
          <a:p>
            <a:pPr algn="l"/>
            <a:r>
              <a:rPr sz="1250" b="0">
                <a:solidFill>
                  <a:srgbClr val="647080"/>
                </a:solidFill>
                <a:latin typeface="Arial"/>
              </a:rPr>
              <a:t>context diagram, 9 constraints, 6 assumptions, apportioning</a:t>
            </a:r>
          </a:p>
        </p:txBody>
      </p:sp>
      <p:sp>
        <p:nvSpPr>
          <p:cNvPr id="10" name="Oval 9"/>
          <p:cNvSpPr/>
          <p:nvPr/>
        </p:nvSpPr>
        <p:spPr>
          <a:xfrm>
            <a:off x="630936" y="3611880"/>
            <a:ext cx="457200" cy="45720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a:t>
            </a:r>
          </a:p>
        </p:txBody>
      </p:sp>
      <p:sp>
        <p:nvSpPr>
          <p:cNvPr id="11" name="TextBox 10"/>
          <p:cNvSpPr txBox="1"/>
          <p:nvPr/>
        </p:nvSpPr>
        <p:spPr>
          <a:xfrm>
            <a:off x="1234440" y="3566160"/>
            <a:ext cx="6035040" cy="594360"/>
          </a:xfrm>
          <a:prstGeom prst="rect">
            <a:avLst/>
          </a:prstGeom>
          <a:noFill/>
        </p:spPr>
        <p:txBody>
          <a:bodyPr wrap="square" anchor="t" lIns="45720" rIns="45720" tIns="27432" bIns="27432">
            <a:spAutoFit/>
          </a:bodyPr>
          <a:lstStyle/>
          <a:p>
            <a:pPr algn="l"/>
            <a:r>
              <a:rPr sz="1500" b="1">
                <a:solidFill>
                  <a:srgbClr val="13263A"/>
                </a:solidFill>
                <a:latin typeface="Arial"/>
              </a:rPr>
              <a:t>3. Requirements</a:t>
            </a:r>
          </a:p>
          <a:p>
            <a:pPr algn="l"/>
            <a:r>
              <a:rPr sz="1250" b="0">
                <a:solidFill>
                  <a:srgbClr val="647080"/>
                </a:solidFill>
                <a:latin typeface="Arial"/>
              </a:rPr>
              <a:t>45 IDs: interfaces, functional, QoS, compliance, design, AI/ML</a:t>
            </a:r>
          </a:p>
        </p:txBody>
      </p:sp>
      <p:sp>
        <p:nvSpPr>
          <p:cNvPr id="12" name="Oval 11"/>
          <p:cNvSpPr/>
          <p:nvPr/>
        </p:nvSpPr>
        <p:spPr>
          <a:xfrm>
            <a:off x="630936" y="4297680"/>
            <a:ext cx="457200" cy="45720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a:t>
            </a:r>
          </a:p>
        </p:txBody>
      </p:sp>
      <p:sp>
        <p:nvSpPr>
          <p:cNvPr id="13" name="TextBox 12"/>
          <p:cNvSpPr txBox="1"/>
          <p:nvPr/>
        </p:nvSpPr>
        <p:spPr>
          <a:xfrm>
            <a:off x="1234440" y="4251960"/>
            <a:ext cx="6035040" cy="594360"/>
          </a:xfrm>
          <a:prstGeom prst="rect">
            <a:avLst/>
          </a:prstGeom>
          <a:noFill/>
        </p:spPr>
        <p:txBody>
          <a:bodyPr wrap="square" anchor="t" lIns="45720" rIns="45720" tIns="27432" bIns="27432">
            <a:spAutoFit/>
          </a:bodyPr>
          <a:lstStyle/>
          <a:p>
            <a:pPr algn="l"/>
            <a:r>
              <a:rPr sz="1500" b="1">
                <a:solidFill>
                  <a:srgbClr val="13263A"/>
                </a:solidFill>
                <a:latin typeface="Arial"/>
              </a:rPr>
              <a:t>4. Verification</a:t>
            </a:r>
          </a:p>
          <a:p>
            <a:pPr algn="l"/>
            <a:r>
              <a:rPr sz="1250" b="0">
                <a:solidFill>
                  <a:srgbClr val="647080"/>
                </a:solidFill>
                <a:latin typeface="Arial"/>
              </a:rPr>
              <a:t>method, test link and status for each requirement</a:t>
            </a:r>
          </a:p>
        </p:txBody>
      </p:sp>
      <p:sp>
        <p:nvSpPr>
          <p:cNvPr id="14" name="Oval 13"/>
          <p:cNvSpPr/>
          <p:nvPr/>
        </p:nvSpPr>
        <p:spPr>
          <a:xfrm>
            <a:off x="630936" y="4983480"/>
            <a:ext cx="457200" cy="45720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FFFFFF"/>
                </a:solidFill>
                <a:latin typeface="Arial"/>
              </a:rPr>
              <a:t>✓</a:t>
            </a:r>
          </a:p>
        </p:txBody>
      </p:sp>
      <p:sp>
        <p:nvSpPr>
          <p:cNvPr id="15" name="TextBox 14"/>
          <p:cNvSpPr txBox="1"/>
          <p:nvPr/>
        </p:nvSpPr>
        <p:spPr>
          <a:xfrm>
            <a:off x="1234440" y="4937760"/>
            <a:ext cx="6035040" cy="594360"/>
          </a:xfrm>
          <a:prstGeom prst="rect">
            <a:avLst/>
          </a:prstGeom>
          <a:noFill/>
        </p:spPr>
        <p:txBody>
          <a:bodyPr wrap="square" anchor="t" lIns="45720" rIns="45720" tIns="27432" bIns="27432">
            <a:spAutoFit/>
          </a:bodyPr>
          <a:lstStyle/>
          <a:p>
            <a:pPr algn="l"/>
            <a:r>
              <a:rPr sz="1500" b="1">
                <a:solidFill>
                  <a:srgbClr val="13263A"/>
                </a:solidFill>
                <a:latin typeface="Arial"/>
              </a:rPr>
              <a:t>5. Appendixes</a:t>
            </a:r>
          </a:p>
          <a:p>
            <a:pPr algn="l"/>
            <a:r>
              <a:rPr sz="1250" b="0">
                <a:solidFill>
                  <a:srgbClr val="647080"/>
                </a:solidFill>
                <a:latin typeface="Arial"/>
              </a:rPr>
              <a:t>example scenario, 10 open issues, data model</a:t>
            </a:r>
          </a:p>
        </p:txBody>
      </p:sp>
      <p:sp>
        <p:nvSpPr>
          <p:cNvPr id="16" name="TextBox 15"/>
          <p:cNvSpPr txBox="1"/>
          <p:nvPr/>
        </p:nvSpPr>
        <p:spPr>
          <a:xfrm>
            <a:off x="7680960" y="1783080"/>
            <a:ext cx="3931920" cy="384048"/>
          </a:xfrm>
          <a:prstGeom prst="rect">
            <a:avLst/>
          </a:prstGeom>
          <a:noFill/>
        </p:spPr>
        <p:txBody>
          <a:bodyPr wrap="square" anchor="t" lIns="45720" rIns="45720" tIns="27432" bIns="27432">
            <a:spAutoFit/>
          </a:bodyPr>
          <a:lstStyle/>
          <a:p>
            <a:pPr algn="l"/>
            <a:r>
              <a:rPr sz="1650" b="1">
                <a:solidFill>
                  <a:srgbClr val="255CF0"/>
                </a:solidFill>
                <a:latin typeface="Arial"/>
              </a:rPr>
              <a:t>VERSION HISTORY</a:t>
            </a:r>
          </a:p>
        </p:txBody>
      </p:sp>
      <p:sp>
        <p:nvSpPr>
          <p:cNvPr id="17" name="Rectangle 16"/>
          <p:cNvSpPr/>
          <p:nvPr/>
        </p:nvSpPr>
        <p:spPr>
          <a:xfrm>
            <a:off x="7680960" y="2240280"/>
            <a:ext cx="3886200" cy="9601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2313432"/>
            <a:ext cx="914400" cy="411480"/>
          </a:xfrm>
          <a:prstGeom prst="rect">
            <a:avLst/>
          </a:prstGeom>
          <a:noFill/>
        </p:spPr>
        <p:txBody>
          <a:bodyPr wrap="square" anchor="t" lIns="45720" rIns="45720" tIns="27432" bIns="27432">
            <a:spAutoFit/>
          </a:bodyPr>
          <a:lstStyle/>
          <a:p>
            <a:pPr algn="l"/>
            <a:r>
              <a:rPr sz="1800" b="1">
                <a:solidFill>
                  <a:srgbClr val="255CF0"/>
                </a:solidFill>
                <a:latin typeface="Arial"/>
              </a:rPr>
              <a:t>v0.1</a:t>
            </a:r>
          </a:p>
        </p:txBody>
      </p:sp>
      <p:sp>
        <p:nvSpPr>
          <p:cNvPr id="19" name="TextBox 18"/>
          <p:cNvSpPr txBox="1"/>
          <p:nvPr/>
        </p:nvSpPr>
        <p:spPr>
          <a:xfrm>
            <a:off x="8732520" y="2350008"/>
            <a:ext cx="2743200" cy="320040"/>
          </a:xfrm>
          <a:prstGeom prst="rect">
            <a:avLst/>
          </a:prstGeom>
          <a:noFill/>
        </p:spPr>
        <p:txBody>
          <a:bodyPr wrap="square" anchor="t" lIns="45720" rIns="45720" tIns="27432" bIns="27432">
            <a:spAutoFit/>
          </a:bodyPr>
          <a:lstStyle/>
          <a:p>
            <a:pPr algn="l"/>
            <a:r>
              <a:rPr sz="1200" b="0">
                <a:solidFill>
                  <a:srgbClr val="647080"/>
                </a:solidFill>
                <a:latin typeface="Arial"/>
              </a:rPr>
              <a:t>2026-10-13</a:t>
            </a:r>
          </a:p>
        </p:txBody>
      </p:sp>
      <p:sp>
        <p:nvSpPr>
          <p:cNvPr id="20" name="TextBox 19"/>
          <p:cNvSpPr txBox="1"/>
          <p:nvPr/>
        </p:nvSpPr>
        <p:spPr>
          <a:xfrm>
            <a:off x="7818120" y="2697480"/>
            <a:ext cx="3657600" cy="457200"/>
          </a:xfrm>
          <a:prstGeom prst="rect">
            <a:avLst/>
          </a:prstGeom>
          <a:noFill/>
        </p:spPr>
        <p:txBody>
          <a:bodyPr wrap="square" anchor="t" lIns="45720" rIns="45720" tIns="27432" bIns="27432">
            <a:spAutoFit/>
          </a:bodyPr>
          <a:lstStyle/>
          <a:p>
            <a:pPr algn="l"/>
            <a:r>
              <a:rPr sz="1250" b="0">
                <a:solidFill>
                  <a:srgbClr val="13263A"/>
                </a:solidFill>
                <a:latin typeface="Arial"/>
              </a:rPr>
              <a:t>Initial draft from the proposal slides and backend starter</a:t>
            </a:r>
          </a:p>
        </p:txBody>
      </p:sp>
      <p:cxnSp>
        <p:nvCxnSpPr>
          <p:cNvPr id="21" name="Connector 20"/>
          <p:cNvCxnSpPr/>
          <p:nvPr/>
        </p:nvCxnSpPr>
        <p:spPr>
          <a:xfrm>
            <a:off x="9601200" y="3200400"/>
            <a:ext cx="0" cy="18288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680960" y="3383280"/>
            <a:ext cx="3886200" cy="96012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3456432"/>
            <a:ext cx="914400" cy="411480"/>
          </a:xfrm>
          <a:prstGeom prst="rect">
            <a:avLst/>
          </a:prstGeom>
          <a:noFill/>
        </p:spPr>
        <p:txBody>
          <a:bodyPr wrap="square" anchor="t" lIns="45720" rIns="45720" tIns="27432" bIns="27432">
            <a:spAutoFit/>
          </a:bodyPr>
          <a:lstStyle/>
          <a:p>
            <a:pPr algn="l"/>
            <a:r>
              <a:rPr sz="1800" b="1">
                <a:solidFill>
                  <a:srgbClr val="255CF0"/>
                </a:solidFill>
                <a:latin typeface="Arial"/>
              </a:rPr>
              <a:t>v0.2</a:t>
            </a:r>
          </a:p>
        </p:txBody>
      </p:sp>
      <p:sp>
        <p:nvSpPr>
          <p:cNvPr id="24" name="TextBox 23"/>
          <p:cNvSpPr txBox="1"/>
          <p:nvPr/>
        </p:nvSpPr>
        <p:spPr>
          <a:xfrm>
            <a:off x="8732520" y="3493008"/>
            <a:ext cx="2743200" cy="320040"/>
          </a:xfrm>
          <a:prstGeom prst="rect">
            <a:avLst/>
          </a:prstGeom>
          <a:noFill/>
        </p:spPr>
        <p:txBody>
          <a:bodyPr wrap="square" anchor="t" lIns="45720" rIns="45720" tIns="27432" bIns="27432">
            <a:spAutoFit/>
          </a:bodyPr>
          <a:lstStyle/>
          <a:p>
            <a:pPr algn="l"/>
            <a:r>
              <a:rPr sz="1200" b="0">
                <a:solidFill>
                  <a:srgbClr val="647080"/>
                </a:solidFill>
                <a:latin typeface="Arial"/>
              </a:rPr>
              <a:t>2026-10-13</a:t>
            </a:r>
          </a:p>
        </p:txBody>
      </p:sp>
      <p:sp>
        <p:nvSpPr>
          <p:cNvPr id="25" name="TextBox 24"/>
          <p:cNvSpPr txBox="1"/>
          <p:nvPr/>
        </p:nvSpPr>
        <p:spPr>
          <a:xfrm>
            <a:off x="7818120" y="3840480"/>
            <a:ext cx="3657600" cy="457200"/>
          </a:xfrm>
          <a:prstGeom prst="rect">
            <a:avLst/>
          </a:prstGeom>
          <a:noFill/>
        </p:spPr>
        <p:txBody>
          <a:bodyPr wrap="square" anchor="t" lIns="45720" rIns="45720" tIns="27432" bIns="27432">
            <a:spAutoFit/>
          </a:bodyPr>
          <a:lstStyle/>
          <a:p>
            <a:pPr algn="l"/>
            <a:r>
              <a:rPr sz="1250" b="0">
                <a:solidFill>
                  <a:srgbClr val="13263A"/>
                </a:solidFill>
                <a:latin typeface="Arial"/>
              </a:rPr>
              <a:t>Standalone product; Cboard only inspiration</a:t>
            </a:r>
          </a:p>
        </p:txBody>
      </p:sp>
      <p:cxnSp>
        <p:nvCxnSpPr>
          <p:cNvPr id="26" name="Connector 25"/>
          <p:cNvCxnSpPr/>
          <p:nvPr/>
        </p:nvCxnSpPr>
        <p:spPr>
          <a:xfrm>
            <a:off x="9601200" y="4343400"/>
            <a:ext cx="0" cy="18288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680960" y="4526280"/>
            <a:ext cx="3886200" cy="960120"/>
          </a:xfrm>
          <a:prstGeom prst="rect">
            <a:avLst/>
          </a:prstGeom>
          <a:solidFill>
            <a:srgbClr val="E6EAF0"/>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18120" y="4599432"/>
            <a:ext cx="914400" cy="411480"/>
          </a:xfrm>
          <a:prstGeom prst="rect">
            <a:avLst/>
          </a:prstGeom>
          <a:noFill/>
        </p:spPr>
        <p:txBody>
          <a:bodyPr wrap="square" anchor="t" lIns="45720" rIns="45720" tIns="27432" bIns="27432">
            <a:spAutoFit/>
          </a:bodyPr>
          <a:lstStyle/>
          <a:p>
            <a:pPr algn="l"/>
            <a:r>
              <a:rPr sz="1800" b="1">
                <a:solidFill>
                  <a:srgbClr val="13263A"/>
                </a:solidFill>
                <a:latin typeface="Arial"/>
              </a:rPr>
              <a:t>Next</a:t>
            </a:r>
          </a:p>
        </p:txBody>
      </p:sp>
      <p:sp>
        <p:nvSpPr>
          <p:cNvPr id="29" name="TextBox 28"/>
          <p:cNvSpPr txBox="1"/>
          <p:nvPr/>
        </p:nvSpPr>
        <p:spPr>
          <a:xfrm>
            <a:off x="8732520" y="4636008"/>
            <a:ext cx="2743200" cy="320040"/>
          </a:xfrm>
          <a:prstGeom prst="rect">
            <a:avLst/>
          </a:prstGeom>
          <a:noFill/>
        </p:spPr>
        <p:txBody>
          <a:bodyPr wrap="square" anchor="t" lIns="45720" rIns="45720" tIns="27432" bIns="27432">
            <a:spAutoFit/>
          </a:bodyPr>
          <a:lstStyle/>
          <a:p>
            <a:pPr algn="l"/>
            <a:r>
              <a:rPr sz="1200" b="0">
                <a:solidFill>
                  <a:srgbClr val="647080"/>
                </a:solidFill>
                <a:latin typeface="Arial"/>
              </a:rPr>
              <a:t>by Week 7</a:t>
            </a:r>
          </a:p>
        </p:txBody>
      </p:sp>
      <p:sp>
        <p:nvSpPr>
          <p:cNvPr id="30" name="TextBox 29"/>
          <p:cNvSpPr txBox="1"/>
          <p:nvPr/>
        </p:nvSpPr>
        <p:spPr>
          <a:xfrm>
            <a:off x="7818120" y="4983480"/>
            <a:ext cx="3657600" cy="457200"/>
          </a:xfrm>
          <a:prstGeom prst="rect">
            <a:avLst/>
          </a:prstGeom>
          <a:noFill/>
        </p:spPr>
        <p:txBody>
          <a:bodyPr wrap="square" anchor="t" lIns="45720" rIns="45720" tIns="27432" bIns="27432">
            <a:spAutoFit/>
          </a:bodyPr>
          <a:lstStyle/>
          <a:p>
            <a:pPr algn="l"/>
            <a:r>
              <a:rPr sz="1250" b="0">
                <a:solidFill>
                  <a:srgbClr val="13263A"/>
                </a:solidFill>
                <a:latin typeface="Arial"/>
              </a:rPr>
              <a:t>Close TBDs, peer review, submit SRS</a:t>
            </a:r>
          </a:p>
        </p:txBody>
      </p:sp>
      <p:sp>
        <p:nvSpPr>
          <p:cNvPr id="31" name="TextBox 30"/>
          <p:cNvSpPr txBox="1"/>
          <p:nvPr/>
        </p:nvSpPr>
        <p:spPr>
          <a:xfrm>
            <a:off x="630936" y="5806440"/>
            <a:ext cx="10789920" cy="320040"/>
          </a:xfrm>
          <a:prstGeom prst="rect">
            <a:avLst/>
          </a:prstGeom>
          <a:noFill/>
        </p:spPr>
        <p:txBody>
          <a:bodyPr wrap="square" anchor="t" lIns="45720" rIns="45720" tIns="27432" bIns="27432">
            <a:spAutoFit/>
          </a:bodyPr>
          <a:lstStyle/>
          <a:p>
            <a:pPr algn="l"/>
            <a:r>
              <a:rPr sz="1300" b="0">
                <a:solidFill>
                  <a:srgbClr val="647080"/>
                </a:solidFill>
                <a:latin typeface="Arial"/>
              </a:rPr>
              <a:t>Companion documents: docs/API.md (API v0.1)  ·  docs/VERIFICATION.md  ·  docs/TEAM_NEXT_STEPS.md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Remaining Assignment 1 work</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08</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02  Experimental progress  ·  SRS due Week 7, split by SRS ownership</a:t>
            </a:r>
          </a:p>
        </p:txBody>
      </p:sp>
      <p:graphicFrame>
        <p:nvGraphicFramePr>
          <p:cNvPr id="5" name="Table 4"/>
          <p:cNvGraphicFramePr>
            <a:graphicFrameLocks noGrp="1"/>
          </p:cNvGraphicFramePr>
          <p:nvPr/>
        </p:nvGraphicFramePr>
        <p:xfrm>
          <a:off x="630936" y="1783080"/>
          <a:ext cx="10927080" cy="3401568"/>
        </p:xfrm>
        <a:graphic>
          <a:graphicData uri="http://schemas.openxmlformats.org/drawingml/2006/table">
            <a:tbl>
              <a:tblPr firstRow="1" bandRow="1">
                <a:tableStyleId>{5940675A-B579-460E-94D1-54222C63F5DA}</a:tableStyleId>
              </a:tblPr>
              <a:tblGrid>
                <a:gridCol w="1188720"/>
                <a:gridCol w="1463040"/>
                <a:gridCol w="6720840"/>
                <a:gridCol w="1554480"/>
              </a:tblGrid>
              <a:tr h="566928">
                <a:tc>
                  <a:txBody>
                    <a:bodyPr wrap="square"/>
                    <a:lstStyle/>
                    <a:p>
                      <a:r>
                        <a:rPr sz="1350" b="1">
                          <a:solidFill>
                            <a:srgbClr val="FFFFFF"/>
                          </a:solidFill>
                          <a:latin typeface="Arial"/>
                        </a:rPr>
                        <a:t>Owner</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wrap="square"/>
                    <a:lstStyle/>
                    <a:p>
                      <a:r>
                        <a:rPr sz="1350" b="1">
                          <a:solidFill>
                            <a:srgbClr val="FFFFFF"/>
                          </a:solidFill>
                          <a:latin typeface="Arial"/>
                        </a:rPr>
                        <a:t>Area</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wrap="square"/>
                    <a:lstStyle/>
                    <a:p>
                      <a:r>
                        <a:rPr sz="1350" b="1">
                          <a:solidFill>
                            <a:srgbClr val="FFFFFF"/>
                          </a:solidFill>
                          <a:latin typeface="Arial"/>
                        </a:rPr>
                        <a:t>SRS items to close</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wrap="square"/>
                    <a:lstStyle/>
                    <a:p>
                      <a:r>
                        <a:rPr sz="1350" b="1">
                          <a:solidFill>
                            <a:srgbClr val="FFFFFF"/>
                          </a:solidFill>
                          <a:latin typeface="Arial"/>
                        </a:rPr>
                        <a:t>Open issues</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r>
              <a:tr h="566928">
                <a:tc>
                  <a:txBody>
                    <a:bodyPr wrap="square"/>
                    <a:lstStyle/>
                    <a:p>
                      <a:r>
                        <a:rPr sz="1300" b="0">
                          <a:solidFill>
                            <a:srgbClr val="13263A"/>
                          </a:solidFill>
                          <a:latin typeface="Arial"/>
                        </a:rPr>
                        <a:t>Thibaut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Frontend</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UI design, accessibility standard (REQ-INT-001); symbol mapping (REQ-INT-006)</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#7</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566928">
                <a:tc>
                  <a:txBody>
                    <a:bodyPr wrap="square"/>
                    <a:lstStyle/>
                    <a:p>
                      <a:r>
                        <a:rPr sz="1300" b="0">
                          <a:solidFill>
                            <a:srgbClr val="13263A"/>
                          </a:solidFill>
                          <a:latin typeface="Arial"/>
                        </a:rPr>
                        <a:t>Veronika</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Backend + data</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Response-time target (REQ-PERF-001); provider timeout (REQ-REL-002); PostgreSQL check (REQ-PORT-001)</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#1, #5</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566928">
                <a:tc>
                  <a:txBody>
                    <a:bodyPr wrap="square"/>
                    <a:lstStyle/>
                    <a:p>
                      <a:r>
                        <a:rPr sz="1300" b="0">
                          <a:solidFill>
                            <a:srgbClr val="13263A"/>
                          </a:solidFill>
                          <a:latin typeface="Arial"/>
                        </a:rPr>
                        <a:t>Jiahui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AI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Model choice; evaluation set and quality thresholds (REQ-ML-001…006)</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#2, #8</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566928">
                <a:tc>
                  <a:txBody>
                    <a:bodyPr wrap="square"/>
                    <a:lstStyle/>
                    <a:p>
                      <a:r>
                        <a:rPr sz="1300" b="0">
                          <a:solidFill>
                            <a:srgbClr val="13263A"/>
                          </a:solidFill>
                          <a:latin typeface="Arial"/>
                        </a:rPr>
                        <a:t>Abid Ali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Deployment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Hosting, authentication method, rate and spending limits, availability target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300" b="0">
                          <a:solidFill>
                            <a:srgbClr val="13263A"/>
                          </a:solidFill>
                          <a:latin typeface="Arial"/>
                        </a:rPr>
                        <a:t>#1, #3, #4, #5</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566928">
                <a:tc>
                  <a:txBody>
                    <a:bodyPr wrap="square"/>
                    <a:lstStyle/>
                    <a:p>
                      <a:r>
                        <a:rPr sz="1300" b="0">
                          <a:solidFill>
                            <a:srgbClr val="13263A"/>
                          </a:solidFill>
                          <a:latin typeface="Arial"/>
                        </a:rPr>
                        <a:t>All</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Shared</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Consent and retention; repository licence; increment dates; final review</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300" b="0">
                          <a:solidFill>
                            <a:srgbClr val="13263A"/>
                          </a:solidFill>
                          <a:latin typeface="Arial"/>
                        </a:rPr>
                        <a:t>#6, #9, #10</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bl>
          </a:graphicData>
        </a:graphic>
      </p:graphicFrame>
      <p:sp>
        <p:nvSpPr>
          <p:cNvPr id="6" name="Rectangle 5"/>
          <p:cNvSpPr/>
          <p:nvPr/>
        </p:nvSpPr>
        <p:spPr>
          <a:xfrm>
            <a:off x="630936" y="5486400"/>
            <a:ext cx="2468880" cy="5486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a:solidFill>
                  <a:srgbClr val="FFFFFF"/>
                </a:solidFill>
                <a:latin typeface="Arial"/>
              </a:rPr>
              <a:t>W3  </a:t>
            </a:r>
            <a:r>
              <a:rPr sz="1300" b="0">
                <a:solidFill>
                  <a:srgbClr val="FFFFFF"/>
                </a:solidFill>
                <a:latin typeface="Arial"/>
              </a:rPr>
              <a:t>SRS v0.2 drafted</a:t>
            </a:r>
          </a:p>
        </p:txBody>
      </p:sp>
      <p:cxnSp>
        <p:nvCxnSpPr>
          <p:cNvPr id="7" name="Connector 6"/>
          <p:cNvCxnSpPr/>
          <p:nvPr/>
        </p:nvCxnSpPr>
        <p:spPr>
          <a:xfrm>
            <a:off x="3118104" y="5760720"/>
            <a:ext cx="32918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65576" y="5486400"/>
            <a:ext cx="2468880" cy="5486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a:solidFill>
                  <a:srgbClr val="255CF0"/>
                </a:solidFill>
                <a:latin typeface="Arial"/>
              </a:rPr>
              <a:t>Next  </a:t>
            </a:r>
            <a:r>
              <a:rPr sz="1300" b="0">
                <a:solidFill>
                  <a:srgbClr val="13263A"/>
                </a:solidFill>
                <a:latin typeface="Arial"/>
              </a:rPr>
              <a:t>Owners close TBDs</a:t>
            </a:r>
          </a:p>
        </p:txBody>
      </p:sp>
      <p:cxnSp>
        <p:nvCxnSpPr>
          <p:cNvPr id="9" name="Connector 8"/>
          <p:cNvCxnSpPr/>
          <p:nvPr/>
        </p:nvCxnSpPr>
        <p:spPr>
          <a:xfrm>
            <a:off x="5952744" y="5760720"/>
            <a:ext cx="32918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300216" y="5486400"/>
            <a:ext cx="2468880" cy="54864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a:solidFill>
                  <a:srgbClr val="255CF0"/>
                </a:solidFill>
                <a:latin typeface="Arial"/>
              </a:rPr>
              <a:t>Then  </a:t>
            </a:r>
            <a:r>
              <a:rPr sz="1300" b="0">
                <a:solidFill>
                  <a:srgbClr val="13263A"/>
                </a:solidFill>
                <a:latin typeface="Arial"/>
              </a:rPr>
              <a:t>Cross-team peer review</a:t>
            </a:r>
          </a:p>
        </p:txBody>
      </p:sp>
      <p:cxnSp>
        <p:nvCxnSpPr>
          <p:cNvPr id="11" name="Connector 10"/>
          <p:cNvCxnSpPr/>
          <p:nvPr/>
        </p:nvCxnSpPr>
        <p:spPr>
          <a:xfrm>
            <a:off x="8787384" y="5760720"/>
            <a:ext cx="329184" cy="0"/>
          </a:xfrm>
          <a:prstGeom prst="line">
            <a:avLst/>
          </a:prstGeom>
          <a:ln w="19050">
            <a:solidFill>
              <a:srgbClr val="64708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134856" y="5486400"/>
            <a:ext cx="2468880" cy="548640"/>
          </a:xfrm>
          <a:prstGeom prst="rect">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1">
                <a:solidFill>
                  <a:srgbClr val="FFFFFF"/>
                </a:solidFill>
                <a:latin typeface="Arial"/>
              </a:rPr>
              <a:t>W7  </a:t>
            </a:r>
            <a:r>
              <a:rPr sz="1300" b="0">
                <a:solidFill>
                  <a:srgbClr val="FFFFFF"/>
                </a:solidFill>
                <a:latin typeface="Arial"/>
              </a:rPr>
              <a:t>SRS submitted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Roles and responsibilities</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09</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03  Project progress  ·  one owner per component (SRS 2.6)</a:t>
            </a:r>
          </a:p>
        </p:txBody>
      </p:sp>
      <p:sp>
        <p:nvSpPr>
          <p:cNvPr id="5" name="Rectangle 4"/>
          <p:cNvSpPr/>
          <p:nvPr/>
        </p:nvSpPr>
        <p:spPr>
          <a:xfrm>
            <a:off x="630936" y="1783080"/>
            <a:ext cx="2560320" cy="3429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13815" y="1965960"/>
            <a:ext cx="685800" cy="685800"/>
          </a:xfrm>
          <a:prstGeom prst="ellipse">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FFFFFF"/>
                </a:solidFill>
                <a:latin typeface="Arial"/>
              </a:rPr>
              <a:t>T</a:t>
            </a:r>
          </a:p>
        </p:txBody>
      </p:sp>
      <p:sp>
        <p:nvSpPr>
          <p:cNvPr id="7" name="TextBox 6"/>
          <p:cNvSpPr txBox="1"/>
          <p:nvPr/>
        </p:nvSpPr>
        <p:spPr>
          <a:xfrm>
            <a:off x="1591056" y="2011680"/>
            <a:ext cx="1508760" cy="365760"/>
          </a:xfrm>
          <a:prstGeom prst="rect">
            <a:avLst/>
          </a:prstGeom>
          <a:noFill/>
        </p:spPr>
        <p:txBody>
          <a:bodyPr wrap="square" anchor="t" lIns="45720" rIns="45720" tIns="27432" bIns="27432">
            <a:spAutoFit/>
          </a:bodyPr>
          <a:lstStyle/>
          <a:p>
            <a:pPr algn="l"/>
            <a:r>
              <a:rPr sz="1800" b="1">
                <a:solidFill>
                  <a:srgbClr val="13263A"/>
                </a:solidFill>
                <a:latin typeface="Arial"/>
              </a:rPr>
              <a:t>Thibaut</a:t>
            </a:r>
          </a:p>
        </p:txBody>
      </p:sp>
      <p:sp>
        <p:nvSpPr>
          <p:cNvPr id="8" name="TextBox 7"/>
          <p:cNvSpPr txBox="1"/>
          <p:nvPr/>
        </p:nvSpPr>
        <p:spPr>
          <a:xfrm>
            <a:off x="1591056" y="2331720"/>
            <a:ext cx="1508760" cy="320040"/>
          </a:xfrm>
          <a:prstGeom prst="rect">
            <a:avLst/>
          </a:prstGeom>
          <a:noFill/>
        </p:spPr>
        <p:txBody>
          <a:bodyPr wrap="square" anchor="t" lIns="45720" rIns="45720" tIns="27432" bIns="27432">
            <a:spAutoFit/>
          </a:bodyPr>
          <a:lstStyle/>
          <a:p>
            <a:pPr algn="l"/>
            <a:r>
              <a:rPr sz="1350" b="1">
                <a:solidFill>
                  <a:srgbClr val="255CF0"/>
                </a:solidFill>
                <a:latin typeface="Arial"/>
              </a:rPr>
              <a:t>Frontend</a:t>
            </a:r>
          </a:p>
        </p:txBody>
      </p:sp>
      <p:sp>
        <p:nvSpPr>
          <p:cNvPr id="9" name="TextBox 8"/>
          <p:cNvSpPr txBox="1"/>
          <p:nvPr/>
        </p:nvSpPr>
        <p:spPr>
          <a:xfrm>
            <a:off x="813815" y="2880360"/>
            <a:ext cx="2194560" cy="1280160"/>
          </a:xfrm>
          <a:prstGeom prst="rect">
            <a:avLst/>
          </a:prstGeom>
          <a:noFill/>
        </p:spPr>
        <p:txBody>
          <a:bodyPr wrap="square" anchor="t" lIns="45720" rIns="45720" tIns="27432" bIns="27432">
            <a:spAutoFit/>
          </a:bodyPr>
          <a:lstStyle/>
          <a:p>
            <a:pPr algn="l"/>
            <a:r>
              <a:rPr sz="1400" b="0">
                <a:solidFill>
                  <a:srgbClr val="13263A"/>
                </a:solidFill>
                <a:latin typeface="Arial"/>
              </a:rPr>
              <a:t>Symbol-board web app, UI flow, speech output, optional mobile</a:t>
            </a:r>
          </a:p>
        </p:txBody>
      </p:sp>
      <p:sp>
        <p:nvSpPr>
          <p:cNvPr id="10" name="TextBox 9"/>
          <p:cNvSpPr txBox="1"/>
          <p:nvPr/>
        </p:nvSpPr>
        <p:spPr>
          <a:xfrm>
            <a:off x="813815" y="4069080"/>
            <a:ext cx="2194560" cy="1097280"/>
          </a:xfrm>
          <a:prstGeom prst="rect">
            <a:avLst/>
          </a:prstGeom>
          <a:noFill/>
        </p:spPr>
        <p:txBody>
          <a:bodyPr wrap="square" anchor="t" lIns="45720" rIns="45720" tIns="27432" bIns="27432">
            <a:spAutoFit/>
          </a:bodyPr>
          <a:lstStyle/>
          <a:p>
            <a:pPr algn="l"/>
            <a:r>
              <a:rPr sz="1100" b="1">
                <a:solidFill>
                  <a:srgbClr val="255CF0"/>
                </a:solidFill>
                <a:latin typeface="Arial"/>
              </a:rPr>
              <a:t>OWNS</a:t>
            </a:r>
          </a:p>
          <a:p>
            <a:pPr algn="l"/>
            <a:r>
              <a:rPr sz="1200" b="0">
                <a:solidFill>
                  <a:srgbClr val="647080"/>
                </a:solidFill>
                <a:latin typeface="Arial"/>
              </a:rPr>
              <a:t>REQ-INT-001…003, 006 · FUNC-007, 008, 010</a:t>
            </a:r>
          </a:p>
        </p:txBody>
      </p:sp>
      <p:sp>
        <p:nvSpPr>
          <p:cNvPr id="11" name="Rectangle 10"/>
          <p:cNvSpPr/>
          <p:nvPr/>
        </p:nvSpPr>
        <p:spPr>
          <a:xfrm>
            <a:off x="3419856" y="1783080"/>
            <a:ext cx="2560320" cy="3429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02736" y="1965960"/>
            <a:ext cx="685800" cy="685800"/>
          </a:xfrm>
          <a:prstGeom prst="ellipse">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FFFFFF"/>
                </a:solidFill>
                <a:latin typeface="Arial"/>
              </a:rPr>
              <a:t>V</a:t>
            </a:r>
          </a:p>
        </p:txBody>
      </p:sp>
      <p:sp>
        <p:nvSpPr>
          <p:cNvPr id="13" name="TextBox 12"/>
          <p:cNvSpPr txBox="1"/>
          <p:nvPr/>
        </p:nvSpPr>
        <p:spPr>
          <a:xfrm>
            <a:off x="4379976" y="2011680"/>
            <a:ext cx="1508760" cy="365760"/>
          </a:xfrm>
          <a:prstGeom prst="rect">
            <a:avLst/>
          </a:prstGeom>
          <a:noFill/>
        </p:spPr>
        <p:txBody>
          <a:bodyPr wrap="square" anchor="t" lIns="45720" rIns="45720" tIns="27432" bIns="27432">
            <a:spAutoFit/>
          </a:bodyPr>
          <a:lstStyle/>
          <a:p>
            <a:pPr algn="l"/>
            <a:r>
              <a:rPr sz="1800" b="1">
                <a:solidFill>
                  <a:srgbClr val="13263A"/>
                </a:solidFill>
                <a:latin typeface="Arial"/>
              </a:rPr>
              <a:t>Veronika</a:t>
            </a:r>
          </a:p>
        </p:txBody>
      </p:sp>
      <p:sp>
        <p:nvSpPr>
          <p:cNvPr id="14" name="TextBox 13"/>
          <p:cNvSpPr txBox="1"/>
          <p:nvPr/>
        </p:nvSpPr>
        <p:spPr>
          <a:xfrm>
            <a:off x="4379976" y="2331720"/>
            <a:ext cx="1508760" cy="320040"/>
          </a:xfrm>
          <a:prstGeom prst="rect">
            <a:avLst/>
          </a:prstGeom>
          <a:noFill/>
        </p:spPr>
        <p:txBody>
          <a:bodyPr wrap="square" anchor="t" lIns="45720" rIns="45720" tIns="27432" bIns="27432">
            <a:spAutoFit/>
          </a:bodyPr>
          <a:lstStyle/>
          <a:p>
            <a:pPr algn="l"/>
            <a:r>
              <a:rPr sz="1350" b="1">
                <a:solidFill>
                  <a:srgbClr val="255CF0"/>
                </a:solidFill>
                <a:latin typeface="Arial"/>
              </a:rPr>
              <a:t>Backend + data</a:t>
            </a:r>
          </a:p>
        </p:txBody>
      </p:sp>
      <p:sp>
        <p:nvSpPr>
          <p:cNvPr id="15" name="TextBox 14"/>
          <p:cNvSpPr txBox="1"/>
          <p:nvPr/>
        </p:nvSpPr>
        <p:spPr>
          <a:xfrm>
            <a:off x="3602736" y="2880360"/>
            <a:ext cx="2194560" cy="1280160"/>
          </a:xfrm>
          <a:prstGeom prst="rect">
            <a:avLst/>
          </a:prstGeom>
          <a:noFill/>
        </p:spPr>
        <p:txBody>
          <a:bodyPr wrap="square" anchor="t" lIns="45720" rIns="45720" tIns="27432" bIns="27432">
            <a:spAutoFit/>
          </a:bodyPr>
          <a:lstStyle/>
          <a:p>
            <a:pPr algn="l"/>
            <a:r>
              <a:rPr sz="1400" b="0">
                <a:solidFill>
                  <a:srgbClr val="13263A"/>
                </a:solidFill>
                <a:latin typeface="Arial"/>
              </a:rPr>
              <a:t>FastAPI, validation, database, migrations, feedback storage</a:t>
            </a:r>
          </a:p>
        </p:txBody>
      </p:sp>
      <p:sp>
        <p:nvSpPr>
          <p:cNvPr id="16" name="TextBox 15"/>
          <p:cNvSpPr txBox="1"/>
          <p:nvPr/>
        </p:nvSpPr>
        <p:spPr>
          <a:xfrm>
            <a:off x="3602736" y="4069080"/>
            <a:ext cx="2194560" cy="1097280"/>
          </a:xfrm>
          <a:prstGeom prst="rect">
            <a:avLst/>
          </a:prstGeom>
          <a:noFill/>
        </p:spPr>
        <p:txBody>
          <a:bodyPr wrap="square" anchor="t" lIns="45720" rIns="45720" tIns="27432" bIns="27432">
            <a:spAutoFit/>
          </a:bodyPr>
          <a:lstStyle/>
          <a:p>
            <a:pPr algn="l"/>
            <a:r>
              <a:rPr sz="1100" b="1">
                <a:solidFill>
                  <a:srgbClr val="255CF0"/>
                </a:solidFill>
                <a:latin typeface="Arial"/>
              </a:rPr>
              <a:t>OWNS</a:t>
            </a:r>
          </a:p>
          <a:p>
            <a:pPr algn="l"/>
            <a:r>
              <a:rPr sz="1200" b="0">
                <a:solidFill>
                  <a:srgbClr val="647080"/>
                </a:solidFill>
                <a:latin typeface="Arial"/>
              </a:rPr>
              <a:t>REQ-FUNC-001…006, 009 · INT-004, 005 · REL · PERF</a:t>
            </a:r>
          </a:p>
        </p:txBody>
      </p:sp>
      <p:sp>
        <p:nvSpPr>
          <p:cNvPr id="17" name="Rectangle 16"/>
          <p:cNvSpPr/>
          <p:nvPr/>
        </p:nvSpPr>
        <p:spPr>
          <a:xfrm>
            <a:off x="6208775" y="1783080"/>
            <a:ext cx="2560320" cy="3429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1655" y="1965960"/>
            <a:ext cx="685800" cy="685800"/>
          </a:xfrm>
          <a:prstGeom prst="ellipse">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FFFFFF"/>
                </a:solidFill>
                <a:latin typeface="Arial"/>
              </a:rPr>
              <a:t>J</a:t>
            </a:r>
          </a:p>
        </p:txBody>
      </p:sp>
      <p:sp>
        <p:nvSpPr>
          <p:cNvPr id="19" name="TextBox 18"/>
          <p:cNvSpPr txBox="1"/>
          <p:nvPr/>
        </p:nvSpPr>
        <p:spPr>
          <a:xfrm>
            <a:off x="7168895" y="2011680"/>
            <a:ext cx="1508760" cy="365760"/>
          </a:xfrm>
          <a:prstGeom prst="rect">
            <a:avLst/>
          </a:prstGeom>
          <a:noFill/>
        </p:spPr>
        <p:txBody>
          <a:bodyPr wrap="square" anchor="t" lIns="45720" rIns="45720" tIns="27432" bIns="27432">
            <a:spAutoFit/>
          </a:bodyPr>
          <a:lstStyle/>
          <a:p>
            <a:pPr algn="l"/>
            <a:r>
              <a:rPr sz="1800" b="1">
                <a:solidFill>
                  <a:srgbClr val="13263A"/>
                </a:solidFill>
                <a:latin typeface="Arial"/>
              </a:rPr>
              <a:t>Jiahui</a:t>
            </a:r>
          </a:p>
        </p:txBody>
      </p:sp>
      <p:sp>
        <p:nvSpPr>
          <p:cNvPr id="20" name="TextBox 19"/>
          <p:cNvSpPr txBox="1"/>
          <p:nvPr/>
        </p:nvSpPr>
        <p:spPr>
          <a:xfrm>
            <a:off x="7168895" y="2331720"/>
            <a:ext cx="1508760" cy="320040"/>
          </a:xfrm>
          <a:prstGeom prst="rect">
            <a:avLst/>
          </a:prstGeom>
          <a:noFill/>
        </p:spPr>
        <p:txBody>
          <a:bodyPr wrap="square" anchor="t" lIns="45720" rIns="45720" tIns="27432" bIns="27432">
            <a:spAutoFit/>
          </a:bodyPr>
          <a:lstStyle/>
          <a:p>
            <a:pPr algn="l"/>
            <a:r>
              <a:rPr sz="1350" b="1">
                <a:solidFill>
                  <a:srgbClr val="255CF0"/>
                </a:solidFill>
                <a:latin typeface="Arial"/>
              </a:rPr>
              <a:t>AI</a:t>
            </a:r>
          </a:p>
        </p:txBody>
      </p:sp>
      <p:sp>
        <p:nvSpPr>
          <p:cNvPr id="21" name="TextBox 20"/>
          <p:cNvSpPr txBox="1"/>
          <p:nvPr/>
        </p:nvSpPr>
        <p:spPr>
          <a:xfrm>
            <a:off x="6391655" y="2880360"/>
            <a:ext cx="2194560" cy="1280160"/>
          </a:xfrm>
          <a:prstGeom prst="rect">
            <a:avLst/>
          </a:prstGeom>
          <a:noFill/>
        </p:spPr>
        <p:txBody>
          <a:bodyPr wrap="square" anchor="t" lIns="45720" rIns="45720" tIns="27432" bIns="27432">
            <a:spAutoFit/>
          </a:bodyPr>
          <a:lstStyle/>
          <a:p>
            <a:pPr algn="l"/>
            <a:r>
              <a:rPr sz="1400" b="0">
                <a:solidFill>
                  <a:srgbClr val="13263A"/>
                </a:solidFill>
                <a:latin typeface="Arial"/>
              </a:rPr>
              <a:t>Model selection and prompts, sentence quality, evaluation</a:t>
            </a:r>
          </a:p>
        </p:txBody>
      </p:sp>
      <p:sp>
        <p:nvSpPr>
          <p:cNvPr id="22" name="TextBox 21"/>
          <p:cNvSpPr txBox="1"/>
          <p:nvPr/>
        </p:nvSpPr>
        <p:spPr>
          <a:xfrm>
            <a:off x="6391655" y="4069080"/>
            <a:ext cx="2194560" cy="1097280"/>
          </a:xfrm>
          <a:prstGeom prst="rect">
            <a:avLst/>
          </a:prstGeom>
          <a:noFill/>
        </p:spPr>
        <p:txBody>
          <a:bodyPr wrap="square" anchor="t" lIns="45720" rIns="45720" tIns="27432" bIns="27432">
            <a:spAutoFit/>
          </a:bodyPr>
          <a:lstStyle/>
          <a:p>
            <a:pPr algn="l"/>
            <a:r>
              <a:rPr sz="1100" b="1">
                <a:solidFill>
                  <a:srgbClr val="255CF0"/>
                </a:solidFill>
                <a:latin typeface="Arial"/>
              </a:rPr>
              <a:t>OWNS</a:t>
            </a:r>
          </a:p>
          <a:p>
            <a:pPr algn="l"/>
            <a:r>
              <a:rPr sz="1200" b="0">
                <a:solidFill>
                  <a:srgbClr val="647080"/>
                </a:solidFill>
                <a:latin typeface="Arial"/>
              </a:rPr>
              <a:t>REQ-ML-001…006</a:t>
            </a:r>
          </a:p>
        </p:txBody>
      </p:sp>
      <p:sp>
        <p:nvSpPr>
          <p:cNvPr id="23" name="Rectangle 22"/>
          <p:cNvSpPr/>
          <p:nvPr/>
        </p:nvSpPr>
        <p:spPr>
          <a:xfrm>
            <a:off x="8997695" y="1783080"/>
            <a:ext cx="2560320" cy="3429000"/>
          </a:xfrm>
          <a:prstGeom prst="rect">
            <a:avLst/>
          </a:prstGeom>
          <a:solidFill>
            <a:srgbClr val="FFFFFF"/>
          </a:solidFill>
          <a:ln w="9525">
            <a:solidFill>
              <a:srgbClr val="A8B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80575" y="1965960"/>
            <a:ext cx="685800" cy="685800"/>
          </a:xfrm>
          <a:prstGeom prst="ellipse">
            <a:avLst/>
          </a:prstGeom>
          <a:solidFill>
            <a:srgbClr val="13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FFFFFF"/>
                </a:solidFill>
                <a:latin typeface="Arial"/>
              </a:rPr>
              <a:t>A</a:t>
            </a:r>
          </a:p>
        </p:txBody>
      </p:sp>
      <p:sp>
        <p:nvSpPr>
          <p:cNvPr id="25" name="TextBox 24"/>
          <p:cNvSpPr txBox="1"/>
          <p:nvPr/>
        </p:nvSpPr>
        <p:spPr>
          <a:xfrm>
            <a:off x="9957815" y="2011680"/>
            <a:ext cx="1508760" cy="365760"/>
          </a:xfrm>
          <a:prstGeom prst="rect">
            <a:avLst/>
          </a:prstGeom>
          <a:noFill/>
        </p:spPr>
        <p:txBody>
          <a:bodyPr wrap="square" anchor="t" lIns="45720" rIns="45720" tIns="27432" bIns="27432">
            <a:spAutoFit/>
          </a:bodyPr>
          <a:lstStyle/>
          <a:p>
            <a:pPr algn="l"/>
            <a:r>
              <a:rPr sz="1800" b="1">
                <a:solidFill>
                  <a:srgbClr val="13263A"/>
                </a:solidFill>
                <a:latin typeface="Arial"/>
              </a:rPr>
              <a:t>Abid Ali</a:t>
            </a:r>
          </a:p>
        </p:txBody>
      </p:sp>
      <p:sp>
        <p:nvSpPr>
          <p:cNvPr id="26" name="TextBox 25"/>
          <p:cNvSpPr txBox="1"/>
          <p:nvPr/>
        </p:nvSpPr>
        <p:spPr>
          <a:xfrm>
            <a:off x="9957815" y="2331720"/>
            <a:ext cx="1508760" cy="320040"/>
          </a:xfrm>
          <a:prstGeom prst="rect">
            <a:avLst/>
          </a:prstGeom>
          <a:noFill/>
        </p:spPr>
        <p:txBody>
          <a:bodyPr wrap="square" anchor="t" lIns="45720" rIns="45720" tIns="27432" bIns="27432">
            <a:spAutoFit/>
          </a:bodyPr>
          <a:lstStyle/>
          <a:p>
            <a:pPr algn="l"/>
            <a:r>
              <a:rPr sz="1350" b="1">
                <a:solidFill>
                  <a:srgbClr val="255CF0"/>
                </a:solidFill>
                <a:latin typeface="Arial"/>
              </a:rPr>
              <a:t>Deployment</a:t>
            </a:r>
          </a:p>
        </p:txBody>
      </p:sp>
      <p:sp>
        <p:nvSpPr>
          <p:cNvPr id="27" name="TextBox 26"/>
          <p:cNvSpPr txBox="1"/>
          <p:nvPr/>
        </p:nvSpPr>
        <p:spPr>
          <a:xfrm>
            <a:off x="9180575" y="2880360"/>
            <a:ext cx="2194560" cy="1280160"/>
          </a:xfrm>
          <a:prstGeom prst="rect">
            <a:avLst/>
          </a:prstGeom>
          <a:noFill/>
        </p:spPr>
        <p:txBody>
          <a:bodyPr wrap="square" anchor="t" lIns="45720" rIns="45720" tIns="27432" bIns="27432">
            <a:spAutoFit/>
          </a:bodyPr>
          <a:lstStyle/>
          <a:p>
            <a:pPr algn="l"/>
            <a:r>
              <a:rPr sz="1400" b="0">
                <a:solidFill>
                  <a:srgbClr val="13263A"/>
                </a:solidFill>
                <a:latin typeface="Arial"/>
              </a:rPr>
              <a:t>CI, Docker Compose, hosting, security limits, logging</a:t>
            </a:r>
          </a:p>
        </p:txBody>
      </p:sp>
      <p:sp>
        <p:nvSpPr>
          <p:cNvPr id="28" name="TextBox 27"/>
          <p:cNvSpPr txBox="1"/>
          <p:nvPr/>
        </p:nvSpPr>
        <p:spPr>
          <a:xfrm>
            <a:off x="9180575" y="4069080"/>
            <a:ext cx="2194560" cy="1097280"/>
          </a:xfrm>
          <a:prstGeom prst="rect">
            <a:avLst/>
          </a:prstGeom>
          <a:noFill/>
        </p:spPr>
        <p:txBody>
          <a:bodyPr wrap="square" anchor="t" lIns="45720" rIns="45720" tIns="27432" bIns="27432">
            <a:spAutoFit/>
          </a:bodyPr>
          <a:lstStyle/>
          <a:p>
            <a:pPr algn="l"/>
            <a:r>
              <a:rPr sz="1100" b="1">
                <a:solidFill>
                  <a:srgbClr val="255CF0"/>
                </a:solidFill>
                <a:latin typeface="Arial"/>
              </a:rPr>
              <a:t>OWNS</a:t>
            </a:r>
          </a:p>
          <a:p>
            <a:pPr algn="l"/>
            <a:r>
              <a:rPr sz="1200" b="0">
                <a:solidFill>
                  <a:srgbClr val="647080"/>
                </a:solidFill>
                <a:latin typeface="Arial"/>
              </a:rPr>
              <a:t>REQ-BUILD-001 · DIST-001 · SEC-003, 005, 006 · OBS-001</a:t>
            </a:r>
          </a:p>
        </p:txBody>
      </p:sp>
      <p:sp>
        <p:nvSpPr>
          <p:cNvPr id="29" name="TextBox 28"/>
          <p:cNvSpPr txBox="1"/>
          <p:nvPr/>
        </p:nvSpPr>
        <p:spPr>
          <a:xfrm>
            <a:off x="630936" y="5440680"/>
            <a:ext cx="10789920" cy="274320"/>
          </a:xfrm>
          <a:prstGeom prst="rect">
            <a:avLst/>
          </a:prstGeom>
          <a:noFill/>
        </p:spPr>
        <p:txBody>
          <a:bodyPr wrap="square" anchor="t" lIns="45720" rIns="45720" tIns="27432" bIns="27432">
            <a:spAutoFit/>
          </a:bodyPr>
          <a:lstStyle/>
          <a:p>
            <a:pPr algn="l"/>
            <a:r>
              <a:rPr sz="1300" b="0">
                <a:solidFill>
                  <a:srgbClr val="647080"/>
                </a:solidFill>
                <a:latin typeface="Arial"/>
              </a:rPr>
              <a:t>All members: requirements, testing and integration; shared REQ-SEC-007, COMP-001/002, CM-001, FUNC-011.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612648" y="457200"/>
            <a:ext cx="10954512" cy="758952"/>
          </a:xfrm>
          <a:prstGeom prst="rect">
            <a:avLst/>
          </a:prstGeom>
          <a:noFill/>
        </p:spPr>
        <p:txBody>
          <a:bodyPr wrap="square" anchor="ctr" lIns="45720" rIns="45720" tIns="27432" bIns="27432">
            <a:spAutoFit/>
          </a:bodyPr>
          <a:lstStyle/>
          <a:p>
            <a:pPr algn="l"/>
            <a:r>
              <a:rPr sz="3300" b="1">
                <a:solidFill>
                  <a:srgbClr val="13263A"/>
                </a:solidFill>
                <a:latin typeface="Arial"/>
              </a:rPr>
              <a:t>Collaboration and task allocation</a:t>
            </a:r>
          </a:p>
        </p:txBody>
      </p:sp>
      <p:sp>
        <p:nvSpPr>
          <p:cNvPr id="3" name="TextBox 2"/>
          <p:cNvSpPr txBox="1"/>
          <p:nvPr/>
        </p:nvSpPr>
        <p:spPr>
          <a:xfrm>
            <a:off x="11045952" y="6245352"/>
            <a:ext cx="530352" cy="283464"/>
          </a:xfrm>
          <a:prstGeom prst="rect">
            <a:avLst/>
          </a:prstGeom>
          <a:noFill/>
        </p:spPr>
        <p:txBody>
          <a:bodyPr wrap="square" anchor="t" lIns="45720" rIns="45720" tIns="27432" bIns="27432">
            <a:spAutoFit/>
          </a:bodyPr>
          <a:lstStyle/>
          <a:p>
            <a:pPr algn="l"/>
            <a:r>
              <a:rPr sz="1350" b="0">
                <a:solidFill>
                  <a:srgbClr val="647080"/>
                </a:solidFill>
                <a:latin typeface="Arial"/>
              </a:rPr>
              <a:t>10</a:t>
            </a:r>
          </a:p>
        </p:txBody>
      </p:sp>
      <p:sp>
        <p:nvSpPr>
          <p:cNvPr id="4" name="TextBox 3"/>
          <p:cNvSpPr txBox="1"/>
          <p:nvPr/>
        </p:nvSpPr>
        <p:spPr>
          <a:xfrm>
            <a:off x="630936" y="1216152"/>
            <a:ext cx="10570464" cy="411480"/>
          </a:xfrm>
          <a:prstGeom prst="rect">
            <a:avLst/>
          </a:prstGeom>
          <a:noFill/>
        </p:spPr>
        <p:txBody>
          <a:bodyPr wrap="square" anchor="t" lIns="45720" rIns="45720" tIns="27432" bIns="27432">
            <a:spAutoFit/>
          </a:bodyPr>
          <a:lstStyle/>
          <a:p>
            <a:pPr algn="l"/>
            <a:r>
              <a:rPr sz="1800" b="0">
                <a:solidFill>
                  <a:srgbClr val="647080"/>
                </a:solidFill>
                <a:latin typeface="Arial"/>
              </a:rPr>
              <a:t>03  Project progress  ·  how we work and the first experimental tasks</a:t>
            </a:r>
          </a:p>
        </p:txBody>
      </p:sp>
      <p:sp>
        <p:nvSpPr>
          <p:cNvPr id="5" name="TextBox 4"/>
          <p:cNvSpPr txBox="1"/>
          <p:nvPr/>
        </p:nvSpPr>
        <p:spPr>
          <a:xfrm>
            <a:off x="630936" y="1783080"/>
            <a:ext cx="4023360" cy="384048"/>
          </a:xfrm>
          <a:prstGeom prst="rect">
            <a:avLst/>
          </a:prstGeom>
          <a:noFill/>
        </p:spPr>
        <p:txBody>
          <a:bodyPr wrap="square" anchor="t" lIns="45720" rIns="45720" tIns="27432" bIns="27432">
            <a:spAutoFit/>
          </a:bodyPr>
          <a:lstStyle/>
          <a:p>
            <a:pPr algn="l"/>
            <a:r>
              <a:rPr sz="1650" b="1">
                <a:solidFill>
                  <a:srgbClr val="255CF0"/>
                </a:solidFill>
                <a:latin typeface="Arial"/>
              </a:rPr>
              <a:t>HOW WE WORK</a:t>
            </a:r>
          </a:p>
        </p:txBody>
      </p:sp>
      <p:sp>
        <p:nvSpPr>
          <p:cNvPr id="6" name="Oval 5"/>
          <p:cNvSpPr/>
          <p:nvPr/>
        </p:nvSpPr>
        <p:spPr>
          <a:xfrm>
            <a:off x="630936" y="2286000"/>
            <a:ext cx="384048" cy="384048"/>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FFFFF"/>
                </a:solidFill>
                <a:latin typeface="Arial"/>
              </a:rPr>
              <a:t>1</a:t>
            </a:r>
          </a:p>
        </p:txBody>
      </p:sp>
      <p:sp>
        <p:nvSpPr>
          <p:cNvPr id="7" name="TextBox 6"/>
          <p:cNvSpPr txBox="1"/>
          <p:nvPr/>
        </p:nvSpPr>
        <p:spPr>
          <a:xfrm>
            <a:off x="1143000" y="2240280"/>
            <a:ext cx="3566160" cy="594360"/>
          </a:xfrm>
          <a:prstGeom prst="rect">
            <a:avLst/>
          </a:prstGeom>
          <a:noFill/>
        </p:spPr>
        <p:txBody>
          <a:bodyPr wrap="square" anchor="t" lIns="45720" rIns="45720" tIns="27432" bIns="27432">
            <a:spAutoFit/>
          </a:bodyPr>
          <a:lstStyle/>
          <a:p>
            <a:pPr algn="l"/>
            <a:r>
              <a:rPr sz="1400" b="1">
                <a:solidFill>
                  <a:srgbClr val="13263A"/>
                </a:solidFill>
                <a:latin typeface="Arial"/>
              </a:rPr>
              <a:t>GitHub</a:t>
            </a:r>
          </a:p>
          <a:p>
            <a:pPr algn="l"/>
            <a:r>
              <a:rPr sz="1200" b="0">
                <a:solidFill>
                  <a:srgbClr val="647080"/>
                </a:solidFill>
                <a:latin typeface="Arial"/>
              </a:rPr>
              <a:t>bhsei/26B, work on main</a:t>
            </a:r>
          </a:p>
        </p:txBody>
      </p:sp>
      <p:sp>
        <p:nvSpPr>
          <p:cNvPr id="8" name="Oval 7"/>
          <p:cNvSpPr/>
          <p:nvPr/>
        </p:nvSpPr>
        <p:spPr>
          <a:xfrm>
            <a:off x="630936" y="2971800"/>
            <a:ext cx="384048" cy="384048"/>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FFFFF"/>
                </a:solidFill>
                <a:latin typeface="Arial"/>
              </a:rPr>
              <a:t>2</a:t>
            </a:r>
          </a:p>
        </p:txBody>
      </p:sp>
      <p:sp>
        <p:nvSpPr>
          <p:cNvPr id="9" name="TextBox 8"/>
          <p:cNvSpPr txBox="1"/>
          <p:nvPr/>
        </p:nvSpPr>
        <p:spPr>
          <a:xfrm>
            <a:off x="1143000" y="2926080"/>
            <a:ext cx="3566160" cy="594360"/>
          </a:xfrm>
          <a:prstGeom prst="rect">
            <a:avLst/>
          </a:prstGeom>
          <a:noFill/>
        </p:spPr>
        <p:txBody>
          <a:bodyPr wrap="square" anchor="t" lIns="45720" rIns="45720" tIns="27432" bIns="27432">
            <a:spAutoFit/>
          </a:bodyPr>
          <a:lstStyle/>
          <a:p>
            <a:pPr algn="l"/>
            <a:r>
              <a:rPr sz="1400" b="1">
                <a:solidFill>
                  <a:srgbClr val="13263A"/>
                </a:solidFill>
                <a:latin typeface="Arial"/>
              </a:rPr>
              <a:t>Commits</a:t>
            </a:r>
          </a:p>
          <a:p>
            <a:pPr algn="l"/>
            <a:r>
              <a:rPr sz="1200" b="0">
                <a:solidFill>
                  <a:srgbClr val="647080"/>
                </a:solidFill>
                <a:latin typeface="Arial"/>
              </a:rPr>
              <a:t>one per document, course message format</a:t>
            </a:r>
          </a:p>
        </p:txBody>
      </p:sp>
      <p:sp>
        <p:nvSpPr>
          <p:cNvPr id="10" name="Oval 9"/>
          <p:cNvSpPr/>
          <p:nvPr/>
        </p:nvSpPr>
        <p:spPr>
          <a:xfrm>
            <a:off x="630936" y="3657600"/>
            <a:ext cx="384048" cy="384048"/>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FFFFF"/>
                </a:solidFill>
                <a:latin typeface="Arial"/>
              </a:rPr>
              <a:t>3</a:t>
            </a:r>
          </a:p>
        </p:txBody>
      </p:sp>
      <p:sp>
        <p:nvSpPr>
          <p:cNvPr id="11" name="TextBox 10"/>
          <p:cNvSpPr txBox="1"/>
          <p:nvPr/>
        </p:nvSpPr>
        <p:spPr>
          <a:xfrm>
            <a:off x="1143000" y="3611880"/>
            <a:ext cx="3566160" cy="594360"/>
          </a:xfrm>
          <a:prstGeom prst="rect">
            <a:avLst/>
          </a:prstGeom>
          <a:noFill/>
        </p:spPr>
        <p:txBody>
          <a:bodyPr wrap="square" anchor="t" lIns="45720" rIns="45720" tIns="27432" bIns="27432">
            <a:spAutoFit/>
          </a:bodyPr>
          <a:lstStyle/>
          <a:p>
            <a:pPr algn="l"/>
            <a:r>
              <a:rPr sz="1400" b="1">
                <a:solidFill>
                  <a:srgbClr val="13263A"/>
                </a:solidFill>
                <a:latin typeface="Arial"/>
              </a:rPr>
              <a:t>Reviews</a:t>
            </a:r>
          </a:p>
          <a:p>
            <a:pPr algn="l"/>
            <a:r>
              <a:rPr sz="1200" b="0">
                <a:solidFill>
                  <a:srgbClr val="647080"/>
                </a:solidFill>
                <a:latin typeface="Arial"/>
              </a:rPr>
              <a:t>one GitHub Issue per document version</a:t>
            </a:r>
          </a:p>
        </p:txBody>
      </p:sp>
      <p:sp>
        <p:nvSpPr>
          <p:cNvPr id="12" name="Oval 11"/>
          <p:cNvSpPr/>
          <p:nvPr/>
        </p:nvSpPr>
        <p:spPr>
          <a:xfrm>
            <a:off x="630936" y="4343400"/>
            <a:ext cx="384048" cy="384048"/>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FFFFF"/>
                </a:solidFill>
                <a:latin typeface="Arial"/>
              </a:rPr>
              <a:t>4</a:t>
            </a:r>
          </a:p>
        </p:txBody>
      </p:sp>
      <p:sp>
        <p:nvSpPr>
          <p:cNvPr id="13" name="TextBox 12"/>
          <p:cNvSpPr txBox="1"/>
          <p:nvPr/>
        </p:nvSpPr>
        <p:spPr>
          <a:xfrm>
            <a:off x="1143000" y="4297680"/>
            <a:ext cx="3566160" cy="594360"/>
          </a:xfrm>
          <a:prstGeom prst="rect">
            <a:avLst/>
          </a:prstGeom>
          <a:noFill/>
        </p:spPr>
        <p:txBody>
          <a:bodyPr wrap="square" anchor="t" lIns="45720" rIns="45720" tIns="27432" bIns="27432">
            <a:spAutoFit/>
          </a:bodyPr>
          <a:lstStyle/>
          <a:p>
            <a:pPr algn="l"/>
            <a:r>
              <a:rPr sz="1400" b="1">
                <a:solidFill>
                  <a:srgbClr val="13263A"/>
                </a:solidFill>
                <a:latin typeface="Arial"/>
              </a:rPr>
              <a:t>CI</a:t>
            </a:r>
          </a:p>
          <a:p>
            <a:pPr algn="l"/>
            <a:r>
              <a:rPr sz="1200" b="0">
                <a:solidFill>
                  <a:srgbClr val="647080"/>
                </a:solidFill>
                <a:latin typeface="Arial"/>
              </a:rPr>
              <a:t>ruff, pytest, alembic on every push</a:t>
            </a:r>
          </a:p>
        </p:txBody>
      </p:sp>
      <p:sp>
        <p:nvSpPr>
          <p:cNvPr id="14" name="Oval 13"/>
          <p:cNvSpPr/>
          <p:nvPr/>
        </p:nvSpPr>
        <p:spPr>
          <a:xfrm>
            <a:off x="630936" y="5029200"/>
            <a:ext cx="384048" cy="384048"/>
          </a:xfrm>
          <a:prstGeom prst="ellipse">
            <a:avLst/>
          </a:prstGeom>
          <a:solidFill>
            <a:srgbClr val="255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FFFFFF"/>
                </a:solidFill>
                <a:latin typeface="Arial"/>
              </a:rPr>
              <a:t>5</a:t>
            </a:r>
          </a:p>
        </p:txBody>
      </p:sp>
      <p:sp>
        <p:nvSpPr>
          <p:cNvPr id="15" name="TextBox 14"/>
          <p:cNvSpPr txBox="1"/>
          <p:nvPr/>
        </p:nvSpPr>
        <p:spPr>
          <a:xfrm>
            <a:off x="1143000" y="4983480"/>
            <a:ext cx="3566160" cy="594360"/>
          </a:xfrm>
          <a:prstGeom prst="rect">
            <a:avLst/>
          </a:prstGeom>
          <a:noFill/>
        </p:spPr>
        <p:txBody>
          <a:bodyPr wrap="square" anchor="t" lIns="45720" rIns="45720" tIns="27432" bIns="27432">
            <a:spAutoFit/>
          </a:bodyPr>
          <a:lstStyle/>
          <a:p>
            <a:pPr algn="l"/>
            <a:r>
              <a:rPr sz="1400" b="1">
                <a:solidFill>
                  <a:srgbClr val="13263A"/>
                </a:solidFill>
                <a:latin typeface="Arial"/>
              </a:rPr>
              <a:t>Files</a:t>
            </a:r>
          </a:p>
          <a:p>
            <a:pPr algn="l"/>
            <a:r>
              <a:rPr sz="1200" b="0">
                <a:solidFill>
                  <a:srgbClr val="647080"/>
                </a:solidFill>
                <a:latin typeface="Arial"/>
              </a:rPr>
              <a:t>shared Google Drive</a:t>
            </a:r>
          </a:p>
        </p:txBody>
      </p:sp>
      <p:sp>
        <p:nvSpPr>
          <p:cNvPr id="16" name="TextBox 15"/>
          <p:cNvSpPr txBox="1"/>
          <p:nvPr/>
        </p:nvSpPr>
        <p:spPr>
          <a:xfrm>
            <a:off x="5029200" y="1783080"/>
            <a:ext cx="6492240" cy="384048"/>
          </a:xfrm>
          <a:prstGeom prst="rect">
            <a:avLst/>
          </a:prstGeom>
          <a:noFill/>
        </p:spPr>
        <p:txBody>
          <a:bodyPr wrap="square" anchor="t" lIns="45720" rIns="45720" tIns="27432" bIns="27432">
            <a:spAutoFit/>
          </a:bodyPr>
          <a:lstStyle/>
          <a:p>
            <a:pPr algn="l"/>
            <a:r>
              <a:rPr sz="1650" b="1">
                <a:solidFill>
                  <a:srgbClr val="255CF0"/>
                </a:solidFill>
                <a:latin typeface="Arial"/>
              </a:rPr>
              <a:t>FIRST EXPERIMENTAL TASKS</a:t>
            </a:r>
          </a:p>
        </p:txBody>
      </p:sp>
      <p:graphicFrame>
        <p:nvGraphicFramePr>
          <p:cNvPr id="17" name="Table 16"/>
          <p:cNvGraphicFramePr>
            <a:graphicFrameLocks noGrp="1"/>
          </p:cNvGraphicFramePr>
          <p:nvPr/>
        </p:nvGraphicFramePr>
        <p:xfrm>
          <a:off x="5029200" y="2240280"/>
          <a:ext cx="6537960" cy="3291840"/>
        </p:xfrm>
        <a:graphic>
          <a:graphicData uri="http://schemas.openxmlformats.org/drawingml/2006/table">
            <a:tbl>
              <a:tblPr firstRow="1" bandRow="1">
                <a:tableStyleId>{5940675A-B579-460E-94D1-54222C63F5DA}</a:tableStyleId>
              </a:tblPr>
              <a:tblGrid>
                <a:gridCol w="1143000"/>
                <a:gridCol w="3063240"/>
                <a:gridCol w="2331720"/>
              </a:tblGrid>
              <a:tr h="548640">
                <a:tc>
                  <a:txBody>
                    <a:bodyPr wrap="square"/>
                    <a:lstStyle/>
                    <a:p>
                      <a:r>
                        <a:rPr sz="1300" b="1">
                          <a:solidFill>
                            <a:srgbClr val="FFFFFF"/>
                          </a:solidFill>
                          <a:latin typeface="Arial"/>
                        </a:rPr>
                        <a:t>Owner</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wrap="square"/>
                    <a:lstStyle/>
                    <a:p>
                      <a:r>
                        <a:rPr sz="1300" b="1">
                          <a:solidFill>
                            <a:srgbClr val="FFFFFF"/>
                          </a:solidFill>
                          <a:latin typeface="Arial"/>
                        </a:rPr>
                        <a:t>Task</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c>
                  <a:txBody>
                    <a:bodyPr wrap="square"/>
                    <a:lstStyle/>
                    <a:p>
                      <a:r>
                        <a:rPr sz="1300" b="1">
                          <a:solidFill>
                            <a:srgbClr val="FFFFFF"/>
                          </a:solidFill>
                          <a:latin typeface="Arial"/>
                        </a:rPr>
                        <a:t>Done when</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13263A"/>
                    </a:solidFill>
                  </a:tcPr>
                </a:tc>
              </a:tr>
              <a:tr h="548640">
                <a:tc>
                  <a:txBody>
                    <a:bodyPr wrap="square"/>
                    <a:lstStyle/>
                    <a:p>
                      <a:r>
                        <a:rPr sz="1200" b="0">
                          <a:solidFill>
                            <a:srgbClr val="13263A"/>
                          </a:solidFill>
                          <a:latin typeface="Arial"/>
                        </a:rPr>
                        <a:t>Thibaut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Build the symbol board; send the selected tile to the API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"water" tile shows suggestions</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548640">
                <a:tc>
                  <a:txBody>
                    <a:bodyPr wrap="square"/>
                    <a:lstStyle/>
                    <a:p>
                      <a:r>
                        <a:rPr sz="1200" b="0">
                          <a:solidFill>
                            <a:srgbClr val="13263A"/>
                          </a:solidFill>
                          <a:latin typeface="Arial"/>
                        </a:rPr>
                        <a:t>Veronika</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200" b="0">
                          <a:solidFill>
                            <a:srgbClr val="13263A"/>
                          </a:solidFill>
                          <a:latin typeface="Arial"/>
                        </a:rPr>
                        <a:t>Connect frontend calls; provider tests for timeout and bad output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200" b="0">
                          <a:solidFill>
                            <a:srgbClr val="13263A"/>
                          </a:solidFill>
                          <a:latin typeface="Arial"/>
                        </a:rPr>
                        <a:t>Team runs backend from README</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548640">
                <a:tc>
                  <a:txBody>
                    <a:bodyPr wrap="square"/>
                    <a:lstStyle/>
                    <a:p>
                      <a:r>
                        <a:rPr sz="1200" b="0">
                          <a:solidFill>
                            <a:srgbClr val="13263A"/>
                          </a:solidFill>
                          <a:latin typeface="Arial"/>
                        </a:rPr>
                        <a:t>Jiahui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Real provider behind SentenceProvider; synthetic café photo test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Photo + intent give evaluated options</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r h="548640">
                <a:tc>
                  <a:txBody>
                    <a:bodyPr wrap="square"/>
                    <a:lstStyle/>
                    <a:p>
                      <a:r>
                        <a:rPr sz="1200" b="0">
                          <a:solidFill>
                            <a:srgbClr val="13263A"/>
                          </a:solidFill>
                          <a:latin typeface="Arial"/>
                        </a:rPr>
                        <a:t>Abid Ali</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200" b="0">
                          <a:solidFill>
                            <a:srgbClr val="13263A"/>
                          </a:solidFill>
                          <a:latin typeface="Arial"/>
                        </a:rPr>
                        <a:t>Docker Compose stack; migration on isolated PostgreSQL</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c>
                  <a:txBody>
                    <a:bodyPr wrap="square"/>
                    <a:lstStyle/>
                    <a:p>
                      <a:r>
                        <a:rPr sz="1200" b="0">
                          <a:solidFill>
                            <a:srgbClr val="13263A"/>
                          </a:solidFill>
                          <a:latin typeface="Arial"/>
                        </a:rPr>
                        <a:t>Stack starts, /ready is ready</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EF0F3"/>
                    </a:solidFill>
                  </a:tcPr>
                </a:tc>
              </a:tr>
              <a:tr h="548640">
                <a:tc>
                  <a:txBody>
                    <a:bodyPr wrap="square"/>
                    <a:lstStyle/>
                    <a:p>
                      <a:r>
                        <a:rPr sz="1200" b="0">
                          <a:solidFill>
                            <a:srgbClr val="13263A"/>
                          </a:solidFill>
                          <a:latin typeface="Arial"/>
                        </a:rPr>
                        <a:t>All</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First usability scenario and small evaluation set</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c>
                  <a:txBody>
                    <a:bodyPr wrap="square"/>
                    <a:lstStyle/>
                    <a:p>
                      <a:r>
                        <a:rPr sz="1200" b="0">
                          <a:solidFill>
                            <a:srgbClr val="13263A"/>
                          </a:solidFill>
                          <a:latin typeface="Arial"/>
                        </a:rPr>
                        <a:t>Agreed and documented</a:t>
                      </a:r>
                    </a:p>
                  </a:txBody>
                  <a:tcPr marL="73152" marR="73152" marT="36576" marB="36576" anchor="ctr">
                    <a:lnL w="9525">
                      <a:solidFill>
                        <a:srgbClr val="647080"/>
                      </a:solidFill>
                    </a:lnL>
                    <a:lnR w="9525">
                      <a:solidFill>
                        <a:srgbClr val="647080"/>
                      </a:solidFill>
                    </a:lnR>
                    <a:lnT w="9525">
                      <a:solidFill>
                        <a:srgbClr val="647080"/>
                      </a:solidFill>
                    </a:lnT>
                    <a:lnB w="9525">
                      <a:solidFill>
                        <a:srgbClr val="647080"/>
                      </a:solidFill>
                    </a:lnB>
                    <a:solidFill>
                      <a:srgbClr val="E6EAF0"/>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2026-09-23T01:37:38Z</dcterms:created>
  <dc:creator>Walnut Exporter</dc:creator>
</cp:coreProperties>
</file>