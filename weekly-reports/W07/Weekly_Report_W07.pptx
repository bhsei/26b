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71" r:id="rId21"/>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2" roundtripDataSignature="AMtx7mgdEqQHWZBZoljN+kgsKkZZe5UcU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65FFFB9-25ED-488D-912B-DF008DE3E3C8}">
  <a:tblStyle styleId="{965FFFB9-25ED-488D-912B-DF008DE3E3C8}"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21" Type="http://schemas.openxmlformats.org/officeDocument/2006/relationships/slide" Target="slides/slide16.xml"/><Relationship Id="rId22" Type="http://customschemas.google.com/relationships/presentationmetadata" Target="metadata"/><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 name="Google Shape;13;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Week 7 progress report of Team B, The Outliers. This week is the SRS peer-review week.</a:t>
            </a:r>
          </a:p>
        </p:txBody>
      </p:sp>
      <p:sp>
        <p:nvSpPr>
          <p:cNvPr id="14" name="Google Shape;14;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 name="Google Shape;23;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Three parts as every week: technical progress with the final SRS, experimental results, and project management.</a:t>
            </a:r>
          </a:p>
        </p:txBody>
      </p:sp>
      <p:sp>
        <p:nvSpPr>
          <p:cNvPr id="24" name="Google Shape;24;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2" name="Shape 332"/>
        <p:cNvGrpSpPr/>
        <p:nvPr/>
      </p:nvGrpSpPr>
      <p:grpSpPr>
        <a:xfrm>
          <a:off x="0" y="0"/>
          <a:ext cx="0" cy="0"/>
          <a:chOff x="0" y="0"/>
          <a:chExt cx="0" cy="0"/>
        </a:xfrm>
      </p:grpSpPr>
      <p:sp>
        <p:nvSpPr>
          <p:cNvPr id="333" name="Google Shape;333;h62fd3f37f23572d3_3_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4" name="Google Shape;334;h62fd3f37f23572d3_3_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Thank you. Questions?</a:t>
            </a:r>
          </a:p>
        </p:txBody>
      </p:sp>
      <p:sp>
        <p:nvSpPr>
          <p:cNvPr id="335" name="Google Shape;335;h62fd3f37f23572d3_3_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One card per member. The SRS and the AI work are on GitHub or ready; the frontend is still local and the backend reuse endpoint is on Veronika's branch.</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Veronika's branch adds retrieval of sentences the user accepted before, behind a new endpoint. We reran everything: 40 new tests, 77 in total, all pass with Ruff, also on Windows. Merged with today's main it still passes, 108 tests with the AI ones, and there are no conflicts.</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Three findings from last week are fixed. Six remain before the merge. The most important is the open database session during the AI call, because a Gemini call can take 26 seconds. The reuse itself works but only for exact, text-only matches, and a reused sentence cannot be accepted yet.</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Abid turned the Markdown v0.2 into a 48-page Word document following the professor's IEEE template. Same 45 requirement IDs, now with an owner and a status line each, four UML-style diagrams and the frontend screenshots.</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Functional requirements are the largest family. Each requirement has one owner or a shared owner; Veronika owns most because the backend carries most of the tested behaviour.</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These six requirements protect the user: the person decides what is said, nothing is spoken without confirmation, photos are minimised and the app never pretends to understand more than it does.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counts are the week 6 snapshot written into chapter 4, not a new test run. Appendix B lists ten decisions the team still has to close; peer reviewers will probably ask about them.</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Left: what v0.3 adds. Right: points where v0.3 is less precise than v0.2; we will fix them together with the peer-review comments, so the final version keeps both.</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request first checks whether the same request was accepted before. If not, the chain tries the providers in order. Each Gemini model has its own free quota, so four models on one key give several times the 20 calls a day. Ollama is the offline backup and comes next week.</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Before calling a model we score the request against sentences the person accepted before. A near-identical request is answered without any AI call; similar ones give the model up to three examples of the person's wording. Veronika's endpoint only finds exact matches; next we move this scoring into her service.</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 sent a burst of up to 15 tiny requests to each model, 35 for Gemma, and read the limit from Google's 429 answer. Highlighted rows are usable for the chain. A second copy of the survey ran at the same time by mistake, so request counts are higher than one run; the limits come from Google's answers and are not affected.</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Flash-Lite models never returned a 429 in the burst, so they go first. Several model names share one quota, so listing them twice gains nothing. Gemma 4 26B allows 30 calls a minute and is the next candidate. Pro models have no free quota at all.</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Thibaut split the flow into separate pages. The login page is interface only: real authentication is still REQ-SEC-005. The suggestion page shows the mock notice, as REQ-ML-004 asks.</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Idea: an empty cup in a café; the user wanted water but the app also offers juice and the user likes it. This conflicts with REQ-ML-003, so it needs a team decision. The safe first step is open choice: options, not sentences, and nothing is spoken until the user picks.</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Peer review first: answer the comments on our SRS and review the other team's. Then the integration work: merge the backend refactor, connect the AI chain and the frontend.</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Dark bars are done, blue bars are next week, hatched bars are tentative. The SRS milestone is this week; the design document starts next week.</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3263A"/>
        </a:solidFill>
      </p:bgPr>
    </p:bg>
    <p:spTree>
      <p:nvGrpSpPr>
        <p:cNvPr id="15" name="Shape 15"/>
        <p:cNvGrpSpPr/>
        <p:nvPr/>
      </p:nvGrpSpPr>
      <p:grpSpPr>
        <a:xfrm>
          <a:off x="0" y="0"/>
          <a:ext cx="0" cy="0"/>
          <a:chOff x="0" y="0"/>
          <a:chExt cx="0" cy="0"/>
        </a:xfrm>
      </p:grpSpPr>
      <p:sp>
        <p:nvSpPr>
          <p:cNvPr id="16" name="Google Shape;16;p1"/>
          <p:cNvSpPr/>
          <p:nvPr/>
        </p:nvSpPr>
        <p:spPr>
          <a:xfrm>
            <a:off x="609600" y="457200"/>
            <a:ext cx="10953750" cy="7620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3300"/>
              <a:buFont typeface="Arial"/>
              <a:buNone/>
            </a:pPr>
            <a:r>
              <a:rPr b="1" i="0" lang="ru-RU" sz="3300" u="none" cap="none" strike="noStrike">
                <a:solidFill>
                  <a:srgbClr val="FFFFFF"/>
                </a:solidFill>
                <a:latin typeface="Arial"/>
                <a:ea typeface="Arial"/>
                <a:cs typeface="Arial"/>
                <a:sym typeface="Arial"/>
              </a:rPr>
              <a:t>B - The Outliers</a:t>
            </a:r>
            <a:endParaRPr b="0" i="0" sz="1400" u="none" cap="none" strike="noStrike">
              <a:solidFill>
                <a:srgbClr val="000000"/>
              </a:solidFill>
              <a:latin typeface="Arial"/>
              <a:ea typeface="Arial"/>
              <a:cs typeface="Arial"/>
              <a:sym typeface="Arial"/>
            </a:endParaRPr>
          </a:p>
        </p:txBody>
      </p:sp>
      <p:sp>
        <p:nvSpPr>
          <p:cNvPr id="17" name="Google Shape;17;p1"/>
          <p:cNvSpPr/>
          <p:nvPr/>
        </p:nvSpPr>
        <p:spPr>
          <a:xfrm>
            <a:off x="11049000" y="6248400"/>
            <a:ext cx="533400" cy="28575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A8B6C7"/>
              </a:buClr>
              <a:buSzPts val="1350"/>
              <a:buFont typeface="Arial"/>
              <a:buNone/>
            </a:pPr>
            <a:r>
              <a:rPr b="0" i="0" lang="ru-RU" sz="1350" u="none" cap="none" strike="noStrike">
                <a:solidFill>
                  <a:srgbClr val="A8B6C7"/>
                </a:solidFill>
                <a:latin typeface="Arial"/>
                <a:ea typeface="Arial"/>
                <a:cs typeface="Arial"/>
                <a:sym typeface="Arial"/>
              </a:rPr>
              <a:t>01</a:t>
            </a:r>
            <a:endParaRPr b="0" i="0" sz="1400" u="none" cap="none" strike="noStrike">
              <a:solidFill>
                <a:srgbClr val="000000"/>
              </a:solidFill>
              <a:latin typeface="Arial"/>
              <a:ea typeface="Arial"/>
              <a:cs typeface="Arial"/>
              <a:sym typeface="Arial"/>
            </a:endParaRPr>
          </a:p>
        </p:txBody>
      </p:sp>
      <p:sp>
        <p:nvSpPr>
          <p:cNvPr id="18" name="Google Shape;18;p1"/>
          <p:cNvSpPr/>
          <p:nvPr/>
        </p:nvSpPr>
        <p:spPr>
          <a:xfrm>
            <a:off x="647700" y="1638300"/>
            <a:ext cx="9906000" cy="47625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A9BFFB"/>
              </a:buClr>
              <a:buSzPts val="2100"/>
              <a:buFont typeface="Arial"/>
              <a:buNone/>
            </a:pPr>
            <a:r>
              <a:rPr b="0" i="0" lang="ru-RU" sz="2100" u="none" cap="none" strike="noStrike">
                <a:solidFill>
                  <a:srgbClr val="A9BFFB"/>
                </a:solidFill>
                <a:latin typeface="Arial"/>
                <a:ea typeface="Arial"/>
                <a:cs typeface="Arial"/>
                <a:sym typeface="Arial"/>
              </a:rPr>
              <a:t>Software Engineering Project  ·  Weekly Progress Report W07</a:t>
            </a:r>
            <a:endParaRPr b="0" i="0" sz="1400" u="none" cap="none" strike="noStrike">
              <a:solidFill>
                <a:srgbClr val="000000"/>
              </a:solidFill>
              <a:latin typeface="Arial"/>
              <a:ea typeface="Arial"/>
              <a:cs typeface="Arial"/>
              <a:sym typeface="Arial"/>
            </a:endParaRPr>
          </a:p>
        </p:txBody>
      </p:sp>
      <p:sp>
        <p:nvSpPr>
          <p:cNvPr id="19" name="Google Shape;19;p1"/>
          <p:cNvSpPr/>
          <p:nvPr/>
        </p:nvSpPr>
        <p:spPr>
          <a:xfrm>
            <a:off x="628650" y="2619375"/>
            <a:ext cx="10858500" cy="1333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3825"/>
              <a:buFont typeface="Arial"/>
              <a:buNone/>
            </a:pPr>
            <a:r>
              <a:rPr b="0" i="0" lang="ru-RU" sz="3825" u="none" cap="none" strike="noStrike">
                <a:solidFill>
                  <a:srgbClr val="FFFFFF"/>
                </a:solidFill>
                <a:latin typeface="Arial"/>
                <a:ea typeface="Arial"/>
                <a:cs typeface="Arial"/>
                <a:sym typeface="Arial"/>
              </a:rPr>
              <a:t>Context-aware AAC board</a:t>
            </a:r>
            <a:endParaRPr b="0" i="0" sz="1400" u="none" cap="none" strike="noStrike">
              <a:solidFill>
                <a:srgbClr val="000000"/>
              </a:solidFill>
              <a:latin typeface="Arial"/>
              <a:ea typeface="Arial"/>
              <a:cs typeface="Arial"/>
              <a:sym typeface="Arial"/>
            </a:endParaRPr>
          </a:p>
        </p:txBody>
      </p:sp>
      <p:sp>
        <p:nvSpPr>
          <p:cNvPr id="20" name="Google Shape;20;p1"/>
          <p:cNvSpPr/>
          <p:nvPr/>
        </p:nvSpPr>
        <p:spPr>
          <a:xfrm>
            <a:off x="647700" y="5629275"/>
            <a:ext cx="10191750" cy="4191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A8B6C7"/>
              </a:buClr>
              <a:buSzPts val="1725"/>
              <a:buFont typeface="Arial"/>
              <a:buNone/>
            </a:pPr>
            <a:r>
              <a:rPr b="0" i="0" lang="ru-RU" sz="1725" u="none" cap="none" strike="noStrike">
                <a:solidFill>
                  <a:srgbClr val="A8B6C7"/>
                </a:solidFill>
                <a:latin typeface="Arial"/>
                <a:ea typeface="Arial"/>
                <a:cs typeface="Arial"/>
                <a:sym typeface="Arial"/>
              </a:rPr>
              <a:t>Veronika, Jiahui, Thibaut and Abid</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4F0"/>
        </a:solidFill>
      </p:bgPr>
    </p:bg>
    <p:spTree>
      <p:nvGrpSpPr>
        <p:cNvPr id="25" name="Shape 25"/>
        <p:cNvGrpSpPr/>
        <p:nvPr/>
      </p:nvGrpSpPr>
      <p:grpSpPr>
        <a:xfrm>
          <a:off x="0" y="0"/>
          <a:ext cx="0" cy="0"/>
          <a:chOff x="0" y="0"/>
          <a:chExt cx="0" cy="0"/>
        </a:xfrm>
      </p:grpSpPr>
      <p:sp>
        <p:nvSpPr>
          <p:cNvPr id="26" name="Google Shape;26;p12"/>
          <p:cNvSpPr txBox="1"/>
          <p:nvPr/>
        </p:nvSpPr>
        <p:spPr>
          <a:xfrm>
            <a:off x="612648" y="457200"/>
            <a:ext cx="10954512" cy="758952"/>
          </a:xfrm>
          <a:prstGeom prst="rect">
            <a:avLst/>
          </a:prstGeom>
          <a:noFill/>
          <a:ln>
            <a:noFill/>
          </a:ln>
        </p:spPr>
        <p:txBody>
          <a:bodyPr anchorCtr="0" anchor="ctr" bIns="27425" lIns="45700" spcFirstLastPara="1" rIns="45700" wrap="square" tIns="27425">
            <a:spAutoFit/>
          </a:bodyPr>
          <a:lstStyle/>
          <a:p>
            <a:pPr indent="0" lvl="0" marL="0" marR="0" rtl="0" algn="l">
              <a:lnSpc>
                <a:spcPct val="100000"/>
              </a:lnSpc>
              <a:spcBef>
                <a:spcPts val="0"/>
              </a:spcBef>
              <a:spcAft>
                <a:spcPts val="0"/>
              </a:spcAft>
              <a:buClr>
                <a:srgbClr val="000000"/>
              </a:buClr>
              <a:buSzPts val="3300"/>
              <a:buFont typeface="Arial"/>
              <a:buNone/>
            </a:pPr>
            <a:r>
              <a:rPr b="1" i="0" lang="ru-RU" sz="3300" u="none" cap="none" strike="noStrike">
                <a:solidFill>
                  <a:srgbClr val="13263A"/>
                </a:solidFill>
                <a:latin typeface="Arial"/>
                <a:ea typeface="Arial"/>
                <a:cs typeface="Arial"/>
                <a:sym typeface="Arial"/>
              </a:rPr>
              <a:t>Progress report outline</a:t>
            </a:r>
            <a:endParaRPr b="0" i="0" sz="1400" u="none" cap="none" strike="noStrike">
              <a:solidFill>
                <a:srgbClr val="000000"/>
              </a:solidFill>
              <a:latin typeface="Arial"/>
              <a:ea typeface="Arial"/>
              <a:cs typeface="Arial"/>
              <a:sym typeface="Arial"/>
            </a:endParaRPr>
          </a:p>
        </p:txBody>
      </p:sp>
      <p:sp>
        <p:nvSpPr>
          <p:cNvPr id="27" name="Google Shape;27;p12"/>
          <p:cNvSpPr txBox="1"/>
          <p:nvPr/>
        </p:nvSpPr>
        <p:spPr>
          <a:xfrm>
            <a:off x="11045952" y="6245352"/>
            <a:ext cx="530352" cy="283464"/>
          </a:xfrm>
          <a:prstGeom prst="rect">
            <a:avLst/>
          </a:prstGeom>
          <a:noFill/>
          <a:ln>
            <a:noFill/>
          </a:ln>
        </p:spPr>
        <p:txBody>
          <a:bodyPr anchorCtr="0" anchor="t" bIns="27425" lIns="45700" spcFirstLastPara="1" rIns="45700" wrap="square" tIns="27425">
            <a:spAutoFit/>
          </a:bodyPr>
          <a:lstStyle/>
          <a:p>
            <a:pPr indent="0" lvl="0" marL="0" marR="0" rtl="0" algn="l">
              <a:lnSpc>
                <a:spcPct val="100000"/>
              </a:lnSpc>
              <a:spcBef>
                <a:spcPts val="0"/>
              </a:spcBef>
              <a:spcAft>
                <a:spcPts val="0"/>
              </a:spcAft>
              <a:buClr>
                <a:srgbClr val="000000"/>
              </a:buClr>
              <a:buSzPts val="1350"/>
              <a:buFont typeface="Arial"/>
              <a:buNone/>
            </a:pPr>
            <a:r>
              <a:rPr b="0" i="0" lang="ru-RU" sz="1350" u="none" cap="none" strike="noStrike">
                <a:solidFill>
                  <a:srgbClr val="647080"/>
                </a:solidFill>
                <a:latin typeface="Arial"/>
                <a:ea typeface="Arial"/>
                <a:cs typeface="Arial"/>
                <a:sym typeface="Arial"/>
              </a:rPr>
              <a:t>02</a:t>
            </a:r>
            <a:endParaRPr b="0" i="0" sz="1400" u="none" cap="none" strike="noStrike">
              <a:solidFill>
                <a:srgbClr val="000000"/>
              </a:solidFill>
              <a:latin typeface="Arial"/>
              <a:ea typeface="Arial"/>
              <a:cs typeface="Arial"/>
              <a:sym typeface="Arial"/>
            </a:endParaRPr>
          </a:p>
        </p:txBody>
      </p:sp>
      <p:sp>
        <p:nvSpPr>
          <p:cNvPr id="28" name="Google Shape;28;p12"/>
          <p:cNvSpPr/>
          <p:nvPr/>
        </p:nvSpPr>
        <p:spPr>
          <a:xfrm>
            <a:off x="630936" y="2103120"/>
            <a:ext cx="3429000" cy="3383280"/>
          </a:xfrm>
          <a:prstGeom prst="rect">
            <a:avLst/>
          </a:prstGeom>
          <a:solidFill>
            <a:srgbClr val="FFFFFF"/>
          </a:solidFill>
          <a:ln cap="flat" cmpd="sng" w="9525">
            <a:solidFill>
              <a:srgbClr val="A8B6C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12"/>
          <p:cNvSpPr txBox="1"/>
          <p:nvPr/>
        </p:nvSpPr>
        <p:spPr>
          <a:xfrm>
            <a:off x="859536" y="2286000"/>
            <a:ext cx="1371600" cy="822960"/>
          </a:xfrm>
          <a:prstGeom prst="rect">
            <a:avLst/>
          </a:prstGeom>
          <a:noFill/>
          <a:ln>
            <a:noFill/>
          </a:ln>
        </p:spPr>
        <p:txBody>
          <a:bodyPr anchorCtr="0" anchor="t" bIns="27425" lIns="45700" spcFirstLastPara="1" rIns="45700" wrap="square" tIns="27425">
            <a:spAutoFit/>
          </a:bodyPr>
          <a:lstStyle/>
          <a:p>
            <a:pPr indent="0" lvl="0" marL="0" marR="0" rtl="0" algn="l">
              <a:lnSpc>
                <a:spcPct val="100000"/>
              </a:lnSpc>
              <a:spcBef>
                <a:spcPts val="0"/>
              </a:spcBef>
              <a:spcAft>
                <a:spcPts val="0"/>
              </a:spcAft>
              <a:buClr>
                <a:srgbClr val="000000"/>
              </a:buClr>
              <a:buSzPts val="4000"/>
              <a:buFont typeface="Arial"/>
              <a:buNone/>
            </a:pPr>
            <a:r>
              <a:rPr b="1" i="0" lang="ru-RU" sz="4000" u="none" cap="none" strike="noStrike">
                <a:solidFill>
                  <a:srgbClr val="255CF0"/>
                </a:solidFill>
                <a:latin typeface="Arial"/>
                <a:ea typeface="Arial"/>
                <a:cs typeface="Arial"/>
                <a:sym typeface="Arial"/>
              </a:rPr>
              <a:t>01</a:t>
            </a:r>
            <a:endParaRPr b="0" i="0" sz="1400" u="none" cap="none" strike="noStrike">
              <a:solidFill>
                <a:srgbClr val="000000"/>
              </a:solidFill>
              <a:latin typeface="Arial"/>
              <a:ea typeface="Arial"/>
              <a:cs typeface="Arial"/>
              <a:sym typeface="Arial"/>
            </a:endParaRPr>
          </a:p>
        </p:txBody>
      </p:sp>
      <p:sp>
        <p:nvSpPr>
          <p:cNvPr id="30" name="Google Shape;30;p12"/>
          <p:cNvSpPr txBox="1"/>
          <p:nvPr/>
        </p:nvSpPr>
        <p:spPr>
          <a:xfrm>
            <a:off x="859536" y="3154680"/>
            <a:ext cx="3017520" cy="411480"/>
          </a:xfrm>
          <a:prstGeom prst="rect">
            <a:avLst/>
          </a:prstGeom>
          <a:noFill/>
          <a:ln>
            <a:noFill/>
          </a:ln>
        </p:spPr>
        <p:txBody>
          <a:bodyPr anchorCtr="0" anchor="t" bIns="27425" lIns="45700" spcFirstLastPara="1" rIns="45700" wrap="square" tIns="27425">
            <a:spAutoFit/>
          </a:bodyPr>
          <a:lstStyle/>
          <a:p>
            <a:pPr indent="0" lvl="0" marL="0" marR="0" rtl="0" algn="l">
              <a:lnSpc>
                <a:spcPct val="100000"/>
              </a:lnSpc>
              <a:spcBef>
                <a:spcPts val="0"/>
              </a:spcBef>
              <a:spcAft>
                <a:spcPts val="0"/>
              </a:spcAft>
              <a:buClr>
                <a:srgbClr val="000000"/>
              </a:buClr>
              <a:buSzPts val="2000"/>
              <a:buFont typeface="Arial"/>
              <a:buNone/>
            </a:pPr>
            <a:r>
              <a:rPr b="1" i="0" lang="ru-RU" sz="2000" u="none" cap="none" strike="noStrike">
                <a:solidFill>
                  <a:srgbClr val="13263A"/>
                </a:solidFill>
                <a:latin typeface="Arial"/>
                <a:ea typeface="Arial"/>
                <a:cs typeface="Arial"/>
                <a:sym typeface="Arial"/>
              </a:rPr>
              <a:t>Technical progress</a:t>
            </a:r>
            <a:endParaRPr b="0" i="0" sz="1400" u="none" cap="none" strike="noStrike">
              <a:solidFill>
                <a:srgbClr val="000000"/>
              </a:solidFill>
              <a:latin typeface="Arial"/>
              <a:ea typeface="Arial"/>
              <a:cs typeface="Arial"/>
              <a:sym typeface="Arial"/>
            </a:endParaRPr>
          </a:p>
        </p:txBody>
      </p:sp>
      <p:sp>
        <p:nvSpPr>
          <p:cNvPr id="31" name="Google Shape;31;p12"/>
          <p:cNvSpPr txBox="1"/>
          <p:nvPr/>
        </p:nvSpPr>
        <p:spPr>
          <a:xfrm>
            <a:off x="859536" y="3566160"/>
            <a:ext cx="3017520" cy="365760"/>
          </a:xfrm>
          <a:prstGeom prst="rect">
            <a:avLst/>
          </a:prstGeom>
          <a:noFill/>
          <a:ln>
            <a:noFill/>
          </a:ln>
        </p:spPr>
        <p:txBody>
          <a:bodyPr anchorCtr="0" anchor="t" bIns="27425" lIns="45700" spcFirstLastPara="1" rIns="45700" wrap="square" tIns="27425">
            <a:spAutoFit/>
          </a:bodyPr>
          <a:lstStyle/>
          <a:p>
            <a:pPr indent="0" lvl="0" marL="0" marR="0" rtl="0" algn="l">
              <a:lnSpc>
                <a:spcPct val="100000"/>
              </a:lnSpc>
              <a:spcBef>
                <a:spcPts val="0"/>
              </a:spcBef>
              <a:spcAft>
                <a:spcPts val="0"/>
              </a:spcAft>
              <a:buClr>
                <a:srgbClr val="000000"/>
              </a:buClr>
              <a:buSzPts val="1500"/>
              <a:buFont typeface="Arial"/>
              <a:buNone/>
            </a:pPr>
            <a:r>
              <a:rPr b="0" i="0" lang="ru-RU" sz="1500" u="none" cap="none" strike="noStrike">
                <a:solidFill>
                  <a:srgbClr val="647080"/>
                </a:solidFill>
                <a:latin typeface="Arial"/>
                <a:ea typeface="Arial"/>
                <a:cs typeface="Arial"/>
                <a:sym typeface="Arial"/>
              </a:rPr>
              <a:t>System development</a:t>
            </a:r>
            <a:endParaRPr b="0" i="0" sz="1400" u="none" cap="none" strike="noStrike">
              <a:solidFill>
                <a:srgbClr val="000000"/>
              </a:solidFill>
              <a:latin typeface="Arial"/>
              <a:ea typeface="Arial"/>
              <a:cs typeface="Arial"/>
              <a:sym typeface="Arial"/>
            </a:endParaRPr>
          </a:p>
        </p:txBody>
      </p:sp>
      <p:sp>
        <p:nvSpPr>
          <p:cNvPr id="32" name="Google Shape;32;p12"/>
          <p:cNvSpPr txBox="1"/>
          <p:nvPr/>
        </p:nvSpPr>
        <p:spPr>
          <a:xfrm>
            <a:off x="859536" y="4069080"/>
            <a:ext cx="3017520" cy="914400"/>
          </a:xfrm>
          <a:prstGeom prst="rect">
            <a:avLst/>
          </a:prstGeom>
          <a:noFill/>
          <a:ln>
            <a:noFill/>
          </a:ln>
        </p:spPr>
        <p:txBody>
          <a:bodyPr anchorCtr="0" anchor="t" bIns="27425" lIns="45700" spcFirstLastPara="1" rIns="45700" wrap="square" tIns="27425">
            <a:spAutoFit/>
          </a:bodyPr>
          <a:lstStyle/>
          <a:p>
            <a:pPr indent="0" lvl="0" marL="0" marR="0" rtl="0" algn="l">
              <a:lnSpc>
                <a:spcPct val="100000"/>
              </a:lnSpc>
              <a:spcBef>
                <a:spcPts val="0"/>
              </a:spcBef>
              <a:spcAft>
                <a:spcPts val="0"/>
              </a:spcAft>
              <a:buClr>
                <a:srgbClr val="000000"/>
              </a:buClr>
              <a:buSzPts val="1400"/>
              <a:buFont typeface="Arial"/>
              <a:buNone/>
            </a:pPr>
            <a:r>
              <a:rPr b="0" i="0" lang="ru-RU" sz="1400" u="none" cap="none" strike="noStrike">
                <a:solidFill>
                  <a:srgbClr val="13263A"/>
                </a:solidFill>
                <a:latin typeface="Arial"/>
                <a:ea typeface="Arial"/>
                <a:cs typeface="Arial"/>
                <a:sym typeface="Arial"/>
              </a:rPr>
              <a:t>SRS v0.3 for peer review, review of the backend branch, backup AI models and sentence reuse</a:t>
            </a:r>
            <a:endParaRPr b="0" i="0" sz="1400" u="none" cap="none" strike="noStrike">
              <a:solidFill>
                <a:srgbClr val="000000"/>
              </a:solidFill>
              <a:latin typeface="Arial"/>
              <a:ea typeface="Arial"/>
              <a:cs typeface="Arial"/>
              <a:sym typeface="Arial"/>
            </a:endParaRPr>
          </a:p>
        </p:txBody>
      </p:sp>
      <p:sp>
        <p:nvSpPr>
          <p:cNvPr id="33" name="Google Shape;33;p12"/>
          <p:cNvSpPr txBox="1"/>
          <p:nvPr/>
        </p:nvSpPr>
        <p:spPr>
          <a:xfrm>
            <a:off x="859536" y="5029200"/>
            <a:ext cx="3017520" cy="320040"/>
          </a:xfrm>
          <a:prstGeom prst="rect">
            <a:avLst/>
          </a:prstGeom>
          <a:noFill/>
          <a:ln>
            <a:noFill/>
          </a:ln>
        </p:spPr>
        <p:txBody>
          <a:bodyPr anchorCtr="0" anchor="t" bIns="27425" lIns="45700" spcFirstLastPara="1" rIns="45700" wrap="square" tIns="27425">
            <a:spAutoFit/>
          </a:bodyPr>
          <a:lstStyle/>
          <a:p>
            <a:pPr indent="0" lvl="0" marL="0" marR="0" rtl="0" algn="l">
              <a:lnSpc>
                <a:spcPct val="100000"/>
              </a:lnSpc>
              <a:spcBef>
                <a:spcPts val="0"/>
              </a:spcBef>
              <a:spcAft>
                <a:spcPts val="0"/>
              </a:spcAft>
              <a:buClr>
                <a:srgbClr val="000000"/>
              </a:buClr>
              <a:buSzPts val="1400"/>
              <a:buFont typeface="Arial"/>
              <a:buNone/>
            </a:pPr>
            <a:r>
              <a:rPr b="1" i="0" lang="ru-RU" sz="1400" u="none" cap="none" strike="noStrike">
                <a:solidFill>
                  <a:srgbClr val="255CF0"/>
                </a:solidFill>
                <a:latin typeface="Arial"/>
                <a:ea typeface="Arial"/>
                <a:cs typeface="Arial"/>
                <a:sym typeface="Arial"/>
              </a:rPr>
              <a:t>≈ 6 min</a:t>
            </a:r>
            <a:endParaRPr b="0" i="0" sz="1400" u="none" cap="none" strike="noStrike">
              <a:solidFill>
                <a:srgbClr val="000000"/>
              </a:solidFill>
              <a:latin typeface="Arial"/>
              <a:ea typeface="Arial"/>
              <a:cs typeface="Arial"/>
              <a:sym typeface="Arial"/>
            </a:endParaRPr>
          </a:p>
        </p:txBody>
      </p:sp>
      <p:sp>
        <p:nvSpPr>
          <p:cNvPr id="34" name="Google Shape;34;p12"/>
          <p:cNvSpPr/>
          <p:nvPr/>
        </p:nvSpPr>
        <p:spPr>
          <a:xfrm>
            <a:off x="4379975" y="2103120"/>
            <a:ext cx="3429000" cy="3383280"/>
          </a:xfrm>
          <a:prstGeom prst="rect">
            <a:avLst/>
          </a:prstGeom>
          <a:solidFill>
            <a:srgbClr val="FFFFFF"/>
          </a:solidFill>
          <a:ln cap="flat" cmpd="sng" w="9525">
            <a:solidFill>
              <a:srgbClr val="A8B6C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12"/>
          <p:cNvSpPr txBox="1"/>
          <p:nvPr/>
        </p:nvSpPr>
        <p:spPr>
          <a:xfrm>
            <a:off x="4608575" y="2286000"/>
            <a:ext cx="1371600" cy="822960"/>
          </a:xfrm>
          <a:prstGeom prst="rect">
            <a:avLst/>
          </a:prstGeom>
          <a:noFill/>
          <a:ln>
            <a:noFill/>
          </a:ln>
        </p:spPr>
        <p:txBody>
          <a:bodyPr anchorCtr="0" anchor="t" bIns="27425" lIns="45700" spcFirstLastPara="1" rIns="45700" wrap="square" tIns="27425">
            <a:spAutoFit/>
          </a:bodyPr>
          <a:lstStyle/>
          <a:p>
            <a:pPr indent="0" lvl="0" marL="0" marR="0" rtl="0" algn="l">
              <a:lnSpc>
                <a:spcPct val="100000"/>
              </a:lnSpc>
              <a:spcBef>
                <a:spcPts val="0"/>
              </a:spcBef>
              <a:spcAft>
                <a:spcPts val="0"/>
              </a:spcAft>
              <a:buClr>
                <a:srgbClr val="000000"/>
              </a:buClr>
              <a:buSzPts val="4000"/>
              <a:buFont typeface="Arial"/>
              <a:buNone/>
            </a:pPr>
            <a:r>
              <a:rPr b="1" i="0" lang="ru-RU" sz="4000" u="none" cap="none" strike="noStrike">
                <a:solidFill>
                  <a:srgbClr val="255CF0"/>
                </a:solidFill>
                <a:latin typeface="Arial"/>
                <a:ea typeface="Arial"/>
                <a:cs typeface="Arial"/>
                <a:sym typeface="Arial"/>
              </a:rPr>
              <a:t>02</a:t>
            </a:r>
            <a:endParaRPr b="0" i="0" sz="1400" u="none" cap="none" strike="noStrike">
              <a:solidFill>
                <a:srgbClr val="000000"/>
              </a:solidFill>
              <a:latin typeface="Arial"/>
              <a:ea typeface="Arial"/>
              <a:cs typeface="Arial"/>
              <a:sym typeface="Arial"/>
            </a:endParaRPr>
          </a:p>
        </p:txBody>
      </p:sp>
      <p:sp>
        <p:nvSpPr>
          <p:cNvPr id="36" name="Google Shape;36;p12"/>
          <p:cNvSpPr txBox="1"/>
          <p:nvPr/>
        </p:nvSpPr>
        <p:spPr>
          <a:xfrm>
            <a:off x="4608575" y="3154680"/>
            <a:ext cx="3017520" cy="411480"/>
          </a:xfrm>
          <a:prstGeom prst="rect">
            <a:avLst/>
          </a:prstGeom>
          <a:noFill/>
          <a:ln>
            <a:noFill/>
          </a:ln>
        </p:spPr>
        <p:txBody>
          <a:bodyPr anchorCtr="0" anchor="t" bIns="27425" lIns="45700" spcFirstLastPara="1" rIns="45700" wrap="square" tIns="27425">
            <a:spAutoFit/>
          </a:bodyPr>
          <a:lstStyle/>
          <a:p>
            <a:pPr indent="0" lvl="0" marL="0" marR="0" rtl="0" algn="l">
              <a:lnSpc>
                <a:spcPct val="100000"/>
              </a:lnSpc>
              <a:spcBef>
                <a:spcPts val="0"/>
              </a:spcBef>
              <a:spcAft>
                <a:spcPts val="0"/>
              </a:spcAft>
              <a:buClr>
                <a:srgbClr val="000000"/>
              </a:buClr>
              <a:buSzPts val="2000"/>
              <a:buFont typeface="Arial"/>
              <a:buNone/>
            </a:pPr>
            <a:r>
              <a:rPr b="1" i="0" lang="ru-RU" sz="2000" u="none" cap="none" strike="noStrike">
                <a:solidFill>
                  <a:srgbClr val="13263A"/>
                </a:solidFill>
                <a:latin typeface="Arial"/>
                <a:ea typeface="Arial"/>
                <a:cs typeface="Arial"/>
                <a:sym typeface="Arial"/>
              </a:rPr>
              <a:t>Experimental progress</a:t>
            </a:r>
            <a:endParaRPr b="0" i="0" sz="1400" u="none" cap="none" strike="noStrike">
              <a:solidFill>
                <a:srgbClr val="000000"/>
              </a:solidFill>
              <a:latin typeface="Arial"/>
              <a:ea typeface="Arial"/>
              <a:cs typeface="Arial"/>
              <a:sym typeface="Arial"/>
            </a:endParaRPr>
          </a:p>
        </p:txBody>
      </p:sp>
      <p:sp>
        <p:nvSpPr>
          <p:cNvPr id="37" name="Google Shape;37;p12"/>
          <p:cNvSpPr txBox="1"/>
          <p:nvPr/>
        </p:nvSpPr>
        <p:spPr>
          <a:xfrm>
            <a:off x="4608575" y="3566160"/>
            <a:ext cx="3017520" cy="365760"/>
          </a:xfrm>
          <a:prstGeom prst="rect">
            <a:avLst/>
          </a:prstGeom>
          <a:noFill/>
          <a:ln>
            <a:noFill/>
          </a:ln>
        </p:spPr>
        <p:txBody>
          <a:bodyPr anchorCtr="0" anchor="t" bIns="27425" lIns="45700" spcFirstLastPara="1" rIns="45700" wrap="square" tIns="27425">
            <a:spAutoFit/>
          </a:bodyPr>
          <a:lstStyle/>
          <a:p>
            <a:pPr indent="0" lvl="0" marL="0" marR="0" rtl="0" algn="l">
              <a:lnSpc>
                <a:spcPct val="100000"/>
              </a:lnSpc>
              <a:spcBef>
                <a:spcPts val="0"/>
              </a:spcBef>
              <a:spcAft>
                <a:spcPts val="0"/>
              </a:spcAft>
              <a:buClr>
                <a:srgbClr val="000000"/>
              </a:buClr>
              <a:buSzPts val="1500"/>
              <a:buFont typeface="Arial"/>
              <a:buNone/>
            </a:pPr>
            <a:r>
              <a:rPr b="0" i="0" lang="ru-RU" sz="1500" u="none" cap="none" strike="noStrike">
                <a:solidFill>
                  <a:srgbClr val="647080"/>
                </a:solidFill>
                <a:latin typeface="Arial"/>
                <a:ea typeface="Arial"/>
                <a:cs typeface="Arial"/>
                <a:sym typeface="Arial"/>
              </a:rPr>
              <a:t>Deliverables</a:t>
            </a:r>
            <a:endParaRPr b="0" i="0" sz="1400" u="none" cap="none" strike="noStrike">
              <a:solidFill>
                <a:srgbClr val="000000"/>
              </a:solidFill>
              <a:latin typeface="Arial"/>
              <a:ea typeface="Arial"/>
              <a:cs typeface="Arial"/>
              <a:sym typeface="Arial"/>
            </a:endParaRPr>
          </a:p>
        </p:txBody>
      </p:sp>
      <p:sp>
        <p:nvSpPr>
          <p:cNvPr id="38" name="Google Shape;38;p12"/>
          <p:cNvSpPr txBox="1"/>
          <p:nvPr/>
        </p:nvSpPr>
        <p:spPr>
          <a:xfrm>
            <a:off x="4608575" y="4069080"/>
            <a:ext cx="3017520" cy="914400"/>
          </a:xfrm>
          <a:prstGeom prst="rect">
            <a:avLst/>
          </a:prstGeom>
          <a:noFill/>
          <a:ln>
            <a:noFill/>
          </a:ln>
        </p:spPr>
        <p:txBody>
          <a:bodyPr anchorCtr="0" anchor="t" bIns="27425" lIns="45700" spcFirstLastPara="1" rIns="45700" wrap="square" tIns="27425">
            <a:spAutoFit/>
          </a:bodyPr>
          <a:lstStyle/>
          <a:p>
            <a:pPr indent="0" lvl="0" marL="0" marR="0" rtl="0" algn="l">
              <a:lnSpc>
                <a:spcPct val="100000"/>
              </a:lnSpc>
              <a:spcBef>
                <a:spcPts val="0"/>
              </a:spcBef>
              <a:spcAft>
                <a:spcPts val="0"/>
              </a:spcAft>
              <a:buClr>
                <a:srgbClr val="000000"/>
              </a:buClr>
              <a:buSzPts val="1400"/>
              <a:buFont typeface="Arial"/>
              <a:buNone/>
            </a:pPr>
            <a:r>
              <a:rPr b="0" i="0" lang="ru-RU" sz="1400" u="none" cap="none" strike="noStrike">
                <a:solidFill>
                  <a:srgbClr val="13263A"/>
                </a:solidFill>
                <a:latin typeface="Arial"/>
                <a:ea typeface="Arial"/>
                <a:cs typeface="Arial"/>
                <a:sym typeface="Arial"/>
              </a:rPr>
              <a:t>Rate limits of every Gemini model, live checks of the backup chain and the new frontend pages</a:t>
            </a:r>
            <a:endParaRPr b="0" i="0" sz="1400" u="none" cap="none" strike="noStrike">
              <a:solidFill>
                <a:srgbClr val="000000"/>
              </a:solidFill>
              <a:latin typeface="Arial"/>
              <a:ea typeface="Arial"/>
              <a:cs typeface="Arial"/>
              <a:sym typeface="Arial"/>
            </a:endParaRPr>
          </a:p>
        </p:txBody>
      </p:sp>
      <p:sp>
        <p:nvSpPr>
          <p:cNvPr id="39" name="Google Shape;39;p12"/>
          <p:cNvSpPr txBox="1"/>
          <p:nvPr/>
        </p:nvSpPr>
        <p:spPr>
          <a:xfrm>
            <a:off x="4608575" y="5029200"/>
            <a:ext cx="3017520" cy="320040"/>
          </a:xfrm>
          <a:prstGeom prst="rect">
            <a:avLst/>
          </a:prstGeom>
          <a:noFill/>
          <a:ln>
            <a:noFill/>
          </a:ln>
        </p:spPr>
        <p:txBody>
          <a:bodyPr anchorCtr="0" anchor="t" bIns="27425" lIns="45700" spcFirstLastPara="1" rIns="45700" wrap="square" tIns="27425">
            <a:spAutoFit/>
          </a:bodyPr>
          <a:lstStyle/>
          <a:p>
            <a:pPr indent="0" lvl="0" marL="0" marR="0" rtl="0" algn="l">
              <a:lnSpc>
                <a:spcPct val="100000"/>
              </a:lnSpc>
              <a:spcBef>
                <a:spcPts val="0"/>
              </a:spcBef>
              <a:spcAft>
                <a:spcPts val="0"/>
              </a:spcAft>
              <a:buClr>
                <a:srgbClr val="000000"/>
              </a:buClr>
              <a:buSzPts val="1400"/>
              <a:buFont typeface="Arial"/>
              <a:buNone/>
            </a:pPr>
            <a:r>
              <a:rPr b="1" i="0" lang="ru-RU" sz="1400" u="none" cap="none" strike="noStrike">
                <a:solidFill>
                  <a:srgbClr val="255CF0"/>
                </a:solidFill>
                <a:latin typeface="Arial"/>
                <a:ea typeface="Arial"/>
                <a:cs typeface="Arial"/>
                <a:sym typeface="Arial"/>
              </a:rPr>
              <a:t>≈ 3 min</a:t>
            </a:r>
            <a:endParaRPr b="0" i="0" sz="1400" u="none" cap="none" strike="noStrike">
              <a:solidFill>
                <a:srgbClr val="000000"/>
              </a:solidFill>
              <a:latin typeface="Arial"/>
              <a:ea typeface="Arial"/>
              <a:cs typeface="Arial"/>
              <a:sym typeface="Arial"/>
            </a:endParaRPr>
          </a:p>
        </p:txBody>
      </p:sp>
      <p:sp>
        <p:nvSpPr>
          <p:cNvPr id="40" name="Google Shape;40;p12"/>
          <p:cNvSpPr/>
          <p:nvPr/>
        </p:nvSpPr>
        <p:spPr>
          <a:xfrm>
            <a:off x="8129015" y="2103120"/>
            <a:ext cx="3429000" cy="3383280"/>
          </a:xfrm>
          <a:prstGeom prst="rect">
            <a:avLst/>
          </a:prstGeom>
          <a:solidFill>
            <a:srgbClr val="FFFFFF"/>
          </a:solidFill>
          <a:ln cap="flat" cmpd="sng" w="9525">
            <a:solidFill>
              <a:srgbClr val="A8B6C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 name="Google Shape;41;p12"/>
          <p:cNvSpPr txBox="1"/>
          <p:nvPr/>
        </p:nvSpPr>
        <p:spPr>
          <a:xfrm>
            <a:off x="8357615" y="2286000"/>
            <a:ext cx="1371600" cy="822960"/>
          </a:xfrm>
          <a:prstGeom prst="rect">
            <a:avLst/>
          </a:prstGeom>
          <a:noFill/>
          <a:ln>
            <a:noFill/>
          </a:ln>
        </p:spPr>
        <p:txBody>
          <a:bodyPr anchorCtr="0" anchor="t" bIns="27425" lIns="45700" spcFirstLastPara="1" rIns="45700" wrap="square" tIns="27425">
            <a:spAutoFit/>
          </a:bodyPr>
          <a:lstStyle/>
          <a:p>
            <a:pPr indent="0" lvl="0" marL="0" marR="0" rtl="0" algn="l">
              <a:lnSpc>
                <a:spcPct val="100000"/>
              </a:lnSpc>
              <a:spcBef>
                <a:spcPts val="0"/>
              </a:spcBef>
              <a:spcAft>
                <a:spcPts val="0"/>
              </a:spcAft>
              <a:buClr>
                <a:srgbClr val="000000"/>
              </a:buClr>
              <a:buSzPts val="4000"/>
              <a:buFont typeface="Arial"/>
              <a:buNone/>
            </a:pPr>
            <a:r>
              <a:rPr b="1" i="0" lang="ru-RU" sz="4000" u="none" cap="none" strike="noStrike">
                <a:solidFill>
                  <a:srgbClr val="255CF0"/>
                </a:solidFill>
                <a:latin typeface="Arial"/>
                <a:ea typeface="Arial"/>
                <a:cs typeface="Arial"/>
                <a:sym typeface="Arial"/>
              </a:rPr>
              <a:t>03</a:t>
            </a:r>
            <a:endParaRPr b="0" i="0" sz="1400" u="none" cap="none" strike="noStrike">
              <a:solidFill>
                <a:srgbClr val="000000"/>
              </a:solidFill>
              <a:latin typeface="Arial"/>
              <a:ea typeface="Arial"/>
              <a:cs typeface="Arial"/>
              <a:sym typeface="Arial"/>
            </a:endParaRPr>
          </a:p>
        </p:txBody>
      </p:sp>
      <p:sp>
        <p:nvSpPr>
          <p:cNvPr id="42" name="Google Shape;42;p12"/>
          <p:cNvSpPr txBox="1"/>
          <p:nvPr/>
        </p:nvSpPr>
        <p:spPr>
          <a:xfrm>
            <a:off x="8357615" y="3154680"/>
            <a:ext cx="3017520" cy="411480"/>
          </a:xfrm>
          <a:prstGeom prst="rect">
            <a:avLst/>
          </a:prstGeom>
          <a:noFill/>
          <a:ln>
            <a:noFill/>
          </a:ln>
        </p:spPr>
        <p:txBody>
          <a:bodyPr anchorCtr="0" anchor="t" bIns="27425" lIns="45700" spcFirstLastPara="1" rIns="45700" wrap="square" tIns="27425">
            <a:spAutoFit/>
          </a:bodyPr>
          <a:lstStyle/>
          <a:p>
            <a:pPr indent="0" lvl="0" marL="0" marR="0" rtl="0" algn="l">
              <a:lnSpc>
                <a:spcPct val="100000"/>
              </a:lnSpc>
              <a:spcBef>
                <a:spcPts val="0"/>
              </a:spcBef>
              <a:spcAft>
                <a:spcPts val="0"/>
              </a:spcAft>
              <a:buClr>
                <a:srgbClr val="000000"/>
              </a:buClr>
              <a:buSzPts val="2000"/>
              <a:buFont typeface="Arial"/>
              <a:buNone/>
            </a:pPr>
            <a:r>
              <a:rPr b="1" i="0" lang="ru-RU" sz="2000" u="none" cap="none" strike="noStrike">
                <a:solidFill>
                  <a:srgbClr val="13263A"/>
                </a:solidFill>
                <a:latin typeface="Arial"/>
                <a:ea typeface="Arial"/>
                <a:cs typeface="Arial"/>
                <a:sym typeface="Arial"/>
              </a:rPr>
              <a:t>Project progress</a:t>
            </a:r>
            <a:endParaRPr b="0" i="0" sz="1400" u="none" cap="none" strike="noStrike">
              <a:solidFill>
                <a:srgbClr val="000000"/>
              </a:solidFill>
              <a:latin typeface="Arial"/>
              <a:ea typeface="Arial"/>
              <a:cs typeface="Arial"/>
              <a:sym typeface="Arial"/>
            </a:endParaRPr>
          </a:p>
        </p:txBody>
      </p:sp>
      <p:sp>
        <p:nvSpPr>
          <p:cNvPr id="43" name="Google Shape;43;p12"/>
          <p:cNvSpPr txBox="1"/>
          <p:nvPr/>
        </p:nvSpPr>
        <p:spPr>
          <a:xfrm>
            <a:off x="8357615" y="3566160"/>
            <a:ext cx="3017520" cy="365760"/>
          </a:xfrm>
          <a:prstGeom prst="rect">
            <a:avLst/>
          </a:prstGeom>
          <a:noFill/>
          <a:ln>
            <a:noFill/>
          </a:ln>
        </p:spPr>
        <p:txBody>
          <a:bodyPr anchorCtr="0" anchor="t" bIns="27425" lIns="45700" spcFirstLastPara="1" rIns="45700" wrap="square" tIns="27425">
            <a:spAutoFit/>
          </a:bodyPr>
          <a:lstStyle/>
          <a:p>
            <a:pPr indent="0" lvl="0" marL="0" marR="0" rtl="0" algn="l">
              <a:lnSpc>
                <a:spcPct val="100000"/>
              </a:lnSpc>
              <a:spcBef>
                <a:spcPts val="0"/>
              </a:spcBef>
              <a:spcAft>
                <a:spcPts val="0"/>
              </a:spcAft>
              <a:buClr>
                <a:srgbClr val="000000"/>
              </a:buClr>
              <a:buSzPts val="1500"/>
              <a:buFont typeface="Arial"/>
              <a:buNone/>
            </a:pPr>
            <a:r>
              <a:rPr b="0" i="0" lang="ru-RU" sz="1500" u="none" cap="none" strike="noStrike">
                <a:solidFill>
                  <a:srgbClr val="647080"/>
                </a:solidFill>
                <a:latin typeface="Arial"/>
                <a:ea typeface="Arial"/>
                <a:cs typeface="Arial"/>
                <a:sym typeface="Arial"/>
              </a:rPr>
              <a:t>Team collaboration and management</a:t>
            </a:r>
            <a:endParaRPr b="0" i="0" sz="1400" u="none" cap="none" strike="noStrike">
              <a:solidFill>
                <a:srgbClr val="000000"/>
              </a:solidFill>
              <a:latin typeface="Arial"/>
              <a:ea typeface="Arial"/>
              <a:cs typeface="Arial"/>
              <a:sym typeface="Arial"/>
            </a:endParaRPr>
          </a:p>
        </p:txBody>
      </p:sp>
      <p:sp>
        <p:nvSpPr>
          <p:cNvPr id="44" name="Google Shape;44;p12"/>
          <p:cNvSpPr txBox="1"/>
          <p:nvPr/>
        </p:nvSpPr>
        <p:spPr>
          <a:xfrm>
            <a:off x="8357615" y="4069080"/>
            <a:ext cx="3017520" cy="914400"/>
          </a:xfrm>
          <a:prstGeom prst="rect">
            <a:avLst/>
          </a:prstGeom>
          <a:noFill/>
          <a:ln>
            <a:noFill/>
          </a:ln>
        </p:spPr>
        <p:txBody>
          <a:bodyPr anchorCtr="0" anchor="t" bIns="27425" lIns="45700" spcFirstLastPara="1" rIns="45700" wrap="square" tIns="27425">
            <a:spAutoFit/>
          </a:bodyPr>
          <a:lstStyle/>
          <a:p>
            <a:pPr indent="0" lvl="0" marL="0" marR="0" rtl="0" algn="l">
              <a:lnSpc>
                <a:spcPct val="100000"/>
              </a:lnSpc>
              <a:spcBef>
                <a:spcPts val="0"/>
              </a:spcBef>
              <a:spcAft>
                <a:spcPts val="0"/>
              </a:spcAft>
              <a:buClr>
                <a:srgbClr val="000000"/>
              </a:buClr>
              <a:buSzPts val="1400"/>
              <a:buFont typeface="Arial"/>
              <a:buNone/>
            </a:pPr>
            <a:r>
              <a:rPr b="0" i="0" lang="ru-RU" sz="1400" u="none" cap="none" strike="noStrike">
                <a:solidFill>
                  <a:srgbClr val="13263A"/>
                </a:solidFill>
                <a:latin typeface="Arial"/>
                <a:ea typeface="Arial"/>
                <a:cs typeface="Arial"/>
                <a:sym typeface="Arial"/>
              </a:rPr>
              <a:t>Interest-discovery proposal, plan for week 8 and time management</a:t>
            </a:r>
            <a:endParaRPr b="0" i="0" sz="1400" u="none" cap="none" strike="noStrike">
              <a:solidFill>
                <a:srgbClr val="000000"/>
              </a:solidFill>
              <a:latin typeface="Arial"/>
              <a:ea typeface="Arial"/>
              <a:cs typeface="Arial"/>
              <a:sym typeface="Arial"/>
            </a:endParaRPr>
          </a:p>
        </p:txBody>
      </p:sp>
      <p:sp>
        <p:nvSpPr>
          <p:cNvPr id="45" name="Google Shape;45;p12"/>
          <p:cNvSpPr txBox="1"/>
          <p:nvPr/>
        </p:nvSpPr>
        <p:spPr>
          <a:xfrm>
            <a:off x="8357615" y="5029200"/>
            <a:ext cx="3017520" cy="320040"/>
          </a:xfrm>
          <a:prstGeom prst="rect">
            <a:avLst/>
          </a:prstGeom>
          <a:noFill/>
          <a:ln>
            <a:noFill/>
          </a:ln>
        </p:spPr>
        <p:txBody>
          <a:bodyPr anchorCtr="0" anchor="t" bIns="27425" lIns="45700" spcFirstLastPara="1" rIns="45700" wrap="square" tIns="27425">
            <a:spAutoFit/>
          </a:bodyPr>
          <a:lstStyle/>
          <a:p>
            <a:pPr indent="0" lvl="0" marL="0" marR="0" rtl="0" algn="l">
              <a:lnSpc>
                <a:spcPct val="100000"/>
              </a:lnSpc>
              <a:spcBef>
                <a:spcPts val="0"/>
              </a:spcBef>
              <a:spcAft>
                <a:spcPts val="0"/>
              </a:spcAft>
              <a:buClr>
                <a:srgbClr val="000000"/>
              </a:buClr>
              <a:buSzPts val="1400"/>
              <a:buFont typeface="Arial"/>
              <a:buNone/>
            </a:pPr>
            <a:r>
              <a:rPr b="1" i="0" lang="ru-RU" sz="1400" u="none" cap="none" strike="noStrike">
                <a:solidFill>
                  <a:srgbClr val="255CF0"/>
                </a:solidFill>
                <a:latin typeface="Arial"/>
                <a:ea typeface="Arial"/>
                <a:cs typeface="Arial"/>
                <a:sym typeface="Arial"/>
              </a:rPr>
              <a:t>≈ 1.5 min</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3263A"/>
        </a:solidFill>
      </p:bgPr>
    </p:bg>
    <p:spTree>
      <p:nvGrpSpPr>
        <p:cNvPr id="336" name="Shape 336"/>
        <p:cNvGrpSpPr/>
        <p:nvPr/>
      </p:nvGrpSpPr>
      <p:grpSpPr>
        <a:xfrm>
          <a:off x="0" y="0"/>
          <a:ext cx="0" cy="0"/>
          <a:chOff x="0" y="0"/>
          <a:chExt cx="0" cy="0"/>
        </a:xfrm>
      </p:grpSpPr>
      <p:sp>
        <p:nvSpPr>
          <p:cNvPr id="337" name="Google Shape;337;h62fd3f37f23572d3_3_1"/>
          <p:cNvSpPr/>
          <p:nvPr/>
        </p:nvSpPr>
        <p:spPr>
          <a:xfrm>
            <a:off x="619050" y="2903050"/>
            <a:ext cx="10953900" cy="7620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3300"/>
              <a:buFont typeface="Arial"/>
              <a:buNone/>
            </a:pPr>
            <a:r>
              <a:rPr b="1" i="0" lang="ru-RU" sz="3300" u="none" cap="none" strike="noStrike">
                <a:solidFill>
                  <a:srgbClr val="FFFFFF"/>
                </a:solidFill>
                <a:latin typeface="Arial"/>
                <a:ea typeface="Arial"/>
                <a:cs typeface="Arial"/>
                <a:sym typeface="Arial"/>
              </a:rPr>
              <a:t>THANK YOU FOR YOUR</a:t>
            </a:r>
            <a:endParaRPr b="1" i="0" sz="33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FFFFFF"/>
              </a:buClr>
              <a:buSzPts val="3300"/>
              <a:buFont typeface="Arial"/>
              <a:buNone/>
            </a:pPr>
            <a:r>
              <a:rPr b="1" i="0" lang="ru-RU" sz="3300" u="none" cap="none" strike="noStrike">
                <a:solidFill>
                  <a:srgbClr val="FFFFFF"/>
                </a:solidFill>
                <a:latin typeface="Arial"/>
                <a:ea typeface="Arial"/>
                <a:cs typeface="Arial"/>
                <a:sym typeface="Arial"/>
              </a:rPr>
              <a:t>ATTENTION!</a:t>
            </a:r>
            <a:endParaRPr b="1" i="0" sz="3300" u="none" cap="none" strike="noStrike">
              <a:solidFill>
                <a:srgbClr val="FFFFFF"/>
              </a:solidFill>
              <a:latin typeface="Arial"/>
              <a:ea typeface="Arial"/>
              <a:cs typeface="Arial"/>
              <a:sym typeface="Arial"/>
            </a:endParaRPr>
          </a:p>
        </p:txBody>
      </p:sp>
      <p:sp>
        <p:nvSpPr>
          <p:cNvPr id="338" name="Google Shape;338;h62fd3f37f23572d3_3_1"/>
          <p:cNvSpPr/>
          <p:nvPr/>
        </p:nvSpPr>
        <p:spPr>
          <a:xfrm>
            <a:off x="647700" y="5629275"/>
            <a:ext cx="10191900" cy="4191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A8B6C7"/>
              </a:buClr>
              <a:buSzPts val="1725"/>
              <a:buFont typeface="Arial"/>
              <a:buNone/>
            </a:pPr>
            <a:r>
              <a:rPr b="0" i="0" lang="ru-RU" sz="1725" u="none" cap="none" strike="noStrike">
                <a:solidFill>
                  <a:srgbClr val="A8B6C7"/>
                </a:solidFill>
                <a:latin typeface="Arial"/>
                <a:ea typeface="Arial"/>
                <a:cs typeface="Arial"/>
                <a:sym typeface="Arial"/>
              </a:rPr>
              <a:t>Veronika, Jiahui, Thibaut and Abid</a:t>
            </a:r>
            <a:endParaRPr b="0" i="0" sz="1400" u="none" cap="none" strike="noStrike">
              <a:solidFill>
                <a:srgbClr val="000000"/>
              </a:solidFill>
              <a:latin typeface="Arial"/>
              <a:ea typeface="Arial"/>
              <a:cs typeface="Arial"/>
              <a:sym typeface="Arial"/>
            </a:endParaRPr>
          </a:p>
        </p:txBody>
      </p:sp>
      <p:pic>
        <p:nvPicPr>
          <p:cNvPr id="339" name="Google Shape;339;h62fd3f37f23572d3_3_1"/>
          <p:cNvPicPr preferRelativeResize="0"/>
          <p:nvPr/>
        </p:nvPicPr>
        <p:blipFill rotWithShape="1">
          <a:blip r:embed="rId3">
            <a:alphaModFix/>
          </a:blip>
          <a:srcRect b="0" l="0" r="0" t="0"/>
          <a:stretch/>
        </p:blipFill>
        <p:spPr>
          <a:xfrm>
            <a:off x="6819325" y="1430525"/>
            <a:ext cx="3707026" cy="3707026"/>
          </a:xfrm>
          <a:prstGeom prst="rect">
            <a:avLst/>
          </a:prstGeom>
          <a:noFill/>
          <a:ln>
            <a:noFill/>
          </a:ln>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4F0"/>
        </a:solidFill>
        <a:effectLst/>
      </p:bgPr>
    </p:bg>
    <p:spTree>
      <p:nvGrpSpPr>
        <p:cNvPr id="1" name=""/>
        <p:cNvGrpSpPr/>
        <p:nvPr/>
      </p:nvGrpSpPr>
      <p:grpSpPr/>
      <p:sp>
        <p:nvSpPr>
          <p:cNvPr id="2" name="TextBox 1"/>
          <p:cNvSpPr txBox="1"/>
          <p:nvPr/>
        </p:nvSpPr>
        <p:spPr>
          <a:xfrm>
            <a:off x="609600" y="457200"/>
            <a:ext cx="10960100" cy="558800"/>
          </a:xfrm>
          <a:prstGeom prst="rect">
            <a:avLst/>
          </a:prstGeom>
          <a:noFill/>
        </p:spPr>
        <p:txBody>
          <a:bodyPr wrap="square" lIns="45720" rIns="45720" tIns="12700" bIns="12700" anchor="ctr">
            <a:spAutoFit/>
          </a:bodyPr>
          <a:lstStyle/>
          <a:p>
            <a:pPr algn="l"/>
            <a:r>
              <a:rPr sz="3300" b="1" i="0">
                <a:solidFill>
                  <a:srgbClr val="13263A"/>
                </a:solidFill>
                <a:latin typeface="Arial"/>
              </a:rPr>
              <a:t>This week: SRS ready for review, AI backups working</a:t>
            </a:r>
          </a:p>
        </p:txBody>
      </p:sp>
      <p:sp>
        <p:nvSpPr>
          <p:cNvPr id="3" name="TextBox 2"/>
          <p:cNvSpPr txBox="1"/>
          <p:nvPr/>
        </p:nvSpPr>
        <p:spPr>
          <a:xfrm>
            <a:off x="635000" y="1219200"/>
            <a:ext cx="10566400" cy="330200"/>
          </a:xfrm>
          <a:prstGeom prst="rect">
            <a:avLst/>
          </a:prstGeom>
          <a:noFill/>
        </p:spPr>
        <p:txBody>
          <a:bodyPr wrap="square" lIns="45720" rIns="45720" tIns="12700" bIns="12700" anchor="t">
            <a:spAutoFit/>
          </a:bodyPr>
          <a:lstStyle/>
          <a:p>
            <a:pPr algn="l"/>
            <a:r>
              <a:rPr sz="1800" b="0" i="0">
                <a:solidFill>
                  <a:srgbClr val="647080"/>
                </a:solidFill>
                <a:latin typeface="Arial"/>
              </a:rPr>
              <a:t>01  Technical progress  ·  what moved forward in week 7</a:t>
            </a:r>
          </a:p>
        </p:txBody>
      </p:sp>
      <p:sp>
        <p:nvSpPr>
          <p:cNvPr id="4" name="TextBox 3"/>
          <p:cNvSpPr txBox="1"/>
          <p:nvPr/>
        </p:nvSpPr>
        <p:spPr>
          <a:xfrm>
            <a:off x="11049000" y="6248400"/>
            <a:ext cx="533400" cy="279400"/>
          </a:xfrm>
          <a:prstGeom prst="rect">
            <a:avLst/>
          </a:prstGeom>
          <a:noFill/>
        </p:spPr>
        <p:txBody>
          <a:bodyPr wrap="square" lIns="45720" rIns="45720" tIns="12700" bIns="12700" anchor="t">
            <a:spAutoFit/>
          </a:bodyPr>
          <a:lstStyle/>
          <a:p>
            <a:pPr algn="l"/>
            <a:r>
              <a:rPr sz="1350" b="0" i="0">
                <a:solidFill>
                  <a:srgbClr val="647080"/>
                </a:solidFill>
                <a:latin typeface="Arial"/>
              </a:rPr>
              <a:t>03</a:t>
            </a:r>
          </a:p>
        </p:txBody>
      </p:sp>
      <p:sp>
        <p:nvSpPr>
          <p:cNvPr id="5" name="Rectangle 4"/>
          <p:cNvSpPr/>
          <p:nvPr/>
        </p:nvSpPr>
        <p:spPr>
          <a:xfrm>
            <a:off x="635000" y="1778000"/>
            <a:ext cx="2603500" cy="914400"/>
          </a:xfrm>
          <a:prstGeom prst="rect">
            <a:avLst/>
          </a:prstGeom>
          <a:solidFill>
            <a:srgbClr val="13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1879600"/>
            <a:ext cx="2374900" cy="635000"/>
          </a:xfrm>
          <a:prstGeom prst="rect">
            <a:avLst/>
          </a:prstGeom>
          <a:noFill/>
        </p:spPr>
        <p:txBody>
          <a:bodyPr wrap="square" lIns="45720" rIns="45720" tIns="12700" bIns="12700" anchor="t">
            <a:spAutoFit/>
          </a:bodyPr>
          <a:lstStyle/>
          <a:p>
            <a:pPr algn="l"/>
            <a:r>
              <a:rPr sz="1650" b="1" i="0">
                <a:solidFill>
                  <a:srgbClr val="FFFFFF"/>
                </a:solidFill>
                <a:latin typeface="Arial"/>
              </a:rPr>
              <a:t>BACKEND</a:t>
            </a:r>
          </a:p>
          <a:p>
            <a:pPr algn="l"/>
            <a:r>
              <a:rPr sz="1400" b="0" i="0">
                <a:solidFill>
                  <a:srgbClr val="D5DCE8"/>
                </a:solidFill>
                <a:latin typeface="Arial"/>
              </a:rPr>
              <a:t>Veronika</a:t>
            </a:r>
          </a:p>
        </p:txBody>
      </p:sp>
      <p:sp>
        <p:nvSpPr>
          <p:cNvPr id="7" name="Rectangle 6"/>
          <p:cNvSpPr/>
          <p:nvPr/>
        </p:nvSpPr>
        <p:spPr>
          <a:xfrm>
            <a:off x="635000" y="2692400"/>
            <a:ext cx="2603500" cy="32893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2832100"/>
            <a:ext cx="2374900" cy="292100"/>
          </a:xfrm>
          <a:prstGeom prst="rect">
            <a:avLst/>
          </a:prstGeom>
          <a:noFill/>
        </p:spPr>
        <p:txBody>
          <a:bodyPr wrap="square" lIns="45720" rIns="45720" tIns="12700" bIns="12700" anchor="t">
            <a:spAutoFit/>
          </a:bodyPr>
          <a:lstStyle/>
          <a:p>
            <a:pPr algn="l"/>
            <a:r>
              <a:rPr sz="1500" b="1" i="0">
                <a:solidFill>
                  <a:srgbClr val="13263A"/>
                </a:solidFill>
                <a:latin typeface="Arial"/>
              </a:rPr>
              <a:t>Reuse endpoint</a:t>
            </a:r>
          </a:p>
        </p:txBody>
      </p:sp>
      <p:sp>
        <p:nvSpPr>
          <p:cNvPr id="9" name="TextBox 8"/>
          <p:cNvSpPr txBox="1"/>
          <p:nvPr/>
        </p:nvSpPr>
        <p:spPr>
          <a:xfrm>
            <a:off x="762000" y="33274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10" name="TextBox 9"/>
          <p:cNvSpPr txBox="1"/>
          <p:nvPr/>
        </p:nvSpPr>
        <p:spPr>
          <a:xfrm>
            <a:off x="965200" y="3327400"/>
            <a:ext cx="2184400" cy="533400"/>
          </a:xfrm>
          <a:prstGeom prst="rect">
            <a:avLst/>
          </a:prstGeom>
          <a:noFill/>
        </p:spPr>
        <p:txBody>
          <a:bodyPr wrap="square" lIns="45720" rIns="45720" tIns="12700" bIns="12700" anchor="t">
            <a:spAutoFit/>
          </a:bodyPr>
          <a:lstStyle/>
          <a:p>
            <a:pPr algn="l"/>
            <a:r>
              <a:rPr sz="1400" b="0" i="0">
                <a:solidFill>
                  <a:srgbClr val="13263A"/>
                </a:solidFill>
                <a:latin typeface="Arial"/>
              </a:rPr>
              <a:t>POST /api/suggestions/reuse</a:t>
            </a:r>
          </a:p>
        </p:txBody>
      </p:sp>
      <p:sp>
        <p:nvSpPr>
          <p:cNvPr id="11" name="TextBox 10"/>
          <p:cNvSpPr txBox="1"/>
          <p:nvPr/>
        </p:nvSpPr>
        <p:spPr>
          <a:xfrm>
            <a:off x="762000" y="39116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12" name="TextBox 11"/>
          <p:cNvSpPr txBox="1"/>
          <p:nvPr/>
        </p:nvSpPr>
        <p:spPr>
          <a:xfrm>
            <a:off x="965200" y="3911600"/>
            <a:ext cx="2184400" cy="533400"/>
          </a:xfrm>
          <a:prstGeom prst="rect">
            <a:avLst/>
          </a:prstGeom>
          <a:noFill/>
        </p:spPr>
        <p:txBody>
          <a:bodyPr wrap="square" lIns="45720" rIns="45720" tIns="12700" bIns="12700" anchor="t">
            <a:spAutoFit/>
          </a:bodyPr>
          <a:lstStyle/>
          <a:p>
            <a:pPr algn="l"/>
            <a:r>
              <a:rPr sz="1400" b="0" i="0">
                <a:solidFill>
                  <a:srgbClr val="13263A"/>
                </a:solidFill>
                <a:latin typeface="Arial"/>
              </a:rPr>
              <a:t>Returns up to 3 accepted sentences</a:t>
            </a:r>
          </a:p>
        </p:txBody>
      </p:sp>
      <p:sp>
        <p:nvSpPr>
          <p:cNvPr id="13" name="TextBox 12"/>
          <p:cNvSpPr txBox="1"/>
          <p:nvPr/>
        </p:nvSpPr>
        <p:spPr>
          <a:xfrm>
            <a:off x="762000" y="44958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14" name="TextBox 13"/>
          <p:cNvSpPr txBox="1"/>
          <p:nvPr/>
        </p:nvSpPr>
        <p:spPr>
          <a:xfrm>
            <a:off x="965200" y="4495800"/>
            <a:ext cx="2184400" cy="533400"/>
          </a:xfrm>
          <a:prstGeom prst="rect">
            <a:avLst/>
          </a:prstGeom>
          <a:noFill/>
        </p:spPr>
        <p:txBody>
          <a:bodyPr wrap="square" lIns="45720" rIns="45720" tIns="12700" bIns="12700" anchor="t">
            <a:spAutoFit/>
          </a:bodyPr>
          <a:lstStyle/>
          <a:p>
            <a:pPr algn="l"/>
            <a:r>
              <a:rPr sz="1400" b="0" i="0">
                <a:solidFill>
                  <a:srgbClr val="13263A"/>
                </a:solidFill>
                <a:latin typeface="Arial"/>
              </a:rPr>
              <a:t>Exact match on symbols, text, scene</a:t>
            </a:r>
          </a:p>
        </p:txBody>
      </p:sp>
      <p:sp>
        <p:nvSpPr>
          <p:cNvPr id="15" name="TextBox 14"/>
          <p:cNvSpPr txBox="1"/>
          <p:nvPr/>
        </p:nvSpPr>
        <p:spPr>
          <a:xfrm>
            <a:off x="762000" y="5486400"/>
            <a:ext cx="2374900" cy="381000"/>
          </a:xfrm>
          <a:prstGeom prst="rect">
            <a:avLst/>
          </a:prstGeom>
          <a:noFill/>
        </p:spPr>
        <p:txBody>
          <a:bodyPr wrap="square" lIns="45720" rIns="45720" tIns="12700" bIns="12700" anchor="t">
            <a:spAutoFit/>
          </a:bodyPr>
          <a:lstStyle/>
          <a:p>
            <a:pPr algn="l"/>
            <a:r>
              <a:rPr sz="1350" b="1" i="0">
                <a:solidFill>
                  <a:srgbClr val="255CF0"/>
                </a:solidFill>
                <a:latin typeface="Arial"/>
              </a:rPr>
              <a:t>On her branch · not merged</a:t>
            </a:r>
          </a:p>
        </p:txBody>
      </p:sp>
      <p:sp>
        <p:nvSpPr>
          <p:cNvPr id="16" name="Rectangle 15"/>
          <p:cNvSpPr/>
          <p:nvPr/>
        </p:nvSpPr>
        <p:spPr>
          <a:xfrm>
            <a:off x="3403600" y="1778000"/>
            <a:ext cx="2603500" cy="914400"/>
          </a:xfrm>
          <a:prstGeom prst="rect">
            <a:avLst/>
          </a:prstGeom>
          <a:solidFill>
            <a:srgbClr val="13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30600" y="1879600"/>
            <a:ext cx="2374900" cy="635000"/>
          </a:xfrm>
          <a:prstGeom prst="rect">
            <a:avLst/>
          </a:prstGeom>
          <a:noFill/>
        </p:spPr>
        <p:txBody>
          <a:bodyPr wrap="square" lIns="45720" rIns="45720" tIns="12700" bIns="12700" anchor="t">
            <a:spAutoFit/>
          </a:bodyPr>
          <a:lstStyle/>
          <a:p>
            <a:pPr algn="l"/>
            <a:r>
              <a:rPr sz="1650" b="1" i="0">
                <a:solidFill>
                  <a:srgbClr val="FFFFFF"/>
                </a:solidFill>
                <a:latin typeface="Arial"/>
              </a:rPr>
              <a:t>FRONTEND</a:t>
            </a:r>
          </a:p>
          <a:p>
            <a:pPr algn="l"/>
            <a:r>
              <a:rPr sz="1400" b="0" i="0">
                <a:solidFill>
                  <a:srgbClr val="D5DCE8"/>
                </a:solidFill>
                <a:latin typeface="Arial"/>
              </a:rPr>
              <a:t>Thibaut</a:t>
            </a:r>
          </a:p>
        </p:txBody>
      </p:sp>
      <p:sp>
        <p:nvSpPr>
          <p:cNvPr id="18" name="Rectangle 17"/>
          <p:cNvSpPr/>
          <p:nvPr/>
        </p:nvSpPr>
        <p:spPr>
          <a:xfrm>
            <a:off x="3403600" y="2692400"/>
            <a:ext cx="2603500" cy="32893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30600" y="2832100"/>
            <a:ext cx="2374900" cy="292100"/>
          </a:xfrm>
          <a:prstGeom prst="rect">
            <a:avLst/>
          </a:prstGeom>
          <a:noFill/>
        </p:spPr>
        <p:txBody>
          <a:bodyPr wrap="square" lIns="45720" rIns="45720" tIns="12700" bIns="12700" anchor="t">
            <a:spAutoFit/>
          </a:bodyPr>
          <a:lstStyle/>
          <a:p>
            <a:pPr algn="l"/>
            <a:r>
              <a:rPr sz="1500" b="1" i="0">
                <a:solidFill>
                  <a:srgbClr val="13263A"/>
                </a:solidFill>
                <a:latin typeface="Arial"/>
              </a:rPr>
              <a:t>Three separate pages</a:t>
            </a:r>
          </a:p>
        </p:txBody>
      </p:sp>
      <p:sp>
        <p:nvSpPr>
          <p:cNvPr id="20" name="TextBox 19"/>
          <p:cNvSpPr txBox="1"/>
          <p:nvPr/>
        </p:nvSpPr>
        <p:spPr>
          <a:xfrm>
            <a:off x="3530600" y="33274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21" name="TextBox 20"/>
          <p:cNvSpPr txBox="1"/>
          <p:nvPr/>
        </p:nvSpPr>
        <p:spPr>
          <a:xfrm>
            <a:off x="3733800" y="3327400"/>
            <a:ext cx="2184400" cy="533400"/>
          </a:xfrm>
          <a:prstGeom prst="rect">
            <a:avLst/>
          </a:prstGeom>
          <a:noFill/>
        </p:spPr>
        <p:txBody>
          <a:bodyPr wrap="square" lIns="45720" rIns="45720" tIns="12700" bIns="12700" anchor="t">
            <a:spAutoFit/>
          </a:bodyPr>
          <a:lstStyle/>
          <a:p>
            <a:pPr algn="l"/>
            <a:r>
              <a:rPr sz="1400" b="0" i="0">
                <a:solidFill>
                  <a:srgbClr val="13263A"/>
                </a:solidFill>
                <a:latin typeface="Arial"/>
              </a:rPr>
              <a:t>Login page</a:t>
            </a:r>
          </a:p>
        </p:txBody>
      </p:sp>
      <p:sp>
        <p:nvSpPr>
          <p:cNvPr id="22" name="TextBox 21"/>
          <p:cNvSpPr txBox="1"/>
          <p:nvPr/>
        </p:nvSpPr>
        <p:spPr>
          <a:xfrm>
            <a:off x="3530600" y="39116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23" name="TextBox 22"/>
          <p:cNvSpPr txBox="1"/>
          <p:nvPr/>
        </p:nvSpPr>
        <p:spPr>
          <a:xfrm>
            <a:off x="3733800" y="3911600"/>
            <a:ext cx="2184400" cy="533400"/>
          </a:xfrm>
          <a:prstGeom prst="rect">
            <a:avLst/>
          </a:prstGeom>
          <a:noFill/>
        </p:spPr>
        <p:txBody>
          <a:bodyPr wrap="square" lIns="45720" rIns="45720" tIns="12700" bIns="12700" anchor="t">
            <a:spAutoFit/>
          </a:bodyPr>
          <a:lstStyle/>
          <a:p>
            <a:pPr algn="l"/>
            <a:r>
              <a:rPr sz="1400" b="0" i="0">
                <a:solidFill>
                  <a:srgbClr val="13263A"/>
                </a:solidFill>
                <a:latin typeface="Arial"/>
              </a:rPr>
              <a:t>Context: place, tiles, photo</a:t>
            </a:r>
          </a:p>
        </p:txBody>
      </p:sp>
      <p:sp>
        <p:nvSpPr>
          <p:cNvPr id="24" name="TextBox 23"/>
          <p:cNvSpPr txBox="1"/>
          <p:nvPr/>
        </p:nvSpPr>
        <p:spPr>
          <a:xfrm>
            <a:off x="3530600" y="44958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25" name="TextBox 24"/>
          <p:cNvSpPr txBox="1"/>
          <p:nvPr/>
        </p:nvSpPr>
        <p:spPr>
          <a:xfrm>
            <a:off x="3733800" y="4495800"/>
            <a:ext cx="2184400" cy="533400"/>
          </a:xfrm>
          <a:prstGeom prst="rect">
            <a:avLst/>
          </a:prstGeom>
          <a:noFill/>
        </p:spPr>
        <p:txBody>
          <a:bodyPr wrap="square" lIns="45720" rIns="45720" tIns="12700" bIns="12700" anchor="t">
            <a:spAutoFit/>
          </a:bodyPr>
          <a:lstStyle/>
          <a:p>
            <a:pPr algn="l"/>
            <a:r>
              <a:rPr sz="1400" b="0" i="0">
                <a:solidFill>
                  <a:srgbClr val="13263A"/>
                </a:solidFill>
                <a:latin typeface="Arial"/>
              </a:rPr>
              <a:t>Suggestions: confirm, reject, stop</a:t>
            </a:r>
          </a:p>
        </p:txBody>
      </p:sp>
      <p:sp>
        <p:nvSpPr>
          <p:cNvPr id="26" name="TextBox 25"/>
          <p:cNvSpPr txBox="1"/>
          <p:nvPr/>
        </p:nvSpPr>
        <p:spPr>
          <a:xfrm>
            <a:off x="3530600" y="5486400"/>
            <a:ext cx="2374900" cy="381000"/>
          </a:xfrm>
          <a:prstGeom prst="rect">
            <a:avLst/>
          </a:prstGeom>
          <a:noFill/>
        </p:spPr>
        <p:txBody>
          <a:bodyPr wrap="square" lIns="45720" rIns="45720" tIns="12700" bIns="12700" anchor="t">
            <a:spAutoFit/>
          </a:bodyPr>
          <a:lstStyle/>
          <a:p>
            <a:pPr algn="l"/>
            <a:r>
              <a:rPr sz="1350" b="1" i="0">
                <a:solidFill>
                  <a:srgbClr val="255CF0"/>
                </a:solidFill>
                <a:latin typeface="Arial"/>
              </a:rPr>
              <a:t>Local · not pushed</a:t>
            </a:r>
          </a:p>
        </p:txBody>
      </p:sp>
      <p:sp>
        <p:nvSpPr>
          <p:cNvPr id="27" name="Rectangle 26"/>
          <p:cNvSpPr/>
          <p:nvPr/>
        </p:nvSpPr>
        <p:spPr>
          <a:xfrm>
            <a:off x="6172200" y="1778000"/>
            <a:ext cx="2603500" cy="914400"/>
          </a:xfrm>
          <a:prstGeom prst="rect">
            <a:avLst/>
          </a:prstGeom>
          <a:solidFill>
            <a:srgbClr val="13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9200" y="1879600"/>
            <a:ext cx="2374900" cy="635000"/>
          </a:xfrm>
          <a:prstGeom prst="rect">
            <a:avLst/>
          </a:prstGeom>
          <a:noFill/>
        </p:spPr>
        <p:txBody>
          <a:bodyPr wrap="square" lIns="45720" rIns="45720" tIns="12700" bIns="12700" anchor="t">
            <a:spAutoFit/>
          </a:bodyPr>
          <a:lstStyle/>
          <a:p>
            <a:pPr algn="l"/>
            <a:r>
              <a:rPr sz="1650" b="1" i="0">
                <a:solidFill>
                  <a:srgbClr val="FFFFFF"/>
                </a:solidFill>
                <a:latin typeface="Arial"/>
              </a:rPr>
              <a:t>SRS</a:t>
            </a:r>
          </a:p>
          <a:p>
            <a:pPr algn="l"/>
            <a:r>
              <a:rPr sz="1400" b="0" i="0">
                <a:solidFill>
                  <a:srgbClr val="D5DCE8"/>
                </a:solidFill>
                <a:latin typeface="Arial"/>
              </a:rPr>
              <a:t>Abid</a:t>
            </a:r>
          </a:p>
        </p:txBody>
      </p:sp>
      <p:sp>
        <p:nvSpPr>
          <p:cNvPr id="29" name="Rectangle 28"/>
          <p:cNvSpPr/>
          <p:nvPr/>
        </p:nvSpPr>
        <p:spPr>
          <a:xfrm>
            <a:off x="6172200" y="2692400"/>
            <a:ext cx="2603500" cy="32893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99200" y="2832100"/>
            <a:ext cx="2374900" cy="292100"/>
          </a:xfrm>
          <a:prstGeom prst="rect">
            <a:avLst/>
          </a:prstGeom>
          <a:noFill/>
        </p:spPr>
        <p:txBody>
          <a:bodyPr wrap="square" lIns="45720" rIns="45720" tIns="12700" bIns="12700" anchor="t">
            <a:spAutoFit/>
          </a:bodyPr>
          <a:lstStyle/>
          <a:p>
            <a:pPr algn="l"/>
            <a:r>
              <a:rPr sz="1500" b="1" i="0">
                <a:solidFill>
                  <a:srgbClr val="13263A"/>
                </a:solidFill>
                <a:latin typeface="Arial"/>
              </a:rPr>
              <a:t>v0.3 review draft</a:t>
            </a:r>
          </a:p>
        </p:txBody>
      </p:sp>
      <p:sp>
        <p:nvSpPr>
          <p:cNvPr id="31" name="TextBox 30"/>
          <p:cNvSpPr txBox="1"/>
          <p:nvPr/>
        </p:nvSpPr>
        <p:spPr>
          <a:xfrm>
            <a:off x="6299200" y="33274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32" name="TextBox 31"/>
          <p:cNvSpPr txBox="1"/>
          <p:nvPr/>
        </p:nvSpPr>
        <p:spPr>
          <a:xfrm>
            <a:off x="6502400" y="3327400"/>
            <a:ext cx="2184400" cy="533400"/>
          </a:xfrm>
          <a:prstGeom prst="rect">
            <a:avLst/>
          </a:prstGeom>
          <a:noFill/>
        </p:spPr>
        <p:txBody>
          <a:bodyPr wrap="square" lIns="45720" rIns="45720" tIns="12700" bIns="12700" anchor="t">
            <a:spAutoFit/>
          </a:bodyPr>
          <a:lstStyle/>
          <a:p>
            <a:pPr algn="l"/>
            <a:r>
              <a:rPr sz="1400" b="0" i="0">
                <a:solidFill>
                  <a:srgbClr val="13263A"/>
                </a:solidFill>
                <a:latin typeface="Arial"/>
              </a:rPr>
              <a:t>48 pages, written in Word</a:t>
            </a:r>
          </a:p>
        </p:txBody>
      </p:sp>
      <p:sp>
        <p:nvSpPr>
          <p:cNvPr id="33" name="TextBox 32"/>
          <p:cNvSpPr txBox="1"/>
          <p:nvPr/>
        </p:nvSpPr>
        <p:spPr>
          <a:xfrm>
            <a:off x="6299200" y="39116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34" name="TextBox 33"/>
          <p:cNvSpPr txBox="1"/>
          <p:nvPr/>
        </p:nvSpPr>
        <p:spPr>
          <a:xfrm>
            <a:off x="6502400" y="3911600"/>
            <a:ext cx="2184400" cy="533400"/>
          </a:xfrm>
          <a:prstGeom prst="rect">
            <a:avLst/>
          </a:prstGeom>
          <a:noFill/>
        </p:spPr>
        <p:txBody>
          <a:bodyPr wrap="square" lIns="45720" rIns="45720" tIns="12700" bIns="12700" anchor="t">
            <a:spAutoFit/>
          </a:bodyPr>
          <a:lstStyle/>
          <a:p>
            <a:pPr algn="l"/>
            <a:r>
              <a:rPr sz="1400" b="0" i="0">
                <a:solidFill>
                  <a:srgbClr val="13263A"/>
                </a:solidFill>
                <a:latin typeface="Arial"/>
              </a:rPr>
              <a:t>Owner and status per requirement</a:t>
            </a:r>
          </a:p>
        </p:txBody>
      </p:sp>
      <p:sp>
        <p:nvSpPr>
          <p:cNvPr id="35" name="TextBox 34"/>
          <p:cNvSpPr txBox="1"/>
          <p:nvPr/>
        </p:nvSpPr>
        <p:spPr>
          <a:xfrm>
            <a:off x="6299200" y="44958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36" name="TextBox 35"/>
          <p:cNvSpPr txBox="1"/>
          <p:nvPr/>
        </p:nvSpPr>
        <p:spPr>
          <a:xfrm>
            <a:off x="6502400" y="4495800"/>
            <a:ext cx="2184400" cy="533400"/>
          </a:xfrm>
          <a:prstGeom prst="rect">
            <a:avLst/>
          </a:prstGeom>
          <a:noFill/>
        </p:spPr>
        <p:txBody>
          <a:bodyPr wrap="square" lIns="45720" rIns="45720" tIns="12700" bIns="12700" anchor="t">
            <a:spAutoFit/>
          </a:bodyPr>
          <a:lstStyle/>
          <a:p>
            <a:pPr algn="l"/>
            <a:r>
              <a:rPr sz="1400" b="0" i="0">
                <a:solidFill>
                  <a:srgbClr val="13263A"/>
                </a:solidFill>
                <a:latin typeface="Arial"/>
              </a:rPr>
              <a:t>Diagrams and screenshots</a:t>
            </a:r>
          </a:p>
        </p:txBody>
      </p:sp>
      <p:sp>
        <p:nvSpPr>
          <p:cNvPr id="37" name="TextBox 36"/>
          <p:cNvSpPr txBox="1"/>
          <p:nvPr/>
        </p:nvSpPr>
        <p:spPr>
          <a:xfrm>
            <a:off x="6299200" y="5486400"/>
            <a:ext cx="2374900" cy="381000"/>
          </a:xfrm>
          <a:prstGeom prst="rect">
            <a:avLst/>
          </a:prstGeom>
          <a:noFill/>
        </p:spPr>
        <p:txBody>
          <a:bodyPr wrap="square" lIns="45720" rIns="45720" tIns="12700" bIns="12700" anchor="t">
            <a:spAutoFit/>
          </a:bodyPr>
          <a:lstStyle/>
          <a:p>
            <a:pPr algn="l"/>
            <a:r>
              <a:rPr sz="1350" b="1" i="0">
                <a:solidFill>
                  <a:srgbClr val="255CF0"/>
                </a:solidFill>
                <a:latin typeface="Arial"/>
              </a:rPr>
              <a:t>Ready for peer review</a:t>
            </a:r>
          </a:p>
        </p:txBody>
      </p:sp>
      <p:sp>
        <p:nvSpPr>
          <p:cNvPr id="38" name="Rectangle 37"/>
          <p:cNvSpPr/>
          <p:nvPr/>
        </p:nvSpPr>
        <p:spPr>
          <a:xfrm>
            <a:off x="8940800" y="1778000"/>
            <a:ext cx="2603500" cy="914400"/>
          </a:xfrm>
          <a:prstGeom prst="rect">
            <a:avLst/>
          </a:prstGeom>
          <a:solidFill>
            <a:srgbClr val="13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067800" y="1879600"/>
            <a:ext cx="2374900" cy="635000"/>
          </a:xfrm>
          <a:prstGeom prst="rect">
            <a:avLst/>
          </a:prstGeom>
          <a:noFill/>
        </p:spPr>
        <p:txBody>
          <a:bodyPr wrap="square" lIns="45720" rIns="45720" tIns="12700" bIns="12700" anchor="t">
            <a:spAutoFit/>
          </a:bodyPr>
          <a:lstStyle/>
          <a:p>
            <a:pPr algn="l"/>
            <a:r>
              <a:rPr sz="1650" b="1" i="0">
                <a:solidFill>
                  <a:srgbClr val="FFFFFF"/>
                </a:solidFill>
                <a:latin typeface="Arial"/>
              </a:rPr>
              <a:t>AI PROVIDER</a:t>
            </a:r>
          </a:p>
          <a:p>
            <a:pPr algn="l"/>
            <a:r>
              <a:rPr sz="1400" b="0" i="0">
                <a:solidFill>
                  <a:srgbClr val="D5DCE8"/>
                </a:solidFill>
                <a:latin typeface="Arial"/>
              </a:rPr>
              <a:t>Jiahui</a:t>
            </a:r>
          </a:p>
        </p:txBody>
      </p:sp>
      <p:sp>
        <p:nvSpPr>
          <p:cNvPr id="40" name="Rectangle 39"/>
          <p:cNvSpPr/>
          <p:nvPr/>
        </p:nvSpPr>
        <p:spPr>
          <a:xfrm>
            <a:off x="8940800" y="2692400"/>
            <a:ext cx="2603500" cy="32893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067800" y="2832100"/>
            <a:ext cx="2374900" cy="292100"/>
          </a:xfrm>
          <a:prstGeom prst="rect">
            <a:avLst/>
          </a:prstGeom>
          <a:noFill/>
        </p:spPr>
        <p:txBody>
          <a:bodyPr wrap="square" lIns="45720" rIns="45720" tIns="12700" bIns="12700" anchor="t">
            <a:spAutoFit/>
          </a:bodyPr>
          <a:lstStyle/>
          <a:p>
            <a:pPr algn="l"/>
            <a:r>
              <a:rPr sz="1500" b="1" i="0">
                <a:solidFill>
                  <a:srgbClr val="13263A"/>
                </a:solidFill>
                <a:latin typeface="Arial"/>
              </a:rPr>
              <a:t>Backups and reuse</a:t>
            </a:r>
          </a:p>
        </p:txBody>
      </p:sp>
      <p:sp>
        <p:nvSpPr>
          <p:cNvPr id="42" name="TextBox 41"/>
          <p:cNvSpPr txBox="1"/>
          <p:nvPr/>
        </p:nvSpPr>
        <p:spPr>
          <a:xfrm>
            <a:off x="9067800" y="33274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43" name="TextBox 42"/>
          <p:cNvSpPr txBox="1"/>
          <p:nvPr/>
        </p:nvSpPr>
        <p:spPr>
          <a:xfrm>
            <a:off x="9271000" y="3327400"/>
            <a:ext cx="2184400" cy="533400"/>
          </a:xfrm>
          <a:prstGeom prst="rect">
            <a:avLst/>
          </a:prstGeom>
          <a:noFill/>
        </p:spPr>
        <p:txBody>
          <a:bodyPr wrap="square" lIns="45720" rIns="45720" tIns="12700" bIns="12700" anchor="t">
            <a:spAutoFit/>
          </a:bodyPr>
          <a:lstStyle/>
          <a:p>
            <a:pPr algn="l"/>
            <a:r>
              <a:rPr sz="1400" b="0" i="0">
                <a:solidFill>
                  <a:srgbClr val="13263A"/>
                </a:solidFill>
                <a:latin typeface="Arial"/>
              </a:rPr>
              <a:t>Fallback over Gemini models</a:t>
            </a:r>
          </a:p>
        </p:txBody>
      </p:sp>
      <p:sp>
        <p:nvSpPr>
          <p:cNvPr id="44" name="TextBox 43"/>
          <p:cNvSpPr txBox="1"/>
          <p:nvPr/>
        </p:nvSpPr>
        <p:spPr>
          <a:xfrm>
            <a:off x="9067800" y="39116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45" name="TextBox 44"/>
          <p:cNvSpPr txBox="1"/>
          <p:nvPr/>
        </p:nvSpPr>
        <p:spPr>
          <a:xfrm>
            <a:off x="9271000" y="3911600"/>
            <a:ext cx="2184400" cy="533400"/>
          </a:xfrm>
          <a:prstGeom prst="rect">
            <a:avLst/>
          </a:prstGeom>
          <a:noFill/>
        </p:spPr>
        <p:txBody>
          <a:bodyPr wrap="square" lIns="45720" rIns="45720" tIns="12700" bIns="12700" anchor="t">
            <a:spAutoFit/>
          </a:bodyPr>
          <a:lstStyle/>
          <a:p>
            <a:pPr algn="l"/>
            <a:r>
              <a:rPr sz="1400" b="0" i="0">
                <a:solidFill>
                  <a:srgbClr val="13263A"/>
                </a:solidFill>
                <a:latin typeface="Arial"/>
              </a:rPr>
              <a:t>Reuse of accepted sentences</a:t>
            </a:r>
          </a:p>
        </p:txBody>
      </p:sp>
      <p:sp>
        <p:nvSpPr>
          <p:cNvPr id="46" name="TextBox 45"/>
          <p:cNvSpPr txBox="1"/>
          <p:nvPr/>
        </p:nvSpPr>
        <p:spPr>
          <a:xfrm>
            <a:off x="9067800" y="44958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47" name="TextBox 46"/>
          <p:cNvSpPr txBox="1"/>
          <p:nvPr/>
        </p:nvSpPr>
        <p:spPr>
          <a:xfrm>
            <a:off x="9271000" y="4495800"/>
            <a:ext cx="2184400" cy="533400"/>
          </a:xfrm>
          <a:prstGeom prst="rect">
            <a:avLst/>
          </a:prstGeom>
          <a:noFill/>
        </p:spPr>
        <p:txBody>
          <a:bodyPr wrap="square" lIns="45720" rIns="45720" tIns="12700" bIns="12700" anchor="t">
            <a:spAutoFit/>
          </a:bodyPr>
          <a:lstStyle/>
          <a:p>
            <a:pPr algn="l"/>
            <a:r>
              <a:rPr sz="1400" b="0" i="0">
                <a:solidFill>
                  <a:srgbClr val="13263A"/>
                </a:solidFill>
                <a:latin typeface="Arial"/>
              </a:rPr>
              <a:t>Rate limits of 20 models</a:t>
            </a:r>
          </a:p>
        </p:txBody>
      </p:sp>
      <p:sp>
        <p:nvSpPr>
          <p:cNvPr id="48" name="TextBox 47"/>
          <p:cNvSpPr txBox="1"/>
          <p:nvPr/>
        </p:nvSpPr>
        <p:spPr>
          <a:xfrm>
            <a:off x="9067800" y="5486400"/>
            <a:ext cx="2374900" cy="381000"/>
          </a:xfrm>
          <a:prstGeom prst="rect">
            <a:avLst/>
          </a:prstGeom>
          <a:noFill/>
        </p:spPr>
        <p:txBody>
          <a:bodyPr wrap="square" lIns="45720" rIns="45720" tIns="12700" bIns="12700" anchor="t">
            <a:spAutoFit/>
          </a:bodyPr>
          <a:lstStyle/>
          <a:p>
            <a:pPr algn="l"/>
            <a:r>
              <a:rPr sz="1350" b="1" i="0">
                <a:solidFill>
                  <a:srgbClr val="255CF0"/>
                </a:solidFill>
                <a:latin typeface="Arial"/>
              </a:rPr>
              <a:t>57 tests pass · src/ai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4F0"/>
        </a:solidFill>
        <a:effectLst/>
      </p:bgPr>
    </p:bg>
    <p:spTree>
      <p:nvGrpSpPr>
        <p:cNvPr id="1" name=""/>
        <p:cNvGrpSpPr/>
        <p:nvPr/>
      </p:nvGrpSpPr>
      <p:grpSpPr/>
      <p:sp>
        <p:nvSpPr>
          <p:cNvPr id="2" name="TextBox 1"/>
          <p:cNvSpPr txBox="1"/>
          <p:nvPr/>
        </p:nvSpPr>
        <p:spPr>
          <a:xfrm>
            <a:off x="609600" y="457200"/>
            <a:ext cx="10960100" cy="558800"/>
          </a:xfrm>
          <a:prstGeom prst="rect">
            <a:avLst/>
          </a:prstGeom>
          <a:noFill/>
        </p:spPr>
        <p:txBody>
          <a:bodyPr wrap="square" lIns="45720" rIns="45720" tIns="12700" bIns="12700" anchor="ctr">
            <a:spAutoFit/>
          </a:bodyPr>
          <a:lstStyle/>
          <a:p>
            <a:pPr algn="l"/>
            <a:r>
              <a:rPr sz="3300" b="1" i="0">
                <a:solidFill>
                  <a:srgbClr val="13263A"/>
                </a:solidFill>
                <a:latin typeface="Arial"/>
              </a:rPr>
              <a:t>Backend: reuse of accepted sentences</a:t>
            </a:r>
          </a:p>
        </p:txBody>
      </p:sp>
      <p:sp>
        <p:nvSpPr>
          <p:cNvPr id="3" name="TextBox 2"/>
          <p:cNvSpPr txBox="1"/>
          <p:nvPr/>
        </p:nvSpPr>
        <p:spPr>
          <a:xfrm>
            <a:off x="635000" y="1219200"/>
            <a:ext cx="10566400" cy="330200"/>
          </a:xfrm>
          <a:prstGeom prst="rect">
            <a:avLst/>
          </a:prstGeom>
          <a:noFill/>
        </p:spPr>
        <p:txBody>
          <a:bodyPr wrap="square" lIns="45720" rIns="45720" tIns="12700" bIns="12700" anchor="t">
            <a:spAutoFit/>
          </a:bodyPr>
          <a:lstStyle/>
          <a:p>
            <a:pPr algn="l"/>
            <a:r>
              <a:rPr sz="1800" b="0" i="0">
                <a:solidFill>
                  <a:srgbClr val="647080"/>
                </a:solidFill>
                <a:latin typeface="Arial"/>
              </a:rPr>
              <a:t>01  Technical progress  ·  refactor-backend by Veronika, 3 commits</a:t>
            </a:r>
          </a:p>
        </p:txBody>
      </p:sp>
      <p:sp>
        <p:nvSpPr>
          <p:cNvPr id="4" name="TextBox 3"/>
          <p:cNvSpPr txBox="1"/>
          <p:nvPr/>
        </p:nvSpPr>
        <p:spPr>
          <a:xfrm>
            <a:off x="11049000" y="6248400"/>
            <a:ext cx="533400" cy="279400"/>
          </a:xfrm>
          <a:prstGeom prst="rect">
            <a:avLst/>
          </a:prstGeom>
          <a:noFill/>
        </p:spPr>
        <p:txBody>
          <a:bodyPr wrap="square" lIns="45720" rIns="45720" tIns="12700" bIns="12700" anchor="t">
            <a:spAutoFit/>
          </a:bodyPr>
          <a:lstStyle/>
          <a:p>
            <a:pPr algn="l"/>
            <a:r>
              <a:rPr sz="1350" b="0" i="0">
                <a:solidFill>
                  <a:srgbClr val="647080"/>
                </a:solidFill>
                <a:latin typeface="Arial"/>
              </a:rPr>
              <a:t>04</a:t>
            </a:r>
          </a:p>
        </p:txBody>
      </p:sp>
      <p:sp>
        <p:nvSpPr>
          <p:cNvPr id="5" name="TextBox 4"/>
          <p:cNvSpPr txBox="1"/>
          <p:nvPr/>
        </p:nvSpPr>
        <p:spPr>
          <a:xfrm>
            <a:off x="635000" y="1778000"/>
            <a:ext cx="5346700" cy="368300"/>
          </a:xfrm>
          <a:prstGeom prst="rect">
            <a:avLst/>
          </a:prstGeom>
          <a:noFill/>
        </p:spPr>
        <p:txBody>
          <a:bodyPr wrap="square" lIns="45720" rIns="45720" tIns="12700" bIns="12700" anchor="t">
            <a:spAutoFit/>
          </a:bodyPr>
          <a:lstStyle/>
          <a:p>
            <a:pPr algn="l"/>
            <a:r>
              <a:rPr sz="1650" b="1" i="0">
                <a:solidFill>
                  <a:srgbClr val="255CF0"/>
                </a:solidFill>
                <a:latin typeface="Arial"/>
              </a:rPr>
              <a:t>WHAT CHANGED</a:t>
            </a:r>
          </a:p>
        </p:txBody>
      </p:sp>
      <p:sp>
        <p:nvSpPr>
          <p:cNvPr id="6" name="Rectangle 5"/>
          <p:cNvSpPr/>
          <p:nvPr/>
        </p:nvSpPr>
        <p:spPr>
          <a:xfrm>
            <a:off x="635000" y="2235200"/>
            <a:ext cx="2603500" cy="14986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2336800"/>
            <a:ext cx="2349500" cy="584200"/>
          </a:xfrm>
          <a:prstGeom prst="rect">
            <a:avLst/>
          </a:prstGeom>
          <a:noFill/>
        </p:spPr>
        <p:txBody>
          <a:bodyPr wrap="square" lIns="45720" rIns="45720" tIns="12700" bIns="12700" anchor="t">
            <a:spAutoFit/>
          </a:bodyPr>
          <a:lstStyle/>
          <a:p>
            <a:pPr algn="l"/>
            <a:r>
              <a:rPr sz="3200" b="1" i="0">
                <a:solidFill>
                  <a:srgbClr val="255CF0"/>
                </a:solidFill>
                <a:latin typeface="Arial"/>
              </a:rPr>
              <a:t>40</a:t>
            </a:r>
          </a:p>
        </p:txBody>
      </p:sp>
      <p:sp>
        <p:nvSpPr>
          <p:cNvPr id="8" name="TextBox 7"/>
          <p:cNvSpPr txBox="1"/>
          <p:nvPr/>
        </p:nvSpPr>
        <p:spPr>
          <a:xfrm>
            <a:off x="762000" y="2895600"/>
            <a:ext cx="2349500" cy="762000"/>
          </a:xfrm>
          <a:prstGeom prst="rect">
            <a:avLst/>
          </a:prstGeom>
          <a:noFill/>
        </p:spPr>
        <p:txBody>
          <a:bodyPr wrap="square" lIns="45720" rIns="45720" tIns="12700" bIns="12700" anchor="t">
            <a:spAutoFit/>
          </a:bodyPr>
          <a:lstStyle/>
          <a:p>
            <a:pPr algn="l"/>
            <a:r>
              <a:rPr sz="1350" b="0" i="0">
                <a:solidFill>
                  <a:srgbClr val="647080"/>
                </a:solidFill>
                <a:latin typeface="Arial"/>
              </a:rPr>
              <a:t>new tests for retrieval</a:t>
            </a:r>
          </a:p>
        </p:txBody>
      </p:sp>
      <p:sp>
        <p:nvSpPr>
          <p:cNvPr id="9" name="Rectangle 8"/>
          <p:cNvSpPr/>
          <p:nvPr/>
        </p:nvSpPr>
        <p:spPr>
          <a:xfrm>
            <a:off x="3378200" y="2235200"/>
            <a:ext cx="2603500" cy="14986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05200" y="2336800"/>
            <a:ext cx="2349500" cy="584200"/>
          </a:xfrm>
          <a:prstGeom prst="rect">
            <a:avLst/>
          </a:prstGeom>
          <a:noFill/>
        </p:spPr>
        <p:txBody>
          <a:bodyPr wrap="square" lIns="45720" rIns="45720" tIns="12700" bIns="12700" anchor="t">
            <a:spAutoFit/>
          </a:bodyPr>
          <a:lstStyle/>
          <a:p>
            <a:pPr algn="l"/>
            <a:r>
              <a:rPr sz="3200" b="1" i="0">
                <a:solidFill>
                  <a:srgbClr val="255CF0"/>
                </a:solidFill>
                <a:latin typeface="Arial"/>
              </a:rPr>
              <a:t>77 / 77</a:t>
            </a:r>
          </a:p>
        </p:txBody>
      </p:sp>
      <p:sp>
        <p:nvSpPr>
          <p:cNvPr id="11" name="TextBox 10"/>
          <p:cNvSpPr txBox="1"/>
          <p:nvPr/>
        </p:nvSpPr>
        <p:spPr>
          <a:xfrm>
            <a:off x="3505200" y="2895600"/>
            <a:ext cx="2349500" cy="762000"/>
          </a:xfrm>
          <a:prstGeom prst="rect">
            <a:avLst/>
          </a:prstGeom>
          <a:noFill/>
        </p:spPr>
        <p:txBody>
          <a:bodyPr wrap="square" lIns="45720" rIns="45720" tIns="12700" bIns="12700" anchor="t">
            <a:spAutoFit/>
          </a:bodyPr>
          <a:lstStyle/>
          <a:p>
            <a:pPr algn="l"/>
            <a:r>
              <a:rPr sz="1350" b="0" i="0">
                <a:solidFill>
                  <a:srgbClr val="647080"/>
                </a:solidFill>
                <a:latin typeface="Arial"/>
              </a:rPr>
              <a:t>tests pass, Ruff clean, also on Windows</a:t>
            </a:r>
          </a:p>
        </p:txBody>
      </p:sp>
      <p:sp>
        <p:nvSpPr>
          <p:cNvPr id="12" name="Rectangle 11"/>
          <p:cNvSpPr/>
          <p:nvPr/>
        </p:nvSpPr>
        <p:spPr>
          <a:xfrm>
            <a:off x="635000" y="3886200"/>
            <a:ext cx="2603500" cy="14986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2000" y="3987800"/>
            <a:ext cx="2349500" cy="584200"/>
          </a:xfrm>
          <a:prstGeom prst="rect">
            <a:avLst/>
          </a:prstGeom>
          <a:noFill/>
        </p:spPr>
        <p:txBody>
          <a:bodyPr wrap="square" lIns="45720" rIns="45720" tIns="12700" bIns="12700" anchor="t">
            <a:spAutoFit/>
          </a:bodyPr>
          <a:lstStyle/>
          <a:p>
            <a:pPr algn="l"/>
            <a:r>
              <a:rPr sz="3200" b="1" i="0">
                <a:solidFill>
                  <a:srgbClr val="255CF0"/>
                </a:solidFill>
                <a:latin typeface="Arial"/>
              </a:rPr>
              <a:t>1</a:t>
            </a:r>
          </a:p>
        </p:txBody>
      </p:sp>
      <p:sp>
        <p:nvSpPr>
          <p:cNvPr id="14" name="TextBox 13"/>
          <p:cNvSpPr txBox="1"/>
          <p:nvPr/>
        </p:nvSpPr>
        <p:spPr>
          <a:xfrm>
            <a:off x="762000" y="4546600"/>
            <a:ext cx="2349500" cy="762000"/>
          </a:xfrm>
          <a:prstGeom prst="rect">
            <a:avLst/>
          </a:prstGeom>
          <a:noFill/>
        </p:spPr>
        <p:txBody>
          <a:bodyPr wrap="square" lIns="45720" rIns="45720" tIns="12700" bIns="12700" anchor="t">
            <a:spAutoFit/>
          </a:bodyPr>
          <a:lstStyle/>
          <a:p>
            <a:pPr algn="l"/>
            <a:r>
              <a:rPr sz="1350" b="0" i="0">
                <a:solidFill>
                  <a:srgbClr val="647080"/>
                </a:solidFill>
                <a:latin typeface="Arial"/>
              </a:rPr>
              <a:t>new endpoint: POST /api/suggestions/reuse</a:t>
            </a:r>
          </a:p>
        </p:txBody>
      </p:sp>
      <p:sp>
        <p:nvSpPr>
          <p:cNvPr id="15" name="Rectangle 14"/>
          <p:cNvSpPr/>
          <p:nvPr/>
        </p:nvSpPr>
        <p:spPr>
          <a:xfrm>
            <a:off x="3378200" y="3886200"/>
            <a:ext cx="2603500" cy="1498600"/>
          </a:xfrm>
          <a:prstGeom prst="rect">
            <a:avLst/>
          </a:prstGeom>
          <a:solidFill>
            <a:srgbClr val="13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05200" y="3987800"/>
            <a:ext cx="2349500" cy="584200"/>
          </a:xfrm>
          <a:prstGeom prst="rect">
            <a:avLst/>
          </a:prstGeom>
          <a:noFill/>
        </p:spPr>
        <p:txBody>
          <a:bodyPr wrap="square" lIns="45720" rIns="45720" tIns="12700" bIns="12700" anchor="t">
            <a:spAutoFit/>
          </a:bodyPr>
          <a:lstStyle/>
          <a:p>
            <a:pPr algn="l"/>
            <a:r>
              <a:rPr sz="3200" b="1" i="0">
                <a:solidFill>
                  <a:srgbClr val="FFFFFF"/>
                </a:solidFill>
                <a:latin typeface="Arial"/>
              </a:rPr>
              <a:t>108 / 108</a:t>
            </a:r>
          </a:p>
        </p:txBody>
      </p:sp>
      <p:sp>
        <p:nvSpPr>
          <p:cNvPr id="17" name="TextBox 16"/>
          <p:cNvSpPr txBox="1"/>
          <p:nvPr/>
        </p:nvSpPr>
        <p:spPr>
          <a:xfrm>
            <a:off x="3505200" y="4546600"/>
            <a:ext cx="2349500" cy="762000"/>
          </a:xfrm>
          <a:prstGeom prst="rect">
            <a:avLst/>
          </a:prstGeom>
          <a:noFill/>
        </p:spPr>
        <p:txBody>
          <a:bodyPr wrap="square" lIns="45720" rIns="45720" tIns="12700" bIns="12700" anchor="t">
            <a:spAutoFit/>
          </a:bodyPr>
          <a:lstStyle/>
          <a:p>
            <a:pPr algn="l"/>
            <a:r>
              <a:rPr sz="1350" b="0" i="0">
                <a:solidFill>
                  <a:srgbClr val="D5DCE8"/>
                </a:solidFill>
                <a:latin typeface="Arial"/>
              </a:rPr>
              <a:t>tests pass merged with today's main; no conflicts</a:t>
            </a:r>
          </a:p>
        </p:txBody>
      </p:sp>
      <p:sp>
        <p:nvSpPr>
          <p:cNvPr id="18" name="TextBox 17"/>
          <p:cNvSpPr txBox="1"/>
          <p:nvPr/>
        </p:nvSpPr>
        <p:spPr>
          <a:xfrm>
            <a:off x="635000" y="5537200"/>
            <a:ext cx="5397500" cy="508000"/>
          </a:xfrm>
          <a:prstGeom prst="rect">
            <a:avLst/>
          </a:prstGeom>
          <a:noFill/>
        </p:spPr>
        <p:txBody>
          <a:bodyPr wrap="square" lIns="45720" rIns="45720" tIns="12700" bIns="12700" anchor="t">
            <a:spAutoFit/>
          </a:bodyPr>
          <a:lstStyle/>
          <a:p>
            <a:pPr algn="l"/>
            <a:r>
              <a:rPr sz="1350" b="0" i="0">
                <a:solidFill>
                  <a:srgbClr val="647080"/>
                </a:solidFill>
                <a:latin typeface="Arial"/>
              </a:rPr>
              <a:t>Rerun by us on 28 October in a separate checkout of the branch</a:t>
            </a:r>
          </a:p>
        </p:txBody>
      </p:sp>
      <p:sp>
        <p:nvSpPr>
          <p:cNvPr id="19" name="TextBox 18"/>
          <p:cNvSpPr txBox="1"/>
          <p:nvPr/>
        </p:nvSpPr>
        <p:spPr>
          <a:xfrm>
            <a:off x="6261100" y="1778000"/>
            <a:ext cx="5308600" cy="368300"/>
          </a:xfrm>
          <a:prstGeom prst="rect">
            <a:avLst/>
          </a:prstGeom>
          <a:noFill/>
        </p:spPr>
        <p:txBody>
          <a:bodyPr wrap="square" lIns="45720" rIns="45720" tIns="12700" bIns="12700" anchor="t">
            <a:spAutoFit/>
          </a:bodyPr>
          <a:lstStyle/>
          <a:p>
            <a:pPr algn="l"/>
            <a:r>
              <a:rPr sz="1650" b="1" i="0">
                <a:solidFill>
                  <a:srgbClr val="255CF0"/>
                </a:solidFill>
                <a:latin typeface="Arial"/>
              </a:rPr>
              <a:t>WHAT THE BRANCH ADDS · CHECKED</a:t>
            </a:r>
          </a:p>
        </p:txBody>
      </p:sp>
      <p:sp>
        <p:nvSpPr>
          <p:cNvPr id="20" name="TextBox 19"/>
          <p:cNvSpPr txBox="1"/>
          <p:nvPr/>
        </p:nvSpPr>
        <p:spPr>
          <a:xfrm>
            <a:off x="6261100" y="22352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21" name="TextBox 20"/>
          <p:cNvSpPr txBox="1"/>
          <p:nvPr/>
        </p:nvSpPr>
        <p:spPr>
          <a:xfrm>
            <a:off x="6616700" y="2235200"/>
            <a:ext cx="4953000" cy="736600"/>
          </a:xfrm>
          <a:prstGeom prst="rect">
            <a:avLst/>
          </a:prstGeom>
          <a:noFill/>
        </p:spPr>
        <p:txBody>
          <a:bodyPr wrap="square" lIns="45720" rIns="45720" tIns="12700" bIns="12700" anchor="t">
            <a:spAutoFit/>
          </a:bodyPr>
          <a:lstStyle/>
          <a:p>
            <a:pPr algn="l"/>
            <a:r>
              <a:rPr sz="1500" b="1" i="0">
                <a:solidFill>
                  <a:srgbClr val="13263A"/>
                </a:solidFill>
                <a:latin typeface="Arial"/>
              </a:rPr>
              <a:t>Retrieval of accepted sentences</a:t>
            </a:r>
            <a:r>
              <a:rPr sz="1400" b="0" i="0">
                <a:solidFill>
                  <a:srgbClr val="13263A"/>
                </a:solidFill>
                <a:latin typeface="Arial"/>
              </a:rPr>
              <a:t>  </a:t>
            </a:r>
            <a:r>
              <a:rPr sz="1350" b="0" i="0">
                <a:solidFill>
                  <a:srgbClr val="647080"/>
                </a:solidFill>
                <a:latin typeface="Arial"/>
              </a:rPr>
              <a:t>same scene, intention and symbols; newest first, up to 3</a:t>
            </a:r>
          </a:p>
        </p:txBody>
      </p:sp>
      <p:sp>
        <p:nvSpPr>
          <p:cNvPr id="22" name="TextBox 21"/>
          <p:cNvSpPr txBox="1"/>
          <p:nvPr/>
        </p:nvSpPr>
        <p:spPr>
          <a:xfrm>
            <a:off x="6261100" y="29972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23" name="TextBox 22"/>
          <p:cNvSpPr txBox="1"/>
          <p:nvPr/>
        </p:nvSpPr>
        <p:spPr>
          <a:xfrm>
            <a:off x="6616700" y="2997200"/>
            <a:ext cx="4953000" cy="736600"/>
          </a:xfrm>
          <a:prstGeom prst="rect">
            <a:avLst/>
          </a:prstGeom>
          <a:noFill/>
        </p:spPr>
        <p:txBody>
          <a:bodyPr wrap="square" lIns="45720" rIns="45720" tIns="12700" bIns="12700" anchor="t">
            <a:spAutoFit/>
          </a:bodyPr>
          <a:lstStyle/>
          <a:p>
            <a:pPr algn="l"/>
            <a:r>
              <a:rPr sz="1500" b="1" i="0">
                <a:solidFill>
                  <a:srgbClr val="13263A"/>
                </a:solidFill>
                <a:latin typeface="Arial"/>
              </a:rPr>
              <a:t>POST /api/suggestions/reuse</a:t>
            </a:r>
            <a:r>
              <a:rPr sz="1400" b="0" i="0">
                <a:solidFill>
                  <a:srgbClr val="13263A"/>
                </a:solidFill>
                <a:latin typeface="Arial"/>
              </a:rPr>
              <a:t>  </a:t>
            </a:r>
            <a:r>
              <a:rPr sz="1350" b="0" i="0">
                <a:solidFill>
                  <a:srgbClr val="647080"/>
                </a:solidFill>
                <a:latin typeface="Arial"/>
              </a:rPr>
              <a:t>read-only, 200 with an empty list when nothing matches</a:t>
            </a:r>
          </a:p>
        </p:txBody>
      </p:sp>
      <p:sp>
        <p:nvSpPr>
          <p:cNvPr id="24" name="TextBox 23"/>
          <p:cNvSpPr txBox="1"/>
          <p:nvPr/>
        </p:nvSpPr>
        <p:spPr>
          <a:xfrm>
            <a:off x="6261100" y="37592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25" name="TextBox 24"/>
          <p:cNvSpPr txBox="1"/>
          <p:nvPr/>
        </p:nvSpPr>
        <p:spPr>
          <a:xfrm>
            <a:off x="6616700" y="3759200"/>
            <a:ext cx="4953000" cy="736600"/>
          </a:xfrm>
          <a:prstGeom prst="rect">
            <a:avLst/>
          </a:prstGeom>
          <a:noFill/>
        </p:spPr>
        <p:txBody>
          <a:bodyPr wrap="square" lIns="45720" rIns="45720" tIns="12700" bIns="12700" anchor="t">
            <a:spAutoFit/>
          </a:bodyPr>
          <a:lstStyle/>
          <a:p>
            <a:pPr algn="l"/>
            <a:r>
              <a:rPr sz="1500" b="1" i="0">
                <a:solidFill>
                  <a:srgbClr val="13263A"/>
                </a:solidFill>
                <a:latin typeface="Arial"/>
              </a:rPr>
              <a:t>40 new tests, 77 in total</a:t>
            </a:r>
            <a:r>
              <a:rPr sz="1400" b="0" i="0">
                <a:solidFill>
                  <a:srgbClr val="13263A"/>
                </a:solidFill>
                <a:latin typeface="Arial"/>
              </a:rPr>
              <a:t>  </a:t>
            </a:r>
            <a:r>
              <a:rPr sz="1350" b="0" i="0">
                <a:solidFill>
                  <a:srgbClr val="647080"/>
                </a:solidFill>
                <a:latin typeface="Arial"/>
              </a:rPr>
              <a:t>all pass with Ruff; migration check clean</a:t>
            </a:r>
          </a:p>
        </p:txBody>
      </p:sp>
      <p:sp>
        <p:nvSpPr>
          <p:cNvPr id="26" name="TextBox 25"/>
          <p:cNvSpPr txBox="1"/>
          <p:nvPr/>
        </p:nvSpPr>
        <p:spPr>
          <a:xfrm>
            <a:off x="6261100" y="45212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27" name="TextBox 26"/>
          <p:cNvSpPr txBox="1"/>
          <p:nvPr/>
        </p:nvSpPr>
        <p:spPr>
          <a:xfrm>
            <a:off x="6616700" y="4521200"/>
            <a:ext cx="4953000" cy="736600"/>
          </a:xfrm>
          <a:prstGeom prst="rect">
            <a:avLst/>
          </a:prstGeom>
          <a:noFill/>
        </p:spPr>
        <p:txBody>
          <a:bodyPr wrap="square" lIns="45720" rIns="45720" tIns="12700" bIns="12700" anchor="t">
            <a:spAutoFit/>
          </a:bodyPr>
          <a:lstStyle/>
          <a:p>
            <a:pPr algn="l"/>
            <a:r>
              <a:rPr sz="1500" b="1" i="0">
                <a:solidFill>
                  <a:srgbClr val="13263A"/>
                </a:solidFill>
                <a:latin typeface="Arial"/>
              </a:rPr>
              <a:t>Generate → accept → retrieve</a:t>
            </a:r>
            <a:r>
              <a:rPr sz="1400" b="0" i="0">
                <a:solidFill>
                  <a:srgbClr val="13263A"/>
                </a:solidFill>
                <a:latin typeface="Arial"/>
              </a:rPr>
              <a:t>  </a:t>
            </a:r>
            <a:r>
              <a:rPr sz="1350" b="0" i="0">
                <a:solidFill>
                  <a:srgbClr val="647080"/>
                </a:solidFill>
                <a:latin typeface="Arial"/>
              </a:rPr>
              <a:t>rerun: the accepted sentence comes back and disappears after a rejection</a:t>
            </a:r>
          </a:p>
        </p:txBody>
      </p:sp>
      <p:sp>
        <p:nvSpPr>
          <p:cNvPr id="28" name="TextBox 27"/>
          <p:cNvSpPr txBox="1"/>
          <p:nvPr/>
        </p:nvSpPr>
        <p:spPr>
          <a:xfrm>
            <a:off x="6261100" y="52832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29" name="TextBox 28"/>
          <p:cNvSpPr txBox="1"/>
          <p:nvPr/>
        </p:nvSpPr>
        <p:spPr>
          <a:xfrm>
            <a:off x="6616700" y="5283200"/>
            <a:ext cx="4953000" cy="736600"/>
          </a:xfrm>
          <a:prstGeom prst="rect">
            <a:avLst/>
          </a:prstGeom>
          <a:noFill/>
        </p:spPr>
        <p:txBody>
          <a:bodyPr wrap="square" lIns="45720" rIns="45720" tIns="12700" bIns="12700" anchor="t">
            <a:spAutoFit/>
          </a:bodyPr>
          <a:lstStyle/>
          <a:p>
            <a:pPr algn="l"/>
            <a:r>
              <a:rPr sz="1500" b="1" i="0">
                <a:solidFill>
                  <a:srgbClr val="13263A"/>
                </a:solidFill>
                <a:latin typeface="Arial"/>
              </a:rPr>
              <a:t>Documentation</a:t>
            </a:r>
            <a:r>
              <a:rPr sz="1400" b="0" i="0">
                <a:solidFill>
                  <a:srgbClr val="13263A"/>
                </a:solidFill>
                <a:latin typeface="Arial"/>
              </a:rPr>
              <a:t>  </a:t>
            </a:r>
            <a:r>
              <a:rPr sz="1350" b="0" i="0">
                <a:solidFill>
                  <a:srgbClr val="647080"/>
                </a:solidFill>
                <a:latin typeface="Arial"/>
              </a:rPr>
              <a:t>API errors, ERRORS.md, DATABASE.md and the new REUSE.md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4F0"/>
        </a:solidFill>
        <a:effectLst/>
      </p:bgPr>
    </p:bg>
    <p:spTree>
      <p:nvGrpSpPr>
        <p:cNvPr id="1" name=""/>
        <p:cNvGrpSpPr/>
        <p:nvPr/>
      </p:nvGrpSpPr>
      <p:grpSpPr/>
      <p:sp>
        <p:nvSpPr>
          <p:cNvPr id="2" name="TextBox 1"/>
          <p:cNvSpPr txBox="1"/>
          <p:nvPr/>
        </p:nvSpPr>
        <p:spPr>
          <a:xfrm>
            <a:off x="609600" y="457200"/>
            <a:ext cx="10960100" cy="558800"/>
          </a:xfrm>
          <a:prstGeom prst="rect">
            <a:avLst/>
          </a:prstGeom>
          <a:noFill/>
        </p:spPr>
        <p:txBody>
          <a:bodyPr wrap="square" lIns="45720" rIns="45720" tIns="12700" bIns="12700" anchor="ctr">
            <a:spAutoFit/>
          </a:bodyPr>
          <a:lstStyle/>
          <a:p>
            <a:pPr algn="l"/>
            <a:r>
              <a:rPr sz="3300" b="1" i="0">
                <a:solidFill>
                  <a:srgbClr val="13263A"/>
                </a:solidFill>
                <a:latin typeface="Arial"/>
              </a:rPr>
              <a:t>Backend: review findings before merge</a:t>
            </a:r>
          </a:p>
        </p:txBody>
      </p:sp>
      <p:sp>
        <p:nvSpPr>
          <p:cNvPr id="3" name="TextBox 2"/>
          <p:cNvSpPr txBox="1"/>
          <p:nvPr/>
        </p:nvSpPr>
        <p:spPr>
          <a:xfrm>
            <a:off x="635000" y="1219200"/>
            <a:ext cx="10566400" cy="330200"/>
          </a:xfrm>
          <a:prstGeom prst="rect">
            <a:avLst/>
          </a:prstGeom>
          <a:noFill/>
        </p:spPr>
        <p:txBody>
          <a:bodyPr wrap="square" lIns="45720" rIns="45720" tIns="12700" bIns="12700" anchor="t">
            <a:spAutoFit/>
          </a:bodyPr>
          <a:lstStyle/>
          <a:p>
            <a:pPr algn="l"/>
            <a:r>
              <a:rPr sz="1800" b="0" i="0">
                <a:solidFill>
                  <a:srgbClr val="647080"/>
                </a:solidFill>
                <a:latin typeface="Arial"/>
              </a:rPr>
              <a:t>01  Technical progress  ·  our review of refactor-backend, 28 October</a:t>
            </a:r>
          </a:p>
        </p:txBody>
      </p:sp>
      <p:sp>
        <p:nvSpPr>
          <p:cNvPr id="4" name="TextBox 3"/>
          <p:cNvSpPr txBox="1"/>
          <p:nvPr/>
        </p:nvSpPr>
        <p:spPr>
          <a:xfrm>
            <a:off x="11049000" y="6248400"/>
            <a:ext cx="533400" cy="279400"/>
          </a:xfrm>
          <a:prstGeom prst="rect">
            <a:avLst/>
          </a:prstGeom>
          <a:noFill/>
        </p:spPr>
        <p:txBody>
          <a:bodyPr wrap="square" lIns="45720" rIns="45720" tIns="12700" bIns="12700" anchor="t">
            <a:spAutoFit/>
          </a:bodyPr>
          <a:lstStyle/>
          <a:p>
            <a:pPr algn="l"/>
            <a:r>
              <a:rPr sz="1350" b="0" i="0">
                <a:solidFill>
                  <a:srgbClr val="647080"/>
                </a:solidFill>
                <a:latin typeface="Arial"/>
              </a:rPr>
              <a:t>05</a:t>
            </a:r>
          </a:p>
        </p:txBody>
      </p:sp>
      <p:sp>
        <p:nvSpPr>
          <p:cNvPr id="5" name="TextBox 4"/>
          <p:cNvSpPr txBox="1"/>
          <p:nvPr/>
        </p:nvSpPr>
        <p:spPr>
          <a:xfrm>
            <a:off x="635000" y="1778000"/>
            <a:ext cx="3810000" cy="368300"/>
          </a:xfrm>
          <a:prstGeom prst="rect">
            <a:avLst/>
          </a:prstGeom>
          <a:noFill/>
        </p:spPr>
        <p:txBody>
          <a:bodyPr wrap="square" lIns="45720" rIns="45720" tIns="12700" bIns="12700" anchor="t">
            <a:spAutoFit/>
          </a:bodyPr>
          <a:lstStyle/>
          <a:p>
            <a:pPr algn="l"/>
            <a:r>
              <a:rPr sz="1650" b="1" i="0">
                <a:solidFill>
                  <a:srgbClr val="255CF0"/>
                </a:solidFill>
                <a:latin typeface="Arial"/>
              </a:rPr>
              <a:t>FIXED SINCE WEEK 6</a:t>
            </a:r>
          </a:p>
        </p:txBody>
      </p:sp>
      <p:sp>
        <p:nvSpPr>
          <p:cNvPr id="6" name="TextBox 5"/>
          <p:cNvSpPr txBox="1"/>
          <p:nvPr/>
        </p:nvSpPr>
        <p:spPr>
          <a:xfrm>
            <a:off x="635000" y="22352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7" name="TextBox 6"/>
          <p:cNvSpPr txBox="1"/>
          <p:nvPr/>
        </p:nvSpPr>
        <p:spPr>
          <a:xfrm>
            <a:off x="990600" y="2235200"/>
            <a:ext cx="3454400" cy="711200"/>
          </a:xfrm>
          <a:prstGeom prst="rect">
            <a:avLst/>
          </a:prstGeom>
          <a:noFill/>
        </p:spPr>
        <p:txBody>
          <a:bodyPr wrap="square" lIns="45720" rIns="45720" tIns="12700" bIns="12700" anchor="t">
            <a:spAutoFit/>
          </a:bodyPr>
          <a:lstStyle/>
          <a:p>
            <a:pPr algn="l"/>
            <a:r>
              <a:rPr sz="1500" b="1" i="0">
                <a:solidFill>
                  <a:srgbClr val="13263A"/>
                </a:solidFill>
                <a:latin typeface="Arial"/>
              </a:rPr>
              <a:t>Windows test</a:t>
            </a:r>
            <a:r>
              <a:rPr sz="1400" b="0" i="0">
                <a:solidFill>
                  <a:srgbClr val="13263A"/>
                </a:solidFill>
                <a:latin typeface="Arial"/>
              </a:rPr>
              <a:t>  </a:t>
            </a:r>
            <a:r>
              <a:rPr sz="1350" b="0" i="0">
                <a:solidFill>
                  <a:srgbClr val="647080"/>
                </a:solidFill>
                <a:latin typeface="Arial"/>
              </a:rPr>
              <a:t>short test IDs; passes now</a:t>
            </a:r>
          </a:p>
        </p:txBody>
      </p:sp>
      <p:sp>
        <p:nvSpPr>
          <p:cNvPr id="8" name="TextBox 7"/>
          <p:cNvSpPr txBox="1"/>
          <p:nvPr/>
        </p:nvSpPr>
        <p:spPr>
          <a:xfrm>
            <a:off x="635000" y="29718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9" name="TextBox 8"/>
          <p:cNvSpPr txBox="1"/>
          <p:nvPr/>
        </p:nvSpPr>
        <p:spPr>
          <a:xfrm>
            <a:off x="990600" y="2971800"/>
            <a:ext cx="3454400" cy="711200"/>
          </a:xfrm>
          <a:prstGeom prst="rect">
            <a:avLst/>
          </a:prstGeom>
          <a:noFill/>
        </p:spPr>
        <p:txBody>
          <a:bodyPr wrap="square" lIns="45720" rIns="45720" tIns="12700" bIns="12700" anchor="t">
            <a:spAutoFit/>
          </a:bodyPr>
          <a:lstStyle/>
          <a:p>
            <a:pPr algn="l"/>
            <a:r>
              <a:rPr sz="1500" b="1" i="0">
                <a:solidFill>
                  <a:srgbClr val="13263A"/>
                </a:solidFill>
                <a:latin typeface="Arial"/>
              </a:rPr>
              <a:t>ERRORS.md</a:t>
            </a:r>
            <a:r>
              <a:rPr sz="1400" b="0" i="0">
                <a:solidFill>
                  <a:srgbClr val="13263A"/>
                </a:solidFill>
                <a:latin typeface="Arial"/>
              </a:rPr>
              <a:t>  </a:t>
            </a:r>
            <a:r>
              <a:rPr sz="1350" b="0" i="0">
                <a:solidFill>
                  <a:srgbClr val="647080"/>
                </a:solidFill>
                <a:latin typeface="Arial"/>
              </a:rPr>
              <a:t>rewritten as a reference</a:t>
            </a:r>
          </a:p>
        </p:txBody>
      </p:sp>
      <p:sp>
        <p:nvSpPr>
          <p:cNvPr id="10" name="TextBox 9"/>
          <p:cNvSpPr txBox="1"/>
          <p:nvPr/>
        </p:nvSpPr>
        <p:spPr>
          <a:xfrm>
            <a:off x="635000" y="37084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11" name="TextBox 10"/>
          <p:cNvSpPr txBox="1"/>
          <p:nvPr/>
        </p:nvSpPr>
        <p:spPr>
          <a:xfrm>
            <a:off x="990600" y="3708400"/>
            <a:ext cx="3454400" cy="711200"/>
          </a:xfrm>
          <a:prstGeom prst="rect">
            <a:avLst/>
          </a:prstGeom>
          <a:noFill/>
        </p:spPr>
        <p:txBody>
          <a:bodyPr wrap="square" lIns="45720" rIns="45720" tIns="12700" bIns="12700" anchor="t">
            <a:spAutoFit/>
          </a:bodyPr>
          <a:lstStyle/>
          <a:p>
            <a:pPr algn="l"/>
            <a:r>
              <a:rPr sz="1500" b="1" i="0">
                <a:solidFill>
                  <a:srgbClr val="13263A"/>
                </a:solidFill>
                <a:latin typeface="Arial"/>
              </a:rPr>
              <a:t>error_code</a:t>
            </a:r>
            <a:r>
              <a:rPr sz="1400" b="0" i="0">
                <a:solidFill>
                  <a:srgbClr val="13263A"/>
                </a:solidFill>
                <a:latin typeface="Arial"/>
              </a:rPr>
              <a:t>  </a:t>
            </a:r>
            <a:r>
              <a:rPr sz="1350" b="0" i="0">
                <a:solidFill>
                  <a:srgbClr val="647080"/>
                </a:solidFill>
                <a:latin typeface="Arial"/>
              </a:rPr>
              <a:t>documented in API.md</a:t>
            </a:r>
          </a:p>
        </p:txBody>
      </p:sp>
      <p:sp>
        <p:nvSpPr>
          <p:cNvPr id="12" name="Rectangle 11"/>
          <p:cNvSpPr/>
          <p:nvPr/>
        </p:nvSpPr>
        <p:spPr>
          <a:xfrm>
            <a:off x="635000" y="4597400"/>
            <a:ext cx="3810000" cy="13716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7400" y="4699000"/>
            <a:ext cx="3556000" cy="1219200"/>
          </a:xfrm>
          <a:prstGeom prst="rect">
            <a:avLst/>
          </a:prstGeom>
          <a:noFill/>
        </p:spPr>
        <p:txBody>
          <a:bodyPr wrap="square" lIns="45720" rIns="45720" tIns="12700" bIns="12700" anchor="t">
            <a:spAutoFit/>
          </a:bodyPr>
          <a:lstStyle/>
          <a:p>
            <a:pPr algn="l">
              <a:spcAft>
                <a:spcPts val="400"/>
              </a:spcAft>
            </a:pPr>
            <a:r>
              <a:rPr sz="1500" b="1" i="0">
                <a:solidFill>
                  <a:srgbClr val="13263A"/>
                </a:solidFill>
                <a:latin typeface="Arial"/>
              </a:rPr>
              <a:t>Merge check</a:t>
            </a:r>
          </a:p>
          <a:p>
            <a:pPr algn="l">
              <a:spcAft>
                <a:spcPts val="400"/>
              </a:spcAft>
            </a:pPr>
            <a:r>
              <a:rPr sz="1350" b="0" i="0">
                <a:solidFill>
                  <a:srgbClr val="647080"/>
                </a:solidFill>
                <a:latin typeface="Arial"/>
              </a:rPr>
              <a:t>No conflicts with today's main; 108 tests and Ruff pass after the merge</a:t>
            </a:r>
          </a:p>
        </p:txBody>
      </p:sp>
      <p:sp>
        <p:nvSpPr>
          <p:cNvPr id="14" name="TextBox 13"/>
          <p:cNvSpPr txBox="1"/>
          <p:nvPr/>
        </p:nvSpPr>
        <p:spPr>
          <a:xfrm>
            <a:off x="4826000" y="1778000"/>
            <a:ext cx="6743700" cy="368300"/>
          </a:xfrm>
          <a:prstGeom prst="rect">
            <a:avLst/>
          </a:prstGeom>
          <a:noFill/>
        </p:spPr>
        <p:txBody>
          <a:bodyPr wrap="square" lIns="45720" rIns="45720" tIns="12700" bIns="12700" anchor="t">
            <a:spAutoFit/>
          </a:bodyPr>
          <a:lstStyle/>
          <a:p>
            <a:pPr algn="l"/>
            <a:r>
              <a:rPr sz="1650" b="1" i="0">
                <a:solidFill>
                  <a:srgbClr val="255CF0"/>
                </a:solidFill>
                <a:latin typeface="Arial"/>
              </a:rPr>
              <a:t>STILL OPEN · BEFORE MERGE</a:t>
            </a:r>
          </a:p>
        </p:txBody>
      </p:sp>
      <p:sp>
        <p:nvSpPr>
          <p:cNvPr id="15" name="Oval 14"/>
          <p:cNvSpPr/>
          <p:nvPr/>
        </p:nvSpPr>
        <p:spPr>
          <a:xfrm>
            <a:off x="4826000" y="2273300"/>
            <a:ext cx="279400" cy="2794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1</a:t>
            </a:r>
          </a:p>
        </p:txBody>
      </p:sp>
      <p:sp>
        <p:nvSpPr>
          <p:cNvPr id="16" name="TextBox 15"/>
          <p:cNvSpPr txBox="1"/>
          <p:nvPr/>
        </p:nvSpPr>
        <p:spPr>
          <a:xfrm>
            <a:off x="5207000" y="2235200"/>
            <a:ext cx="6362700" cy="635000"/>
          </a:xfrm>
          <a:prstGeom prst="rect">
            <a:avLst/>
          </a:prstGeom>
          <a:noFill/>
        </p:spPr>
        <p:txBody>
          <a:bodyPr wrap="square" lIns="45720" rIns="45720" tIns="12700" bIns="12700" anchor="t">
            <a:spAutoFit/>
          </a:bodyPr>
          <a:lstStyle/>
          <a:p>
            <a:pPr algn="l"/>
            <a:r>
              <a:rPr sz="1500" b="1" i="0">
                <a:solidFill>
                  <a:srgbClr val="13263A"/>
                </a:solidFill>
                <a:latin typeface="Arial"/>
              </a:rPr>
              <a:t>Session open during the AI call</a:t>
            </a:r>
          </a:p>
          <a:p>
            <a:pPr algn="l"/>
            <a:r>
              <a:rPr sz="1350" b="0" i="0">
                <a:solidFill>
                  <a:srgbClr val="647080"/>
                </a:solidFill>
                <a:latin typeface="Arial"/>
              </a:rPr>
              <a:t>close it before the provider call (Gemini: up to 26 s)</a:t>
            </a:r>
          </a:p>
        </p:txBody>
      </p:sp>
      <p:sp>
        <p:nvSpPr>
          <p:cNvPr id="17" name="Oval 16"/>
          <p:cNvSpPr/>
          <p:nvPr/>
        </p:nvSpPr>
        <p:spPr>
          <a:xfrm>
            <a:off x="4826000" y="2908300"/>
            <a:ext cx="279400" cy="2794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2</a:t>
            </a:r>
          </a:p>
        </p:txBody>
      </p:sp>
      <p:sp>
        <p:nvSpPr>
          <p:cNvPr id="18" name="TextBox 17"/>
          <p:cNvSpPr txBox="1"/>
          <p:nvPr/>
        </p:nvSpPr>
        <p:spPr>
          <a:xfrm>
            <a:off x="5207000" y="2870200"/>
            <a:ext cx="6362700" cy="635000"/>
          </a:xfrm>
          <a:prstGeom prst="rect">
            <a:avLst/>
          </a:prstGeom>
          <a:noFill/>
        </p:spPr>
        <p:txBody>
          <a:bodyPr wrap="square" lIns="45720" rIns="45720" tIns="12700" bIns="12700" anchor="t">
            <a:spAutoFit/>
          </a:bodyPr>
          <a:lstStyle/>
          <a:p>
            <a:pPr algn="l"/>
            <a:r>
              <a:rPr sz="1500" b="1" i="0">
                <a:solidFill>
                  <a:srgbClr val="13263A"/>
                </a:solidFill>
                <a:latin typeface="Arial"/>
              </a:rPr>
              <a:t>API.md misses the reuse endpoint</a:t>
            </a:r>
          </a:p>
          <a:p>
            <a:pPr algn="l"/>
            <a:r>
              <a:rPr sz="1350" b="0" i="0">
                <a:solidFill>
                  <a:srgbClr val="647080"/>
                </a:solidFill>
                <a:latin typeface="Arial"/>
              </a:rPr>
              <a:t>still v0.1; add it, bump the version, link REUSE.md</a:t>
            </a:r>
          </a:p>
        </p:txBody>
      </p:sp>
      <p:sp>
        <p:nvSpPr>
          <p:cNvPr id="19" name="Oval 18"/>
          <p:cNvSpPr/>
          <p:nvPr/>
        </p:nvSpPr>
        <p:spPr>
          <a:xfrm>
            <a:off x="4826000" y="3543300"/>
            <a:ext cx="279400" cy="2794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3</a:t>
            </a:r>
          </a:p>
        </p:txBody>
      </p:sp>
      <p:sp>
        <p:nvSpPr>
          <p:cNvPr id="20" name="TextBox 19"/>
          <p:cNvSpPr txBox="1"/>
          <p:nvPr/>
        </p:nvSpPr>
        <p:spPr>
          <a:xfrm>
            <a:off x="5207000" y="3505200"/>
            <a:ext cx="6362700" cy="635000"/>
          </a:xfrm>
          <a:prstGeom prst="rect">
            <a:avLst/>
          </a:prstGeom>
          <a:noFill/>
        </p:spPr>
        <p:txBody>
          <a:bodyPr wrap="square" lIns="45720" rIns="45720" tIns="12700" bIns="12700" anchor="t">
            <a:spAutoFit/>
          </a:bodyPr>
          <a:lstStyle/>
          <a:p>
            <a:pPr algn="l"/>
            <a:r>
              <a:rPr sz="1500" b="1" i="0">
                <a:solidFill>
                  <a:srgbClr val="13263A"/>
                </a:solidFill>
                <a:latin typeface="Arial"/>
              </a:rPr>
              <a:t>DATABASE.md says "planned"</a:t>
            </a:r>
          </a:p>
          <a:p>
            <a:pPr algn="l"/>
            <a:r>
              <a:rPr sz="1350" b="0" i="0">
                <a:solidFill>
                  <a:srgbClr val="647080"/>
                </a:solidFill>
                <a:latin typeface="Arial"/>
              </a:rPr>
              <a:t>retrieval is implemented now</a:t>
            </a:r>
          </a:p>
        </p:txBody>
      </p:sp>
      <p:sp>
        <p:nvSpPr>
          <p:cNvPr id="21" name="Oval 20"/>
          <p:cNvSpPr/>
          <p:nvPr/>
        </p:nvSpPr>
        <p:spPr>
          <a:xfrm>
            <a:off x="4826000" y="4178300"/>
            <a:ext cx="279400" cy="2794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4</a:t>
            </a:r>
          </a:p>
        </p:txBody>
      </p:sp>
      <p:sp>
        <p:nvSpPr>
          <p:cNvPr id="22" name="TextBox 21"/>
          <p:cNvSpPr txBox="1"/>
          <p:nvPr/>
        </p:nvSpPr>
        <p:spPr>
          <a:xfrm>
            <a:off x="5207000" y="4140200"/>
            <a:ext cx="6362700" cy="635000"/>
          </a:xfrm>
          <a:prstGeom prst="rect">
            <a:avLst/>
          </a:prstGeom>
          <a:noFill/>
        </p:spPr>
        <p:txBody>
          <a:bodyPr wrap="square" lIns="45720" rIns="45720" tIns="12700" bIns="12700" anchor="t">
            <a:spAutoFit/>
          </a:bodyPr>
          <a:lstStyle/>
          <a:p>
            <a:pPr algn="l"/>
            <a:r>
              <a:rPr sz="1500" b="1" i="0">
                <a:solidFill>
                  <a:srgbClr val="13263A"/>
                </a:solidFill>
                <a:latin typeface="Arial"/>
              </a:rPr>
              <a:t>Exact, case-sensitive match</a:t>
            </a:r>
          </a:p>
          <a:p>
            <a:pPr algn="l"/>
            <a:r>
              <a:rPr sz="1350" b="0" i="0">
                <a:solidFill>
                  <a:srgbClr val="647080"/>
                </a:solidFill>
                <a:latin typeface="Arial"/>
              </a:rPr>
              <a:t>"Water" ≠ "water"; photo requests never reused</a:t>
            </a:r>
          </a:p>
        </p:txBody>
      </p:sp>
      <p:sp>
        <p:nvSpPr>
          <p:cNvPr id="23" name="Oval 22"/>
          <p:cNvSpPr/>
          <p:nvPr/>
        </p:nvSpPr>
        <p:spPr>
          <a:xfrm>
            <a:off x="4826000" y="4813300"/>
            <a:ext cx="279400" cy="2794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5</a:t>
            </a:r>
          </a:p>
        </p:txBody>
      </p:sp>
      <p:sp>
        <p:nvSpPr>
          <p:cNvPr id="24" name="TextBox 23"/>
          <p:cNvSpPr txBox="1"/>
          <p:nvPr/>
        </p:nvSpPr>
        <p:spPr>
          <a:xfrm>
            <a:off x="5207000" y="4775200"/>
            <a:ext cx="6362700" cy="635000"/>
          </a:xfrm>
          <a:prstGeom prst="rect">
            <a:avLst/>
          </a:prstGeom>
          <a:noFill/>
        </p:spPr>
        <p:txBody>
          <a:bodyPr wrap="square" lIns="45720" rIns="45720" tIns="12700" bIns="12700" anchor="t">
            <a:spAutoFit/>
          </a:bodyPr>
          <a:lstStyle/>
          <a:p>
            <a:pPr algn="l"/>
            <a:r>
              <a:rPr sz="1500" b="1" i="0">
                <a:solidFill>
                  <a:srgbClr val="13263A"/>
                </a:solidFill>
                <a:latin typeface="Arial"/>
              </a:rPr>
              <a:t>Reused sentence cannot be accepted</a:t>
            </a:r>
          </a:p>
          <a:p>
            <a:pPr algn="l"/>
            <a:r>
              <a:rPr sz="1350" b="0" i="0">
                <a:solidFill>
                  <a:srgbClr val="647080"/>
                </a:solidFill>
                <a:latin typeface="Arial"/>
              </a:rPr>
              <a:t>agree how a new interaction is recorded; no user scope yet</a:t>
            </a:r>
          </a:p>
        </p:txBody>
      </p:sp>
      <p:sp>
        <p:nvSpPr>
          <p:cNvPr id="25" name="Oval 24"/>
          <p:cNvSpPr/>
          <p:nvPr/>
        </p:nvSpPr>
        <p:spPr>
          <a:xfrm>
            <a:off x="4826000" y="5448300"/>
            <a:ext cx="279400" cy="2794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6</a:t>
            </a:r>
          </a:p>
        </p:txBody>
      </p:sp>
      <p:sp>
        <p:nvSpPr>
          <p:cNvPr id="26" name="TextBox 25"/>
          <p:cNvSpPr txBox="1"/>
          <p:nvPr/>
        </p:nvSpPr>
        <p:spPr>
          <a:xfrm>
            <a:off x="5207000" y="5410200"/>
            <a:ext cx="6362700" cy="635000"/>
          </a:xfrm>
          <a:prstGeom prst="rect">
            <a:avLst/>
          </a:prstGeom>
          <a:noFill/>
        </p:spPr>
        <p:txBody>
          <a:bodyPr wrap="square" lIns="45720" rIns="45720" tIns="12700" bIns="12700" anchor="t">
            <a:spAutoFit/>
          </a:bodyPr>
          <a:lstStyle/>
          <a:p>
            <a:pPr algn="l"/>
            <a:r>
              <a:rPr sz="1500" b="1" i="0">
                <a:solidFill>
                  <a:srgbClr val="13263A"/>
                </a:solidFill>
                <a:latin typeface="Arial"/>
              </a:rPr>
              <a:t>Commit format</a:t>
            </a:r>
          </a:p>
          <a:p>
            <a:pPr algn="l"/>
            <a:r>
              <a:rPr sz="1350" b="0" i="0">
                <a:solidFill>
                  <a:srgbClr val="647080"/>
                </a:solidFill>
                <a:latin typeface="Arial"/>
              </a:rPr>
              <a:t>use "W7 - summary; description"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F4F0"/>
        </a:solidFill>
        <a:effectLst/>
      </p:bgPr>
    </p:bg>
    <p:spTree>
      <p:nvGrpSpPr>
        <p:cNvPr id="1" name=""/>
        <p:cNvGrpSpPr/>
        <p:nvPr/>
      </p:nvGrpSpPr>
      <p:grpSpPr/>
      <p:sp>
        <p:nvSpPr>
          <p:cNvPr id="2" name="TextBox 1"/>
          <p:cNvSpPr txBox="1"/>
          <p:nvPr/>
        </p:nvSpPr>
        <p:spPr>
          <a:xfrm>
            <a:off x="609600" y="457200"/>
            <a:ext cx="10960100" cy="558800"/>
          </a:xfrm>
          <a:prstGeom prst="rect">
            <a:avLst/>
          </a:prstGeom>
          <a:noFill/>
        </p:spPr>
        <p:txBody>
          <a:bodyPr wrap="square" lIns="45720" rIns="45720" tIns="12700" bIns="12700" anchor="ctr">
            <a:spAutoFit/>
          </a:bodyPr>
          <a:lstStyle/>
          <a:p>
            <a:pPr algn="l"/>
            <a:r>
              <a:rPr sz="3300" b="1" i="0">
                <a:solidFill>
                  <a:srgbClr val="13263A"/>
                </a:solidFill>
                <a:latin typeface="Arial"/>
              </a:rPr>
              <a:t>SRS v0.3: the version for peer review</a:t>
            </a:r>
          </a:p>
        </p:txBody>
      </p:sp>
      <p:sp>
        <p:nvSpPr>
          <p:cNvPr id="3" name="TextBox 2"/>
          <p:cNvSpPr txBox="1"/>
          <p:nvPr/>
        </p:nvSpPr>
        <p:spPr>
          <a:xfrm>
            <a:off x="635000" y="1219200"/>
            <a:ext cx="10566400" cy="330200"/>
          </a:xfrm>
          <a:prstGeom prst="rect">
            <a:avLst/>
          </a:prstGeom>
          <a:noFill/>
        </p:spPr>
        <p:txBody>
          <a:bodyPr wrap="square" lIns="45720" rIns="45720" tIns="12700" bIns="12700" anchor="t">
            <a:spAutoFit/>
          </a:bodyPr>
          <a:lstStyle/>
          <a:p>
            <a:pPr algn="l"/>
            <a:r>
              <a:rPr sz="1800" b="0" i="0">
                <a:solidFill>
                  <a:srgbClr val="647080"/>
                </a:solidFill>
                <a:latin typeface="Arial"/>
              </a:rPr>
              <a:t>01  Technical progress  ·  review draft by Abid, 27 October, based on v0.2</a:t>
            </a:r>
          </a:p>
        </p:txBody>
      </p:sp>
      <p:sp>
        <p:nvSpPr>
          <p:cNvPr id="4" name="TextBox 3"/>
          <p:cNvSpPr txBox="1"/>
          <p:nvPr/>
        </p:nvSpPr>
        <p:spPr>
          <a:xfrm>
            <a:off x="11049000" y="6248400"/>
            <a:ext cx="533400" cy="279400"/>
          </a:xfrm>
          <a:prstGeom prst="rect">
            <a:avLst/>
          </a:prstGeom>
          <a:noFill/>
        </p:spPr>
        <p:txBody>
          <a:bodyPr wrap="square" lIns="45720" rIns="45720" tIns="12700" bIns="12700" anchor="t">
            <a:spAutoFit/>
          </a:bodyPr>
          <a:lstStyle/>
          <a:p>
            <a:pPr algn="l"/>
            <a:r>
              <a:rPr sz="1350" b="0" i="0">
                <a:solidFill>
                  <a:srgbClr val="647080"/>
                </a:solidFill>
                <a:latin typeface="Arial"/>
              </a:rPr>
              <a:t>06</a:t>
            </a:r>
          </a:p>
        </p:txBody>
      </p:sp>
      <p:sp>
        <p:nvSpPr>
          <p:cNvPr id="5" name="Rectangle 4"/>
          <p:cNvSpPr/>
          <p:nvPr/>
        </p:nvSpPr>
        <p:spPr>
          <a:xfrm>
            <a:off x="635000" y="1778000"/>
            <a:ext cx="2603500" cy="1778000"/>
          </a:xfrm>
          <a:prstGeom prst="rect">
            <a:avLst/>
          </a:prstGeom>
          <a:solidFill>
            <a:srgbClr val="13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1879600"/>
            <a:ext cx="2349500" cy="584200"/>
          </a:xfrm>
          <a:prstGeom prst="rect">
            <a:avLst/>
          </a:prstGeom>
          <a:noFill/>
        </p:spPr>
        <p:txBody>
          <a:bodyPr wrap="square" lIns="45720" rIns="45720" tIns="12700" bIns="12700" anchor="t">
            <a:spAutoFit/>
          </a:bodyPr>
          <a:lstStyle/>
          <a:p>
            <a:pPr algn="l"/>
            <a:r>
              <a:rPr sz="3400" b="1" i="0">
                <a:solidFill>
                  <a:srgbClr val="FFFFFF"/>
                </a:solidFill>
                <a:latin typeface="Arial"/>
              </a:rPr>
              <a:t>45</a:t>
            </a:r>
          </a:p>
        </p:txBody>
      </p:sp>
      <p:sp>
        <p:nvSpPr>
          <p:cNvPr id="7" name="TextBox 6"/>
          <p:cNvSpPr txBox="1"/>
          <p:nvPr/>
        </p:nvSpPr>
        <p:spPr>
          <a:xfrm>
            <a:off x="762000" y="2438400"/>
            <a:ext cx="2349500" cy="1041400"/>
          </a:xfrm>
          <a:prstGeom prst="rect">
            <a:avLst/>
          </a:prstGeom>
          <a:noFill/>
        </p:spPr>
        <p:txBody>
          <a:bodyPr wrap="square" lIns="45720" rIns="45720" tIns="12700" bIns="12700" anchor="t">
            <a:spAutoFit/>
          </a:bodyPr>
          <a:lstStyle/>
          <a:p>
            <a:pPr algn="l"/>
            <a:r>
              <a:rPr sz="1350" b="0" i="0">
                <a:solidFill>
                  <a:srgbClr val="D5DCE8"/>
                </a:solidFill>
                <a:latin typeface="Arial"/>
              </a:rPr>
              <a:t>requirements in 16 families, same IDs as v0.2</a:t>
            </a:r>
          </a:p>
        </p:txBody>
      </p:sp>
      <p:sp>
        <p:nvSpPr>
          <p:cNvPr id="8" name="Rectangle 7"/>
          <p:cNvSpPr/>
          <p:nvPr/>
        </p:nvSpPr>
        <p:spPr>
          <a:xfrm>
            <a:off x="3378200" y="1778000"/>
            <a:ext cx="2603500" cy="17780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05200" y="1879600"/>
            <a:ext cx="2349500" cy="584200"/>
          </a:xfrm>
          <a:prstGeom prst="rect">
            <a:avLst/>
          </a:prstGeom>
          <a:noFill/>
        </p:spPr>
        <p:txBody>
          <a:bodyPr wrap="square" lIns="45720" rIns="45720" tIns="12700" bIns="12700" anchor="t">
            <a:spAutoFit/>
          </a:bodyPr>
          <a:lstStyle/>
          <a:p>
            <a:pPr algn="l"/>
            <a:r>
              <a:rPr sz="3400" b="1" i="0">
                <a:solidFill>
                  <a:srgbClr val="255CF0"/>
                </a:solidFill>
                <a:latin typeface="Arial"/>
              </a:rPr>
              <a:t>48</a:t>
            </a:r>
          </a:p>
        </p:txBody>
      </p:sp>
      <p:sp>
        <p:nvSpPr>
          <p:cNvPr id="10" name="TextBox 9"/>
          <p:cNvSpPr txBox="1"/>
          <p:nvPr/>
        </p:nvSpPr>
        <p:spPr>
          <a:xfrm>
            <a:off x="3505200" y="2438400"/>
            <a:ext cx="2349500" cy="1041400"/>
          </a:xfrm>
          <a:prstGeom prst="rect">
            <a:avLst/>
          </a:prstGeom>
          <a:noFill/>
        </p:spPr>
        <p:txBody>
          <a:bodyPr wrap="square" lIns="45720" rIns="45720" tIns="12700" bIns="12700" anchor="t">
            <a:spAutoFit/>
          </a:bodyPr>
          <a:lstStyle/>
          <a:p>
            <a:pPr algn="l"/>
            <a:r>
              <a:rPr sz="1350" b="0" i="0">
                <a:solidFill>
                  <a:srgbClr val="647080"/>
                </a:solidFill>
                <a:latin typeface="Arial"/>
              </a:rPr>
              <a:t>pages: 5 chapters and appendixes A to G</a:t>
            </a:r>
          </a:p>
        </p:txBody>
      </p:sp>
      <p:sp>
        <p:nvSpPr>
          <p:cNvPr id="11" name="Rectangle 10"/>
          <p:cNvSpPr/>
          <p:nvPr/>
        </p:nvSpPr>
        <p:spPr>
          <a:xfrm>
            <a:off x="635000" y="3746500"/>
            <a:ext cx="2603500" cy="17780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3848100"/>
            <a:ext cx="2349500" cy="584200"/>
          </a:xfrm>
          <a:prstGeom prst="rect">
            <a:avLst/>
          </a:prstGeom>
          <a:noFill/>
        </p:spPr>
        <p:txBody>
          <a:bodyPr wrap="square" lIns="45720" rIns="45720" tIns="12700" bIns="12700" anchor="t">
            <a:spAutoFit/>
          </a:bodyPr>
          <a:lstStyle/>
          <a:p>
            <a:pPr algn="l"/>
            <a:r>
              <a:rPr sz="3400" b="1" i="0">
                <a:solidFill>
                  <a:srgbClr val="255CF0"/>
                </a:solidFill>
                <a:latin typeface="Arial"/>
              </a:rPr>
              <a:t>7</a:t>
            </a:r>
          </a:p>
        </p:txBody>
      </p:sp>
      <p:sp>
        <p:nvSpPr>
          <p:cNvPr id="13" name="TextBox 12"/>
          <p:cNvSpPr txBox="1"/>
          <p:nvPr/>
        </p:nvSpPr>
        <p:spPr>
          <a:xfrm>
            <a:off x="762000" y="4406900"/>
            <a:ext cx="2349500" cy="1041400"/>
          </a:xfrm>
          <a:prstGeom prst="rect">
            <a:avLst/>
          </a:prstGeom>
          <a:noFill/>
        </p:spPr>
        <p:txBody>
          <a:bodyPr wrap="square" lIns="45720" rIns="45720" tIns="12700" bIns="12700" anchor="t">
            <a:spAutoFit/>
          </a:bodyPr>
          <a:lstStyle/>
          <a:p>
            <a:pPr algn="l"/>
            <a:r>
              <a:rPr sz="1350" b="0" i="0">
                <a:solidFill>
                  <a:srgbClr val="647080"/>
                </a:solidFill>
                <a:latin typeface="Arial"/>
              </a:rPr>
              <a:t>figures: WBS, use case, activity, architecture and 3 screenshots</a:t>
            </a:r>
          </a:p>
        </p:txBody>
      </p:sp>
      <p:sp>
        <p:nvSpPr>
          <p:cNvPr id="14" name="Rectangle 13"/>
          <p:cNvSpPr/>
          <p:nvPr/>
        </p:nvSpPr>
        <p:spPr>
          <a:xfrm>
            <a:off x="3378200" y="3746500"/>
            <a:ext cx="2603500" cy="17780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05200" y="3848100"/>
            <a:ext cx="2349500" cy="584200"/>
          </a:xfrm>
          <a:prstGeom prst="rect">
            <a:avLst/>
          </a:prstGeom>
          <a:noFill/>
        </p:spPr>
        <p:txBody>
          <a:bodyPr wrap="square" lIns="45720" rIns="45720" tIns="12700" bIns="12700" anchor="t">
            <a:spAutoFit/>
          </a:bodyPr>
          <a:lstStyle/>
          <a:p>
            <a:pPr algn="l"/>
            <a:r>
              <a:rPr sz="3400" b="1" i="0">
                <a:solidFill>
                  <a:srgbClr val="255CF0"/>
                </a:solidFill>
                <a:latin typeface="Arial"/>
              </a:rPr>
              <a:t>60</a:t>
            </a:r>
          </a:p>
        </p:txBody>
      </p:sp>
      <p:sp>
        <p:nvSpPr>
          <p:cNvPr id="16" name="TextBox 15"/>
          <p:cNvSpPr txBox="1"/>
          <p:nvPr/>
        </p:nvSpPr>
        <p:spPr>
          <a:xfrm>
            <a:off x="3505200" y="4406900"/>
            <a:ext cx="2349500" cy="1041400"/>
          </a:xfrm>
          <a:prstGeom prst="rect">
            <a:avLst/>
          </a:prstGeom>
          <a:noFill/>
        </p:spPr>
        <p:txBody>
          <a:bodyPr wrap="square" lIns="45720" rIns="45720" tIns="12700" bIns="12700" anchor="t">
            <a:spAutoFit/>
          </a:bodyPr>
          <a:lstStyle/>
          <a:p>
            <a:pPr algn="l"/>
            <a:r>
              <a:rPr sz="1350" b="0" i="0">
                <a:solidFill>
                  <a:srgbClr val="647080"/>
                </a:solidFill>
                <a:latin typeface="Arial"/>
              </a:rPr>
              <a:t>tables, 45 of them one per requirement</a:t>
            </a:r>
          </a:p>
        </p:txBody>
      </p:sp>
      <p:sp>
        <p:nvSpPr>
          <p:cNvPr id="17" name="TextBox 16"/>
          <p:cNvSpPr txBox="1"/>
          <p:nvPr/>
        </p:nvSpPr>
        <p:spPr>
          <a:xfrm>
            <a:off x="6261100" y="1778000"/>
            <a:ext cx="5308600" cy="368300"/>
          </a:xfrm>
          <a:prstGeom prst="rect">
            <a:avLst/>
          </a:prstGeom>
          <a:noFill/>
        </p:spPr>
        <p:txBody>
          <a:bodyPr wrap="square" lIns="45720" rIns="45720" tIns="12700" bIns="12700" anchor="t">
            <a:spAutoFit/>
          </a:bodyPr>
          <a:lstStyle/>
          <a:p>
            <a:pPr algn="l"/>
            <a:r>
              <a:rPr sz="1650" b="1" i="0">
                <a:solidFill>
                  <a:srgbClr val="255CF0"/>
                </a:solidFill>
                <a:latin typeface="Arial"/>
              </a:rPr>
              <a:t>EVERY REQUIREMENT STATES</a:t>
            </a:r>
          </a:p>
        </p:txBody>
      </p:sp>
      <p:sp>
        <p:nvSpPr>
          <p:cNvPr id="18" name="TextBox 17"/>
          <p:cNvSpPr txBox="1"/>
          <p:nvPr/>
        </p:nvSpPr>
        <p:spPr>
          <a:xfrm>
            <a:off x="6261100" y="22352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19" name="TextBox 18"/>
          <p:cNvSpPr txBox="1"/>
          <p:nvPr/>
        </p:nvSpPr>
        <p:spPr>
          <a:xfrm>
            <a:off x="6616700" y="2235200"/>
            <a:ext cx="4953000" cy="431800"/>
          </a:xfrm>
          <a:prstGeom prst="rect">
            <a:avLst/>
          </a:prstGeom>
          <a:noFill/>
        </p:spPr>
        <p:txBody>
          <a:bodyPr wrap="square" lIns="45720" rIns="45720" tIns="12700" bIns="12700" anchor="t">
            <a:spAutoFit/>
          </a:bodyPr>
          <a:lstStyle/>
          <a:p>
            <a:pPr algn="l"/>
            <a:r>
              <a:rPr sz="1500" b="1" i="0">
                <a:solidFill>
                  <a:srgbClr val="13263A"/>
                </a:solidFill>
                <a:latin typeface="Arial"/>
              </a:rPr>
              <a:t>Statement</a:t>
            </a:r>
            <a:r>
              <a:rPr sz="1400" b="0" i="0">
                <a:solidFill>
                  <a:srgbClr val="13263A"/>
                </a:solidFill>
                <a:latin typeface="Arial"/>
              </a:rPr>
              <a:t>  </a:t>
            </a:r>
            <a:r>
              <a:rPr sz="1350" b="0" i="0">
                <a:solidFill>
                  <a:srgbClr val="647080"/>
                </a:solidFill>
                <a:latin typeface="Arial"/>
              </a:rPr>
              <a:t>what the system shall do</a:t>
            </a:r>
          </a:p>
        </p:txBody>
      </p:sp>
      <p:sp>
        <p:nvSpPr>
          <p:cNvPr id="20" name="TextBox 19"/>
          <p:cNvSpPr txBox="1"/>
          <p:nvPr/>
        </p:nvSpPr>
        <p:spPr>
          <a:xfrm>
            <a:off x="6261100" y="27051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21" name="TextBox 20"/>
          <p:cNvSpPr txBox="1"/>
          <p:nvPr/>
        </p:nvSpPr>
        <p:spPr>
          <a:xfrm>
            <a:off x="6616700" y="2705100"/>
            <a:ext cx="4953000" cy="431800"/>
          </a:xfrm>
          <a:prstGeom prst="rect">
            <a:avLst/>
          </a:prstGeom>
          <a:noFill/>
        </p:spPr>
        <p:txBody>
          <a:bodyPr wrap="square" lIns="45720" rIns="45720" tIns="12700" bIns="12700" anchor="t">
            <a:spAutoFit/>
          </a:bodyPr>
          <a:lstStyle/>
          <a:p>
            <a:pPr algn="l"/>
            <a:r>
              <a:rPr sz="1500" b="1" i="0">
                <a:solidFill>
                  <a:srgbClr val="13263A"/>
                </a:solidFill>
                <a:latin typeface="Arial"/>
              </a:rPr>
              <a:t>Acceptance criteria</a:t>
            </a:r>
            <a:r>
              <a:rPr sz="1400" b="0" i="0">
                <a:solidFill>
                  <a:srgbClr val="13263A"/>
                </a:solidFill>
                <a:latin typeface="Arial"/>
              </a:rPr>
              <a:t>  </a:t>
            </a:r>
            <a:r>
              <a:rPr sz="1350" b="0" i="0">
                <a:solidFill>
                  <a:srgbClr val="647080"/>
                </a:solidFill>
                <a:latin typeface="Arial"/>
              </a:rPr>
              <a:t>the check that decides pass or fail</a:t>
            </a:r>
          </a:p>
        </p:txBody>
      </p:sp>
      <p:sp>
        <p:nvSpPr>
          <p:cNvPr id="22" name="TextBox 21"/>
          <p:cNvSpPr txBox="1"/>
          <p:nvPr/>
        </p:nvSpPr>
        <p:spPr>
          <a:xfrm>
            <a:off x="6261100" y="31750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23" name="TextBox 22"/>
          <p:cNvSpPr txBox="1"/>
          <p:nvPr/>
        </p:nvSpPr>
        <p:spPr>
          <a:xfrm>
            <a:off x="6616700" y="3175000"/>
            <a:ext cx="4953000" cy="431800"/>
          </a:xfrm>
          <a:prstGeom prst="rect">
            <a:avLst/>
          </a:prstGeom>
          <a:noFill/>
        </p:spPr>
        <p:txBody>
          <a:bodyPr wrap="square" lIns="45720" rIns="45720" tIns="12700" bIns="12700" anchor="t">
            <a:spAutoFit/>
          </a:bodyPr>
          <a:lstStyle/>
          <a:p>
            <a:pPr algn="l"/>
            <a:r>
              <a:rPr sz="1500" b="1" i="0">
                <a:solidFill>
                  <a:srgbClr val="13263A"/>
                </a:solidFill>
                <a:latin typeface="Arial"/>
              </a:rPr>
              <a:t>Verification method</a:t>
            </a:r>
            <a:r>
              <a:rPr sz="1400" b="0" i="0">
                <a:solidFill>
                  <a:srgbClr val="13263A"/>
                </a:solidFill>
                <a:latin typeface="Arial"/>
              </a:rPr>
              <a:t>  </a:t>
            </a:r>
            <a:r>
              <a:rPr sz="1350" b="0" i="0">
                <a:solidFill>
                  <a:srgbClr val="647080"/>
                </a:solidFill>
                <a:latin typeface="Arial"/>
              </a:rPr>
              <a:t>test, demonstration, inspection or analysis</a:t>
            </a:r>
          </a:p>
        </p:txBody>
      </p:sp>
      <p:sp>
        <p:nvSpPr>
          <p:cNvPr id="24" name="TextBox 23"/>
          <p:cNvSpPr txBox="1"/>
          <p:nvPr/>
        </p:nvSpPr>
        <p:spPr>
          <a:xfrm>
            <a:off x="6261100" y="36449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25" name="TextBox 24"/>
          <p:cNvSpPr txBox="1"/>
          <p:nvPr/>
        </p:nvSpPr>
        <p:spPr>
          <a:xfrm>
            <a:off x="6616700" y="3644900"/>
            <a:ext cx="4953000" cy="431800"/>
          </a:xfrm>
          <a:prstGeom prst="rect">
            <a:avLst/>
          </a:prstGeom>
          <a:noFill/>
        </p:spPr>
        <p:txBody>
          <a:bodyPr wrap="square" lIns="45720" rIns="45720" tIns="12700" bIns="12700" anchor="t">
            <a:spAutoFit/>
          </a:bodyPr>
          <a:lstStyle/>
          <a:p>
            <a:pPr algn="l"/>
            <a:r>
              <a:rPr sz="1500" b="1" i="0">
                <a:solidFill>
                  <a:srgbClr val="13263A"/>
                </a:solidFill>
                <a:latin typeface="Arial"/>
              </a:rPr>
              <a:t>Evidence / status</a:t>
            </a:r>
            <a:r>
              <a:rPr sz="1400" b="0" i="0">
                <a:solidFill>
                  <a:srgbClr val="13263A"/>
                </a:solidFill>
                <a:latin typeface="Arial"/>
              </a:rPr>
              <a:t>  </a:t>
            </a:r>
            <a:r>
              <a:rPr sz="1350" b="0" i="0">
                <a:solidFill>
                  <a:srgbClr val="647080"/>
                </a:solidFill>
                <a:latin typeface="Arial"/>
              </a:rPr>
              <a:t>what has been shown so far</a:t>
            </a:r>
          </a:p>
        </p:txBody>
      </p:sp>
      <p:sp>
        <p:nvSpPr>
          <p:cNvPr id="26" name="TextBox 25"/>
          <p:cNvSpPr txBox="1"/>
          <p:nvPr/>
        </p:nvSpPr>
        <p:spPr>
          <a:xfrm>
            <a:off x="6261100" y="41148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27" name="TextBox 26"/>
          <p:cNvSpPr txBox="1"/>
          <p:nvPr/>
        </p:nvSpPr>
        <p:spPr>
          <a:xfrm>
            <a:off x="6616700" y="4114800"/>
            <a:ext cx="4953000" cy="431800"/>
          </a:xfrm>
          <a:prstGeom prst="rect">
            <a:avLst/>
          </a:prstGeom>
          <a:noFill/>
        </p:spPr>
        <p:txBody>
          <a:bodyPr wrap="square" lIns="45720" rIns="45720" tIns="12700" bIns="12700" anchor="t">
            <a:spAutoFit/>
          </a:bodyPr>
          <a:lstStyle/>
          <a:p>
            <a:pPr algn="l"/>
            <a:r>
              <a:rPr sz="1500" b="1" i="0">
                <a:solidFill>
                  <a:srgbClr val="13263A"/>
                </a:solidFill>
                <a:latin typeface="Arial"/>
              </a:rPr>
              <a:t>Owner</a:t>
            </a:r>
            <a:r>
              <a:rPr sz="1400" b="0" i="0">
                <a:solidFill>
                  <a:srgbClr val="13263A"/>
                </a:solidFill>
                <a:latin typeface="Arial"/>
              </a:rPr>
              <a:t>  </a:t>
            </a:r>
            <a:r>
              <a:rPr sz="1350" b="0" i="0">
                <a:solidFill>
                  <a:srgbClr val="647080"/>
                </a:solidFill>
                <a:latin typeface="Arial"/>
              </a:rPr>
              <a:t>who answers for it (new in v0.3)</a:t>
            </a:r>
          </a:p>
        </p:txBody>
      </p:sp>
      <p:sp>
        <p:nvSpPr>
          <p:cNvPr id="28" name="TextBox 27"/>
          <p:cNvSpPr txBox="1"/>
          <p:nvPr/>
        </p:nvSpPr>
        <p:spPr>
          <a:xfrm>
            <a:off x="6261100" y="4724400"/>
            <a:ext cx="5308600" cy="368300"/>
          </a:xfrm>
          <a:prstGeom prst="rect">
            <a:avLst/>
          </a:prstGeom>
          <a:noFill/>
        </p:spPr>
        <p:txBody>
          <a:bodyPr wrap="square" lIns="45720" rIns="45720" tIns="12700" bIns="12700" anchor="t">
            <a:spAutoFit/>
          </a:bodyPr>
          <a:lstStyle/>
          <a:p>
            <a:pPr algn="l"/>
            <a:r>
              <a:rPr sz="1650" b="1" i="0">
                <a:solidFill>
                  <a:srgbClr val="255CF0"/>
                </a:solidFill>
                <a:latin typeface="Arial"/>
              </a:rPr>
              <a:t>STRUCTURE</a:t>
            </a:r>
          </a:p>
        </p:txBody>
      </p:sp>
      <p:sp>
        <p:nvSpPr>
          <p:cNvPr id="29" name="TextBox 28"/>
          <p:cNvSpPr txBox="1"/>
          <p:nvPr/>
        </p:nvSpPr>
        <p:spPr>
          <a:xfrm>
            <a:off x="6261100" y="5080000"/>
            <a:ext cx="5308600" cy="952500"/>
          </a:xfrm>
          <a:prstGeom prst="rect">
            <a:avLst/>
          </a:prstGeom>
          <a:noFill/>
        </p:spPr>
        <p:txBody>
          <a:bodyPr wrap="square" lIns="45720" rIns="45720" tIns="12700" bIns="12700" anchor="t">
            <a:spAutoFit/>
          </a:bodyPr>
          <a:lstStyle/>
          <a:p>
            <a:pPr algn="l">
              <a:spcAft>
                <a:spcPts val="400"/>
              </a:spcAft>
            </a:pPr>
            <a:r>
              <a:rPr sz="1400" b="1" i="0">
                <a:solidFill>
                  <a:srgbClr val="255CF0"/>
                </a:solidFill>
                <a:latin typeface="Arial"/>
              </a:rPr>
              <a:t>1 </a:t>
            </a:r>
            <a:r>
              <a:rPr sz="1400" b="0" i="0">
                <a:solidFill>
                  <a:srgbClr val="13263A"/>
                </a:solidFill>
                <a:latin typeface="Arial"/>
              </a:rPr>
              <a:t>Introduction   </a:t>
            </a:r>
            <a:r>
              <a:rPr sz="1400" b="1" i="0">
                <a:solidFill>
                  <a:srgbClr val="255CF0"/>
                </a:solidFill>
                <a:latin typeface="Arial"/>
              </a:rPr>
              <a:t>2 </a:t>
            </a:r>
            <a:r>
              <a:rPr sz="1400" b="0" i="0">
                <a:solidFill>
                  <a:srgbClr val="13263A"/>
                </a:solidFill>
                <a:latin typeface="Arial"/>
              </a:rPr>
              <a:t>Product overview   </a:t>
            </a:r>
            <a:r>
              <a:rPr sz="1400" b="1" i="0">
                <a:solidFill>
                  <a:srgbClr val="255CF0"/>
                </a:solidFill>
                <a:latin typeface="Arial"/>
              </a:rPr>
              <a:t>3 </a:t>
            </a:r>
            <a:r>
              <a:rPr sz="1400" b="0" i="0">
                <a:solidFill>
                  <a:srgbClr val="13263A"/>
                </a:solidFill>
                <a:latin typeface="Arial"/>
              </a:rPr>
              <a:t>Requirements</a:t>
            </a:r>
          </a:p>
          <a:p>
            <a:pPr algn="l">
              <a:spcAft>
                <a:spcPts val="400"/>
              </a:spcAft>
            </a:pPr>
            <a:r>
              <a:rPr sz="1400" b="1" i="0">
                <a:solidFill>
                  <a:srgbClr val="255CF0"/>
                </a:solidFill>
                <a:latin typeface="Arial"/>
              </a:rPr>
              <a:t>4 </a:t>
            </a:r>
            <a:r>
              <a:rPr sz="1400" b="0" i="0">
                <a:solidFill>
                  <a:srgbClr val="13263A"/>
                </a:solidFill>
                <a:latin typeface="Arial"/>
              </a:rPr>
              <a:t>Verification   </a:t>
            </a:r>
            <a:r>
              <a:rPr sz="1400" b="1" i="0">
                <a:solidFill>
                  <a:srgbClr val="255CF0"/>
                </a:solidFill>
                <a:latin typeface="Arial"/>
              </a:rPr>
              <a:t>5 </a:t>
            </a:r>
            <a:r>
              <a:rPr sz="1400" b="0" i="0">
                <a:solidFill>
                  <a:srgbClr val="13263A"/>
                </a:solidFill>
                <a:latin typeface="Arial"/>
              </a:rPr>
              <a:t>Appendixes: scenario, open decisions, screenshots, architecture, contributions, literature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4F0"/>
        </a:solidFill>
        <a:effectLst/>
      </p:bgPr>
    </p:bg>
    <p:spTree>
      <p:nvGrpSpPr>
        <p:cNvPr id="1" name=""/>
        <p:cNvGrpSpPr/>
        <p:nvPr/>
      </p:nvGrpSpPr>
      <p:grpSpPr/>
      <p:sp>
        <p:nvSpPr>
          <p:cNvPr id="2" name="TextBox 1"/>
          <p:cNvSpPr txBox="1"/>
          <p:nvPr/>
        </p:nvSpPr>
        <p:spPr>
          <a:xfrm>
            <a:off x="609600" y="457200"/>
            <a:ext cx="10960100" cy="558800"/>
          </a:xfrm>
          <a:prstGeom prst="rect">
            <a:avLst/>
          </a:prstGeom>
          <a:noFill/>
        </p:spPr>
        <p:txBody>
          <a:bodyPr wrap="square" lIns="45720" rIns="45720" tIns="12700" bIns="12700" anchor="ctr">
            <a:spAutoFit/>
          </a:bodyPr>
          <a:lstStyle/>
          <a:p>
            <a:pPr algn="l"/>
            <a:r>
              <a:rPr sz="3300" b="1" i="0">
                <a:solidFill>
                  <a:srgbClr val="13263A"/>
                </a:solidFill>
                <a:latin typeface="Arial"/>
              </a:rPr>
              <a:t>SRS v0.3: 45 requirements, who owns them</a:t>
            </a:r>
          </a:p>
        </p:txBody>
      </p:sp>
      <p:sp>
        <p:nvSpPr>
          <p:cNvPr id="3" name="TextBox 2"/>
          <p:cNvSpPr txBox="1"/>
          <p:nvPr/>
        </p:nvSpPr>
        <p:spPr>
          <a:xfrm>
            <a:off x="635000" y="1219200"/>
            <a:ext cx="10566400" cy="330200"/>
          </a:xfrm>
          <a:prstGeom prst="rect">
            <a:avLst/>
          </a:prstGeom>
          <a:noFill/>
        </p:spPr>
        <p:txBody>
          <a:bodyPr wrap="square" lIns="45720" rIns="45720" tIns="12700" bIns="12700" anchor="t">
            <a:spAutoFit/>
          </a:bodyPr>
          <a:lstStyle/>
          <a:p>
            <a:pPr algn="l"/>
            <a:r>
              <a:rPr sz="1800" b="0" i="0">
                <a:solidFill>
                  <a:srgbClr val="647080"/>
                </a:solidFill>
                <a:latin typeface="Arial"/>
              </a:rPr>
              <a:t>01  Technical progress  ·  counted from the requirement tables of v0.3</a:t>
            </a:r>
          </a:p>
        </p:txBody>
      </p:sp>
      <p:sp>
        <p:nvSpPr>
          <p:cNvPr id="4" name="TextBox 3"/>
          <p:cNvSpPr txBox="1"/>
          <p:nvPr/>
        </p:nvSpPr>
        <p:spPr>
          <a:xfrm>
            <a:off x="11049000" y="6248400"/>
            <a:ext cx="533400" cy="279400"/>
          </a:xfrm>
          <a:prstGeom prst="rect">
            <a:avLst/>
          </a:prstGeom>
          <a:noFill/>
        </p:spPr>
        <p:txBody>
          <a:bodyPr wrap="square" lIns="45720" rIns="45720" tIns="12700" bIns="12700" anchor="t">
            <a:spAutoFit/>
          </a:bodyPr>
          <a:lstStyle/>
          <a:p>
            <a:pPr algn="l"/>
            <a:r>
              <a:rPr sz="1350" b="0" i="0">
                <a:solidFill>
                  <a:srgbClr val="647080"/>
                </a:solidFill>
                <a:latin typeface="Arial"/>
              </a:rPr>
              <a:t>07</a:t>
            </a:r>
          </a:p>
        </p:txBody>
      </p:sp>
      <p:sp>
        <p:nvSpPr>
          <p:cNvPr id="5" name="TextBox 4"/>
          <p:cNvSpPr txBox="1"/>
          <p:nvPr/>
        </p:nvSpPr>
        <p:spPr>
          <a:xfrm>
            <a:off x="635000" y="1778000"/>
            <a:ext cx="5334000" cy="368300"/>
          </a:xfrm>
          <a:prstGeom prst="rect">
            <a:avLst/>
          </a:prstGeom>
          <a:noFill/>
        </p:spPr>
        <p:txBody>
          <a:bodyPr wrap="square" lIns="45720" rIns="45720" tIns="12700" bIns="12700" anchor="t">
            <a:spAutoFit/>
          </a:bodyPr>
          <a:lstStyle/>
          <a:p>
            <a:pPr algn="l"/>
            <a:r>
              <a:rPr sz="1650" b="1" i="0">
                <a:solidFill>
                  <a:srgbClr val="255CF0"/>
                </a:solidFill>
                <a:latin typeface="Arial"/>
              </a:rPr>
              <a:t>REQUIREMENTS PER FAMILY</a:t>
            </a:r>
          </a:p>
        </p:txBody>
      </p:sp>
      <p:sp>
        <p:nvSpPr>
          <p:cNvPr id="6" name="TextBox 5"/>
          <p:cNvSpPr txBox="1"/>
          <p:nvPr/>
        </p:nvSpPr>
        <p:spPr>
          <a:xfrm>
            <a:off x="635000" y="2260600"/>
            <a:ext cx="1905000" cy="431800"/>
          </a:xfrm>
          <a:prstGeom prst="rect">
            <a:avLst/>
          </a:prstGeom>
          <a:noFill/>
        </p:spPr>
        <p:txBody>
          <a:bodyPr wrap="square" lIns="45720" rIns="45720" tIns="12700" bIns="12700" anchor="t">
            <a:spAutoFit/>
          </a:bodyPr>
          <a:lstStyle/>
          <a:p>
            <a:pPr algn="l">
              <a:lnSpc>
                <a:spcPct val="95000"/>
              </a:lnSpc>
            </a:pPr>
            <a:r>
              <a:rPr sz="1400" b="1" i="0">
                <a:solidFill>
                  <a:srgbClr val="13263A"/>
                </a:solidFill>
                <a:latin typeface="Arial"/>
              </a:rPr>
              <a:t>FUNC</a:t>
            </a:r>
          </a:p>
          <a:p>
            <a:pPr algn="l">
              <a:lnSpc>
                <a:spcPct val="95000"/>
              </a:lnSpc>
            </a:pPr>
            <a:r>
              <a:rPr sz="1200" b="0" i="0">
                <a:solidFill>
                  <a:srgbClr val="647080"/>
                </a:solidFill>
                <a:latin typeface="Arial"/>
              </a:rPr>
              <a:t>Functional</a:t>
            </a:r>
          </a:p>
        </p:txBody>
      </p:sp>
      <p:sp>
        <p:nvSpPr>
          <p:cNvPr id="7" name="Rectangle 6"/>
          <p:cNvSpPr/>
          <p:nvPr/>
        </p:nvSpPr>
        <p:spPr>
          <a:xfrm>
            <a:off x="2603500" y="2336800"/>
            <a:ext cx="2603500" cy="279400"/>
          </a:xfrm>
          <a:prstGeom prst="rect">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257800" y="2311400"/>
            <a:ext cx="508000" cy="330200"/>
          </a:xfrm>
          <a:prstGeom prst="rect">
            <a:avLst/>
          </a:prstGeom>
          <a:noFill/>
        </p:spPr>
        <p:txBody>
          <a:bodyPr wrap="square" lIns="45720" rIns="45720" tIns="12700" bIns="12700" anchor="t">
            <a:spAutoFit/>
          </a:bodyPr>
          <a:lstStyle/>
          <a:p>
            <a:pPr algn="l"/>
            <a:r>
              <a:rPr sz="1500" b="1" i="0">
                <a:solidFill>
                  <a:srgbClr val="13263A"/>
                </a:solidFill>
                <a:latin typeface="Arial"/>
              </a:rPr>
              <a:t>11</a:t>
            </a:r>
          </a:p>
        </p:txBody>
      </p:sp>
      <p:sp>
        <p:nvSpPr>
          <p:cNvPr id="9" name="TextBox 8"/>
          <p:cNvSpPr txBox="1"/>
          <p:nvPr/>
        </p:nvSpPr>
        <p:spPr>
          <a:xfrm>
            <a:off x="635000" y="2781300"/>
            <a:ext cx="1905000" cy="431800"/>
          </a:xfrm>
          <a:prstGeom prst="rect">
            <a:avLst/>
          </a:prstGeom>
          <a:noFill/>
        </p:spPr>
        <p:txBody>
          <a:bodyPr wrap="square" lIns="45720" rIns="45720" tIns="12700" bIns="12700" anchor="t">
            <a:spAutoFit/>
          </a:bodyPr>
          <a:lstStyle/>
          <a:p>
            <a:pPr algn="l">
              <a:lnSpc>
                <a:spcPct val="95000"/>
              </a:lnSpc>
            </a:pPr>
            <a:r>
              <a:rPr sz="1400" b="1" i="0">
                <a:solidFill>
                  <a:srgbClr val="13263A"/>
                </a:solidFill>
                <a:latin typeface="Arial"/>
              </a:rPr>
              <a:t>SEC</a:t>
            </a:r>
          </a:p>
          <a:p>
            <a:pPr algn="l">
              <a:lnSpc>
                <a:spcPct val="95000"/>
              </a:lnSpc>
            </a:pPr>
            <a:r>
              <a:rPr sz="1200" b="0" i="0">
                <a:solidFill>
                  <a:srgbClr val="647080"/>
                </a:solidFill>
                <a:latin typeface="Arial"/>
              </a:rPr>
              <a:t>Security</a:t>
            </a:r>
          </a:p>
        </p:txBody>
      </p:sp>
      <p:sp>
        <p:nvSpPr>
          <p:cNvPr id="10" name="Rectangle 9"/>
          <p:cNvSpPr/>
          <p:nvPr/>
        </p:nvSpPr>
        <p:spPr>
          <a:xfrm>
            <a:off x="2603500" y="2857500"/>
            <a:ext cx="1656772" cy="279400"/>
          </a:xfrm>
          <a:prstGeom prst="rect">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11072" y="2832100"/>
            <a:ext cx="508000" cy="330200"/>
          </a:xfrm>
          <a:prstGeom prst="rect">
            <a:avLst/>
          </a:prstGeom>
          <a:noFill/>
        </p:spPr>
        <p:txBody>
          <a:bodyPr wrap="square" lIns="45720" rIns="45720" tIns="12700" bIns="12700" anchor="t">
            <a:spAutoFit/>
          </a:bodyPr>
          <a:lstStyle/>
          <a:p>
            <a:pPr algn="l"/>
            <a:r>
              <a:rPr sz="1500" b="1" i="0">
                <a:solidFill>
                  <a:srgbClr val="13263A"/>
                </a:solidFill>
                <a:latin typeface="Arial"/>
              </a:rPr>
              <a:t>7</a:t>
            </a:r>
          </a:p>
        </p:txBody>
      </p:sp>
      <p:sp>
        <p:nvSpPr>
          <p:cNvPr id="12" name="TextBox 11"/>
          <p:cNvSpPr txBox="1"/>
          <p:nvPr/>
        </p:nvSpPr>
        <p:spPr>
          <a:xfrm>
            <a:off x="635000" y="3302000"/>
            <a:ext cx="1905000" cy="431800"/>
          </a:xfrm>
          <a:prstGeom prst="rect">
            <a:avLst/>
          </a:prstGeom>
          <a:noFill/>
        </p:spPr>
        <p:txBody>
          <a:bodyPr wrap="square" lIns="45720" rIns="45720" tIns="12700" bIns="12700" anchor="t">
            <a:spAutoFit/>
          </a:bodyPr>
          <a:lstStyle/>
          <a:p>
            <a:pPr algn="l">
              <a:lnSpc>
                <a:spcPct val="95000"/>
              </a:lnSpc>
            </a:pPr>
            <a:r>
              <a:rPr sz="1400" b="1" i="0">
                <a:solidFill>
                  <a:srgbClr val="13263A"/>
                </a:solidFill>
                <a:latin typeface="Arial"/>
              </a:rPr>
              <a:t>INT</a:t>
            </a:r>
          </a:p>
          <a:p>
            <a:pPr algn="l">
              <a:lnSpc>
                <a:spcPct val="95000"/>
              </a:lnSpc>
            </a:pPr>
            <a:r>
              <a:rPr sz="1200" b="0" i="0">
                <a:solidFill>
                  <a:srgbClr val="647080"/>
                </a:solidFill>
                <a:latin typeface="Arial"/>
              </a:rPr>
              <a:t>Interfaces</a:t>
            </a:r>
          </a:p>
        </p:txBody>
      </p:sp>
      <p:sp>
        <p:nvSpPr>
          <p:cNvPr id="13" name="Rectangle 12"/>
          <p:cNvSpPr/>
          <p:nvPr/>
        </p:nvSpPr>
        <p:spPr>
          <a:xfrm>
            <a:off x="2603500" y="3378200"/>
            <a:ext cx="1420090" cy="279400"/>
          </a:xfrm>
          <a:prstGeom prst="rect">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74390" y="3352800"/>
            <a:ext cx="508000" cy="330200"/>
          </a:xfrm>
          <a:prstGeom prst="rect">
            <a:avLst/>
          </a:prstGeom>
          <a:noFill/>
        </p:spPr>
        <p:txBody>
          <a:bodyPr wrap="square" lIns="45720" rIns="45720" tIns="12700" bIns="12700" anchor="t">
            <a:spAutoFit/>
          </a:bodyPr>
          <a:lstStyle/>
          <a:p>
            <a:pPr algn="l"/>
            <a:r>
              <a:rPr sz="1500" b="1" i="0">
                <a:solidFill>
                  <a:srgbClr val="13263A"/>
                </a:solidFill>
                <a:latin typeface="Arial"/>
              </a:rPr>
              <a:t>6</a:t>
            </a:r>
          </a:p>
        </p:txBody>
      </p:sp>
      <p:sp>
        <p:nvSpPr>
          <p:cNvPr id="15" name="TextBox 14"/>
          <p:cNvSpPr txBox="1"/>
          <p:nvPr/>
        </p:nvSpPr>
        <p:spPr>
          <a:xfrm>
            <a:off x="635000" y="3822700"/>
            <a:ext cx="1905000" cy="431800"/>
          </a:xfrm>
          <a:prstGeom prst="rect">
            <a:avLst/>
          </a:prstGeom>
          <a:noFill/>
        </p:spPr>
        <p:txBody>
          <a:bodyPr wrap="square" lIns="45720" rIns="45720" tIns="12700" bIns="12700" anchor="t">
            <a:spAutoFit/>
          </a:bodyPr>
          <a:lstStyle/>
          <a:p>
            <a:pPr algn="l">
              <a:lnSpc>
                <a:spcPct val="95000"/>
              </a:lnSpc>
            </a:pPr>
            <a:r>
              <a:rPr sz="1400" b="1" i="0">
                <a:solidFill>
                  <a:srgbClr val="13263A"/>
                </a:solidFill>
                <a:latin typeface="Arial"/>
              </a:rPr>
              <a:t>ML</a:t>
            </a:r>
          </a:p>
          <a:p>
            <a:pPr algn="l">
              <a:lnSpc>
                <a:spcPct val="95000"/>
              </a:lnSpc>
            </a:pPr>
            <a:r>
              <a:rPr sz="1200" b="0" i="0">
                <a:solidFill>
                  <a:srgbClr val="647080"/>
                </a:solidFill>
                <a:latin typeface="Arial"/>
              </a:rPr>
              <a:t>AI / ML</a:t>
            </a:r>
          </a:p>
        </p:txBody>
      </p:sp>
      <p:sp>
        <p:nvSpPr>
          <p:cNvPr id="16" name="Rectangle 15"/>
          <p:cNvSpPr/>
          <p:nvPr/>
        </p:nvSpPr>
        <p:spPr>
          <a:xfrm>
            <a:off x="2603500" y="3898900"/>
            <a:ext cx="1420090" cy="279400"/>
          </a:xfrm>
          <a:prstGeom prst="rect">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074390" y="3873500"/>
            <a:ext cx="508000" cy="330200"/>
          </a:xfrm>
          <a:prstGeom prst="rect">
            <a:avLst/>
          </a:prstGeom>
          <a:noFill/>
        </p:spPr>
        <p:txBody>
          <a:bodyPr wrap="square" lIns="45720" rIns="45720" tIns="12700" bIns="12700" anchor="t">
            <a:spAutoFit/>
          </a:bodyPr>
          <a:lstStyle/>
          <a:p>
            <a:pPr algn="l"/>
            <a:r>
              <a:rPr sz="1500" b="1" i="0">
                <a:solidFill>
                  <a:srgbClr val="13263A"/>
                </a:solidFill>
                <a:latin typeface="Arial"/>
              </a:rPr>
              <a:t>6</a:t>
            </a:r>
          </a:p>
        </p:txBody>
      </p:sp>
      <p:sp>
        <p:nvSpPr>
          <p:cNvPr id="18" name="TextBox 17"/>
          <p:cNvSpPr txBox="1"/>
          <p:nvPr/>
        </p:nvSpPr>
        <p:spPr>
          <a:xfrm>
            <a:off x="635000" y="4343400"/>
            <a:ext cx="1905000" cy="431800"/>
          </a:xfrm>
          <a:prstGeom prst="rect">
            <a:avLst/>
          </a:prstGeom>
          <a:noFill/>
        </p:spPr>
        <p:txBody>
          <a:bodyPr wrap="square" lIns="45720" rIns="45720" tIns="12700" bIns="12700" anchor="t">
            <a:spAutoFit/>
          </a:bodyPr>
          <a:lstStyle/>
          <a:p>
            <a:pPr algn="l">
              <a:lnSpc>
                <a:spcPct val="95000"/>
              </a:lnSpc>
            </a:pPr>
            <a:r>
              <a:rPr sz="1400" b="1" i="0">
                <a:solidFill>
                  <a:srgbClr val="13263A"/>
                </a:solidFill>
                <a:latin typeface="Arial"/>
              </a:rPr>
              <a:t>REL</a:t>
            </a:r>
          </a:p>
          <a:p>
            <a:pPr algn="l">
              <a:lnSpc>
                <a:spcPct val="95000"/>
              </a:lnSpc>
            </a:pPr>
            <a:r>
              <a:rPr sz="1200" b="0" i="0">
                <a:solidFill>
                  <a:srgbClr val="647080"/>
                </a:solidFill>
                <a:latin typeface="Arial"/>
              </a:rPr>
              <a:t>Reliability</a:t>
            </a:r>
          </a:p>
        </p:txBody>
      </p:sp>
      <p:sp>
        <p:nvSpPr>
          <p:cNvPr id="19" name="Rectangle 18"/>
          <p:cNvSpPr/>
          <p:nvPr/>
        </p:nvSpPr>
        <p:spPr>
          <a:xfrm>
            <a:off x="2603500" y="4419600"/>
            <a:ext cx="710045" cy="279400"/>
          </a:xfrm>
          <a:prstGeom prst="rect">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64345" y="4394200"/>
            <a:ext cx="508000" cy="330200"/>
          </a:xfrm>
          <a:prstGeom prst="rect">
            <a:avLst/>
          </a:prstGeom>
          <a:noFill/>
        </p:spPr>
        <p:txBody>
          <a:bodyPr wrap="square" lIns="45720" rIns="45720" tIns="12700" bIns="12700" anchor="t">
            <a:spAutoFit/>
          </a:bodyPr>
          <a:lstStyle/>
          <a:p>
            <a:pPr algn="l"/>
            <a:r>
              <a:rPr sz="1500" b="1" i="0">
                <a:solidFill>
                  <a:srgbClr val="13263A"/>
                </a:solidFill>
                <a:latin typeface="Arial"/>
              </a:rPr>
              <a:t>3</a:t>
            </a:r>
          </a:p>
        </p:txBody>
      </p:sp>
      <p:sp>
        <p:nvSpPr>
          <p:cNvPr id="21" name="TextBox 20"/>
          <p:cNvSpPr txBox="1"/>
          <p:nvPr/>
        </p:nvSpPr>
        <p:spPr>
          <a:xfrm>
            <a:off x="635000" y="4864100"/>
            <a:ext cx="1905000" cy="431800"/>
          </a:xfrm>
          <a:prstGeom prst="rect">
            <a:avLst/>
          </a:prstGeom>
          <a:noFill/>
        </p:spPr>
        <p:txBody>
          <a:bodyPr wrap="square" lIns="45720" rIns="45720" tIns="12700" bIns="12700" anchor="t">
            <a:spAutoFit/>
          </a:bodyPr>
          <a:lstStyle/>
          <a:p>
            <a:pPr algn="l">
              <a:lnSpc>
                <a:spcPct val="95000"/>
              </a:lnSpc>
            </a:pPr>
            <a:r>
              <a:rPr sz="1400" b="1" i="0">
                <a:solidFill>
                  <a:srgbClr val="13263A"/>
                </a:solidFill>
                <a:latin typeface="Arial"/>
              </a:rPr>
              <a:t>COMP</a:t>
            </a:r>
          </a:p>
          <a:p>
            <a:pPr algn="l">
              <a:lnSpc>
                <a:spcPct val="95000"/>
              </a:lnSpc>
            </a:pPr>
            <a:r>
              <a:rPr sz="1200" b="0" i="0">
                <a:solidFill>
                  <a:srgbClr val="647080"/>
                </a:solidFill>
                <a:latin typeface="Arial"/>
              </a:rPr>
              <a:t>Compliance</a:t>
            </a:r>
          </a:p>
        </p:txBody>
      </p:sp>
      <p:sp>
        <p:nvSpPr>
          <p:cNvPr id="22" name="Rectangle 21"/>
          <p:cNvSpPr/>
          <p:nvPr/>
        </p:nvSpPr>
        <p:spPr>
          <a:xfrm>
            <a:off x="2603500" y="4940300"/>
            <a:ext cx="473363" cy="279400"/>
          </a:xfrm>
          <a:prstGeom prst="rect">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27663" y="4914900"/>
            <a:ext cx="508000" cy="330200"/>
          </a:xfrm>
          <a:prstGeom prst="rect">
            <a:avLst/>
          </a:prstGeom>
          <a:noFill/>
        </p:spPr>
        <p:txBody>
          <a:bodyPr wrap="square" lIns="45720" rIns="45720" tIns="12700" bIns="12700" anchor="t">
            <a:spAutoFit/>
          </a:bodyPr>
          <a:lstStyle/>
          <a:p>
            <a:pPr algn="l"/>
            <a:r>
              <a:rPr sz="1500" b="1" i="0">
                <a:solidFill>
                  <a:srgbClr val="13263A"/>
                </a:solidFill>
                <a:latin typeface="Arial"/>
              </a:rPr>
              <a:t>2</a:t>
            </a:r>
          </a:p>
        </p:txBody>
      </p:sp>
      <p:sp>
        <p:nvSpPr>
          <p:cNvPr id="24" name="TextBox 23"/>
          <p:cNvSpPr txBox="1"/>
          <p:nvPr/>
        </p:nvSpPr>
        <p:spPr>
          <a:xfrm>
            <a:off x="635000" y="5384800"/>
            <a:ext cx="1905000" cy="431800"/>
          </a:xfrm>
          <a:prstGeom prst="rect">
            <a:avLst/>
          </a:prstGeom>
          <a:noFill/>
        </p:spPr>
        <p:txBody>
          <a:bodyPr wrap="square" lIns="45720" rIns="45720" tIns="12700" bIns="12700" anchor="t">
            <a:spAutoFit/>
          </a:bodyPr>
          <a:lstStyle/>
          <a:p>
            <a:pPr algn="l">
              <a:lnSpc>
                <a:spcPct val="95000"/>
              </a:lnSpc>
            </a:pPr>
            <a:r>
              <a:rPr sz="1400" b="1" i="0">
                <a:solidFill>
                  <a:srgbClr val="13263A"/>
                </a:solidFill>
                <a:latin typeface="Arial"/>
              </a:rPr>
              <a:t>10 more</a:t>
            </a:r>
          </a:p>
          <a:p>
            <a:pPr algn="l">
              <a:lnSpc>
                <a:spcPct val="95000"/>
              </a:lnSpc>
            </a:pPr>
            <a:r>
              <a:rPr sz="1200" b="0" i="0">
                <a:solidFill>
                  <a:srgbClr val="647080"/>
                </a:solidFill>
                <a:latin typeface="Arial"/>
              </a:rPr>
              <a:t>1 requirement each</a:t>
            </a:r>
          </a:p>
        </p:txBody>
      </p:sp>
      <p:sp>
        <p:nvSpPr>
          <p:cNvPr id="25" name="Rectangle 24"/>
          <p:cNvSpPr/>
          <p:nvPr/>
        </p:nvSpPr>
        <p:spPr>
          <a:xfrm>
            <a:off x="2603500" y="5461000"/>
            <a:ext cx="2366818" cy="279400"/>
          </a:xfrm>
          <a:prstGeom prst="rect">
            <a:avLst/>
          </a:prstGeom>
          <a:solidFill>
            <a:srgbClr val="A8B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1118" y="5435600"/>
            <a:ext cx="508000" cy="330200"/>
          </a:xfrm>
          <a:prstGeom prst="rect">
            <a:avLst/>
          </a:prstGeom>
          <a:noFill/>
        </p:spPr>
        <p:txBody>
          <a:bodyPr wrap="square" lIns="45720" rIns="45720" tIns="12700" bIns="12700" anchor="t">
            <a:spAutoFit/>
          </a:bodyPr>
          <a:lstStyle/>
          <a:p>
            <a:pPr algn="l"/>
            <a:r>
              <a:rPr sz="1500" b="1" i="0">
                <a:solidFill>
                  <a:srgbClr val="13263A"/>
                </a:solidFill>
                <a:latin typeface="Arial"/>
              </a:rPr>
              <a:t>10</a:t>
            </a:r>
          </a:p>
        </p:txBody>
      </p:sp>
      <p:sp>
        <p:nvSpPr>
          <p:cNvPr id="27" name="TextBox 26"/>
          <p:cNvSpPr txBox="1"/>
          <p:nvPr/>
        </p:nvSpPr>
        <p:spPr>
          <a:xfrm>
            <a:off x="635000" y="5918200"/>
            <a:ext cx="5461000" cy="279400"/>
          </a:xfrm>
          <a:prstGeom prst="rect">
            <a:avLst/>
          </a:prstGeom>
          <a:noFill/>
        </p:spPr>
        <p:txBody>
          <a:bodyPr wrap="square" lIns="45720" rIns="45720" tIns="12700" bIns="12700" anchor="t">
            <a:spAutoFit/>
          </a:bodyPr>
          <a:lstStyle/>
          <a:p>
            <a:pPr algn="l"/>
            <a:r>
              <a:rPr sz="1200" b="0" i="0">
                <a:solidFill>
                  <a:srgbClr val="647080"/>
                </a:solidFill>
                <a:latin typeface="Arial"/>
              </a:rPr>
              <a:t>PERF, AVAIL, OBS, INST, BUILD, DIST, MAINT, PORT, POC, CM</a:t>
            </a:r>
          </a:p>
        </p:txBody>
      </p:sp>
      <p:sp>
        <p:nvSpPr>
          <p:cNvPr id="28" name="TextBox 27"/>
          <p:cNvSpPr txBox="1"/>
          <p:nvPr/>
        </p:nvSpPr>
        <p:spPr>
          <a:xfrm>
            <a:off x="6261100" y="1778000"/>
            <a:ext cx="5308600" cy="368300"/>
          </a:xfrm>
          <a:prstGeom prst="rect">
            <a:avLst/>
          </a:prstGeom>
          <a:noFill/>
        </p:spPr>
        <p:txBody>
          <a:bodyPr wrap="square" lIns="45720" rIns="45720" tIns="12700" bIns="12700" anchor="t">
            <a:spAutoFit/>
          </a:bodyPr>
          <a:lstStyle/>
          <a:p>
            <a:pPr algn="l"/>
            <a:r>
              <a:rPr sz="1650" b="1" i="0">
                <a:solidFill>
                  <a:srgbClr val="255CF0"/>
                </a:solidFill>
                <a:latin typeface="Arial"/>
              </a:rPr>
              <a:t>OWNER</a:t>
            </a:r>
          </a:p>
        </p:txBody>
      </p:sp>
      <p:sp>
        <p:nvSpPr>
          <p:cNvPr id="29" name="TextBox 28"/>
          <p:cNvSpPr txBox="1"/>
          <p:nvPr/>
        </p:nvSpPr>
        <p:spPr>
          <a:xfrm>
            <a:off x="6261100" y="2235200"/>
            <a:ext cx="508000" cy="304800"/>
          </a:xfrm>
          <a:prstGeom prst="rect">
            <a:avLst/>
          </a:prstGeom>
          <a:noFill/>
        </p:spPr>
        <p:txBody>
          <a:bodyPr wrap="square" lIns="45720" rIns="45720" tIns="12700" bIns="12700" anchor="t">
            <a:spAutoFit/>
          </a:bodyPr>
          <a:lstStyle/>
          <a:p>
            <a:pPr algn="l"/>
            <a:r>
              <a:rPr sz="1500" b="1" i="0">
                <a:solidFill>
                  <a:srgbClr val="255CF0"/>
                </a:solidFill>
                <a:latin typeface="Arial"/>
              </a:rPr>
              <a:t>14</a:t>
            </a:r>
          </a:p>
        </p:txBody>
      </p:sp>
      <p:sp>
        <p:nvSpPr>
          <p:cNvPr id="30" name="TextBox 29"/>
          <p:cNvSpPr txBox="1"/>
          <p:nvPr/>
        </p:nvSpPr>
        <p:spPr>
          <a:xfrm>
            <a:off x="6731000" y="2235200"/>
            <a:ext cx="2540000" cy="304800"/>
          </a:xfrm>
          <a:prstGeom prst="rect">
            <a:avLst/>
          </a:prstGeom>
          <a:noFill/>
        </p:spPr>
        <p:txBody>
          <a:bodyPr wrap="square" lIns="45720" rIns="45720" tIns="12700" bIns="12700" anchor="t">
            <a:spAutoFit/>
          </a:bodyPr>
          <a:lstStyle/>
          <a:p>
            <a:pPr algn="l"/>
            <a:r>
              <a:rPr sz="1400" b="0" i="0">
                <a:solidFill>
                  <a:srgbClr val="13263A"/>
                </a:solidFill>
                <a:latin typeface="Arial"/>
              </a:rPr>
              <a:t>Veronika</a:t>
            </a:r>
          </a:p>
        </p:txBody>
      </p:sp>
      <p:sp>
        <p:nvSpPr>
          <p:cNvPr id="31" name="TextBox 30"/>
          <p:cNvSpPr txBox="1"/>
          <p:nvPr/>
        </p:nvSpPr>
        <p:spPr>
          <a:xfrm>
            <a:off x="6261100" y="2565400"/>
            <a:ext cx="508000" cy="304800"/>
          </a:xfrm>
          <a:prstGeom prst="rect">
            <a:avLst/>
          </a:prstGeom>
          <a:noFill/>
        </p:spPr>
        <p:txBody>
          <a:bodyPr wrap="square" lIns="45720" rIns="45720" tIns="12700" bIns="12700" anchor="t">
            <a:spAutoFit/>
          </a:bodyPr>
          <a:lstStyle/>
          <a:p>
            <a:pPr algn="l"/>
            <a:r>
              <a:rPr sz="1500" b="1" i="0">
                <a:solidFill>
                  <a:srgbClr val="255CF0"/>
                </a:solidFill>
                <a:latin typeface="Arial"/>
              </a:rPr>
              <a:t>8</a:t>
            </a:r>
          </a:p>
        </p:txBody>
      </p:sp>
      <p:sp>
        <p:nvSpPr>
          <p:cNvPr id="32" name="TextBox 31"/>
          <p:cNvSpPr txBox="1"/>
          <p:nvPr/>
        </p:nvSpPr>
        <p:spPr>
          <a:xfrm>
            <a:off x="6731000" y="2565400"/>
            <a:ext cx="2540000" cy="304800"/>
          </a:xfrm>
          <a:prstGeom prst="rect">
            <a:avLst/>
          </a:prstGeom>
          <a:noFill/>
        </p:spPr>
        <p:txBody>
          <a:bodyPr wrap="square" lIns="45720" rIns="45720" tIns="12700" bIns="12700" anchor="t">
            <a:spAutoFit/>
          </a:bodyPr>
          <a:lstStyle/>
          <a:p>
            <a:pPr algn="l"/>
            <a:r>
              <a:rPr sz="1400" b="0" i="0">
                <a:solidFill>
                  <a:srgbClr val="13263A"/>
                </a:solidFill>
                <a:latin typeface="Arial"/>
              </a:rPr>
              <a:t>Abid and Veronika</a:t>
            </a:r>
          </a:p>
        </p:txBody>
      </p:sp>
      <p:sp>
        <p:nvSpPr>
          <p:cNvPr id="33" name="TextBox 32"/>
          <p:cNvSpPr txBox="1"/>
          <p:nvPr/>
        </p:nvSpPr>
        <p:spPr>
          <a:xfrm>
            <a:off x="6261100" y="2895600"/>
            <a:ext cx="508000" cy="304800"/>
          </a:xfrm>
          <a:prstGeom prst="rect">
            <a:avLst/>
          </a:prstGeom>
          <a:noFill/>
        </p:spPr>
        <p:txBody>
          <a:bodyPr wrap="square" lIns="45720" rIns="45720" tIns="12700" bIns="12700" anchor="t">
            <a:spAutoFit/>
          </a:bodyPr>
          <a:lstStyle/>
          <a:p>
            <a:pPr algn="l"/>
            <a:r>
              <a:rPr sz="1500" b="1" i="0">
                <a:solidFill>
                  <a:srgbClr val="255CF0"/>
                </a:solidFill>
                <a:latin typeface="Arial"/>
              </a:rPr>
              <a:t>8</a:t>
            </a:r>
          </a:p>
        </p:txBody>
      </p:sp>
      <p:sp>
        <p:nvSpPr>
          <p:cNvPr id="34" name="TextBox 33"/>
          <p:cNvSpPr txBox="1"/>
          <p:nvPr/>
        </p:nvSpPr>
        <p:spPr>
          <a:xfrm>
            <a:off x="6731000" y="2895600"/>
            <a:ext cx="2540000" cy="304800"/>
          </a:xfrm>
          <a:prstGeom prst="rect">
            <a:avLst/>
          </a:prstGeom>
          <a:noFill/>
        </p:spPr>
        <p:txBody>
          <a:bodyPr wrap="square" lIns="45720" rIns="45720" tIns="12700" bIns="12700" anchor="t">
            <a:spAutoFit/>
          </a:bodyPr>
          <a:lstStyle/>
          <a:p>
            <a:pPr algn="l"/>
            <a:r>
              <a:rPr sz="1400" b="0" i="0">
                <a:solidFill>
                  <a:srgbClr val="13263A"/>
                </a:solidFill>
                <a:latin typeface="Arial"/>
              </a:rPr>
              <a:t>Thibaut (4 with the team)</a:t>
            </a:r>
          </a:p>
        </p:txBody>
      </p:sp>
      <p:sp>
        <p:nvSpPr>
          <p:cNvPr id="35" name="TextBox 34"/>
          <p:cNvSpPr txBox="1"/>
          <p:nvPr/>
        </p:nvSpPr>
        <p:spPr>
          <a:xfrm>
            <a:off x="6261100" y="3225800"/>
            <a:ext cx="508000" cy="304800"/>
          </a:xfrm>
          <a:prstGeom prst="rect">
            <a:avLst/>
          </a:prstGeom>
          <a:noFill/>
        </p:spPr>
        <p:txBody>
          <a:bodyPr wrap="square" lIns="45720" rIns="45720" tIns="12700" bIns="12700" anchor="t">
            <a:spAutoFit/>
          </a:bodyPr>
          <a:lstStyle/>
          <a:p>
            <a:pPr algn="l"/>
            <a:r>
              <a:rPr sz="1500" b="1" i="0">
                <a:solidFill>
                  <a:srgbClr val="255CF0"/>
                </a:solidFill>
                <a:latin typeface="Arial"/>
              </a:rPr>
              <a:t>7</a:t>
            </a:r>
          </a:p>
        </p:txBody>
      </p:sp>
      <p:sp>
        <p:nvSpPr>
          <p:cNvPr id="36" name="TextBox 35"/>
          <p:cNvSpPr txBox="1"/>
          <p:nvPr/>
        </p:nvSpPr>
        <p:spPr>
          <a:xfrm>
            <a:off x="6731000" y="3225800"/>
            <a:ext cx="2540000" cy="304800"/>
          </a:xfrm>
          <a:prstGeom prst="rect">
            <a:avLst/>
          </a:prstGeom>
          <a:noFill/>
        </p:spPr>
        <p:txBody>
          <a:bodyPr wrap="square" lIns="45720" rIns="45720" tIns="12700" bIns="12700" anchor="t">
            <a:spAutoFit/>
          </a:bodyPr>
          <a:lstStyle/>
          <a:p>
            <a:pPr algn="l"/>
            <a:r>
              <a:rPr sz="1400" b="0" i="0">
                <a:solidFill>
                  <a:srgbClr val="13263A"/>
                </a:solidFill>
                <a:latin typeface="Arial"/>
              </a:rPr>
              <a:t>Jiahui</a:t>
            </a:r>
          </a:p>
        </p:txBody>
      </p:sp>
      <p:sp>
        <p:nvSpPr>
          <p:cNvPr id="37" name="TextBox 36"/>
          <p:cNvSpPr txBox="1"/>
          <p:nvPr/>
        </p:nvSpPr>
        <p:spPr>
          <a:xfrm>
            <a:off x="6261100" y="3556000"/>
            <a:ext cx="508000" cy="304800"/>
          </a:xfrm>
          <a:prstGeom prst="rect">
            <a:avLst/>
          </a:prstGeom>
          <a:noFill/>
        </p:spPr>
        <p:txBody>
          <a:bodyPr wrap="square" lIns="45720" rIns="45720" tIns="12700" bIns="12700" anchor="t">
            <a:spAutoFit/>
          </a:bodyPr>
          <a:lstStyle/>
          <a:p>
            <a:pPr algn="l"/>
            <a:r>
              <a:rPr sz="1500" b="1" i="0">
                <a:solidFill>
                  <a:srgbClr val="255CF0"/>
                </a:solidFill>
                <a:latin typeface="Arial"/>
              </a:rPr>
              <a:t>4</a:t>
            </a:r>
          </a:p>
        </p:txBody>
      </p:sp>
      <p:sp>
        <p:nvSpPr>
          <p:cNvPr id="38" name="TextBox 37"/>
          <p:cNvSpPr txBox="1"/>
          <p:nvPr/>
        </p:nvSpPr>
        <p:spPr>
          <a:xfrm>
            <a:off x="6731000" y="3556000"/>
            <a:ext cx="2540000" cy="304800"/>
          </a:xfrm>
          <a:prstGeom prst="rect">
            <a:avLst/>
          </a:prstGeom>
          <a:noFill/>
        </p:spPr>
        <p:txBody>
          <a:bodyPr wrap="square" lIns="45720" rIns="45720" tIns="12700" bIns="12700" anchor="t">
            <a:spAutoFit/>
          </a:bodyPr>
          <a:lstStyle/>
          <a:p>
            <a:pPr algn="l"/>
            <a:r>
              <a:rPr sz="1400" b="0" i="0">
                <a:solidFill>
                  <a:srgbClr val="13263A"/>
                </a:solidFill>
                <a:latin typeface="Arial"/>
              </a:rPr>
              <a:t>Abid</a:t>
            </a:r>
          </a:p>
        </p:txBody>
      </p:sp>
      <p:sp>
        <p:nvSpPr>
          <p:cNvPr id="39" name="TextBox 38"/>
          <p:cNvSpPr txBox="1"/>
          <p:nvPr/>
        </p:nvSpPr>
        <p:spPr>
          <a:xfrm>
            <a:off x="6261100" y="3886200"/>
            <a:ext cx="508000" cy="304800"/>
          </a:xfrm>
          <a:prstGeom prst="rect">
            <a:avLst/>
          </a:prstGeom>
          <a:noFill/>
        </p:spPr>
        <p:txBody>
          <a:bodyPr wrap="square" lIns="45720" rIns="45720" tIns="12700" bIns="12700" anchor="t">
            <a:spAutoFit/>
          </a:bodyPr>
          <a:lstStyle/>
          <a:p>
            <a:pPr algn="l"/>
            <a:r>
              <a:rPr sz="1500" b="1" i="0">
                <a:solidFill>
                  <a:srgbClr val="255CF0"/>
                </a:solidFill>
                <a:latin typeface="Arial"/>
              </a:rPr>
              <a:t>4</a:t>
            </a:r>
          </a:p>
        </p:txBody>
      </p:sp>
      <p:sp>
        <p:nvSpPr>
          <p:cNvPr id="40" name="TextBox 39"/>
          <p:cNvSpPr txBox="1"/>
          <p:nvPr/>
        </p:nvSpPr>
        <p:spPr>
          <a:xfrm>
            <a:off x="6731000" y="3886200"/>
            <a:ext cx="2540000" cy="304800"/>
          </a:xfrm>
          <a:prstGeom prst="rect">
            <a:avLst/>
          </a:prstGeom>
          <a:noFill/>
        </p:spPr>
        <p:txBody>
          <a:bodyPr wrap="square" lIns="45720" rIns="45720" tIns="12700" bIns="12700" anchor="t">
            <a:spAutoFit/>
          </a:bodyPr>
          <a:lstStyle/>
          <a:p>
            <a:pPr algn="l"/>
            <a:r>
              <a:rPr sz="1400" b="0" i="0">
                <a:solidFill>
                  <a:srgbClr val="13263A"/>
                </a:solidFill>
                <a:latin typeface="Arial"/>
              </a:rPr>
              <a:t>All / team</a:t>
            </a:r>
          </a:p>
        </p:txBody>
      </p:sp>
      <p:sp>
        <p:nvSpPr>
          <p:cNvPr id="41" name="TextBox 40"/>
          <p:cNvSpPr txBox="1"/>
          <p:nvPr/>
        </p:nvSpPr>
        <p:spPr>
          <a:xfrm>
            <a:off x="9334500" y="1778000"/>
            <a:ext cx="2235200" cy="368300"/>
          </a:xfrm>
          <a:prstGeom prst="rect">
            <a:avLst/>
          </a:prstGeom>
          <a:noFill/>
        </p:spPr>
        <p:txBody>
          <a:bodyPr wrap="square" lIns="45720" rIns="45720" tIns="12700" bIns="12700" anchor="t">
            <a:spAutoFit/>
          </a:bodyPr>
          <a:lstStyle/>
          <a:p>
            <a:pPr algn="l"/>
            <a:r>
              <a:rPr sz="1650" b="1" i="0">
                <a:solidFill>
                  <a:srgbClr val="255CF0"/>
                </a:solidFill>
                <a:latin typeface="Arial"/>
              </a:rPr>
              <a:t>VERIFIED BY</a:t>
            </a:r>
          </a:p>
        </p:txBody>
      </p:sp>
      <p:sp>
        <p:nvSpPr>
          <p:cNvPr id="42" name="TextBox 41"/>
          <p:cNvSpPr txBox="1"/>
          <p:nvPr/>
        </p:nvSpPr>
        <p:spPr>
          <a:xfrm>
            <a:off x="9334500" y="2235200"/>
            <a:ext cx="431800" cy="304800"/>
          </a:xfrm>
          <a:prstGeom prst="rect">
            <a:avLst/>
          </a:prstGeom>
          <a:noFill/>
        </p:spPr>
        <p:txBody>
          <a:bodyPr wrap="square" lIns="45720" rIns="45720" tIns="12700" bIns="12700" anchor="t">
            <a:spAutoFit/>
          </a:bodyPr>
          <a:lstStyle/>
          <a:p>
            <a:pPr algn="l"/>
            <a:r>
              <a:rPr sz="1500" b="1" i="0">
                <a:solidFill>
                  <a:srgbClr val="255CF0"/>
                </a:solidFill>
                <a:latin typeface="Arial"/>
              </a:rPr>
              <a:t>14</a:t>
            </a:r>
          </a:p>
        </p:txBody>
      </p:sp>
      <p:sp>
        <p:nvSpPr>
          <p:cNvPr id="43" name="TextBox 42"/>
          <p:cNvSpPr txBox="1"/>
          <p:nvPr/>
        </p:nvSpPr>
        <p:spPr>
          <a:xfrm>
            <a:off x="9740900" y="2235200"/>
            <a:ext cx="1905000" cy="304800"/>
          </a:xfrm>
          <a:prstGeom prst="rect">
            <a:avLst/>
          </a:prstGeom>
          <a:noFill/>
        </p:spPr>
        <p:txBody>
          <a:bodyPr wrap="square" lIns="45720" rIns="45720" tIns="12700" bIns="12700" anchor="t">
            <a:spAutoFit/>
          </a:bodyPr>
          <a:lstStyle/>
          <a:p>
            <a:pPr algn="l"/>
            <a:r>
              <a:rPr sz="1400" b="0" i="0">
                <a:solidFill>
                  <a:srgbClr val="13263A"/>
                </a:solidFill>
                <a:latin typeface="Arial"/>
              </a:rPr>
              <a:t>Test</a:t>
            </a:r>
          </a:p>
        </p:txBody>
      </p:sp>
      <p:sp>
        <p:nvSpPr>
          <p:cNvPr id="44" name="TextBox 43"/>
          <p:cNvSpPr txBox="1"/>
          <p:nvPr/>
        </p:nvSpPr>
        <p:spPr>
          <a:xfrm>
            <a:off x="9334500" y="2565400"/>
            <a:ext cx="431800" cy="304800"/>
          </a:xfrm>
          <a:prstGeom prst="rect">
            <a:avLst/>
          </a:prstGeom>
          <a:noFill/>
        </p:spPr>
        <p:txBody>
          <a:bodyPr wrap="square" lIns="45720" rIns="45720" tIns="12700" bIns="12700" anchor="t">
            <a:spAutoFit/>
          </a:bodyPr>
          <a:lstStyle/>
          <a:p>
            <a:pPr algn="l"/>
            <a:r>
              <a:rPr sz="1500" b="1" i="0">
                <a:solidFill>
                  <a:srgbClr val="255CF0"/>
                </a:solidFill>
                <a:latin typeface="Arial"/>
              </a:rPr>
              <a:t>11</a:t>
            </a:r>
          </a:p>
        </p:txBody>
      </p:sp>
      <p:sp>
        <p:nvSpPr>
          <p:cNvPr id="45" name="TextBox 44"/>
          <p:cNvSpPr txBox="1"/>
          <p:nvPr/>
        </p:nvSpPr>
        <p:spPr>
          <a:xfrm>
            <a:off x="9740900" y="2565400"/>
            <a:ext cx="1905000" cy="304800"/>
          </a:xfrm>
          <a:prstGeom prst="rect">
            <a:avLst/>
          </a:prstGeom>
          <a:noFill/>
        </p:spPr>
        <p:txBody>
          <a:bodyPr wrap="square" lIns="45720" rIns="45720" tIns="12700" bIns="12700" anchor="t">
            <a:spAutoFit/>
          </a:bodyPr>
          <a:lstStyle/>
          <a:p>
            <a:pPr algn="l"/>
            <a:r>
              <a:rPr sz="1400" b="0" i="0">
                <a:solidFill>
                  <a:srgbClr val="13263A"/>
                </a:solidFill>
                <a:latin typeface="Arial"/>
              </a:rPr>
              <a:t>Demonstration</a:t>
            </a:r>
          </a:p>
        </p:txBody>
      </p:sp>
      <p:sp>
        <p:nvSpPr>
          <p:cNvPr id="46" name="TextBox 45"/>
          <p:cNvSpPr txBox="1"/>
          <p:nvPr/>
        </p:nvSpPr>
        <p:spPr>
          <a:xfrm>
            <a:off x="9334500" y="2895600"/>
            <a:ext cx="431800" cy="304800"/>
          </a:xfrm>
          <a:prstGeom prst="rect">
            <a:avLst/>
          </a:prstGeom>
          <a:noFill/>
        </p:spPr>
        <p:txBody>
          <a:bodyPr wrap="square" lIns="45720" rIns="45720" tIns="12700" bIns="12700" anchor="t">
            <a:spAutoFit/>
          </a:bodyPr>
          <a:lstStyle/>
          <a:p>
            <a:pPr algn="l"/>
            <a:r>
              <a:rPr sz="1500" b="1" i="0">
                <a:solidFill>
                  <a:srgbClr val="255CF0"/>
                </a:solidFill>
                <a:latin typeface="Arial"/>
              </a:rPr>
              <a:t>7</a:t>
            </a:r>
          </a:p>
        </p:txBody>
      </p:sp>
      <p:sp>
        <p:nvSpPr>
          <p:cNvPr id="47" name="TextBox 46"/>
          <p:cNvSpPr txBox="1"/>
          <p:nvPr/>
        </p:nvSpPr>
        <p:spPr>
          <a:xfrm>
            <a:off x="9740900" y="2895600"/>
            <a:ext cx="1905000" cy="304800"/>
          </a:xfrm>
          <a:prstGeom prst="rect">
            <a:avLst/>
          </a:prstGeom>
          <a:noFill/>
        </p:spPr>
        <p:txBody>
          <a:bodyPr wrap="square" lIns="45720" rIns="45720" tIns="12700" bIns="12700" anchor="t">
            <a:spAutoFit/>
          </a:bodyPr>
          <a:lstStyle/>
          <a:p>
            <a:pPr algn="l"/>
            <a:r>
              <a:rPr sz="1400" b="0" i="0">
                <a:solidFill>
                  <a:srgbClr val="13263A"/>
                </a:solidFill>
                <a:latin typeface="Arial"/>
              </a:rPr>
              <a:t>Test + inspection</a:t>
            </a:r>
          </a:p>
        </p:txBody>
      </p:sp>
      <p:sp>
        <p:nvSpPr>
          <p:cNvPr id="48" name="TextBox 47"/>
          <p:cNvSpPr txBox="1"/>
          <p:nvPr/>
        </p:nvSpPr>
        <p:spPr>
          <a:xfrm>
            <a:off x="9334500" y="3225800"/>
            <a:ext cx="431800" cy="304800"/>
          </a:xfrm>
          <a:prstGeom prst="rect">
            <a:avLst/>
          </a:prstGeom>
          <a:noFill/>
        </p:spPr>
        <p:txBody>
          <a:bodyPr wrap="square" lIns="45720" rIns="45720" tIns="12700" bIns="12700" anchor="t">
            <a:spAutoFit/>
          </a:bodyPr>
          <a:lstStyle/>
          <a:p>
            <a:pPr algn="l"/>
            <a:r>
              <a:rPr sz="1500" b="1" i="0">
                <a:solidFill>
                  <a:srgbClr val="255CF0"/>
                </a:solidFill>
                <a:latin typeface="Arial"/>
              </a:rPr>
              <a:t>6</a:t>
            </a:r>
          </a:p>
        </p:txBody>
      </p:sp>
      <p:sp>
        <p:nvSpPr>
          <p:cNvPr id="49" name="TextBox 48"/>
          <p:cNvSpPr txBox="1"/>
          <p:nvPr/>
        </p:nvSpPr>
        <p:spPr>
          <a:xfrm>
            <a:off x="9740900" y="3225800"/>
            <a:ext cx="1905000" cy="304800"/>
          </a:xfrm>
          <a:prstGeom prst="rect">
            <a:avLst/>
          </a:prstGeom>
          <a:noFill/>
        </p:spPr>
        <p:txBody>
          <a:bodyPr wrap="square" lIns="45720" rIns="45720" tIns="12700" bIns="12700" anchor="t">
            <a:spAutoFit/>
          </a:bodyPr>
          <a:lstStyle/>
          <a:p>
            <a:pPr algn="l"/>
            <a:r>
              <a:rPr sz="1400" b="0" i="0">
                <a:solidFill>
                  <a:srgbClr val="13263A"/>
                </a:solidFill>
                <a:latin typeface="Arial"/>
              </a:rPr>
              <a:t>Inspection</a:t>
            </a:r>
          </a:p>
        </p:txBody>
      </p:sp>
      <p:sp>
        <p:nvSpPr>
          <p:cNvPr id="50" name="TextBox 49"/>
          <p:cNvSpPr txBox="1"/>
          <p:nvPr/>
        </p:nvSpPr>
        <p:spPr>
          <a:xfrm>
            <a:off x="9334500" y="3556000"/>
            <a:ext cx="431800" cy="304800"/>
          </a:xfrm>
          <a:prstGeom prst="rect">
            <a:avLst/>
          </a:prstGeom>
          <a:noFill/>
        </p:spPr>
        <p:txBody>
          <a:bodyPr wrap="square" lIns="45720" rIns="45720" tIns="12700" bIns="12700" anchor="t">
            <a:spAutoFit/>
          </a:bodyPr>
          <a:lstStyle/>
          <a:p>
            <a:pPr algn="l"/>
            <a:r>
              <a:rPr sz="1500" b="1" i="0">
                <a:solidFill>
                  <a:srgbClr val="255CF0"/>
                </a:solidFill>
                <a:latin typeface="Arial"/>
              </a:rPr>
              <a:t>6</a:t>
            </a:r>
          </a:p>
        </p:txBody>
      </p:sp>
      <p:sp>
        <p:nvSpPr>
          <p:cNvPr id="51" name="TextBox 50"/>
          <p:cNvSpPr txBox="1"/>
          <p:nvPr/>
        </p:nvSpPr>
        <p:spPr>
          <a:xfrm>
            <a:off x="9740900" y="3556000"/>
            <a:ext cx="1905000" cy="304800"/>
          </a:xfrm>
          <a:prstGeom prst="rect">
            <a:avLst/>
          </a:prstGeom>
          <a:noFill/>
        </p:spPr>
        <p:txBody>
          <a:bodyPr wrap="square" lIns="45720" rIns="45720" tIns="12700" bIns="12700" anchor="t">
            <a:spAutoFit/>
          </a:bodyPr>
          <a:lstStyle/>
          <a:p>
            <a:pPr algn="l"/>
            <a:r>
              <a:rPr sz="1400" b="0" i="0">
                <a:solidFill>
                  <a:srgbClr val="13263A"/>
                </a:solidFill>
                <a:latin typeface="Arial"/>
              </a:rPr>
              <a:t>Analysis + demo</a:t>
            </a:r>
          </a:p>
        </p:txBody>
      </p:sp>
      <p:sp>
        <p:nvSpPr>
          <p:cNvPr id="52" name="TextBox 51"/>
          <p:cNvSpPr txBox="1"/>
          <p:nvPr/>
        </p:nvSpPr>
        <p:spPr>
          <a:xfrm>
            <a:off x="9334500" y="3886200"/>
            <a:ext cx="431800" cy="304800"/>
          </a:xfrm>
          <a:prstGeom prst="rect">
            <a:avLst/>
          </a:prstGeom>
          <a:noFill/>
        </p:spPr>
        <p:txBody>
          <a:bodyPr wrap="square" lIns="45720" rIns="45720" tIns="12700" bIns="12700" anchor="t">
            <a:spAutoFit/>
          </a:bodyPr>
          <a:lstStyle/>
          <a:p>
            <a:pPr algn="l"/>
            <a:r>
              <a:rPr sz="1500" b="1" i="0">
                <a:solidFill>
                  <a:srgbClr val="255CF0"/>
                </a:solidFill>
                <a:latin typeface="Arial"/>
              </a:rPr>
              <a:t>1</a:t>
            </a:r>
          </a:p>
        </p:txBody>
      </p:sp>
      <p:sp>
        <p:nvSpPr>
          <p:cNvPr id="53" name="TextBox 52"/>
          <p:cNvSpPr txBox="1"/>
          <p:nvPr/>
        </p:nvSpPr>
        <p:spPr>
          <a:xfrm>
            <a:off x="9740900" y="3886200"/>
            <a:ext cx="1905000" cy="304800"/>
          </a:xfrm>
          <a:prstGeom prst="rect">
            <a:avLst/>
          </a:prstGeom>
          <a:noFill/>
        </p:spPr>
        <p:txBody>
          <a:bodyPr wrap="square" lIns="45720" rIns="45720" tIns="12700" bIns="12700" anchor="t">
            <a:spAutoFit/>
          </a:bodyPr>
          <a:lstStyle/>
          <a:p>
            <a:pPr algn="l"/>
            <a:r>
              <a:rPr sz="1400" b="0" i="0">
                <a:solidFill>
                  <a:srgbClr val="13263A"/>
                </a:solidFill>
                <a:latin typeface="Arial"/>
              </a:rPr>
              <a:t>Analysis</a:t>
            </a:r>
          </a:p>
        </p:txBody>
      </p:sp>
      <p:sp>
        <p:nvSpPr>
          <p:cNvPr id="54" name="Rectangle 53"/>
          <p:cNvSpPr/>
          <p:nvPr/>
        </p:nvSpPr>
        <p:spPr>
          <a:xfrm>
            <a:off x="6261100" y="4445000"/>
            <a:ext cx="5308600" cy="15240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13500" y="4546600"/>
            <a:ext cx="5029200" cy="1346200"/>
          </a:xfrm>
          <a:prstGeom prst="rect">
            <a:avLst/>
          </a:prstGeom>
          <a:noFill/>
        </p:spPr>
        <p:txBody>
          <a:bodyPr wrap="square" lIns="45720" rIns="45720" tIns="12700" bIns="12700" anchor="t">
            <a:spAutoFit/>
          </a:bodyPr>
          <a:lstStyle/>
          <a:p>
            <a:pPr algn="l">
              <a:spcAft>
                <a:spcPts val="400"/>
              </a:spcAft>
            </a:pPr>
            <a:r>
              <a:rPr sz="1400" b="1" i="0">
                <a:solidFill>
                  <a:srgbClr val="13263A"/>
                </a:solidFill>
                <a:latin typeface="Arial"/>
              </a:rPr>
              <a:t>Owners split as in SRS 2.6</a:t>
            </a:r>
          </a:p>
          <a:p>
            <a:pPr algn="l">
              <a:spcAft>
                <a:spcPts val="400"/>
              </a:spcAft>
            </a:pPr>
            <a:r>
              <a:rPr sz="1350" b="0" i="0">
                <a:solidFill>
                  <a:srgbClr val="647080"/>
                </a:solidFill>
                <a:latin typeface="Arial"/>
              </a:rPr>
              <a:t>Thibaut: frontend and symbols · Veronika: backend and data · Jiahui: AI provider and evaluation · Abid: CI, deployment and security · All: reviews, consent, licences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4F0"/>
        </a:solidFill>
        <a:effectLst/>
      </p:bgPr>
    </p:bg>
    <p:spTree>
      <p:nvGrpSpPr>
        <p:cNvPr id="1" name=""/>
        <p:cNvGrpSpPr/>
        <p:nvPr/>
      </p:nvGrpSpPr>
      <p:grpSpPr/>
      <p:sp>
        <p:nvSpPr>
          <p:cNvPr id="2" name="TextBox 1"/>
          <p:cNvSpPr txBox="1"/>
          <p:nvPr/>
        </p:nvSpPr>
        <p:spPr>
          <a:xfrm>
            <a:off x="609600" y="457200"/>
            <a:ext cx="10960100" cy="558800"/>
          </a:xfrm>
          <a:prstGeom prst="rect">
            <a:avLst/>
          </a:prstGeom>
          <a:noFill/>
        </p:spPr>
        <p:txBody>
          <a:bodyPr wrap="square" lIns="45720" rIns="45720" tIns="12700" bIns="12700" anchor="ctr">
            <a:spAutoFit/>
          </a:bodyPr>
          <a:lstStyle/>
          <a:p>
            <a:pPr algn="l"/>
            <a:r>
              <a:rPr sz="3300" b="1" i="0">
                <a:solidFill>
                  <a:srgbClr val="13263A"/>
                </a:solidFill>
                <a:latin typeface="Arial"/>
              </a:rPr>
              <a:t>SRS v0.3: the rules that shape the product</a:t>
            </a:r>
          </a:p>
        </p:txBody>
      </p:sp>
      <p:sp>
        <p:nvSpPr>
          <p:cNvPr id="3" name="TextBox 2"/>
          <p:cNvSpPr txBox="1"/>
          <p:nvPr/>
        </p:nvSpPr>
        <p:spPr>
          <a:xfrm>
            <a:off x="635000" y="1219200"/>
            <a:ext cx="10566400" cy="330200"/>
          </a:xfrm>
          <a:prstGeom prst="rect">
            <a:avLst/>
          </a:prstGeom>
          <a:noFill/>
        </p:spPr>
        <p:txBody>
          <a:bodyPr wrap="square" lIns="45720" rIns="45720" tIns="12700" bIns="12700" anchor="t">
            <a:spAutoFit/>
          </a:bodyPr>
          <a:lstStyle/>
          <a:p>
            <a:pPr algn="l"/>
            <a:r>
              <a:rPr sz="1800" b="0" i="0">
                <a:solidFill>
                  <a:srgbClr val="647080"/>
                </a:solidFill>
                <a:latin typeface="Arial"/>
              </a:rPr>
              <a:t>01  Technical progress  ·  six requirements every part of the system follows</a:t>
            </a:r>
          </a:p>
        </p:txBody>
      </p:sp>
      <p:sp>
        <p:nvSpPr>
          <p:cNvPr id="4" name="TextBox 3"/>
          <p:cNvSpPr txBox="1"/>
          <p:nvPr/>
        </p:nvSpPr>
        <p:spPr>
          <a:xfrm>
            <a:off x="11049000" y="6248400"/>
            <a:ext cx="533400" cy="279400"/>
          </a:xfrm>
          <a:prstGeom prst="rect">
            <a:avLst/>
          </a:prstGeom>
          <a:noFill/>
        </p:spPr>
        <p:txBody>
          <a:bodyPr wrap="square" lIns="45720" rIns="45720" tIns="12700" bIns="12700" anchor="t">
            <a:spAutoFit/>
          </a:bodyPr>
          <a:lstStyle/>
          <a:p>
            <a:pPr algn="l"/>
            <a:r>
              <a:rPr sz="1350" b="0" i="0">
                <a:solidFill>
                  <a:srgbClr val="647080"/>
                </a:solidFill>
                <a:latin typeface="Arial"/>
              </a:rPr>
              <a:t>08</a:t>
            </a:r>
          </a:p>
        </p:txBody>
      </p:sp>
      <p:sp>
        <p:nvSpPr>
          <p:cNvPr id="5" name="Rectangle 4"/>
          <p:cNvSpPr/>
          <p:nvPr/>
        </p:nvSpPr>
        <p:spPr>
          <a:xfrm>
            <a:off x="635000" y="1778000"/>
            <a:ext cx="3543300" cy="19685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12800" y="1981200"/>
            <a:ext cx="330200" cy="3302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1</a:t>
            </a:r>
          </a:p>
        </p:txBody>
      </p:sp>
      <p:sp>
        <p:nvSpPr>
          <p:cNvPr id="7" name="TextBox 6"/>
          <p:cNvSpPr txBox="1"/>
          <p:nvPr/>
        </p:nvSpPr>
        <p:spPr>
          <a:xfrm>
            <a:off x="1244600" y="2006600"/>
            <a:ext cx="2794000" cy="279400"/>
          </a:xfrm>
          <a:prstGeom prst="rect">
            <a:avLst/>
          </a:prstGeom>
          <a:noFill/>
        </p:spPr>
        <p:txBody>
          <a:bodyPr wrap="square" lIns="45720" rIns="45720" tIns="12700" bIns="12700" anchor="t">
            <a:spAutoFit/>
          </a:bodyPr>
          <a:lstStyle/>
          <a:p>
            <a:pPr algn="l"/>
            <a:r>
              <a:rPr sz="1350" b="1" i="0">
                <a:solidFill>
                  <a:srgbClr val="255CF0"/>
                </a:solidFill>
                <a:latin typeface="Arial"/>
              </a:rPr>
              <a:t>REQ-ML-003</a:t>
            </a:r>
          </a:p>
        </p:txBody>
      </p:sp>
      <p:sp>
        <p:nvSpPr>
          <p:cNvPr id="8" name="TextBox 7"/>
          <p:cNvSpPr txBox="1"/>
          <p:nvPr/>
        </p:nvSpPr>
        <p:spPr>
          <a:xfrm>
            <a:off x="812800" y="2438400"/>
            <a:ext cx="3238500" cy="330200"/>
          </a:xfrm>
          <a:prstGeom prst="rect">
            <a:avLst/>
          </a:prstGeom>
          <a:noFill/>
        </p:spPr>
        <p:txBody>
          <a:bodyPr wrap="square" lIns="45720" rIns="45720" tIns="12700" bIns="12700" anchor="t">
            <a:spAutoFit/>
          </a:bodyPr>
          <a:lstStyle/>
          <a:p>
            <a:pPr algn="l"/>
            <a:r>
              <a:rPr sz="1700" b="1" i="0">
                <a:solidFill>
                  <a:srgbClr val="13263A"/>
                </a:solidFill>
                <a:latin typeface="Arial"/>
              </a:rPr>
              <a:t>Explicit intent</a:t>
            </a:r>
          </a:p>
        </p:txBody>
      </p:sp>
      <p:sp>
        <p:nvSpPr>
          <p:cNvPr id="9" name="TextBox 8"/>
          <p:cNvSpPr txBox="1"/>
          <p:nvPr/>
        </p:nvSpPr>
        <p:spPr>
          <a:xfrm>
            <a:off x="812800" y="2819400"/>
            <a:ext cx="3238500" cy="838200"/>
          </a:xfrm>
          <a:prstGeom prst="rect">
            <a:avLst/>
          </a:prstGeom>
          <a:noFill/>
        </p:spPr>
        <p:txBody>
          <a:bodyPr wrap="square" lIns="45720" rIns="45720" tIns="12700" bIns="12700" anchor="t">
            <a:spAutoFit/>
          </a:bodyPr>
          <a:lstStyle/>
          <a:p>
            <a:pPr algn="l"/>
            <a:r>
              <a:rPr sz="1400" b="0" i="0">
                <a:solidFill>
                  <a:srgbClr val="647080"/>
                </a:solidFill>
                <a:latin typeface="Arial"/>
              </a:rPr>
              <a:t>Sentences follow the user's symbols or text, never the photo alone.</a:t>
            </a:r>
          </a:p>
        </p:txBody>
      </p:sp>
      <p:sp>
        <p:nvSpPr>
          <p:cNvPr id="10" name="Rectangle 9"/>
          <p:cNvSpPr/>
          <p:nvPr/>
        </p:nvSpPr>
        <p:spPr>
          <a:xfrm>
            <a:off x="4330700" y="1778000"/>
            <a:ext cx="3543300" cy="19685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508500" y="1981200"/>
            <a:ext cx="330200" cy="3302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2</a:t>
            </a:r>
          </a:p>
        </p:txBody>
      </p:sp>
      <p:sp>
        <p:nvSpPr>
          <p:cNvPr id="12" name="TextBox 11"/>
          <p:cNvSpPr txBox="1"/>
          <p:nvPr/>
        </p:nvSpPr>
        <p:spPr>
          <a:xfrm>
            <a:off x="4940300" y="2006600"/>
            <a:ext cx="2794000" cy="279400"/>
          </a:xfrm>
          <a:prstGeom prst="rect">
            <a:avLst/>
          </a:prstGeom>
          <a:noFill/>
        </p:spPr>
        <p:txBody>
          <a:bodyPr wrap="square" lIns="45720" rIns="45720" tIns="12700" bIns="12700" anchor="t">
            <a:spAutoFit/>
          </a:bodyPr>
          <a:lstStyle/>
          <a:p>
            <a:pPr algn="l"/>
            <a:r>
              <a:rPr sz="1350" b="1" i="0">
                <a:solidFill>
                  <a:srgbClr val="255CF0"/>
                </a:solidFill>
                <a:latin typeface="Arial"/>
              </a:rPr>
              <a:t>REQ-FUNC-007</a:t>
            </a:r>
          </a:p>
        </p:txBody>
      </p:sp>
      <p:sp>
        <p:nvSpPr>
          <p:cNvPr id="13" name="TextBox 12"/>
          <p:cNvSpPr txBox="1"/>
          <p:nvPr/>
        </p:nvSpPr>
        <p:spPr>
          <a:xfrm>
            <a:off x="4508500" y="2438400"/>
            <a:ext cx="3238500" cy="330200"/>
          </a:xfrm>
          <a:prstGeom prst="rect">
            <a:avLst/>
          </a:prstGeom>
          <a:noFill/>
        </p:spPr>
        <p:txBody>
          <a:bodyPr wrap="square" lIns="45720" rIns="45720" tIns="12700" bIns="12700" anchor="t">
            <a:spAutoFit/>
          </a:bodyPr>
          <a:lstStyle/>
          <a:p>
            <a:pPr algn="l"/>
            <a:r>
              <a:rPr sz="1700" b="1" i="0">
                <a:solidFill>
                  <a:srgbClr val="13263A"/>
                </a:solidFill>
                <a:latin typeface="Arial"/>
              </a:rPr>
              <a:t>Confirmed speech</a:t>
            </a:r>
          </a:p>
        </p:txBody>
      </p:sp>
      <p:sp>
        <p:nvSpPr>
          <p:cNvPr id="14" name="TextBox 13"/>
          <p:cNvSpPr txBox="1"/>
          <p:nvPr/>
        </p:nvSpPr>
        <p:spPr>
          <a:xfrm>
            <a:off x="4508500" y="2819400"/>
            <a:ext cx="3238500" cy="838200"/>
          </a:xfrm>
          <a:prstGeom prst="rect">
            <a:avLst/>
          </a:prstGeom>
          <a:noFill/>
        </p:spPr>
        <p:txBody>
          <a:bodyPr wrap="square" lIns="45720" rIns="45720" tIns="12700" bIns="12700" anchor="t">
            <a:spAutoFit/>
          </a:bodyPr>
          <a:lstStyle/>
          <a:p>
            <a:pPr algn="l"/>
            <a:r>
              <a:rPr sz="1400" b="0" i="0">
                <a:solidFill>
                  <a:srgbClr val="647080"/>
                </a:solidFill>
                <a:latin typeface="Arial"/>
              </a:rPr>
              <a:t>Nothing is spoken before the user selects and confirms; speech can be stopped.</a:t>
            </a:r>
          </a:p>
        </p:txBody>
      </p:sp>
      <p:sp>
        <p:nvSpPr>
          <p:cNvPr id="15" name="Rectangle 14"/>
          <p:cNvSpPr/>
          <p:nvPr/>
        </p:nvSpPr>
        <p:spPr>
          <a:xfrm>
            <a:off x="8026400" y="1778000"/>
            <a:ext cx="3543300" cy="19685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204200" y="1981200"/>
            <a:ext cx="330200" cy="3302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3</a:t>
            </a:r>
          </a:p>
        </p:txBody>
      </p:sp>
      <p:sp>
        <p:nvSpPr>
          <p:cNvPr id="17" name="TextBox 16"/>
          <p:cNvSpPr txBox="1"/>
          <p:nvPr/>
        </p:nvSpPr>
        <p:spPr>
          <a:xfrm>
            <a:off x="8636000" y="2006600"/>
            <a:ext cx="2794000" cy="279400"/>
          </a:xfrm>
          <a:prstGeom prst="rect">
            <a:avLst/>
          </a:prstGeom>
          <a:noFill/>
        </p:spPr>
        <p:txBody>
          <a:bodyPr wrap="square" lIns="45720" rIns="45720" tIns="12700" bIns="12700" anchor="t">
            <a:spAutoFit/>
          </a:bodyPr>
          <a:lstStyle/>
          <a:p>
            <a:pPr algn="l"/>
            <a:r>
              <a:rPr sz="1350" b="1" i="0">
                <a:solidFill>
                  <a:srgbClr val="255CF0"/>
                </a:solidFill>
                <a:latin typeface="Arial"/>
              </a:rPr>
              <a:t>REQ-FUNC-006</a:t>
            </a:r>
          </a:p>
        </p:txBody>
      </p:sp>
      <p:sp>
        <p:nvSpPr>
          <p:cNvPr id="18" name="TextBox 17"/>
          <p:cNvSpPr txBox="1"/>
          <p:nvPr/>
        </p:nvSpPr>
        <p:spPr>
          <a:xfrm>
            <a:off x="8204200" y="2438400"/>
            <a:ext cx="3238500" cy="330200"/>
          </a:xfrm>
          <a:prstGeom prst="rect">
            <a:avLst/>
          </a:prstGeom>
          <a:noFill/>
        </p:spPr>
        <p:txBody>
          <a:bodyPr wrap="square" lIns="45720" rIns="45720" tIns="12700" bIns="12700" anchor="t">
            <a:spAutoFit/>
          </a:bodyPr>
          <a:lstStyle/>
          <a:p>
            <a:pPr algn="l"/>
            <a:r>
              <a:rPr sz="1700" b="1" i="0">
                <a:solidFill>
                  <a:srgbClr val="13263A"/>
                </a:solidFill>
                <a:latin typeface="Arial"/>
              </a:rPr>
              <a:t>Reject and regenerate</a:t>
            </a:r>
          </a:p>
        </p:txBody>
      </p:sp>
      <p:sp>
        <p:nvSpPr>
          <p:cNvPr id="19" name="TextBox 18"/>
          <p:cNvSpPr txBox="1"/>
          <p:nvPr/>
        </p:nvSpPr>
        <p:spPr>
          <a:xfrm>
            <a:off x="8204200" y="2819400"/>
            <a:ext cx="3238500" cy="838200"/>
          </a:xfrm>
          <a:prstGeom prst="rect">
            <a:avLst/>
          </a:prstGeom>
          <a:noFill/>
        </p:spPr>
        <p:txBody>
          <a:bodyPr wrap="square" lIns="45720" rIns="45720" tIns="12700" bIns="12700" anchor="t">
            <a:spAutoFit/>
          </a:bodyPr>
          <a:lstStyle/>
          <a:p>
            <a:pPr algn="l"/>
            <a:r>
              <a:rPr sz="1400" b="0" i="0">
                <a:solidFill>
                  <a:srgbClr val="647080"/>
                </a:solidFill>
                <a:latin typeface="Arial"/>
              </a:rPr>
              <a:t>New suggestions never repeat earlier ones in the same chain.</a:t>
            </a:r>
          </a:p>
        </p:txBody>
      </p:sp>
      <p:sp>
        <p:nvSpPr>
          <p:cNvPr id="20" name="Rectangle 19"/>
          <p:cNvSpPr/>
          <p:nvPr/>
        </p:nvSpPr>
        <p:spPr>
          <a:xfrm>
            <a:off x="635000" y="3937000"/>
            <a:ext cx="3543300" cy="19685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2800" y="4140200"/>
            <a:ext cx="330200" cy="3302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4</a:t>
            </a:r>
          </a:p>
        </p:txBody>
      </p:sp>
      <p:sp>
        <p:nvSpPr>
          <p:cNvPr id="22" name="TextBox 21"/>
          <p:cNvSpPr txBox="1"/>
          <p:nvPr/>
        </p:nvSpPr>
        <p:spPr>
          <a:xfrm>
            <a:off x="1244600" y="4165600"/>
            <a:ext cx="2794000" cy="279400"/>
          </a:xfrm>
          <a:prstGeom prst="rect">
            <a:avLst/>
          </a:prstGeom>
          <a:noFill/>
        </p:spPr>
        <p:txBody>
          <a:bodyPr wrap="square" lIns="45720" rIns="45720" tIns="12700" bIns="12700" anchor="t">
            <a:spAutoFit/>
          </a:bodyPr>
          <a:lstStyle/>
          <a:p>
            <a:pPr algn="l"/>
            <a:r>
              <a:rPr sz="1350" b="1" i="0">
                <a:solidFill>
                  <a:srgbClr val="255CF0"/>
                </a:solidFill>
                <a:latin typeface="Arial"/>
              </a:rPr>
              <a:t>REQ-SEC-001</a:t>
            </a:r>
          </a:p>
        </p:txBody>
      </p:sp>
      <p:sp>
        <p:nvSpPr>
          <p:cNvPr id="23" name="TextBox 22"/>
          <p:cNvSpPr txBox="1"/>
          <p:nvPr/>
        </p:nvSpPr>
        <p:spPr>
          <a:xfrm>
            <a:off x="812800" y="4597400"/>
            <a:ext cx="3238500" cy="330200"/>
          </a:xfrm>
          <a:prstGeom prst="rect">
            <a:avLst/>
          </a:prstGeom>
          <a:noFill/>
        </p:spPr>
        <p:txBody>
          <a:bodyPr wrap="square" lIns="45720" rIns="45720" tIns="12700" bIns="12700" anchor="t">
            <a:spAutoFit/>
          </a:bodyPr>
          <a:lstStyle/>
          <a:p>
            <a:pPr algn="l"/>
            <a:r>
              <a:rPr sz="1700" b="1" i="0">
                <a:solidFill>
                  <a:srgbClr val="13263A"/>
                </a:solidFill>
                <a:latin typeface="Arial"/>
              </a:rPr>
              <a:t>Photo minimisation</a:t>
            </a:r>
          </a:p>
        </p:txBody>
      </p:sp>
      <p:sp>
        <p:nvSpPr>
          <p:cNvPr id="24" name="TextBox 23"/>
          <p:cNvSpPr txBox="1"/>
          <p:nvPr/>
        </p:nvSpPr>
        <p:spPr>
          <a:xfrm>
            <a:off x="812800" y="4978400"/>
            <a:ext cx="3238500" cy="838200"/>
          </a:xfrm>
          <a:prstGeom prst="rect">
            <a:avLst/>
          </a:prstGeom>
          <a:noFill/>
        </p:spPr>
        <p:txBody>
          <a:bodyPr wrap="square" lIns="45720" rIns="45720" tIns="12700" bIns="12700" anchor="t">
            <a:spAutoFit/>
          </a:bodyPr>
          <a:lstStyle/>
          <a:p>
            <a:pPr algn="l"/>
            <a:r>
              <a:rPr sz="1400" b="0" i="0">
                <a:solidFill>
                  <a:srgbClr val="647080"/>
                </a:solidFill>
                <a:latin typeface="Arial"/>
              </a:rPr>
              <a:t>Resized to 1024 px, re-encoded without EXIF, raw photo never stored.</a:t>
            </a:r>
          </a:p>
        </p:txBody>
      </p:sp>
      <p:sp>
        <p:nvSpPr>
          <p:cNvPr id="25" name="Rectangle 24"/>
          <p:cNvSpPr/>
          <p:nvPr/>
        </p:nvSpPr>
        <p:spPr>
          <a:xfrm>
            <a:off x="4330700" y="3937000"/>
            <a:ext cx="3543300" cy="19685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508500" y="4140200"/>
            <a:ext cx="330200" cy="3302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5</a:t>
            </a:r>
          </a:p>
        </p:txBody>
      </p:sp>
      <p:sp>
        <p:nvSpPr>
          <p:cNvPr id="27" name="TextBox 26"/>
          <p:cNvSpPr txBox="1"/>
          <p:nvPr/>
        </p:nvSpPr>
        <p:spPr>
          <a:xfrm>
            <a:off x="4940300" y="4165600"/>
            <a:ext cx="2794000" cy="279400"/>
          </a:xfrm>
          <a:prstGeom prst="rect">
            <a:avLst/>
          </a:prstGeom>
          <a:noFill/>
        </p:spPr>
        <p:txBody>
          <a:bodyPr wrap="square" lIns="45720" rIns="45720" tIns="12700" bIns="12700" anchor="t">
            <a:spAutoFit/>
          </a:bodyPr>
          <a:lstStyle/>
          <a:p>
            <a:pPr algn="l"/>
            <a:r>
              <a:rPr sz="1350" b="1" i="0">
                <a:solidFill>
                  <a:srgbClr val="255CF0"/>
                </a:solidFill>
                <a:latin typeface="Arial"/>
              </a:rPr>
              <a:t>REQ-ML-004</a:t>
            </a:r>
          </a:p>
        </p:txBody>
      </p:sp>
      <p:sp>
        <p:nvSpPr>
          <p:cNvPr id="28" name="TextBox 27"/>
          <p:cNvSpPr txBox="1"/>
          <p:nvPr/>
        </p:nvSpPr>
        <p:spPr>
          <a:xfrm>
            <a:off x="4508500" y="4597400"/>
            <a:ext cx="3238500" cy="330200"/>
          </a:xfrm>
          <a:prstGeom prst="rect">
            <a:avLst/>
          </a:prstGeom>
          <a:noFill/>
        </p:spPr>
        <p:txBody>
          <a:bodyPr wrap="square" lIns="45720" rIns="45720" tIns="12700" bIns="12700" anchor="t">
            <a:spAutoFit/>
          </a:bodyPr>
          <a:lstStyle/>
          <a:p>
            <a:pPr algn="l"/>
            <a:r>
              <a:rPr sz="1700" b="1" i="0">
                <a:solidFill>
                  <a:srgbClr val="13263A"/>
                </a:solidFill>
                <a:latin typeface="Arial"/>
              </a:rPr>
              <a:t>No deception</a:t>
            </a:r>
          </a:p>
        </p:txBody>
      </p:sp>
      <p:sp>
        <p:nvSpPr>
          <p:cNvPr id="29" name="TextBox 28"/>
          <p:cNvSpPr txBox="1"/>
          <p:nvPr/>
        </p:nvSpPr>
        <p:spPr>
          <a:xfrm>
            <a:off x="4508500" y="4978400"/>
            <a:ext cx="3238500" cy="838200"/>
          </a:xfrm>
          <a:prstGeom prst="rect">
            <a:avLst/>
          </a:prstGeom>
          <a:noFill/>
        </p:spPr>
        <p:txBody>
          <a:bodyPr wrap="square" lIns="45720" rIns="45720" tIns="12700" bIns="12700" anchor="t">
            <a:spAutoFit/>
          </a:bodyPr>
          <a:lstStyle/>
          <a:p>
            <a:pPr algn="l"/>
            <a:r>
              <a:rPr sz="1400" b="0" i="0">
                <a:solidFill>
                  <a:srgbClr val="647080"/>
                </a:solidFill>
                <a:latin typeface="Arial"/>
              </a:rPr>
              <a:t>Mock mode and the image-analysed flag are shown truthfully.</a:t>
            </a:r>
          </a:p>
        </p:txBody>
      </p:sp>
      <p:sp>
        <p:nvSpPr>
          <p:cNvPr id="30" name="Rectangle 29"/>
          <p:cNvSpPr/>
          <p:nvPr/>
        </p:nvSpPr>
        <p:spPr>
          <a:xfrm>
            <a:off x="8026400" y="3937000"/>
            <a:ext cx="3543300" cy="19685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204200" y="4140200"/>
            <a:ext cx="330200" cy="3302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6</a:t>
            </a:r>
          </a:p>
        </p:txBody>
      </p:sp>
      <p:sp>
        <p:nvSpPr>
          <p:cNvPr id="32" name="TextBox 31"/>
          <p:cNvSpPr txBox="1"/>
          <p:nvPr/>
        </p:nvSpPr>
        <p:spPr>
          <a:xfrm>
            <a:off x="8636000" y="4165600"/>
            <a:ext cx="2794000" cy="279400"/>
          </a:xfrm>
          <a:prstGeom prst="rect">
            <a:avLst/>
          </a:prstGeom>
          <a:noFill/>
        </p:spPr>
        <p:txBody>
          <a:bodyPr wrap="square" lIns="45720" rIns="45720" tIns="12700" bIns="12700" anchor="t">
            <a:spAutoFit/>
          </a:bodyPr>
          <a:lstStyle/>
          <a:p>
            <a:pPr algn="l"/>
            <a:r>
              <a:rPr sz="1350" b="1" i="0">
                <a:solidFill>
                  <a:srgbClr val="255CF0"/>
                </a:solidFill>
                <a:latin typeface="Arial"/>
              </a:rPr>
              <a:t>REQ-SEC-005</a:t>
            </a:r>
          </a:p>
        </p:txBody>
      </p:sp>
      <p:sp>
        <p:nvSpPr>
          <p:cNvPr id="33" name="TextBox 32"/>
          <p:cNvSpPr txBox="1"/>
          <p:nvPr/>
        </p:nvSpPr>
        <p:spPr>
          <a:xfrm>
            <a:off x="8204200" y="4597400"/>
            <a:ext cx="3238500" cy="330200"/>
          </a:xfrm>
          <a:prstGeom prst="rect">
            <a:avLst/>
          </a:prstGeom>
          <a:noFill/>
        </p:spPr>
        <p:txBody>
          <a:bodyPr wrap="square" lIns="45720" rIns="45720" tIns="12700" bIns="12700" anchor="t">
            <a:spAutoFit/>
          </a:bodyPr>
          <a:lstStyle/>
          <a:p>
            <a:pPr algn="l"/>
            <a:r>
              <a:rPr sz="1700" b="1" i="0">
                <a:solidFill>
                  <a:srgbClr val="13263A"/>
                </a:solidFill>
                <a:latin typeface="Arial"/>
              </a:rPr>
              <a:t>Ownership</a:t>
            </a:r>
          </a:p>
        </p:txBody>
      </p:sp>
      <p:sp>
        <p:nvSpPr>
          <p:cNvPr id="34" name="TextBox 33"/>
          <p:cNvSpPr txBox="1"/>
          <p:nvPr/>
        </p:nvSpPr>
        <p:spPr>
          <a:xfrm>
            <a:off x="8204200" y="4978400"/>
            <a:ext cx="3238500" cy="838200"/>
          </a:xfrm>
          <a:prstGeom prst="rect">
            <a:avLst/>
          </a:prstGeom>
          <a:noFill/>
        </p:spPr>
        <p:txBody>
          <a:bodyPr wrap="square" lIns="45720" rIns="45720" tIns="12700" bIns="12700" anchor="t">
            <a:spAutoFit/>
          </a:bodyPr>
          <a:lstStyle/>
          <a:p>
            <a:pPr algn="l"/>
            <a:r>
              <a:rPr sz="1400" b="0" i="0">
                <a:solidFill>
                  <a:srgbClr val="647080"/>
                </a:solidFill>
                <a:latin typeface="Arial"/>
              </a:rPr>
              <a:t>Before any public trial, each user sees only their own records.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F4F0"/>
        </a:solidFill>
        <a:effectLst/>
      </p:bgPr>
    </p:bg>
    <p:spTree>
      <p:nvGrpSpPr>
        <p:cNvPr id="1" name=""/>
        <p:cNvGrpSpPr/>
        <p:nvPr/>
      </p:nvGrpSpPr>
      <p:grpSpPr/>
      <p:sp>
        <p:nvSpPr>
          <p:cNvPr id="2" name="TextBox 1"/>
          <p:cNvSpPr txBox="1"/>
          <p:nvPr/>
        </p:nvSpPr>
        <p:spPr>
          <a:xfrm>
            <a:off x="609600" y="457200"/>
            <a:ext cx="10960100" cy="558800"/>
          </a:xfrm>
          <a:prstGeom prst="rect">
            <a:avLst/>
          </a:prstGeom>
          <a:noFill/>
        </p:spPr>
        <p:txBody>
          <a:bodyPr wrap="square" lIns="45720" rIns="45720" tIns="12700" bIns="12700" anchor="ctr">
            <a:spAutoFit/>
          </a:bodyPr>
          <a:lstStyle/>
          <a:p>
            <a:pPr algn="l"/>
            <a:r>
              <a:rPr sz="3300" b="1" i="0">
                <a:solidFill>
                  <a:srgbClr val="13263A"/>
                </a:solidFill>
                <a:latin typeface="Arial"/>
              </a:rPr>
              <a:t>SRS v0.3: verification status and open decisions</a:t>
            </a:r>
          </a:p>
        </p:txBody>
      </p:sp>
      <p:sp>
        <p:nvSpPr>
          <p:cNvPr id="3" name="TextBox 2"/>
          <p:cNvSpPr txBox="1"/>
          <p:nvPr/>
        </p:nvSpPr>
        <p:spPr>
          <a:xfrm>
            <a:off x="635000" y="1219200"/>
            <a:ext cx="10566400" cy="330200"/>
          </a:xfrm>
          <a:prstGeom prst="rect">
            <a:avLst/>
          </a:prstGeom>
          <a:noFill/>
        </p:spPr>
        <p:txBody>
          <a:bodyPr wrap="square" lIns="45720" rIns="45720" tIns="12700" bIns="12700" anchor="t">
            <a:spAutoFit/>
          </a:bodyPr>
          <a:lstStyle/>
          <a:p>
            <a:pPr algn="l"/>
            <a:r>
              <a:rPr sz="1800" b="0" i="0">
                <a:solidFill>
                  <a:srgbClr val="647080"/>
                </a:solidFill>
                <a:latin typeface="Arial"/>
              </a:rPr>
              <a:t>01  Technical progress  ·  SRS chapter 4 and appendix B</a:t>
            </a:r>
          </a:p>
        </p:txBody>
      </p:sp>
      <p:sp>
        <p:nvSpPr>
          <p:cNvPr id="4" name="TextBox 3"/>
          <p:cNvSpPr txBox="1"/>
          <p:nvPr/>
        </p:nvSpPr>
        <p:spPr>
          <a:xfrm>
            <a:off x="11049000" y="6248400"/>
            <a:ext cx="533400" cy="279400"/>
          </a:xfrm>
          <a:prstGeom prst="rect">
            <a:avLst/>
          </a:prstGeom>
          <a:noFill/>
        </p:spPr>
        <p:txBody>
          <a:bodyPr wrap="square" lIns="45720" rIns="45720" tIns="12700" bIns="12700" anchor="t">
            <a:spAutoFit/>
          </a:bodyPr>
          <a:lstStyle/>
          <a:p>
            <a:pPr algn="l"/>
            <a:r>
              <a:rPr sz="1350" b="0" i="0">
                <a:solidFill>
                  <a:srgbClr val="647080"/>
                </a:solidFill>
                <a:latin typeface="Arial"/>
              </a:rPr>
              <a:t>09</a:t>
            </a:r>
          </a:p>
        </p:txBody>
      </p:sp>
      <p:sp>
        <p:nvSpPr>
          <p:cNvPr id="5" name="Rectangle 4"/>
          <p:cNvSpPr/>
          <p:nvPr/>
        </p:nvSpPr>
        <p:spPr>
          <a:xfrm>
            <a:off x="635000" y="1778000"/>
            <a:ext cx="2603500" cy="1752600"/>
          </a:xfrm>
          <a:prstGeom prst="rect">
            <a:avLst/>
          </a:prstGeom>
          <a:solidFill>
            <a:srgbClr val="13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1879600"/>
            <a:ext cx="2349500" cy="584200"/>
          </a:xfrm>
          <a:prstGeom prst="rect">
            <a:avLst/>
          </a:prstGeom>
          <a:noFill/>
        </p:spPr>
        <p:txBody>
          <a:bodyPr wrap="square" lIns="45720" rIns="45720" tIns="12700" bIns="12700" anchor="t">
            <a:spAutoFit/>
          </a:bodyPr>
          <a:lstStyle/>
          <a:p>
            <a:pPr algn="l"/>
            <a:r>
              <a:rPr sz="3400" b="1" i="0">
                <a:solidFill>
                  <a:srgbClr val="FFFFFF"/>
                </a:solidFill>
                <a:latin typeface="Arial"/>
              </a:rPr>
              <a:t>19</a:t>
            </a:r>
          </a:p>
        </p:txBody>
      </p:sp>
      <p:sp>
        <p:nvSpPr>
          <p:cNvPr id="7" name="TextBox 6"/>
          <p:cNvSpPr txBox="1"/>
          <p:nvPr/>
        </p:nvSpPr>
        <p:spPr>
          <a:xfrm>
            <a:off x="762000" y="2438400"/>
            <a:ext cx="2349500" cy="1016000"/>
          </a:xfrm>
          <a:prstGeom prst="rect">
            <a:avLst/>
          </a:prstGeom>
          <a:noFill/>
        </p:spPr>
        <p:txBody>
          <a:bodyPr wrap="square" lIns="45720" rIns="45720" tIns="12700" bIns="12700" anchor="t">
            <a:spAutoFit/>
          </a:bodyPr>
          <a:lstStyle/>
          <a:p>
            <a:pPr algn="l"/>
            <a:r>
              <a:rPr sz="1350" b="0" i="0">
                <a:solidFill>
                  <a:srgbClr val="D5DCE8"/>
                </a:solidFill>
                <a:latin typeface="Arial"/>
              </a:rPr>
              <a:t>passed (5 of them partly)</a:t>
            </a:r>
          </a:p>
        </p:txBody>
      </p:sp>
      <p:sp>
        <p:nvSpPr>
          <p:cNvPr id="8" name="Rectangle 7"/>
          <p:cNvSpPr/>
          <p:nvPr/>
        </p:nvSpPr>
        <p:spPr>
          <a:xfrm>
            <a:off x="3378200" y="1778000"/>
            <a:ext cx="2603500" cy="17526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05200" y="1879600"/>
            <a:ext cx="2349500" cy="584200"/>
          </a:xfrm>
          <a:prstGeom prst="rect">
            <a:avLst/>
          </a:prstGeom>
          <a:noFill/>
        </p:spPr>
        <p:txBody>
          <a:bodyPr wrap="square" lIns="45720" rIns="45720" tIns="12700" bIns="12700" anchor="t">
            <a:spAutoFit/>
          </a:bodyPr>
          <a:lstStyle/>
          <a:p>
            <a:pPr algn="l"/>
            <a:r>
              <a:rPr sz="3400" b="1" i="0">
                <a:solidFill>
                  <a:srgbClr val="255CF0"/>
                </a:solidFill>
                <a:latin typeface="Arial"/>
              </a:rPr>
              <a:t>8</a:t>
            </a:r>
          </a:p>
        </p:txBody>
      </p:sp>
      <p:sp>
        <p:nvSpPr>
          <p:cNvPr id="10" name="TextBox 9"/>
          <p:cNvSpPr txBox="1"/>
          <p:nvPr/>
        </p:nvSpPr>
        <p:spPr>
          <a:xfrm>
            <a:off x="3505200" y="2438400"/>
            <a:ext cx="2349500" cy="1016000"/>
          </a:xfrm>
          <a:prstGeom prst="rect">
            <a:avLst/>
          </a:prstGeom>
          <a:noFill/>
        </p:spPr>
        <p:txBody>
          <a:bodyPr wrap="square" lIns="45720" rIns="45720" tIns="12700" bIns="12700" anchor="t">
            <a:spAutoFit/>
          </a:bodyPr>
          <a:lstStyle/>
          <a:p>
            <a:pPr algn="l"/>
            <a:r>
              <a:rPr sz="1350" b="0" i="0">
                <a:solidFill>
                  <a:srgbClr val="647080"/>
                </a:solidFill>
                <a:latin typeface="Arial"/>
              </a:rPr>
              <a:t>in progress</a:t>
            </a:r>
          </a:p>
        </p:txBody>
      </p:sp>
      <p:sp>
        <p:nvSpPr>
          <p:cNvPr id="11" name="Rectangle 10"/>
          <p:cNvSpPr/>
          <p:nvPr/>
        </p:nvSpPr>
        <p:spPr>
          <a:xfrm>
            <a:off x="635000" y="3683000"/>
            <a:ext cx="2603500" cy="17526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3784600"/>
            <a:ext cx="2349500" cy="584200"/>
          </a:xfrm>
          <a:prstGeom prst="rect">
            <a:avLst/>
          </a:prstGeom>
          <a:noFill/>
        </p:spPr>
        <p:txBody>
          <a:bodyPr wrap="square" lIns="45720" rIns="45720" tIns="12700" bIns="12700" anchor="t">
            <a:spAutoFit/>
          </a:bodyPr>
          <a:lstStyle/>
          <a:p>
            <a:pPr algn="l"/>
            <a:r>
              <a:rPr sz="3400" b="1" i="0">
                <a:solidFill>
                  <a:srgbClr val="255CF0"/>
                </a:solidFill>
                <a:latin typeface="Arial"/>
              </a:rPr>
              <a:t>6</a:t>
            </a:r>
          </a:p>
        </p:txBody>
      </p:sp>
      <p:sp>
        <p:nvSpPr>
          <p:cNvPr id="13" name="TextBox 12"/>
          <p:cNvSpPr txBox="1"/>
          <p:nvPr/>
        </p:nvSpPr>
        <p:spPr>
          <a:xfrm>
            <a:off x="762000" y="4343400"/>
            <a:ext cx="2349500" cy="1016000"/>
          </a:xfrm>
          <a:prstGeom prst="rect">
            <a:avLst/>
          </a:prstGeom>
          <a:noFill/>
        </p:spPr>
        <p:txBody>
          <a:bodyPr wrap="square" lIns="45720" rIns="45720" tIns="12700" bIns="12700" anchor="t">
            <a:spAutoFit/>
          </a:bodyPr>
          <a:lstStyle/>
          <a:p>
            <a:pPr algn="l"/>
            <a:r>
              <a:rPr sz="1350" b="0" i="0">
                <a:solidFill>
                  <a:srgbClr val="647080"/>
                </a:solidFill>
                <a:latin typeface="Arial"/>
              </a:rPr>
              <a:t>demonstrations not yet run</a:t>
            </a:r>
          </a:p>
        </p:txBody>
      </p:sp>
      <p:sp>
        <p:nvSpPr>
          <p:cNvPr id="14" name="Rectangle 13"/>
          <p:cNvSpPr/>
          <p:nvPr/>
        </p:nvSpPr>
        <p:spPr>
          <a:xfrm>
            <a:off x="3378200" y="3683000"/>
            <a:ext cx="2603500" cy="17526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05200" y="3784600"/>
            <a:ext cx="2349500" cy="584200"/>
          </a:xfrm>
          <a:prstGeom prst="rect">
            <a:avLst/>
          </a:prstGeom>
          <a:noFill/>
        </p:spPr>
        <p:txBody>
          <a:bodyPr wrap="square" lIns="45720" rIns="45720" tIns="12700" bIns="12700" anchor="t">
            <a:spAutoFit/>
          </a:bodyPr>
          <a:lstStyle/>
          <a:p>
            <a:pPr algn="l"/>
            <a:r>
              <a:rPr sz="3400" b="1" i="0">
                <a:solidFill>
                  <a:srgbClr val="255CF0"/>
                </a:solidFill>
                <a:latin typeface="Arial"/>
              </a:rPr>
              <a:t>12</a:t>
            </a:r>
          </a:p>
        </p:txBody>
      </p:sp>
      <p:sp>
        <p:nvSpPr>
          <p:cNvPr id="16" name="TextBox 15"/>
          <p:cNvSpPr txBox="1"/>
          <p:nvPr/>
        </p:nvSpPr>
        <p:spPr>
          <a:xfrm>
            <a:off x="3505200" y="4343400"/>
            <a:ext cx="2349500" cy="1016000"/>
          </a:xfrm>
          <a:prstGeom prst="rect">
            <a:avLst/>
          </a:prstGeom>
          <a:noFill/>
        </p:spPr>
        <p:txBody>
          <a:bodyPr wrap="square" lIns="45720" rIns="45720" tIns="12700" bIns="12700" anchor="t">
            <a:spAutoFit/>
          </a:bodyPr>
          <a:lstStyle/>
          <a:p>
            <a:pPr algn="l"/>
            <a:r>
              <a:rPr sz="1350" b="0" i="0">
                <a:solidFill>
                  <a:srgbClr val="647080"/>
                </a:solidFill>
                <a:latin typeface="Arial"/>
              </a:rPr>
              <a:t>not started</a:t>
            </a:r>
          </a:p>
        </p:txBody>
      </p:sp>
      <p:sp>
        <p:nvSpPr>
          <p:cNvPr id="17" name="TextBox 16"/>
          <p:cNvSpPr txBox="1"/>
          <p:nvPr/>
        </p:nvSpPr>
        <p:spPr>
          <a:xfrm>
            <a:off x="635000" y="5651500"/>
            <a:ext cx="5397500" cy="508000"/>
          </a:xfrm>
          <a:prstGeom prst="rect">
            <a:avLst/>
          </a:prstGeom>
          <a:noFill/>
        </p:spPr>
        <p:txBody>
          <a:bodyPr wrap="square" lIns="45720" rIns="45720" tIns="12700" bIns="12700" anchor="t">
            <a:spAutoFit/>
          </a:bodyPr>
          <a:lstStyle/>
          <a:p>
            <a:pPr algn="l"/>
            <a:r>
              <a:rPr sz="1350" b="0" i="0">
                <a:solidFill>
                  <a:srgbClr val="647080"/>
                </a:solidFill>
                <a:latin typeface="Arial"/>
              </a:rPr>
              <a:t>Of 45 requirements · week 6 snapshot in chapter 4, not a new test run</a:t>
            </a:r>
          </a:p>
        </p:txBody>
      </p:sp>
      <p:sp>
        <p:nvSpPr>
          <p:cNvPr id="18" name="TextBox 17"/>
          <p:cNvSpPr txBox="1"/>
          <p:nvPr/>
        </p:nvSpPr>
        <p:spPr>
          <a:xfrm>
            <a:off x="6261100" y="1778000"/>
            <a:ext cx="5308600" cy="368300"/>
          </a:xfrm>
          <a:prstGeom prst="rect">
            <a:avLst/>
          </a:prstGeom>
          <a:noFill/>
        </p:spPr>
        <p:txBody>
          <a:bodyPr wrap="square" lIns="45720" rIns="45720" tIns="12700" bIns="12700" anchor="t">
            <a:spAutoFit/>
          </a:bodyPr>
          <a:lstStyle/>
          <a:p>
            <a:pPr algn="l"/>
            <a:r>
              <a:rPr sz="1650" b="1" i="0">
                <a:solidFill>
                  <a:srgbClr val="255CF0"/>
                </a:solidFill>
                <a:latin typeface="Arial"/>
              </a:rPr>
              <a:t>OPEN DECISIONS (APPENDIX B)</a:t>
            </a:r>
          </a:p>
        </p:txBody>
      </p:sp>
      <p:sp>
        <p:nvSpPr>
          <p:cNvPr id="19" name="Oval 18"/>
          <p:cNvSpPr/>
          <p:nvPr/>
        </p:nvSpPr>
        <p:spPr>
          <a:xfrm>
            <a:off x="6261100" y="2273300"/>
            <a:ext cx="266700" cy="2667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20" name="TextBox 19"/>
          <p:cNvSpPr txBox="1"/>
          <p:nvPr/>
        </p:nvSpPr>
        <p:spPr>
          <a:xfrm>
            <a:off x="6629400" y="2260600"/>
            <a:ext cx="4940300" cy="304800"/>
          </a:xfrm>
          <a:prstGeom prst="rect">
            <a:avLst/>
          </a:prstGeom>
          <a:noFill/>
        </p:spPr>
        <p:txBody>
          <a:bodyPr wrap="square" lIns="45720" rIns="45720" tIns="12700" bIns="12700" anchor="t">
            <a:spAutoFit/>
          </a:bodyPr>
          <a:lstStyle/>
          <a:p>
            <a:pPr algn="l"/>
            <a:r>
              <a:rPr sz="1400" b="0" i="0">
                <a:solidFill>
                  <a:srgbClr val="13263A"/>
                </a:solidFill>
                <a:latin typeface="Arial"/>
              </a:rPr>
              <a:t>Accessibility target, keyboard and touch</a:t>
            </a:r>
          </a:p>
        </p:txBody>
      </p:sp>
      <p:sp>
        <p:nvSpPr>
          <p:cNvPr id="21" name="Oval 20"/>
          <p:cNvSpPr/>
          <p:nvPr/>
        </p:nvSpPr>
        <p:spPr>
          <a:xfrm>
            <a:off x="6261100" y="2654300"/>
            <a:ext cx="266700" cy="2667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22" name="TextBox 21"/>
          <p:cNvSpPr txBox="1"/>
          <p:nvPr/>
        </p:nvSpPr>
        <p:spPr>
          <a:xfrm>
            <a:off x="6629400" y="2641600"/>
            <a:ext cx="4940300" cy="304800"/>
          </a:xfrm>
          <a:prstGeom prst="rect">
            <a:avLst/>
          </a:prstGeom>
          <a:noFill/>
        </p:spPr>
        <p:txBody>
          <a:bodyPr wrap="square" lIns="45720" rIns="45720" tIns="12700" bIns="12700" anchor="t">
            <a:spAutoFit/>
          </a:bodyPr>
          <a:lstStyle/>
          <a:p>
            <a:pPr algn="l"/>
            <a:r>
              <a:rPr sz="1400" b="0" i="0">
                <a:solidFill>
                  <a:srgbClr val="13263A"/>
                </a:solidFill>
                <a:latin typeface="Arial"/>
              </a:rPr>
              <a:t>Symbol and icon licence</a:t>
            </a:r>
          </a:p>
        </p:txBody>
      </p:sp>
      <p:sp>
        <p:nvSpPr>
          <p:cNvPr id="23" name="Oval 22"/>
          <p:cNvSpPr/>
          <p:nvPr/>
        </p:nvSpPr>
        <p:spPr>
          <a:xfrm>
            <a:off x="6261100" y="3035300"/>
            <a:ext cx="266700" cy="2667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24" name="TextBox 23"/>
          <p:cNvSpPr txBox="1"/>
          <p:nvPr/>
        </p:nvSpPr>
        <p:spPr>
          <a:xfrm>
            <a:off x="6629400" y="3022600"/>
            <a:ext cx="4940300" cy="304800"/>
          </a:xfrm>
          <a:prstGeom prst="rect">
            <a:avLst/>
          </a:prstGeom>
          <a:noFill/>
        </p:spPr>
        <p:txBody>
          <a:bodyPr wrap="square" lIns="45720" rIns="45720" tIns="12700" bIns="12700" anchor="t">
            <a:spAutoFit/>
          </a:bodyPr>
          <a:lstStyle/>
          <a:p>
            <a:pPr algn="l"/>
            <a:r>
              <a:rPr sz="1400" b="0" i="0">
                <a:solidFill>
                  <a:srgbClr val="13263A"/>
                </a:solidFill>
                <a:latin typeface="Arial"/>
              </a:rPr>
              <a:t>Real AI provider and evaluation set</a:t>
            </a:r>
          </a:p>
        </p:txBody>
      </p:sp>
      <p:sp>
        <p:nvSpPr>
          <p:cNvPr id="25" name="Oval 24"/>
          <p:cNvSpPr/>
          <p:nvPr/>
        </p:nvSpPr>
        <p:spPr>
          <a:xfrm>
            <a:off x="6261100" y="3416300"/>
            <a:ext cx="266700" cy="2667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4</a:t>
            </a:r>
          </a:p>
        </p:txBody>
      </p:sp>
      <p:sp>
        <p:nvSpPr>
          <p:cNvPr id="26" name="TextBox 25"/>
          <p:cNvSpPr txBox="1"/>
          <p:nvPr/>
        </p:nvSpPr>
        <p:spPr>
          <a:xfrm>
            <a:off x="6629400" y="3403600"/>
            <a:ext cx="4940300" cy="304800"/>
          </a:xfrm>
          <a:prstGeom prst="rect">
            <a:avLst/>
          </a:prstGeom>
          <a:noFill/>
        </p:spPr>
        <p:txBody>
          <a:bodyPr wrap="square" lIns="45720" rIns="45720" tIns="12700" bIns="12700" anchor="t">
            <a:spAutoFit/>
          </a:bodyPr>
          <a:lstStyle/>
          <a:p>
            <a:pPr algn="l"/>
            <a:r>
              <a:rPr sz="1400" b="0" i="0">
                <a:solidFill>
                  <a:srgbClr val="13263A"/>
                </a:solidFill>
                <a:latin typeface="Arial"/>
              </a:rPr>
              <a:t>Latency and timeout thresholds</a:t>
            </a:r>
          </a:p>
        </p:txBody>
      </p:sp>
      <p:sp>
        <p:nvSpPr>
          <p:cNvPr id="27" name="Oval 26"/>
          <p:cNvSpPr/>
          <p:nvPr/>
        </p:nvSpPr>
        <p:spPr>
          <a:xfrm>
            <a:off x="6261100" y="3797300"/>
            <a:ext cx="266700" cy="2667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5</a:t>
            </a:r>
          </a:p>
        </p:txBody>
      </p:sp>
      <p:sp>
        <p:nvSpPr>
          <p:cNvPr id="28" name="TextBox 27"/>
          <p:cNvSpPr txBox="1"/>
          <p:nvPr/>
        </p:nvSpPr>
        <p:spPr>
          <a:xfrm>
            <a:off x="6629400" y="3784600"/>
            <a:ext cx="4940300" cy="304800"/>
          </a:xfrm>
          <a:prstGeom prst="rect">
            <a:avLst/>
          </a:prstGeom>
          <a:noFill/>
        </p:spPr>
        <p:txBody>
          <a:bodyPr wrap="square" lIns="45720" rIns="45720" tIns="12700" bIns="12700" anchor="t">
            <a:spAutoFit/>
          </a:bodyPr>
          <a:lstStyle/>
          <a:p>
            <a:pPr algn="l"/>
            <a:r>
              <a:rPr sz="1400" b="0" i="0">
                <a:solidFill>
                  <a:srgbClr val="13263A"/>
                </a:solidFill>
                <a:latin typeface="Arial"/>
              </a:rPr>
              <a:t>Hosting and availability target</a:t>
            </a:r>
          </a:p>
        </p:txBody>
      </p:sp>
      <p:sp>
        <p:nvSpPr>
          <p:cNvPr id="29" name="Oval 28"/>
          <p:cNvSpPr/>
          <p:nvPr/>
        </p:nvSpPr>
        <p:spPr>
          <a:xfrm>
            <a:off x="6261100" y="4178300"/>
            <a:ext cx="266700" cy="2667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6</a:t>
            </a:r>
          </a:p>
        </p:txBody>
      </p:sp>
      <p:sp>
        <p:nvSpPr>
          <p:cNvPr id="30" name="TextBox 29"/>
          <p:cNvSpPr txBox="1"/>
          <p:nvPr/>
        </p:nvSpPr>
        <p:spPr>
          <a:xfrm>
            <a:off x="6629400" y="4165600"/>
            <a:ext cx="4940300" cy="304800"/>
          </a:xfrm>
          <a:prstGeom prst="rect">
            <a:avLst/>
          </a:prstGeom>
          <a:noFill/>
        </p:spPr>
        <p:txBody>
          <a:bodyPr wrap="square" lIns="45720" rIns="45720" tIns="12700" bIns="12700" anchor="t">
            <a:spAutoFit/>
          </a:bodyPr>
          <a:lstStyle/>
          <a:p>
            <a:pPr algn="l"/>
            <a:r>
              <a:rPr sz="1400" b="0" i="0">
                <a:solidFill>
                  <a:srgbClr val="13263A"/>
                </a:solidFill>
                <a:latin typeface="Arial"/>
              </a:rPr>
              <a:t>Login: authentication and ownership</a:t>
            </a:r>
          </a:p>
        </p:txBody>
      </p:sp>
      <p:sp>
        <p:nvSpPr>
          <p:cNvPr id="31" name="Oval 30"/>
          <p:cNvSpPr/>
          <p:nvPr/>
        </p:nvSpPr>
        <p:spPr>
          <a:xfrm>
            <a:off x="6261100" y="4559300"/>
            <a:ext cx="266700" cy="2667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7</a:t>
            </a:r>
          </a:p>
        </p:txBody>
      </p:sp>
      <p:sp>
        <p:nvSpPr>
          <p:cNvPr id="32" name="TextBox 31"/>
          <p:cNvSpPr txBox="1"/>
          <p:nvPr/>
        </p:nvSpPr>
        <p:spPr>
          <a:xfrm>
            <a:off x="6629400" y="4546600"/>
            <a:ext cx="4940300" cy="304800"/>
          </a:xfrm>
          <a:prstGeom prst="rect">
            <a:avLst/>
          </a:prstGeom>
          <a:noFill/>
        </p:spPr>
        <p:txBody>
          <a:bodyPr wrap="square" lIns="45720" rIns="45720" tIns="12700" bIns="12700" anchor="t">
            <a:spAutoFit/>
          </a:bodyPr>
          <a:lstStyle/>
          <a:p>
            <a:pPr algn="l"/>
            <a:r>
              <a:rPr sz="1400" b="0" i="0">
                <a:solidFill>
                  <a:srgbClr val="13263A"/>
                </a:solidFill>
                <a:latin typeface="Arial"/>
              </a:rPr>
              <a:t>Rate and cost budgets</a:t>
            </a:r>
          </a:p>
        </p:txBody>
      </p:sp>
      <p:sp>
        <p:nvSpPr>
          <p:cNvPr id="33" name="Oval 32"/>
          <p:cNvSpPr/>
          <p:nvPr/>
        </p:nvSpPr>
        <p:spPr>
          <a:xfrm>
            <a:off x="6261100" y="4940300"/>
            <a:ext cx="266700" cy="2667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8</a:t>
            </a:r>
          </a:p>
        </p:txBody>
      </p:sp>
      <p:sp>
        <p:nvSpPr>
          <p:cNvPr id="34" name="TextBox 33"/>
          <p:cNvSpPr txBox="1"/>
          <p:nvPr/>
        </p:nvSpPr>
        <p:spPr>
          <a:xfrm>
            <a:off x="6629400" y="4927600"/>
            <a:ext cx="4940300" cy="304800"/>
          </a:xfrm>
          <a:prstGeom prst="rect">
            <a:avLst/>
          </a:prstGeom>
          <a:noFill/>
        </p:spPr>
        <p:txBody>
          <a:bodyPr wrap="square" lIns="45720" rIns="45720" tIns="12700" bIns="12700" anchor="t">
            <a:spAutoFit/>
          </a:bodyPr>
          <a:lstStyle/>
          <a:p>
            <a:pPr algn="l"/>
            <a:r>
              <a:rPr sz="1400" b="0" i="0">
                <a:solidFill>
                  <a:srgbClr val="13263A"/>
                </a:solidFill>
                <a:latin typeface="Arial"/>
              </a:rPr>
              <a:t>Consent, retention and deletion</a:t>
            </a:r>
          </a:p>
        </p:txBody>
      </p:sp>
      <p:sp>
        <p:nvSpPr>
          <p:cNvPr id="35" name="Oval 34"/>
          <p:cNvSpPr/>
          <p:nvPr/>
        </p:nvSpPr>
        <p:spPr>
          <a:xfrm>
            <a:off x="6261100" y="5321300"/>
            <a:ext cx="266700" cy="2667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9</a:t>
            </a:r>
          </a:p>
        </p:txBody>
      </p:sp>
      <p:sp>
        <p:nvSpPr>
          <p:cNvPr id="36" name="TextBox 35"/>
          <p:cNvSpPr txBox="1"/>
          <p:nvPr/>
        </p:nvSpPr>
        <p:spPr>
          <a:xfrm>
            <a:off x="6629400" y="5308600"/>
            <a:ext cx="4940300" cy="304800"/>
          </a:xfrm>
          <a:prstGeom prst="rect">
            <a:avLst/>
          </a:prstGeom>
          <a:noFill/>
        </p:spPr>
        <p:txBody>
          <a:bodyPr wrap="square" lIns="45720" rIns="45720" tIns="12700" bIns="12700" anchor="t">
            <a:spAutoFit/>
          </a:bodyPr>
          <a:lstStyle/>
          <a:p>
            <a:pPr algn="l"/>
            <a:r>
              <a:rPr sz="1400" b="0" i="0">
                <a:solidFill>
                  <a:srgbClr val="13263A"/>
                </a:solidFill>
                <a:latin typeface="Arial"/>
              </a:rPr>
              <a:t>Speech on browsers and devices</a:t>
            </a:r>
          </a:p>
        </p:txBody>
      </p:sp>
      <p:sp>
        <p:nvSpPr>
          <p:cNvPr id="37" name="Oval 36"/>
          <p:cNvSpPr/>
          <p:nvPr/>
        </p:nvSpPr>
        <p:spPr>
          <a:xfrm>
            <a:off x="6261100" y="5702300"/>
            <a:ext cx="266700" cy="2667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10</a:t>
            </a:r>
          </a:p>
        </p:txBody>
      </p:sp>
      <p:sp>
        <p:nvSpPr>
          <p:cNvPr id="38" name="TextBox 37"/>
          <p:cNvSpPr txBox="1"/>
          <p:nvPr/>
        </p:nvSpPr>
        <p:spPr>
          <a:xfrm>
            <a:off x="6629400" y="5689600"/>
            <a:ext cx="4940300" cy="304800"/>
          </a:xfrm>
          <a:prstGeom prst="rect">
            <a:avLst/>
          </a:prstGeom>
          <a:noFill/>
        </p:spPr>
        <p:txBody>
          <a:bodyPr wrap="square" lIns="45720" rIns="45720" tIns="12700" bIns="12700" anchor="t">
            <a:spAutoFit/>
          </a:bodyPr>
          <a:lstStyle/>
          <a:p>
            <a:pPr algn="l"/>
            <a:r>
              <a:rPr sz="1400" b="0" i="0">
                <a:solidFill>
                  <a:srgbClr val="13263A"/>
                </a:solidFill>
                <a:latin typeface="Arial"/>
              </a:rPr>
              <a:t>Scenario milestones and owners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F4F0"/>
        </a:solidFill>
        <a:effectLst/>
      </p:bgPr>
    </p:bg>
    <p:spTree>
      <p:nvGrpSpPr>
        <p:cNvPr id="1" name=""/>
        <p:cNvGrpSpPr/>
        <p:nvPr/>
      </p:nvGrpSpPr>
      <p:grpSpPr/>
      <p:sp>
        <p:nvSpPr>
          <p:cNvPr id="2" name="TextBox 1"/>
          <p:cNvSpPr txBox="1"/>
          <p:nvPr/>
        </p:nvSpPr>
        <p:spPr>
          <a:xfrm>
            <a:off x="609600" y="457200"/>
            <a:ext cx="10960100" cy="558800"/>
          </a:xfrm>
          <a:prstGeom prst="rect">
            <a:avLst/>
          </a:prstGeom>
          <a:noFill/>
        </p:spPr>
        <p:txBody>
          <a:bodyPr wrap="square" lIns="45720" rIns="45720" tIns="12700" bIns="12700" anchor="ctr">
            <a:spAutoFit/>
          </a:bodyPr>
          <a:lstStyle/>
          <a:p>
            <a:pPr algn="l"/>
            <a:r>
              <a:rPr sz="3300" b="1" i="0">
                <a:solidFill>
                  <a:srgbClr val="13263A"/>
                </a:solidFill>
                <a:latin typeface="Arial"/>
              </a:rPr>
              <a:t>SRS: what changed from v0.2 to v0.3</a:t>
            </a:r>
          </a:p>
        </p:txBody>
      </p:sp>
      <p:sp>
        <p:nvSpPr>
          <p:cNvPr id="3" name="TextBox 2"/>
          <p:cNvSpPr txBox="1"/>
          <p:nvPr/>
        </p:nvSpPr>
        <p:spPr>
          <a:xfrm>
            <a:off x="635000" y="1219200"/>
            <a:ext cx="10566400" cy="330200"/>
          </a:xfrm>
          <a:prstGeom prst="rect">
            <a:avLst/>
          </a:prstGeom>
          <a:noFill/>
        </p:spPr>
        <p:txBody>
          <a:bodyPr wrap="square" lIns="45720" rIns="45720" tIns="12700" bIns="12700" anchor="t">
            <a:spAutoFit/>
          </a:bodyPr>
          <a:lstStyle/>
          <a:p>
            <a:pPr algn="l"/>
            <a:r>
              <a:rPr sz="1800" b="0" i="0">
                <a:solidFill>
                  <a:srgbClr val="647080"/>
                </a:solidFill>
                <a:latin typeface="Arial"/>
              </a:rPr>
              <a:t>01  Technical progress  ·  Abid's draft compared with docs/requirements/SRS.md</a:t>
            </a:r>
          </a:p>
        </p:txBody>
      </p:sp>
      <p:sp>
        <p:nvSpPr>
          <p:cNvPr id="4" name="TextBox 3"/>
          <p:cNvSpPr txBox="1"/>
          <p:nvPr/>
        </p:nvSpPr>
        <p:spPr>
          <a:xfrm>
            <a:off x="11049000" y="6248400"/>
            <a:ext cx="533400" cy="279400"/>
          </a:xfrm>
          <a:prstGeom prst="rect">
            <a:avLst/>
          </a:prstGeom>
          <a:noFill/>
        </p:spPr>
        <p:txBody>
          <a:bodyPr wrap="square" lIns="45720" rIns="45720" tIns="12700" bIns="12700" anchor="t">
            <a:spAutoFit/>
          </a:bodyPr>
          <a:lstStyle/>
          <a:p>
            <a:pPr algn="l"/>
            <a:r>
              <a:rPr sz="1350" b="0" i="0">
                <a:solidFill>
                  <a:srgbClr val="647080"/>
                </a:solidFill>
                <a:latin typeface="Arial"/>
              </a:rPr>
              <a:t>10</a:t>
            </a:r>
          </a:p>
        </p:txBody>
      </p:sp>
      <p:sp>
        <p:nvSpPr>
          <p:cNvPr id="5" name="TextBox 4"/>
          <p:cNvSpPr txBox="1"/>
          <p:nvPr/>
        </p:nvSpPr>
        <p:spPr>
          <a:xfrm>
            <a:off x="635000" y="1778000"/>
            <a:ext cx="5397500" cy="368300"/>
          </a:xfrm>
          <a:prstGeom prst="rect">
            <a:avLst/>
          </a:prstGeom>
          <a:noFill/>
        </p:spPr>
        <p:txBody>
          <a:bodyPr wrap="square" lIns="45720" rIns="45720" tIns="12700" bIns="12700" anchor="t">
            <a:spAutoFit/>
          </a:bodyPr>
          <a:lstStyle/>
          <a:p>
            <a:pPr algn="l"/>
            <a:r>
              <a:rPr sz="1650" b="1" i="0">
                <a:solidFill>
                  <a:srgbClr val="255CF0"/>
                </a:solidFill>
                <a:latin typeface="Arial"/>
              </a:rPr>
              <a:t>ADDED IN v0.3</a:t>
            </a:r>
          </a:p>
        </p:txBody>
      </p:sp>
      <p:sp>
        <p:nvSpPr>
          <p:cNvPr id="6" name="TextBox 5"/>
          <p:cNvSpPr txBox="1"/>
          <p:nvPr/>
        </p:nvSpPr>
        <p:spPr>
          <a:xfrm>
            <a:off x="635000" y="22352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7" name="TextBox 6"/>
          <p:cNvSpPr txBox="1"/>
          <p:nvPr/>
        </p:nvSpPr>
        <p:spPr>
          <a:xfrm>
            <a:off x="990600" y="2235200"/>
            <a:ext cx="5041900" cy="584200"/>
          </a:xfrm>
          <a:prstGeom prst="rect">
            <a:avLst/>
          </a:prstGeom>
          <a:noFill/>
        </p:spPr>
        <p:txBody>
          <a:bodyPr wrap="square" lIns="45720" rIns="45720" tIns="12700" bIns="12700" anchor="t">
            <a:spAutoFit/>
          </a:bodyPr>
          <a:lstStyle/>
          <a:p>
            <a:pPr algn="l"/>
            <a:r>
              <a:rPr sz="1500" b="1" i="0">
                <a:solidFill>
                  <a:srgbClr val="13263A"/>
                </a:solidFill>
                <a:latin typeface="Arial"/>
              </a:rPr>
              <a:t>Owner and status</a:t>
            </a:r>
            <a:r>
              <a:rPr sz="1400" b="0" i="0">
                <a:solidFill>
                  <a:srgbClr val="13263A"/>
                </a:solidFill>
                <a:latin typeface="Arial"/>
              </a:rPr>
              <a:t>  </a:t>
            </a:r>
            <a:r>
              <a:rPr sz="1350" b="0" i="0">
                <a:solidFill>
                  <a:srgbClr val="647080"/>
                </a:solidFill>
                <a:latin typeface="Arial"/>
              </a:rPr>
              <a:t>for every requirement</a:t>
            </a:r>
          </a:p>
        </p:txBody>
      </p:sp>
      <p:sp>
        <p:nvSpPr>
          <p:cNvPr id="8" name="TextBox 7"/>
          <p:cNvSpPr txBox="1"/>
          <p:nvPr/>
        </p:nvSpPr>
        <p:spPr>
          <a:xfrm>
            <a:off x="635000" y="28448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9" name="TextBox 8"/>
          <p:cNvSpPr txBox="1"/>
          <p:nvPr/>
        </p:nvSpPr>
        <p:spPr>
          <a:xfrm>
            <a:off x="990600" y="2844800"/>
            <a:ext cx="5041900" cy="584200"/>
          </a:xfrm>
          <a:prstGeom prst="rect">
            <a:avLst/>
          </a:prstGeom>
          <a:noFill/>
        </p:spPr>
        <p:txBody>
          <a:bodyPr wrap="square" lIns="45720" rIns="45720" tIns="12700" bIns="12700" anchor="t">
            <a:spAutoFit/>
          </a:bodyPr>
          <a:lstStyle/>
          <a:p>
            <a:pPr algn="l"/>
            <a:r>
              <a:rPr sz="1500" b="1" i="0">
                <a:solidFill>
                  <a:srgbClr val="13263A"/>
                </a:solidFill>
                <a:latin typeface="Arial"/>
              </a:rPr>
              <a:t>Four diagrams</a:t>
            </a:r>
            <a:r>
              <a:rPr sz="1400" b="0" i="0">
                <a:solidFill>
                  <a:srgbClr val="13263A"/>
                </a:solidFill>
                <a:latin typeface="Arial"/>
              </a:rPr>
              <a:t>  </a:t>
            </a:r>
            <a:r>
              <a:rPr sz="1350" b="0" i="0">
                <a:solidFill>
                  <a:srgbClr val="647080"/>
                </a:solidFill>
                <a:latin typeface="Arial"/>
              </a:rPr>
              <a:t>WBS, use case, activity, architecture</a:t>
            </a:r>
          </a:p>
        </p:txBody>
      </p:sp>
      <p:sp>
        <p:nvSpPr>
          <p:cNvPr id="10" name="TextBox 9"/>
          <p:cNvSpPr txBox="1"/>
          <p:nvPr/>
        </p:nvSpPr>
        <p:spPr>
          <a:xfrm>
            <a:off x="635000" y="34544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11" name="TextBox 10"/>
          <p:cNvSpPr txBox="1"/>
          <p:nvPr/>
        </p:nvSpPr>
        <p:spPr>
          <a:xfrm>
            <a:off x="990600" y="3454400"/>
            <a:ext cx="5041900" cy="584200"/>
          </a:xfrm>
          <a:prstGeom prst="rect">
            <a:avLst/>
          </a:prstGeom>
          <a:noFill/>
        </p:spPr>
        <p:txBody>
          <a:bodyPr wrap="square" lIns="45720" rIns="45720" tIns="12700" bIns="12700" anchor="t">
            <a:spAutoFit/>
          </a:bodyPr>
          <a:lstStyle/>
          <a:p>
            <a:pPr algn="l"/>
            <a:r>
              <a:rPr sz="1500" b="1" i="0">
                <a:solidFill>
                  <a:srgbClr val="13263A"/>
                </a:solidFill>
                <a:latin typeface="Arial"/>
              </a:rPr>
              <a:t>Frontend screenshots</a:t>
            </a:r>
            <a:r>
              <a:rPr sz="1400" b="0" i="0">
                <a:solidFill>
                  <a:srgbClr val="13263A"/>
                </a:solidFill>
                <a:latin typeface="Arial"/>
              </a:rPr>
              <a:t>  </a:t>
            </a:r>
            <a:r>
              <a:rPr sz="1350" b="0" i="0">
                <a:solidFill>
                  <a:srgbClr val="647080"/>
                </a:solidFill>
                <a:latin typeface="Arial"/>
              </a:rPr>
              <a:t>login, context and suggestion pages</a:t>
            </a:r>
          </a:p>
        </p:txBody>
      </p:sp>
      <p:sp>
        <p:nvSpPr>
          <p:cNvPr id="12" name="TextBox 11"/>
          <p:cNvSpPr txBox="1"/>
          <p:nvPr/>
        </p:nvSpPr>
        <p:spPr>
          <a:xfrm>
            <a:off x="635000" y="40640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13" name="TextBox 12"/>
          <p:cNvSpPr txBox="1"/>
          <p:nvPr/>
        </p:nvSpPr>
        <p:spPr>
          <a:xfrm>
            <a:off x="990600" y="4064000"/>
            <a:ext cx="5041900" cy="584200"/>
          </a:xfrm>
          <a:prstGeom prst="rect">
            <a:avLst/>
          </a:prstGeom>
          <a:noFill/>
        </p:spPr>
        <p:txBody>
          <a:bodyPr wrap="square" lIns="45720" rIns="45720" tIns="12700" bIns="12700" anchor="t">
            <a:spAutoFit/>
          </a:bodyPr>
          <a:lstStyle/>
          <a:p>
            <a:pPr algn="l"/>
            <a:r>
              <a:rPr sz="1500" b="1" i="0">
                <a:solidFill>
                  <a:srgbClr val="13263A"/>
                </a:solidFill>
                <a:latin typeface="Arial"/>
              </a:rPr>
              <a:t>Team contributions</a:t>
            </a:r>
            <a:r>
              <a:rPr sz="1400" b="0" i="0">
                <a:solidFill>
                  <a:srgbClr val="13263A"/>
                </a:solidFill>
                <a:latin typeface="Arial"/>
              </a:rPr>
              <a:t>  </a:t>
            </a:r>
            <a:r>
              <a:rPr sz="1350" b="0" i="0">
                <a:solidFill>
                  <a:srgbClr val="647080"/>
                </a:solidFill>
                <a:latin typeface="Arial"/>
              </a:rPr>
              <a:t>evidence per member (appendix E)</a:t>
            </a:r>
          </a:p>
        </p:txBody>
      </p:sp>
      <p:sp>
        <p:nvSpPr>
          <p:cNvPr id="14" name="TextBox 13"/>
          <p:cNvSpPr txBox="1"/>
          <p:nvPr/>
        </p:nvSpPr>
        <p:spPr>
          <a:xfrm>
            <a:off x="635000" y="46736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15" name="TextBox 14"/>
          <p:cNvSpPr txBox="1"/>
          <p:nvPr/>
        </p:nvSpPr>
        <p:spPr>
          <a:xfrm>
            <a:off x="990600" y="4673600"/>
            <a:ext cx="5041900" cy="584200"/>
          </a:xfrm>
          <a:prstGeom prst="rect">
            <a:avLst/>
          </a:prstGeom>
          <a:noFill/>
        </p:spPr>
        <p:txBody>
          <a:bodyPr wrap="square" lIns="45720" rIns="45720" tIns="12700" bIns="12700" anchor="t">
            <a:spAutoFit/>
          </a:bodyPr>
          <a:lstStyle/>
          <a:p>
            <a:pPr algn="l"/>
            <a:r>
              <a:rPr sz="1500" b="1" i="0">
                <a:solidFill>
                  <a:srgbClr val="13263A"/>
                </a:solidFill>
                <a:latin typeface="Arial"/>
              </a:rPr>
              <a:t>Research basis</a:t>
            </a:r>
            <a:r>
              <a:rPr sz="1400" b="0" i="0">
                <a:solidFill>
                  <a:srgbClr val="13263A"/>
                </a:solidFill>
                <a:latin typeface="Arial"/>
              </a:rPr>
              <a:t>  </a:t>
            </a:r>
            <a:r>
              <a:rPr sz="1350" b="0" i="0">
                <a:solidFill>
                  <a:srgbClr val="647080"/>
                </a:solidFill>
                <a:latin typeface="Arial"/>
              </a:rPr>
              <a:t>4 papers on AAC and AI (appendix F)</a:t>
            </a:r>
          </a:p>
        </p:txBody>
      </p:sp>
      <p:sp>
        <p:nvSpPr>
          <p:cNvPr id="16" name="TextBox 15"/>
          <p:cNvSpPr txBox="1"/>
          <p:nvPr/>
        </p:nvSpPr>
        <p:spPr>
          <a:xfrm>
            <a:off x="635000" y="52832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17" name="TextBox 16"/>
          <p:cNvSpPr txBox="1"/>
          <p:nvPr/>
        </p:nvSpPr>
        <p:spPr>
          <a:xfrm>
            <a:off x="990600" y="5283200"/>
            <a:ext cx="5041900" cy="584200"/>
          </a:xfrm>
          <a:prstGeom prst="rect">
            <a:avLst/>
          </a:prstGeom>
          <a:noFill/>
        </p:spPr>
        <p:txBody>
          <a:bodyPr wrap="square" lIns="45720" rIns="45720" tIns="12700" bIns="12700" anchor="t">
            <a:spAutoFit/>
          </a:bodyPr>
          <a:lstStyle/>
          <a:p>
            <a:pPr algn="l"/>
            <a:r>
              <a:rPr sz="1500" b="1" i="0">
                <a:solidFill>
                  <a:srgbClr val="13263A"/>
                </a:solidFill>
                <a:latin typeface="Arial"/>
              </a:rPr>
              <a:t>Reuse endpoint</a:t>
            </a:r>
            <a:r>
              <a:rPr sz="1400" b="0" i="0">
                <a:solidFill>
                  <a:srgbClr val="13263A"/>
                </a:solidFill>
                <a:latin typeface="Arial"/>
              </a:rPr>
              <a:t>  </a:t>
            </a:r>
            <a:r>
              <a:rPr sz="1350" b="0" i="0">
                <a:solidFill>
                  <a:srgbClr val="647080"/>
                </a:solidFill>
                <a:latin typeface="Arial"/>
              </a:rPr>
              <a:t>documented in appendix E.3</a:t>
            </a:r>
          </a:p>
        </p:txBody>
      </p:sp>
      <p:sp>
        <p:nvSpPr>
          <p:cNvPr id="18" name="TextBox 17"/>
          <p:cNvSpPr txBox="1"/>
          <p:nvPr/>
        </p:nvSpPr>
        <p:spPr>
          <a:xfrm>
            <a:off x="6261100" y="1778000"/>
            <a:ext cx="5308600" cy="368300"/>
          </a:xfrm>
          <a:prstGeom prst="rect">
            <a:avLst/>
          </a:prstGeom>
          <a:noFill/>
        </p:spPr>
        <p:txBody>
          <a:bodyPr wrap="square" lIns="45720" rIns="45720" tIns="12700" bIns="12700" anchor="t">
            <a:spAutoFit/>
          </a:bodyPr>
          <a:lstStyle/>
          <a:p>
            <a:pPr algn="l"/>
            <a:r>
              <a:rPr sz="1650" b="1" i="0">
                <a:solidFill>
                  <a:srgbClr val="255CF0"/>
                </a:solidFill>
                <a:latin typeface="Arial"/>
              </a:rPr>
              <a:t>TO RECONCILE AFTER THE REVIEW</a:t>
            </a:r>
          </a:p>
        </p:txBody>
      </p:sp>
      <p:sp>
        <p:nvSpPr>
          <p:cNvPr id="19" name="TextBox 18"/>
          <p:cNvSpPr txBox="1"/>
          <p:nvPr/>
        </p:nvSpPr>
        <p:spPr>
          <a:xfrm>
            <a:off x="6261100" y="2235200"/>
            <a:ext cx="317500" cy="368300"/>
          </a:xfrm>
          <a:prstGeom prst="rect">
            <a:avLst/>
          </a:prstGeom>
          <a:noFill/>
        </p:spPr>
        <p:txBody>
          <a:bodyPr wrap="square" lIns="45720" rIns="45720" tIns="12700" bIns="12700" anchor="t">
            <a:spAutoFit/>
          </a:bodyPr>
          <a:lstStyle/>
          <a:p>
            <a:pPr algn="l"/>
            <a:r>
              <a:rPr sz="1650" b="1" i="0">
                <a:solidFill>
                  <a:srgbClr val="B42318"/>
                </a:solidFill>
                <a:latin typeface="Arial"/>
              </a:rPr>
              <a:t>!</a:t>
            </a:r>
          </a:p>
        </p:txBody>
      </p:sp>
      <p:sp>
        <p:nvSpPr>
          <p:cNvPr id="20" name="TextBox 19"/>
          <p:cNvSpPr txBox="1"/>
          <p:nvPr/>
        </p:nvSpPr>
        <p:spPr>
          <a:xfrm>
            <a:off x="6616700" y="2235200"/>
            <a:ext cx="4953000" cy="584200"/>
          </a:xfrm>
          <a:prstGeom prst="rect">
            <a:avLst/>
          </a:prstGeom>
          <a:noFill/>
        </p:spPr>
        <p:txBody>
          <a:bodyPr wrap="square" lIns="45720" rIns="45720" tIns="12700" bIns="12700" anchor="t">
            <a:spAutoFit/>
          </a:bodyPr>
          <a:lstStyle/>
          <a:p>
            <a:pPr algn="l"/>
            <a:r>
              <a:rPr sz="1500" b="1" i="0">
                <a:solidFill>
                  <a:srgbClr val="13263A"/>
                </a:solidFill>
                <a:latin typeface="Arial"/>
              </a:rPr>
              <a:t>Exact limits</a:t>
            </a:r>
            <a:r>
              <a:rPr sz="1400" b="0" i="0">
                <a:solidFill>
                  <a:srgbClr val="13263A"/>
                </a:solidFill>
                <a:latin typeface="Arial"/>
              </a:rPr>
              <a:t>  </a:t>
            </a:r>
            <a:r>
              <a:rPr sz="1350" b="0" i="0">
                <a:solidFill>
                  <a:srgbClr val="647080"/>
                </a:solidFill>
                <a:latin typeface="Arial"/>
              </a:rPr>
              <a:t>20 symbols, 500 characters, 5 MiB and status codes became general wording</a:t>
            </a:r>
          </a:p>
        </p:txBody>
      </p:sp>
      <p:sp>
        <p:nvSpPr>
          <p:cNvPr id="21" name="TextBox 20"/>
          <p:cNvSpPr txBox="1"/>
          <p:nvPr/>
        </p:nvSpPr>
        <p:spPr>
          <a:xfrm>
            <a:off x="6261100" y="2844800"/>
            <a:ext cx="317500" cy="368300"/>
          </a:xfrm>
          <a:prstGeom prst="rect">
            <a:avLst/>
          </a:prstGeom>
          <a:noFill/>
        </p:spPr>
        <p:txBody>
          <a:bodyPr wrap="square" lIns="45720" rIns="45720" tIns="12700" bIns="12700" anchor="t">
            <a:spAutoFit/>
          </a:bodyPr>
          <a:lstStyle/>
          <a:p>
            <a:pPr algn="l"/>
            <a:r>
              <a:rPr sz="1650" b="1" i="0">
                <a:solidFill>
                  <a:srgbClr val="B42318"/>
                </a:solidFill>
                <a:latin typeface="Arial"/>
              </a:rPr>
              <a:t>!</a:t>
            </a:r>
          </a:p>
        </p:txBody>
      </p:sp>
      <p:sp>
        <p:nvSpPr>
          <p:cNvPr id="22" name="TextBox 21"/>
          <p:cNvSpPr txBox="1"/>
          <p:nvPr/>
        </p:nvSpPr>
        <p:spPr>
          <a:xfrm>
            <a:off x="6616700" y="2844800"/>
            <a:ext cx="4953000" cy="584200"/>
          </a:xfrm>
          <a:prstGeom prst="rect">
            <a:avLst/>
          </a:prstGeom>
          <a:noFill/>
        </p:spPr>
        <p:txBody>
          <a:bodyPr wrap="square" lIns="45720" rIns="45720" tIns="12700" bIns="12700" anchor="t">
            <a:spAutoFit/>
          </a:bodyPr>
          <a:lstStyle/>
          <a:p>
            <a:pPr algn="l"/>
            <a:r>
              <a:rPr sz="1500" b="1" i="0">
                <a:solidFill>
                  <a:srgbClr val="13263A"/>
                </a:solidFill>
                <a:latin typeface="Arial"/>
              </a:rPr>
              <a:t>REQ-FUNC-004</a:t>
            </a:r>
            <a:r>
              <a:rPr sz="1400" b="0" i="0">
                <a:solidFill>
                  <a:srgbClr val="13263A"/>
                </a:solidFill>
                <a:latin typeface="Arial"/>
              </a:rPr>
              <a:t>  </a:t>
            </a:r>
            <a:r>
              <a:rPr sz="1350" b="0" i="0">
                <a:solidFill>
                  <a:srgbClr val="647080"/>
                </a:solidFill>
                <a:latin typeface="Arial"/>
              </a:rPr>
              <a:t>"no suggestions" case replaced by request identity</a:t>
            </a:r>
          </a:p>
        </p:txBody>
      </p:sp>
      <p:sp>
        <p:nvSpPr>
          <p:cNvPr id="23" name="TextBox 22"/>
          <p:cNvSpPr txBox="1"/>
          <p:nvPr/>
        </p:nvSpPr>
        <p:spPr>
          <a:xfrm>
            <a:off x="6261100" y="3454400"/>
            <a:ext cx="317500" cy="368300"/>
          </a:xfrm>
          <a:prstGeom prst="rect">
            <a:avLst/>
          </a:prstGeom>
          <a:noFill/>
        </p:spPr>
        <p:txBody>
          <a:bodyPr wrap="square" lIns="45720" rIns="45720" tIns="12700" bIns="12700" anchor="t">
            <a:spAutoFit/>
          </a:bodyPr>
          <a:lstStyle/>
          <a:p>
            <a:pPr algn="l"/>
            <a:r>
              <a:rPr sz="1650" b="1" i="0">
                <a:solidFill>
                  <a:srgbClr val="B42318"/>
                </a:solidFill>
                <a:latin typeface="Arial"/>
              </a:rPr>
              <a:t>!</a:t>
            </a:r>
          </a:p>
        </p:txBody>
      </p:sp>
      <p:sp>
        <p:nvSpPr>
          <p:cNvPr id="24" name="TextBox 23"/>
          <p:cNvSpPr txBox="1"/>
          <p:nvPr/>
        </p:nvSpPr>
        <p:spPr>
          <a:xfrm>
            <a:off x="6616700" y="3454400"/>
            <a:ext cx="4953000" cy="584200"/>
          </a:xfrm>
          <a:prstGeom prst="rect">
            <a:avLst/>
          </a:prstGeom>
          <a:noFill/>
        </p:spPr>
        <p:txBody>
          <a:bodyPr wrap="square" lIns="45720" rIns="45720" tIns="12700" bIns="12700" anchor="t">
            <a:spAutoFit/>
          </a:bodyPr>
          <a:lstStyle/>
          <a:p>
            <a:pPr algn="l"/>
            <a:r>
              <a:rPr sz="1500" b="1" i="0">
                <a:solidFill>
                  <a:srgbClr val="13263A"/>
                </a:solidFill>
                <a:latin typeface="Arial"/>
              </a:rPr>
              <a:t>REQ-ML-003</a:t>
            </a:r>
            <a:r>
              <a:rPr sz="1400" b="0" i="0">
                <a:solidFill>
                  <a:srgbClr val="13263A"/>
                </a:solidFill>
                <a:latin typeface="Arial"/>
              </a:rPr>
              <a:t>  </a:t>
            </a:r>
            <a:r>
              <a:rPr sz="1350" b="0" i="0">
                <a:solidFill>
                  <a:srgbClr val="647080"/>
                </a:solidFill>
                <a:latin typeface="Arial"/>
              </a:rPr>
              <a:t>negation rule no longer in the statement</a:t>
            </a:r>
          </a:p>
        </p:txBody>
      </p:sp>
      <p:sp>
        <p:nvSpPr>
          <p:cNvPr id="25" name="TextBox 24"/>
          <p:cNvSpPr txBox="1"/>
          <p:nvPr/>
        </p:nvSpPr>
        <p:spPr>
          <a:xfrm>
            <a:off x="6261100" y="4064000"/>
            <a:ext cx="317500" cy="368300"/>
          </a:xfrm>
          <a:prstGeom prst="rect">
            <a:avLst/>
          </a:prstGeom>
          <a:noFill/>
        </p:spPr>
        <p:txBody>
          <a:bodyPr wrap="square" lIns="45720" rIns="45720" tIns="12700" bIns="12700" anchor="t">
            <a:spAutoFit/>
          </a:bodyPr>
          <a:lstStyle/>
          <a:p>
            <a:pPr algn="l"/>
            <a:r>
              <a:rPr sz="1650" b="1" i="0">
                <a:solidFill>
                  <a:srgbClr val="B42318"/>
                </a:solidFill>
                <a:latin typeface="Arial"/>
              </a:rPr>
              <a:t>!</a:t>
            </a:r>
          </a:p>
        </p:txBody>
      </p:sp>
      <p:sp>
        <p:nvSpPr>
          <p:cNvPr id="26" name="TextBox 25"/>
          <p:cNvSpPr txBox="1"/>
          <p:nvPr/>
        </p:nvSpPr>
        <p:spPr>
          <a:xfrm>
            <a:off x="6616700" y="4064000"/>
            <a:ext cx="4953000" cy="584200"/>
          </a:xfrm>
          <a:prstGeom prst="rect">
            <a:avLst/>
          </a:prstGeom>
          <a:noFill/>
        </p:spPr>
        <p:txBody>
          <a:bodyPr wrap="square" lIns="45720" rIns="45720" tIns="12700" bIns="12700" anchor="t">
            <a:spAutoFit/>
          </a:bodyPr>
          <a:lstStyle/>
          <a:p>
            <a:pPr algn="l"/>
            <a:r>
              <a:rPr sz="1500" b="1" i="0">
                <a:solidFill>
                  <a:srgbClr val="13263A"/>
                </a:solidFill>
                <a:latin typeface="Arial"/>
              </a:rPr>
              <a:t>REQ-ML-004</a:t>
            </a:r>
            <a:r>
              <a:rPr sz="1400" b="0" i="0">
                <a:solidFill>
                  <a:srgbClr val="13263A"/>
                </a:solidFill>
                <a:latin typeface="Arial"/>
              </a:rPr>
              <a:t>  </a:t>
            </a:r>
            <a:r>
              <a:rPr sz="1350" b="0" i="0">
                <a:solidFill>
                  <a:srgbClr val="647080"/>
                </a:solidFill>
                <a:latin typeface="Arial"/>
              </a:rPr>
              <a:t>prompt-injection rule replaced by non-deception</a:t>
            </a:r>
          </a:p>
        </p:txBody>
      </p:sp>
      <p:sp>
        <p:nvSpPr>
          <p:cNvPr id="27" name="TextBox 26"/>
          <p:cNvSpPr txBox="1"/>
          <p:nvPr/>
        </p:nvSpPr>
        <p:spPr>
          <a:xfrm>
            <a:off x="6261100" y="4673600"/>
            <a:ext cx="317500" cy="368300"/>
          </a:xfrm>
          <a:prstGeom prst="rect">
            <a:avLst/>
          </a:prstGeom>
          <a:noFill/>
        </p:spPr>
        <p:txBody>
          <a:bodyPr wrap="square" lIns="45720" rIns="45720" tIns="12700" bIns="12700" anchor="t">
            <a:spAutoFit/>
          </a:bodyPr>
          <a:lstStyle/>
          <a:p>
            <a:pPr algn="l"/>
            <a:r>
              <a:rPr sz="1650" b="1" i="0">
                <a:solidFill>
                  <a:srgbClr val="B42318"/>
                </a:solidFill>
                <a:latin typeface="Arial"/>
              </a:rPr>
              <a:t>!</a:t>
            </a:r>
          </a:p>
        </p:txBody>
      </p:sp>
      <p:sp>
        <p:nvSpPr>
          <p:cNvPr id="28" name="TextBox 27"/>
          <p:cNvSpPr txBox="1"/>
          <p:nvPr/>
        </p:nvSpPr>
        <p:spPr>
          <a:xfrm>
            <a:off x="6616700" y="4673600"/>
            <a:ext cx="4953000" cy="584200"/>
          </a:xfrm>
          <a:prstGeom prst="rect">
            <a:avLst/>
          </a:prstGeom>
          <a:noFill/>
        </p:spPr>
        <p:txBody>
          <a:bodyPr wrap="square" lIns="45720" rIns="45720" tIns="12700" bIns="12700" anchor="t">
            <a:spAutoFit/>
          </a:bodyPr>
          <a:lstStyle/>
          <a:p>
            <a:pPr algn="l"/>
            <a:r>
              <a:rPr sz="1500" b="1" i="0">
                <a:solidFill>
                  <a:srgbClr val="13263A"/>
                </a:solidFill>
                <a:latin typeface="Arial"/>
              </a:rPr>
              <a:t>Traceability</a:t>
            </a:r>
            <a:r>
              <a:rPr sz="1400" b="0" i="0">
                <a:solidFill>
                  <a:srgbClr val="13263A"/>
                </a:solidFill>
                <a:latin typeface="Arial"/>
              </a:rPr>
              <a:t>  </a:t>
            </a:r>
            <a:r>
              <a:rPr sz="1350" b="0" i="0">
                <a:solidFill>
                  <a:srgbClr val="647080"/>
                </a:solidFill>
                <a:latin typeface="Arial"/>
              </a:rPr>
              <a:t>per-test table of v0.2 now per family only</a:t>
            </a:r>
          </a:p>
        </p:txBody>
      </p:sp>
      <p:sp>
        <p:nvSpPr>
          <p:cNvPr id="29" name="TextBox 28"/>
          <p:cNvSpPr txBox="1"/>
          <p:nvPr/>
        </p:nvSpPr>
        <p:spPr>
          <a:xfrm>
            <a:off x="6261100" y="5283200"/>
            <a:ext cx="317500" cy="368300"/>
          </a:xfrm>
          <a:prstGeom prst="rect">
            <a:avLst/>
          </a:prstGeom>
          <a:noFill/>
        </p:spPr>
        <p:txBody>
          <a:bodyPr wrap="square" lIns="45720" rIns="45720" tIns="12700" bIns="12700" anchor="t">
            <a:spAutoFit/>
          </a:bodyPr>
          <a:lstStyle/>
          <a:p>
            <a:pPr algn="l"/>
            <a:r>
              <a:rPr sz="1650" b="1" i="0">
                <a:solidFill>
                  <a:srgbClr val="B42318"/>
                </a:solidFill>
                <a:latin typeface="Arial"/>
              </a:rPr>
              <a:t>!</a:t>
            </a:r>
          </a:p>
        </p:txBody>
      </p:sp>
      <p:sp>
        <p:nvSpPr>
          <p:cNvPr id="30" name="TextBox 29"/>
          <p:cNvSpPr txBox="1"/>
          <p:nvPr/>
        </p:nvSpPr>
        <p:spPr>
          <a:xfrm>
            <a:off x="6616700" y="5283200"/>
            <a:ext cx="4953000" cy="584200"/>
          </a:xfrm>
          <a:prstGeom prst="rect">
            <a:avLst/>
          </a:prstGeom>
          <a:noFill/>
        </p:spPr>
        <p:txBody>
          <a:bodyPr wrap="square" lIns="45720" rIns="45720" tIns="12700" bIns="12700" anchor="t">
            <a:spAutoFit/>
          </a:bodyPr>
          <a:lstStyle/>
          <a:p>
            <a:pPr algn="l"/>
            <a:r>
              <a:rPr sz="1500" b="1" i="0">
                <a:solidFill>
                  <a:srgbClr val="13263A"/>
                </a:solidFill>
                <a:latin typeface="Arial"/>
              </a:rPr>
              <a:t>Rationale</a:t>
            </a:r>
            <a:r>
              <a:rPr sz="1400" b="0" i="0">
                <a:solidFill>
                  <a:srgbClr val="13263A"/>
                </a:solidFill>
                <a:latin typeface="Arial"/>
              </a:rPr>
              <a:t>  </a:t>
            </a:r>
            <a:r>
              <a:rPr sz="1350" b="0" i="0">
                <a:solidFill>
                  <a:srgbClr val="647080"/>
                </a:solidFill>
                <a:latin typeface="Arial"/>
              </a:rPr>
              <a:t>same sentence on all 45 requirements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F4F0"/>
        </a:solidFill>
        <a:effectLst/>
      </p:bgPr>
    </p:bg>
    <p:spTree>
      <p:nvGrpSpPr>
        <p:cNvPr id="1" name=""/>
        <p:cNvGrpSpPr/>
        <p:nvPr/>
      </p:nvGrpSpPr>
      <p:grpSpPr/>
      <p:sp>
        <p:nvSpPr>
          <p:cNvPr id="2" name="TextBox 1"/>
          <p:cNvSpPr txBox="1"/>
          <p:nvPr/>
        </p:nvSpPr>
        <p:spPr>
          <a:xfrm>
            <a:off x="609600" y="457200"/>
            <a:ext cx="10960100" cy="558800"/>
          </a:xfrm>
          <a:prstGeom prst="rect">
            <a:avLst/>
          </a:prstGeom>
          <a:noFill/>
        </p:spPr>
        <p:txBody>
          <a:bodyPr wrap="square" lIns="45720" rIns="45720" tIns="12700" bIns="12700" anchor="ctr">
            <a:spAutoFit/>
          </a:bodyPr>
          <a:lstStyle/>
          <a:p>
            <a:pPr algn="l"/>
            <a:r>
              <a:rPr sz="3300" b="1" i="0">
                <a:solidFill>
                  <a:srgbClr val="13263A"/>
                </a:solidFill>
                <a:latin typeface="Arial"/>
              </a:rPr>
              <a:t>AI provider: backups when a quota runs out</a:t>
            </a:r>
          </a:p>
        </p:txBody>
      </p:sp>
      <p:sp>
        <p:nvSpPr>
          <p:cNvPr id="3" name="TextBox 2"/>
          <p:cNvSpPr txBox="1"/>
          <p:nvPr/>
        </p:nvSpPr>
        <p:spPr>
          <a:xfrm>
            <a:off x="635000" y="1219200"/>
            <a:ext cx="10566400" cy="330200"/>
          </a:xfrm>
          <a:prstGeom prst="rect">
            <a:avLst/>
          </a:prstGeom>
          <a:noFill/>
        </p:spPr>
        <p:txBody>
          <a:bodyPr wrap="square" lIns="45720" rIns="45720" tIns="12700" bIns="12700" anchor="t">
            <a:spAutoFit/>
          </a:bodyPr>
          <a:lstStyle/>
          <a:p>
            <a:pPr algn="l"/>
            <a:r>
              <a:rPr sz="1800" b="0" i="0">
                <a:solidFill>
                  <a:srgbClr val="647080"/>
                </a:solidFill>
                <a:latin typeface="Arial"/>
              </a:rPr>
              <a:t>01  Technical progress  ·  src/ai/chain.py and providers.py, 57 offline tests</a:t>
            </a:r>
          </a:p>
        </p:txBody>
      </p:sp>
      <p:sp>
        <p:nvSpPr>
          <p:cNvPr id="4" name="TextBox 3"/>
          <p:cNvSpPr txBox="1"/>
          <p:nvPr/>
        </p:nvSpPr>
        <p:spPr>
          <a:xfrm>
            <a:off x="11049000" y="6248400"/>
            <a:ext cx="533400" cy="279400"/>
          </a:xfrm>
          <a:prstGeom prst="rect">
            <a:avLst/>
          </a:prstGeom>
          <a:noFill/>
        </p:spPr>
        <p:txBody>
          <a:bodyPr wrap="square" lIns="45720" rIns="45720" tIns="12700" bIns="12700" anchor="t">
            <a:spAutoFit/>
          </a:bodyPr>
          <a:lstStyle/>
          <a:p>
            <a:pPr algn="l"/>
            <a:r>
              <a:rPr sz="1350" b="0" i="0">
                <a:solidFill>
                  <a:srgbClr val="647080"/>
                </a:solidFill>
                <a:latin typeface="Arial"/>
              </a:rPr>
              <a:t>11</a:t>
            </a:r>
          </a:p>
        </p:txBody>
      </p:sp>
      <p:sp>
        <p:nvSpPr>
          <p:cNvPr id="5" name="Rectangle 4"/>
          <p:cNvSpPr/>
          <p:nvPr/>
        </p:nvSpPr>
        <p:spPr>
          <a:xfrm>
            <a:off x="635000" y="1778000"/>
            <a:ext cx="5969000" cy="558800"/>
          </a:xfrm>
          <a:prstGeom prst="rect">
            <a:avLst/>
          </a:prstGeom>
          <a:solidFill>
            <a:srgbClr val="13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7400" y="1778000"/>
            <a:ext cx="5715000" cy="558800"/>
          </a:xfrm>
          <a:prstGeom prst="rect">
            <a:avLst/>
          </a:prstGeom>
          <a:noFill/>
        </p:spPr>
        <p:txBody>
          <a:bodyPr wrap="square" lIns="45720" rIns="45720" tIns="12700" bIns="12700" anchor="ctr">
            <a:spAutoFit/>
          </a:bodyPr>
          <a:lstStyle/>
          <a:p>
            <a:pPr algn="l"/>
            <a:r>
              <a:rPr sz="1500" b="1" i="0">
                <a:solidFill>
                  <a:srgbClr val="FFFFFF"/>
                </a:solidFill>
                <a:latin typeface="Arial"/>
              </a:rPr>
              <a:t>Request  </a:t>
            </a:r>
            <a:r>
              <a:rPr sz="1350" b="0" i="0">
                <a:solidFill>
                  <a:srgbClr val="D5DCE8"/>
                </a:solidFill>
                <a:latin typeface="Arial"/>
              </a:rPr>
              <a:t>symbols · intention · scene · optional photo</a:t>
            </a:r>
          </a:p>
        </p:txBody>
      </p:sp>
      <p:sp>
        <p:nvSpPr>
          <p:cNvPr id="7" name="TextBox 6"/>
          <p:cNvSpPr txBox="1"/>
          <p:nvPr/>
        </p:nvSpPr>
        <p:spPr>
          <a:xfrm>
            <a:off x="3429000" y="2336800"/>
            <a:ext cx="381000" cy="2286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8" name="Rectangle 7"/>
          <p:cNvSpPr/>
          <p:nvPr/>
        </p:nvSpPr>
        <p:spPr>
          <a:xfrm>
            <a:off x="635000" y="2565400"/>
            <a:ext cx="5969000" cy="5080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7400" y="2565400"/>
            <a:ext cx="5715000" cy="508000"/>
          </a:xfrm>
          <a:prstGeom prst="rect">
            <a:avLst/>
          </a:prstGeom>
          <a:noFill/>
        </p:spPr>
        <p:txBody>
          <a:bodyPr wrap="square" lIns="45720" rIns="45720" tIns="12700" bIns="12700" anchor="ctr">
            <a:spAutoFit/>
          </a:bodyPr>
          <a:lstStyle/>
          <a:p>
            <a:pPr algn="l"/>
            <a:r>
              <a:rPr sz="1500" b="1" i="0">
                <a:solidFill>
                  <a:srgbClr val="13263A"/>
                </a:solidFill>
                <a:latin typeface="Arial"/>
              </a:rPr>
              <a:t>Reuse  </a:t>
            </a:r>
            <a:r>
              <a:rPr sz="1350" b="0" i="0">
                <a:solidFill>
                  <a:srgbClr val="647080"/>
                </a:solidFill>
                <a:latin typeface="Arial"/>
              </a:rPr>
              <a:t>accepted before? → shown with no AI call</a:t>
            </a:r>
          </a:p>
        </p:txBody>
      </p:sp>
      <p:sp>
        <p:nvSpPr>
          <p:cNvPr id="10" name="TextBox 9"/>
          <p:cNvSpPr txBox="1"/>
          <p:nvPr/>
        </p:nvSpPr>
        <p:spPr>
          <a:xfrm>
            <a:off x="3429000" y="3073400"/>
            <a:ext cx="381000" cy="2286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11" name="Rectangle 10"/>
          <p:cNvSpPr/>
          <p:nvPr/>
        </p:nvSpPr>
        <p:spPr>
          <a:xfrm>
            <a:off x="635000" y="3302000"/>
            <a:ext cx="5969000" cy="21844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7400" y="3429000"/>
            <a:ext cx="279400" cy="2794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1</a:t>
            </a:r>
          </a:p>
        </p:txBody>
      </p:sp>
      <p:sp>
        <p:nvSpPr>
          <p:cNvPr id="13" name="TextBox 12"/>
          <p:cNvSpPr txBox="1"/>
          <p:nvPr/>
        </p:nvSpPr>
        <p:spPr>
          <a:xfrm>
            <a:off x="1193800" y="3403600"/>
            <a:ext cx="3175000" cy="330200"/>
          </a:xfrm>
          <a:prstGeom prst="rect">
            <a:avLst/>
          </a:prstGeom>
          <a:noFill/>
        </p:spPr>
        <p:txBody>
          <a:bodyPr wrap="square" lIns="45720" rIns="45720" tIns="12700" bIns="12700" anchor="t">
            <a:spAutoFit/>
          </a:bodyPr>
          <a:lstStyle/>
          <a:p>
            <a:pPr algn="l"/>
            <a:r>
              <a:rPr sz="1400" b="1" i="0">
                <a:solidFill>
                  <a:srgbClr val="13263A"/>
                </a:solidFill>
                <a:latin typeface="Arial"/>
              </a:rPr>
              <a:t>gemini-3.5-flash-lite</a:t>
            </a:r>
          </a:p>
        </p:txBody>
      </p:sp>
      <p:sp>
        <p:nvSpPr>
          <p:cNvPr id="14" name="TextBox 13"/>
          <p:cNvSpPr txBox="1"/>
          <p:nvPr/>
        </p:nvSpPr>
        <p:spPr>
          <a:xfrm>
            <a:off x="4381500" y="3403600"/>
            <a:ext cx="2095500" cy="330200"/>
          </a:xfrm>
          <a:prstGeom prst="rect">
            <a:avLst/>
          </a:prstGeom>
          <a:noFill/>
        </p:spPr>
        <p:txBody>
          <a:bodyPr wrap="square" lIns="45720" rIns="45720" tIns="12700" bIns="12700" anchor="t">
            <a:spAutoFit/>
          </a:bodyPr>
          <a:lstStyle/>
          <a:p>
            <a:pPr algn="r"/>
            <a:r>
              <a:rPr sz="1350" b="0" i="0">
                <a:solidFill>
                  <a:srgbClr val="647080"/>
                </a:solidFill>
                <a:latin typeface="Arial"/>
              </a:rPr>
              <a:t>own quota</a:t>
            </a:r>
          </a:p>
        </p:txBody>
      </p:sp>
      <p:sp>
        <p:nvSpPr>
          <p:cNvPr id="15" name="Oval 14"/>
          <p:cNvSpPr/>
          <p:nvPr/>
        </p:nvSpPr>
        <p:spPr>
          <a:xfrm>
            <a:off x="787400" y="3835400"/>
            <a:ext cx="279400" cy="2794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2</a:t>
            </a:r>
          </a:p>
        </p:txBody>
      </p:sp>
      <p:sp>
        <p:nvSpPr>
          <p:cNvPr id="16" name="TextBox 15"/>
          <p:cNvSpPr txBox="1"/>
          <p:nvPr/>
        </p:nvSpPr>
        <p:spPr>
          <a:xfrm>
            <a:off x="1193800" y="3810000"/>
            <a:ext cx="3175000" cy="330200"/>
          </a:xfrm>
          <a:prstGeom prst="rect">
            <a:avLst/>
          </a:prstGeom>
          <a:noFill/>
        </p:spPr>
        <p:txBody>
          <a:bodyPr wrap="square" lIns="45720" rIns="45720" tIns="12700" bIns="12700" anchor="t">
            <a:spAutoFit/>
          </a:bodyPr>
          <a:lstStyle/>
          <a:p>
            <a:pPr algn="l"/>
            <a:r>
              <a:rPr sz="1400" b="1" i="0">
                <a:solidFill>
                  <a:srgbClr val="13263A"/>
                </a:solidFill>
                <a:latin typeface="Arial"/>
              </a:rPr>
              <a:t>gemini-3.1-flash-lite</a:t>
            </a:r>
          </a:p>
        </p:txBody>
      </p:sp>
      <p:sp>
        <p:nvSpPr>
          <p:cNvPr id="17" name="TextBox 16"/>
          <p:cNvSpPr txBox="1"/>
          <p:nvPr/>
        </p:nvSpPr>
        <p:spPr>
          <a:xfrm>
            <a:off x="4381500" y="3810000"/>
            <a:ext cx="2095500" cy="330200"/>
          </a:xfrm>
          <a:prstGeom prst="rect">
            <a:avLst/>
          </a:prstGeom>
          <a:noFill/>
        </p:spPr>
        <p:txBody>
          <a:bodyPr wrap="square" lIns="45720" rIns="45720" tIns="12700" bIns="12700" anchor="t">
            <a:spAutoFit/>
          </a:bodyPr>
          <a:lstStyle/>
          <a:p>
            <a:pPr algn="r"/>
            <a:r>
              <a:rPr sz="1350" b="0" i="0">
                <a:solidFill>
                  <a:srgbClr val="647080"/>
                </a:solidFill>
                <a:latin typeface="Arial"/>
              </a:rPr>
              <a:t>own quota</a:t>
            </a:r>
          </a:p>
        </p:txBody>
      </p:sp>
      <p:sp>
        <p:nvSpPr>
          <p:cNvPr id="18" name="Oval 17"/>
          <p:cNvSpPr/>
          <p:nvPr/>
        </p:nvSpPr>
        <p:spPr>
          <a:xfrm>
            <a:off x="787400" y="4241800"/>
            <a:ext cx="279400" cy="2794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3</a:t>
            </a:r>
          </a:p>
        </p:txBody>
      </p:sp>
      <p:sp>
        <p:nvSpPr>
          <p:cNvPr id="19" name="TextBox 18"/>
          <p:cNvSpPr txBox="1"/>
          <p:nvPr/>
        </p:nvSpPr>
        <p:spPr>
          <a:xfrm>
            <a:off x="1193800" y="4216400"/>
            <a:ext cx="3175000" cy="330200"/>
          </a:xfrm>
          <a:prstGeom prst="rect">
            <a:avLst/>
          </a:prstGeom>
          <a:noFill/>
        </p:spPr>
        <p:txBody>
          <a:bodyPr wrap="square" lIns="45720" rIns="45720" tIns="12700" bIns="12700" anchor="t">
            <a:spAutoFit/>
          </a:bodyPr>
          <a:lstStyle/>
          <a:p>
            <a:pPr algn="l"/>
            <a:r>
              <a:rPr sz="1400" b="1" i="0">
                <a:solidFill>
                  <a:srgbClr val="13263A"/>
                </a:solidFill>
                <a:latin typeface="Arial"/>
              </a:rPr>
              <a:t>gemini-3.5-flash</a:t>
            </a:r>
          </a:p>
        </p:txBody>
      </p:sp>
      <p:sp>
        <p:nvSpPr>
          <p:cNvPr id="20" name="TextBox 19"/>
          <p:cNvSpPr txBox="1"/>
          <p:nvPr/>
        </p:nvSpPr>
        <p:spPr>
          <a:xfrm>
            <a:off x="4381500" y="4216400"/>
            <a:ext cx="2095500" cy="330200"/>
          </a:xfrm>
          <a:prstGeom prst="rect">
            <a:avLst/>
          </a:prstGeom>
          <a:noFill/>
        </p:spPr>
        <p:txBody>
          <a:bodyPr wrap="square" lIns="45720" rIns="45720" tIns="12700" bIns="12700" anchor="t">
            <a:spAutoFit/>
          </a:bodyPr>
          <a:lstStyle/>
          <a:p>
            <a:pPr algn="r"/>
            <a:r>
              <a:rPr sz="1350" b="0" i="0">
                <a:solidFill>
                  <a:srgbClr val="647080"/>
                </a:solidFill>
                <a:latin typeface="Arial"/>
              </a:rPr>
              <a:t>5 / min · 20 / day</a:t>
            </a:r>
          </a:p>
        </p:txBody>
      </p:sp>
      <p:sp>
        <p:nvSpPr>
          <p:cNvPr id="21" name="Oval 20"/>
          <p:cNvSpPr/>
          <p:nvPr/>
        </p:nvSpPr>
        <p:spPr>
          <a:xfrm>
            <a:off x="787400" y="4648200"/>
            <a:ext cx="279400" cy="2794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4</a:t>
            </a:r>
          </a:p>
        </p:txBody>
      </p:sp>
      <p:sp>
        <p:nvSpPr>
          <p:cNvPr id="22" name="TextBox 21"/>
          <p:cNvSpPr txBox="1"/>
          <p:nvPr/>
        </p:nvSpPr>
        <p:spPr>
          <a:xfrm>
            <a:off x="1193800" y="4622800"/>
            <a:ext cx="3175000" cy="330200"/>
          </a:xfrm>
          <a:prstGeom prst="rect">
            <a:avLst/>
          </a:prstGeom>
          <a:noFill/>
        </p:spPr>
        <p:txBody>
          <a:bodyPr wrap="square" lIns="45720" rIns="45720" tIns="12700" bIns="12700" anchor="t">
            <a:spAutoFit/>
          </a:bodyPr>
          <a:lstStyle/>
          <a:p>
            <a:pPr algn="l"/>
            <a:r>
              <a:rPr sz="1400" b="1" i="0">
                <a:solidFill>
                  <a:srgbClr val="13263A"/>
                </a:solidFill>
                <a:latin typeface="Arial"/>
              </a:rPr>
              <a:t>gemini-3.8-flash</a:t>
            </a:r>
          </a:p>
        </p:txBody>
      </p:sp>
      <p:sp>
        <p:nvSpPr>
          <p:cNvPr id="23" name="TextBox 22"/>
          <p:cNvSpPr txBox="1"/>
          <p:nvPr/>
        </p:nvSpPr>
        <p:spPr>
          <a:xfrm>
            <a:off x="4381500" y="4622800"/>
            <a:ext cx="2095500" cy="330200"/>
          </a:xfrm>
          <a:prstGeom prst="rect">
            <a:avLst/>
          </a:prstGeom>
          <a:noFill/>
        </p:spPr>
        <p:txBody>
          <a:bodyPr wrap="square" lIns="45720" rIns="45720" tIns="12700" bIns="12700" anchor="t">
            <a:spAutoFit/>
          </a:bodyPr>
          <a:lstStyle/>
          <a:p>
            <a:pPr algn="r"/>
            <a:r>
              <a:rPr sz="1350" b="0" i="0">
                <a:solidFill>
                  <a:srgbClr val="647080"/>
                </a:solidFill>
                <a:latin typeface="Arial"/>
              </a:rPr>
              <a:t>20 / day</a:t>
            </a:r>
          </a:p>
        </p:txBody>
      </p:sp>
      <p:sp>
        <p:nvSpPr>
          <p:cNvPr id="24" name="Oval 23"/>
          <p:cNvSpPr/>
          <p:nvPr/>
        </p:nvSpPr>
        <p:spPr>
          <a:xfrm>
            <a:off x="787400" y="5054600"/>
            <a:ext cx="279400" cy="279400"/>
          </a:xfrm>
          <a:prstGeom prst="ellipse">
            <a:avLst/>
          </a:prstGeom>
          <a:solidFill>
            <a:srgbClr val="A8B6C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5</a:t>
            </a:r>
          </a:p>
        </p:txBody>
      </p:sp>
      <p:sp>
        <p:nvSpPr>
          <p:cNvPr id="25" name="TextBox 24"/>
          <p:cNvSpPr txBox="1"/>
          <p:nvPr/>
        </p:nvSpPr>
        <p:spPr>
          <a:xfrm>
            <a:off x="1193800" y="5029200"/>
            <a:ext cx="3175000" cy="330200"/>
          </a:xfrm>
          <a:prstGeom prst="rect">
            <a:avLst/>
          </a:prstGeom>
          <a:noFill/>
        </p:spPr>
        <p:txBody>
          <a:bodyPr wrap="square" lIns="45720" rIns="45720" tIns="12700" bIns="12700" anchor="t">
            <a:spAutoFit/>
          </a:bodyPr>
          <a:lstStyle/>
          <a:p>
            <a:pPr algn="l"/>
            <a:r>
              <a:rPr sz="1400" b="1" i="0">
                <a:solidFill>
                  <a:srgbClr val="647080"/>
                </a:solidFill>
                <a:latin typeface="Arial"/>
              </a:rPr>
              <a:t>ollama · qwen3-vl:2b</a:t>
            </a:r>
          </a:p>
        </p:txBody>
      </p:sp>
      <p:sp>
        <p:nvSpPr>
          <p:cNvPr id="26" name="TextBox 25"/>
          <p:cNvSpPr txBox="1"/>
          <p:nvPr/>
        </p:nvSpPr>
        <p:spPr>
          <a:xfrm>
            <a:off x="4381500" y="5029200"/>
            <a:ext cx="2095500" cy="330200"/>
          </a:xfrm>
          <a:prstGeom prst="rect">
            <a:avLst/>
          </a:prstGeom>
          <a:noFill/>
        </p:spPr>
        <p:txBody>
          <a:bodyPr wrap="square" lIns="45720" rIns="45720" tIns="12700" bIns="12700" anchor="t">
            <a:spAutoFit/>
          </a:bodyPr>
          <a:lstStyle/>
          <a:p>
            <a:pPr algn="r"/>
            <a:r>
              <a:rPr sz="1350" b="0" i="0">
                <a:solidFill>
                  <a:srgbClr val="647080"/>
                </a:solidFill>
                <a:latin typeface="Arial"/>
              </a:rPr>
              <a:t>local · next week</a:t>
            </a:r>
          </a:p>
        </p:txBody>
      </p:sp>
      <p:sp>
        <p:nvSpPr>
          <p:cNvPr id="27" name="TextBox 26"/>
          <p:cNvSpPr txBox="1"/>
          <p:nvPr/>
        </p:nvSpPr>
        <p:spPr>
          <a:xfrm>
            <a:off x="3429000" y="5486400"/>
            <a:ext cx="381000" cy="2286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28" name="TextBox 27"/>
          <p:cNvSpPr txBox="1"/>
          <p:nvPr/>
        </p:nvSpPr>
        <p:spPr>
          <a:xfrm>
            <a:off x="635000" y="5715000"/>
            <a:ext cx="5969000" cy="330200"/>
          </a:xfrm>
          <a:prstGeom prst="rect">
            <a:avLst/>
          </a:prstGeom>
          <a:noFill/>
        </p:spPr>
        <p:txBody>
          <a:bodyPr wrap="square" lIns="45720" rIns="45720" tIns="12700" bIns="12700" anchor="t">
            <a:spAutoFit/>
          </a:bodyPr>
          <a:lstStyle/>
          <a:p>
            <a:pPr algn="l"/>
            <a:r>
              <a:rPr sz="1400" b="1" i="0">
                <a:solidFill>
                  <a:srgbClr val="13263A"/>
                </a:solidFill>
                <a:latin typeface="Arial"/>
              </a:rPr>
              <a:t>All failed → </a:t>
            </a:r>
            <a:r>
              <a:rPr sz="1350" b="0" i="0">
                <a:solidFill>
                  <a:srgbClr val="647080"/>
                </a:solidFill>
                <a:latin typeface="Arial"/>
              </a:rPr>
              <a:t>503 "try again later", never a mock answer</a:t>
            </a:r>
          </a:p>
        </p:txBody>
      </p:sp>
      <p:sp>
        <p:nvSpPr>
          <p:cNvPr id="29" name="TextBox 28"/>
          <p:cNvSpPr txBox="1"/>
          <p:nvPr/>
        </p:nvSpPr>
        <p:spPr>
          <a:xfrm>
            <a:off x="6959600" y="1778000"/>
            <a:ext cx="4610100" cy="368300"/>
          </a:xfrm>
          <a:prstGeom prst="rect">
            <a:avLst/>
          </a:prstGeom>
          <a:noFill/>
        </p:spPr>
        <p:txBody>
          <a:bodyPr wrap="square" lIns="45720" rIns="45720" tIns="12700" bIns="12700" anchor="t">
            <a:spAutoFit/>
          </a:bodyPr>
          <a:lstStyle/>
          <a:p>
            <a:pPr algn="l"/>
            <a:r>
              <a:rPr sz="1650" b="1" i="0">
                <a:solidFill>
                  <a:srgbClr val="255CF0"/>
                </a:solidFill>
                <a:latin typeface="Arial"/>
              </a:rPr>
              <a:t>RULES</a:t>
            </a:r>
          </a:p>
        </p:txBody>
      </p:sp>
      <p:sp>
        <p:nvSpPr>
          <p:cNvPr id="30" name="Oval 29"/>
          <p:cNvSpPr/>
          <p:nvPr/>
        </p:nvSpPr>
        <p:spPr>
          <a:xfrm>
            <a:off x="6959600" y="2286000"/>
            <a:ext cx="279400" cy="2794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1</a:t>
            </a:r>
          </a:p>
        </p:txBody>
      </p:sp>
      <p:sp>
        <p:nvSpPr>
          <p:cNvPr id="31" name="TextBox 30"/>
          <p:cNvSpPr txBox="1"/>
          <p:nvPr/>
        </p:nvSpPr>
        <p:spPr>
          <a:xfrm>
            <a:off x="7340600" y="2247900"/>
            <a:ext cx="4229100" cy="736600"/>
          </a:xfrm>
          <a:prstGeom prst="rect">
            <a:avLst/>
          </a:prstGeom>
          <a:noFill/>
        </p:spPr>
        <p:txBody>
          <a:bodyPr wrap="square" lIns="45720" rIns="45720" tIns="12700" bIns="12700" anchor="t">
            <a:spAutoFit/>
          </a:bodyPr>
          <a:lstStyle/>
          <a:p>
            <a:pPr algn="l"/>
            <a:r>
              <a:rPr sz="1500" b="1" i="0">
                <a:solidFill>
                  <a:srgbClr val="13263A"/>
                </a:solidFill>
                <a:latin typeface="Arial"/>
              </a:rPr>
              <a:t>Daily cap</a:t>
            </a:r>
          </a:p>
          <a:p>
            <a:pPr algn="l"/>
            <a:r>
              <a:rPr sz="1350" b="0" i="0">
                <a:solidFill>
                  <a:srgbClr val="647080"/>
                </a:solidFill>
                <a:latin typeface="Arial"/>
              </a:rPr>
              <a:t>16 calls per model, 80 % of the measured 20</a:t>
            </a:r>
          </a:p>
        </p:txBody>
      </p:sp>
      <p:sp>
        <p:nvSpPr>
          <p:cNvPr id="32" name="Oval 31"/>
          <p:cNvSpPr/>
          <p:nvPr/>
        </p:nvSpPr>
        <p:spPr>
          <a:xfrm>
            <a:off x="6959600" y="3048000"/>
            <a:ext cx="279400" cy="2794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2</a:t>
            </a:r>
          </a:p>
        </p:txBody>
      </p:sp>
      <p:sp>
        <p:nvSpPr>
          <p:cNvPr id="33" name="TextBox 32"/>
          <p:cNvSpPr txBox="1"/>
          <p:nvPr/>
        </p:nvSpPr>
        <p:spPr>
          <a:xfrm>
            <a:off x="7340600" y="3009900"/>
            <a:ext cx="4229100" cy="736600"/>
          </a:xfrm>
          <a:prstGeom prst="rect">
            <a:avLst/>
          </a:prstGeom>
          <a:noFill/>
        </p:spPr>
        <p:txBody>
          <a:bodyPr wrap="square" lIns="45720" rIns="45720" tIns="12700" bIns="12700" anchor="t">
            <a:spAutoFit/>
          </a:bodyPr>
          <a:lstStyle/>
          <a:p>
            <a:pPr algn="l"/>
            <a:r>
              <a:rPr sz="1500" b="1" i="0">
                <a:solidFill>
                  <a:srgbClr val="13263A"/>
                </a:solidFill>
                <a:latin typeface="Arial"/>
              </a:rPr>
              <a:t>429 answer</a:t>
            </a:r>
          </a:p>
          <a:p>
            <a:pPr algn="l"/>
            <a:r>
              <a:rPr sz="1350" b="0" i="0">
                <a:solidFill>
                  <a:srgbClr val="647080"/>
                </a:solidFill>
                <a:latin typeface="Arial"/>
              </a:rPr>
              <a:t>no retry: wait Google's delay or the next quota day, use the next model at once</a:t>
            </a:r>
          </a:p>
        </p:txBody>
      </p:sp>
      <p:sp>
        <p:nvSpPr>
          <p:cNvPr id="34" name="Oval 33"/>
          <p:cNvSpPr/>
          <p:nvPr/>
        </p:nvSpPr>
        <p:spPr>
          <a:xfrm>
            <a:off x="6959600" y="3810000"/>
            <a:ext cx="279400" cy="2794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3</a:t>
            </a:r>
          </a:p>
        </p:txBody>
      </p:sp>
      <p:sp>
        <p:nvSpPr>
          <p:cNvPr id="35" name="TextBox 34"/>
          <p:cNvSpPr txBox="1"/>
          <p:nvPr/>
        </p:nvSpPr>
        <p:spPr>
          <a:xfrm>
            <a:off x="7340600" y="3771900"/>
            <a:ext cx="4229100" cy="736600"/>
          </a:xfrm>
          <a:prstGeom prst="rect">
            <a:avLst/>
          </a:prstGeom>
          <a:noFill/>
        </p:spPr>
        <p:txBody>
          <a:bodyPr wrap="square" lIns="45720" rIns="45720" tIns="12700" bIns="12700" anchor="t">
            <a:spAutoFit/>
          </a:bodyPr>
          <a:lstStyle/>
          <a:p>
            <a:pPr algn="l"/>
            <a:r>
              <a:rPr sz="1500" b="1" i="0">
                <a:solidFill>
                  <a:srgbClr val="13263A"/>
                </a:solidFill>
                <a:latin typeface="Arial"/>
              </a:rPr>
              <a:t>3 failures in a row</a:t>
            </a:r>
          </a:p>
          <a:p>
            <a:pPr algn="l"/>
            <a:r>
              <a:rPr sz="1350" b="0" i="0">
                <a:solidFill>
                  <a:srgbClr val="647080"/>
                </a:solidFill>
                <a:latin typeface="Arial"/>
              </a:rPr>
              <a:t>model paused for 5 minutes</a:t>
            </a:r>
          </a:p>
        </p:txBody>
      </p:sp>
      <p:sp>
        <p:nvSpPr>
          <p:cNvPr id="36" name="Oval 35"/>
          <p:cNvSpPr/>
          <p:nvPr/>
        </p:nvSpPr>
        <p:spPr>
          <a:xfrm>
            <a:off x="6959600" y="4572000"/>
            <a:ext cx="279400" cy="2794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4</a:t>
            </a:r>
          </a:p>
        </p:txBody>
      </p:sp>
      <p:sp>
        <p:nvSpPr>
          <p:cNvPr id="37" name="TextBox 36"/>
          <p:cNvSpPr txBox="1"/>
          <p:nvPr/>
        </p:nvSpPr>
        <p:spPr>
          <a:xfrm>
            <a:off x="7340600" y="4533900"/>
            <a:ext cx="4229100" cy="736600"/>
          </a:xfrm>
          <a:prstGeom prst="rect">
            <a:avLst/>
          </a:prstGeom>
          <a:noFill/>
        </p:spPr>
        <p:txBody>
          <a:bodyPr wrap="square" lIns="45720" rIns="45720" tIns="12700" bIns="12700" anchor="t">
            <a:spAutoFit/>
          </a:bodyPr>
          <a:lstStyle/>
          <a:p>
            <a:pPr algn="l"/>
            <a:r>
              <a:rPr sz="1500" b="1" i="0">
                <a:solidFill>
                  <a:srgbClr val="13263A"/>
                </a:solidFill>
                <a:latin typeface="Arial"/>
              </a:rPr>
              <a:t>Shared counts</a:t>
            </a:r>
          </a:p>
          <a:p>
            <a:pPr algn="l"/>
            <a:r>
              <a:rPr sz="1350" b="0" i="0">
                <a:solidFill>
                  <a:srgbClr val="647080"/>
                </a:solidFill>
                <a:latin typeface="Arial"/>
              </a:rPr>
              <a:t>ai_data/usage.json, so separate runs agree</a:t>
            </a:r>
          </a:p>
        </p:txBody>
      </p:sp>
      <p:sp>
        <p:nvSpPr>
          <p:cNvPr id="38" name="Oval 37"/>
          <p:cNvSpPr/>
          <p:nvPr/>
        </p:nvSpPr>
        <p:spPr>
          <a:xfrm>
            <a:off x="6959600" y="5334000"/>
            <a:ext cx="279400" cy="2794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5</a:t>
            </a:r>
          </a:p>
        </p:txBody>
      </p:sp>
      <p:sp>
        <p:nvSpPr>
          <p:cNvPr id="39" name="TextBox 38"/>
          <p:cNvSpPr txBox="1"/>
          <p:nvPr/>
        </p:nvSpPr>
        <p:spPr>
          <a:xfrm>
            <a:off x="7340600" y="5295900"/>
            <a:ext cx="4229100" cy="736600"/>
          </a:xfrm>
          <a:prstGeom prst="rect">
            <a:avLst/>
          </a:prstGeom>
          <a:noFill/>
        </p:spPr>
        <p:txBody>
          <a:bodyPr wrap="square" lIns="45720" rIns="45720" tIns="12700" bIns="12700" anchor="t">
            <a:spAutoFit/>
          </a:bodyPr>
          <a:lstStyle/>
          <a:p>
            <a:pPr algn="l"/>
            <a:r>
              <a:rPr sz="1500" b="1" i="0">
                <a:solidFill>
                  <a:srgbClr val="13263A"/>
                </a:solidFill>
                <a:latin typeface="Arial"/>
              </a:rPr>
              <a:t>Prompt fix</a:t>
            </a:r>
          </a:p>
          <a:p>
            <a:pPr algn="l"/>
            <a:r>
              <a:rPr sz="1350" b="0" i="0">
                <a:solidFill>
                  <a:srgbClr val="647080"/>
                </a:solidFill>
                <a:latin typeface="Arial"/>
              </a:rPr>
              <a:t>"up to three" gave 1 sentence on Flash-Lite; now asks for three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5F4F0"/>
        </a:solidFill>
        <a:effectLst/>
      </p:bgPr>
    </p:bg>
    <p:spTree>
      <p:nvGrpSpPr>
        <p:cNvPr id="1" name=""/>
        <p:cNvGrpSpPr/>
        <p:nvPr/>
      </p:nvGrpSpPr>
      <p:grpSpPr/>
      <p:sp>
        <p:nvSpPr>
          <p:cNvPr id="2" name="TextBox 1"/>
          <p:cNvSpPr txBox="1"/>
          <p:nvPr/>
        </p:nvSpPr>
        <p:spPr>
          <a:xfrm>
            <a:off x="609600" y="457200"/>
            <a:ext cx="10960100" cy="558800"/>
          </a:xfrm>
          <a:prstGeom prst="rect">
            <a:avLst/>
          </a:prstGeom>
          <a:noFill/>
        </p:spPr>
        <p:txBody>
          <a:bodyPr wrap="square" lIns="45720" rIns="45720" tIns="12700" bIns="12700" anchor="ctr">
            <a:spAutoFit/>
          </a:bodyPr>
          <a:lstStyle/>
          <a:p>
            <a:pPr algn="l"/>
            <a:r>
              <a:rPr sz="3300" b="1" i="0">
                <a:solidFill>
                  <a:srgbClr val="13263A"/>
                </a:solidFill>
                <a:latin typeface="Arial"/>
              </a:rPr>
              <a:t>Reuse and RAG: accepted sentences first</a:t>
            </a:r>
          </a:p>
        </p:txBody>
      </p:sp>
      <p:sp>
        <p:nvSpPr>
          <p:cNvPr id="3" name="TextBox 2"/>
          <p:cNvSpPr txBox="1"/>
          <p:nvPr/>
        </p:nvSpPr>
        <p:spPr>
          <a:xfrm>
            <a:off x="635000" y="1219200"/>
            <a:ext cx="10566400" cy="330200"/>
          </a:xfrm>
          <a:prstGeom prst="rect">
            <a:avLst/>
          </a:prstGeom>
          <a:noFill/>
        </p:spPr>
        <p:txBody>
          <a:bodyPr wrap="square" lIns="45720" rIns="45720" tIns="12700" bIns="12700" anchor="t">
            <a:spAutoFit/>
          </a:bodyPr>
          <a:lstStyle/>
          <a:p>
            <a:pPr algn="l"/>
            <a:r>
              <a:rPr sz="1800" b="0" i="0">
                <a:solidFill>
                  <a:srgbClr val="647080"/>
                </a:solidFill>
                <a:latin typeface="Arial"/>
              </a:rPr>
              <a:t>01  Technical progress  ·  src/ai/retrieval.py, word overlap, no embeddings</a:t>
            </a:r>
          </a:p>
        </p:txBody>
      </p:sp>
      <p:sp>
        <p:nvSpPr>
          <p:cNvPr id="4" name="TextBox 3"/>
          <p:cNvSpPr txBox="1"/>
          <p:nvPr/>
        </p:nvSpPr>
        <p:spPr>
          <a:xfrm>
            <a:off x="11049000" y="6248400"/>
            <a:ext cx="533400" cy="279400"/>
          </a:xfrm>
          <a:prstGeom prst="rect">
            <a:avLst/>
          </a:prstGeom>
          <a:noFill/>
        </p:spPr>
        <p:txBody>
          <a:bodyPr wrap="square" lIns="45720" rIns="45720" tIns="12700" bIns="12700" anchor="t">
            <a:spAutoFit/>
          </a:bodyPr>
          <a:lstStyle/>
          <a:p>
            <a:pPr algn="l"/>
            <a:r>
              <a:rPr sz="1350" b="0" i="0">
                <a:solidFill>
                  <a:srgbClr val="647080"/>
                </a:solidFill>
                <a:latin typeface="Arial"/>
              </a:rPr>
              <a:t>12</a:t>
            </a:r>
          </a:p>
        </p:txBody>
      </p:sp>
      <p:sp>
        <p:nvSpPr>
          <p:cNvPr id="5" name="TextBox 4"/>
          <p:cNvSpPr txBox="1"/>
          <p:nvPr/>
        </p:nvSpPr>
        <p:spPr>
          <a:xfrm>
            <a:off x="635000" y="1778000"/>
            <a:ext cx="5334000" cy="368300"/>
          </a:xfrm>
          <a:prstGeom prst="rect">
            <a:avLst/>
          </a:prstGeom>
          <a:noFill/>
        </p:spPr>
        <p:txBody>
          <a:bodyPr wrap="square" lIns="45720" rIns="45720" tIns="12700" bIns="12700" anchor="t">
            <a:spAutoFit/>
          </a:bodyPr>
          <a:lstStyle/>
          <a:p>
            <a:pPr algn="l"/>
            <a:r>
              <a:rPr sz="1650" b="1" i="0">
                <a:solidFill>
                  <a:srgbClr val="255CF0"/>
                </a:solidFill>
                <a:latin typeface="Arial"/>
              </a:rPr>
              <a:t>HOW A PAST SENTENCE IS SCORED</a:t>
            </a:r>
          </a:p>
        </p:txBody>
      </p:sp>
      <p:graphicFrame>
        <p:nvGraphicFramePr>
          <p:cNvPr id="6" name="Table 5"/>
          <p:cNvGraphicFramePr>
            <a:graphicFrameLocks noGrp="1"/>
          </p:cNvGraphicFramePr>
          <p:nvPr/>
        </p:nvGraphicFramePr>
        <p:xfrm>
          <a:off x="635000" y="2235200"/>
          <a:ext cx="5397500" cy="1524000"/>
        </p:xfrm>
        <a:graphic>
          <a:graphicData uri="http://schemas.openxmlformats.org/drawingml/2006/table">
            <a:tbl>
              <a:tblPr firstRow="1">
                <a:tableStyleId>{5940675A-B579-460E-94D1-54222C63F5DA}</a:tableStyleId>
              </a:tblPr>
              <a:tblGrid>
                <a:gridCol w="1206500"/>
                <a:gridCol w="889000"/>
                <a:gridCol w="3302000"/>
              </a:tblGrid>
              <a:tr h="381000">
                <a:tc>
                  <a:txBody>
                    <a:bodyPr wrap="square"/>
                    <a:lstStyle/>
                    <a:p>
                      <a:r>
                        <a:rPr sz="1250" b="1">
                          <a:solidFill>
                            <a:srgbClr val="FFFFFF"/>
                          </a:solidFill>
                          <a:latin typeface="Arial"/>
                        </a:rPr>
                        <a:t>Field</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13263A"/>
                    </a:solidFill>
                  </a:tcPr>
                </a:tc>
                <a:tc>
                  <a:txBody>
                    <a:bodyPr wrap="square"/>
                    <a:lstStyle/>
                    <a:p>
                      <a:r>
                        <a:rPr sz="1250" b="1">
                          <a:solidFill>
                            <a:srgbClr val="FFFFFF"/>
                          </a:solidFill>
                          <a:latin typeface="Arial"/>
                        </a:rPr>
                        <a:t>Weight</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13263A"/>
                    </a:solidFill>
                  </a:tcPr>
                </a:tc>
                <a:tc>
                  <a:txBody>
                    <a:bodyPr wrap="square"/>
                    <a:lstStyle/>
                    <a:p>
                      <a:r>
                        <a:rPr sz="1250" b="1">
                          <a:solidFill>
                            <a:srgbClr val="FFFFFF"/>
                          </a:solidFill>
                          <a:latin typeface="Arial"/>
                        </a:rPr>
                        <a:t>Comparison</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13263A"/>
                    </a:solidFill>
                  </a:tcPr>
                </a:tc>
              </a:tr>
              <a:tr h="381000">
                <a:tc>
                  <a:txBody>
                    <a:bodyPr wrap="square"/>
                    <a:lstStyle/>
                    <a:p>
                      <a:r>
                        <a:rPr sz="1300" b="1">
                          <a:solidFill>
                            <a:srgbClr val="13263A"/>
                          </a:solidFill>
                          <a:latin typeface="Arial"/>
                        </a:rPr>
                        <a:t>Symbols</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300" b="0">
                          <a:solidFill>
                            <a:srgbClr val="13263A"/>
                          </a:solidFill>
                          <a:latin typeface="Arial"/>
                        </a:rPr>
                        <a:t>0.5</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300" b="0">
                          <a:solidFill>
                            <a:srgbClr val="13263A"/>
                          </a:solidFill>
                          <a:latin typeface="Arial"/>
                        </a:rPr>
                        <a:t>same set, any order or case</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r>
              <a:tr h="381000">
                <a:tc>
                  <a:txBody>
                    <a:bodyPr wrap="square"/>
                    <a:lstStyle/>
                    <a:p>
                      <a:r>
                        <a:rPr sz="1300" b="1">
                          <a:solidFill>
                            <a:srgbClr val="13263A"/>
                          </a:solidFill>
                          <a:latin typeface="Arial"/>
                        </a:rPr>
                        <a:t>Words</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300" b="0">
                          <a:solidFill>
                            <a:srgbClr val="13263A"/>
                          </a:solidFill>
                          <a:latin typeface="Arial"/>
                        </a:rPr>
                        <a:t>0.3</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300" b="0">
                          <a:solidFill>
                            <a:srgbClr val="13263A"/>
                          </a:solidFill>
                          <a:latin typeface="Arial"/>
                        </a:rPr>
                        <a:t>overlap of symbol and intention words</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r>
              <a:tr h="381000">
                <a:tc>
                  <a:txBody>
                    <a:bodyPr wrap="square"/>
                    <a:lstStyle/>
                    <a:p>
                      <a:r>
                        <a:rPr sz="1300" b="1">
                          <a:solidFill>
                            <a:srgbClr val="13263A"/>
                          </a:solidFill>
                          <a:latin typeface="Arial"/>
                        </a:rPr>
                        <a:t>Scene</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300" b="0">
                          <a:solidFill>
                            <a:srgbClr val="13263A"/>
                          </a:solidFill>
                          <a:latin typeface="Arial"/>
                        </a:rPr>
                        <a:t>0.2</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300" b="0">
                          <a:solidFill>
                            <a:srgbClr val="13263A"/>
                          </a:solidFill>
                          <a:latin typeface="Arial"/>
                        </a:rPr>
                        <a:t>overlap of scene-hint words</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r>
            </a:tbl>
          </a:graphicData>
        </a:graphic>
      </p:graphicFrame>
      <p:sp>
        <p:nvSpPr>
          <p:cNvPr id="7" name="Rectangle 6"/>
          <p:cNvSpPr/>
          <p:nvPr/>
        </p:nvSpPr>
        <p:spPr>
          <a:xfrm>
            <a:off x="635000" y="3962400"/>
            <a:ext cx="2603500" cy="1460500"/>
          </a:xfrm>
          <a:prstGeom prst="rect">
            <a:avLst/>
          </a:prstGeom>
          <a:solidFill>
            <a:srgbClr val="13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4064000"/>
            <a:ext cx="2349500" cy="584200"/>
          </a:xfrm>
          <a:prstGeom prst="rect">
            <a:avLst/>
          </a:prstGeom>
          <a:noFill/>
        </p:spPr>
        <p:txBody>
          <a:bodyPr wrap="square" lIns="45720" rIns="45720" tIns="12700" bIns="12700" anchor="t">
            <a:spAutoFit/>
          </a:bodyPr>
          <a:lstStyle/>
          <a:p>
            <a:pPr algn="l"/>
            <a:r>
              <a:rPr sz="3000" b="1" i="0">
                <a:solidFill>
                  <a:srgbClr val="FFFFFF"/>
                </a:solidFill>
                <a:latin typeface="Arial"/>
              </a:rPr>
              <a:t>≥ 0.9</a:t>
            </a:r>
          </a:p>
        </p:txBody>
      </p:sp>
      <p:sp>
        <p:nvSpPr>
          <p:cNvPr id="9" name="TextBox 8"/>
          <p:cNvSpPr txBox="1"/>
          <p:nvPr/>
        </p:nvSpPr>
        <p:spPr>
          <a:xfrm>
            <a:off x="762000" y="4622800"/>
            <a:ext cx="2349500" cy="723900"/>
          </a:xfrm>
          <a:prstGeom prst="rect">
            <a:avLst/>
          </a:prstGeom>
          <a:noFill/>
        </p:spPr>
        <p:txBody>
          <a:bodyPr wrap="square" lIns="45720" rIns="45720" tIns="12700" bIns="12700" anchor="t">
            <a:spAutoFit/>
          </a:bodyPr>
          <a:lstStyle/>
          <a:p>
            <a:pPr algn="l"/>
            <a:r>
              <a:rPr sz="1350" b="0" i="0">
                <a:solidFill>
                  <a:srgbClr val="D5DCE8"/>
                </a:solidFill>
                <a:latin typeface="Arial"/>
              </a:rPr>
              <a:t>reuse: shown with no AI call (text-only requests)</a:t>
            </a:r>
          </a:p>
        </p:txBody>
      </p:sp>
      <p:sp>
        <p:nvSpPr>
          <p:cNvPr id="10" name="Rectangle 9"/>
          <p:cNvSpPr/>
          <p:nvPr/>
        </p:nvSpPr>
        <p:spPr>
          <a:xfrm>
            <a:off x="3378200" y="3962400"/>
            <a:ext cx="2603500" cy="14605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05200" y="4064000"/>
            <a:ext cx="2349500" cy="584200"/>
          </a:xfrm>
          <a:prstGeom prst="rect">
            <a:avLst/>
          </a:prstGeom>
          <a:noFill/>
        </p:spPr>
        <p:txBody>
          <a:bodyPr wrap="square" lIns="45720" rIns="45720" tIns="12700" bIns="12700" anchor="t">
            <a:spAutoFit/>
          </a:bodyPr>
          <a:lstStyle/>
          <a:p>
            <a:pPr algn="l"/>
            <a:r>
              <a:rPr sz="3000" b="1" i="0">
                <a:solidFill>
                  <a:srgbClr val="255CF0"/>
                </a:solidFill>
                <a:latin typeface="Arial"/>
              </a:rPr>
              <a:t>≥ 0.4</a:t>
            </a:r>
          </a:p>
        </p:txBody>
      </p:sp>
      <p:sp>
        <p:nvSpPr>
          <p:cNvPr id="12" name="TextBox 11"/>
          <p:cNvSpPr txBox="1"/>
          <p:nvPr/>
        </p:nvSpPr>
        <p:spPr>
          <a:xfrm>
            <a:off x="3505200" y="4622800"/>
            <a:ext cx="2349500" cy="723900"/>
          </a:xfrm>
          <a:prstGeom prst="rect">
            <a:avLst/>
          </a:prstGeom>
          <a:noFill/>
        </p:spPr>
        <p:txBody>
          <a:bodyPr wrap="square" lIns="45720" rIns="45720" tIns="12700" bIns="12700" anchor="t">
            <a:spAutoFit/>
          </a:bodyPr>
          <a:lstStyle/>
          <a:p>
            <a:pPr algn="l"/>
            <a:r>
              <a:rPr sz="1350" b="0" i="0">
                <a:solidFill>
                  <a:srgbClr val="647080"/>
                </a:solidFill>
                <a:latin typeface="Arial"/>
              </a:rPr>
              <a:t>up to 3 sentences sent as examples in the prompt</a:t>
            </a:r>
          </a:p>
        </p:txBody>
      </p:sp>
      <p:sp>
        <p:nvSpPr>
          <p:cNvPr id="13" name="TextBox 12"/>
          <p:cNvSpPr txBox="1"/>
          <p:nvPr/>
        </p:nvSpPr>
        <p:spPr>
          <a:xfrm>
            <a:off x="635000" y="5588000"/>
            <a:ext cx="5397500" cy="508000"/>
          </a:xfrm>
          <a:prstGeom prst="rect">
            <a:avLst/>
          </a:prstGeom>
          <a:noFill/>
        </p:spPr>
        <p:txBody>
          <a:bodyPr wrap="square" lIns="45720" rIns="45720" tIns="12700" bIns="12700" anchor="t">
            <a:spAutoFit/>
          </a:bodyPr>
          <a:lstStyle/>
          <a:p>
            <a:pPr algn="l"/>
            <a:r>
              <a:rPr sz="1350" b="1" i="0">
                <a:solidFill>
                  <a:srgbClr val="13263A"/>
                </a:solidFill>
                <a:latin typeface="Arial"/>
              </a:rPr>
              <a:t>Negation: </a:t>
            </a:r>
            <a:r>
              <a:rPr sz="1350" b="0" i="0">
                <a:solidFill>
                  <a:srgbClr val="647080"/>
                </a:solidFill>
                <a:latin typeface="Arial"/>
              </a:rPr>
              <a:t>"no sugar" never matches "sugar"</a:t>
            </a:r>
          </a:p>
        </p:txBody>
      </p:sp>
      <p:sp>
        <p:nvSpPr>
          <p:cNvPr id="14" name="TextBox 13"/>
          <p:cNvSpPr txBox="1"/>
          <p:nvPr/>
        </p:nvSpPr>
        <p:spPr>
          <a:xfrm>
            <a:off x="6261100" y="1778000"/>
            <a:ext cx="5308600" cy="368300"/>
          </a:xfrm>
          <a:prstGeom prst="rect">
            <a:avLst/>
          </a:prstGeom>
          <a:noFill/>
        </p:spPr>
        <p:txBody>
          <a:bodyPr wrap="square" lIns="45720" rIns="45720" tIns="12700" bIns="12700" anchor="t">
            <a:spAutoFit/>
          </a:bodyPr>
          <a:lstStyle/>
          <a:p>
            <a:pPr algn="l"/>
            <a:r>
              <a:rPr sz="1650" b="1" i="0">
                <a:solidFill>
                  <a:srgbClr val="255CF0"/>
                </a:solidFill>
                <a:latin typeface="Arial"/>
              </a:rPr>
              <a:t>LIVE CHECK, 28 OCTOBER</a:t>
            </a:r>
          </a:p>
        </p:txBody>
      </p:sp>
      <p:sp>
        <p:nvSpPr>
          <p:cNvPr id="15" name="Oval 14"/>
          <p:cNvSpPr/>
          <p:nvPr/>
        </p:nvSpPr>
        <p:spPr>
          <a:xfrm>
            <a:off x="6261100" y="2286000"/>
            <a:ext cx="279400" cy="2794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1</a:t>
            </a:r>
          </a:p>
        </p:txBody>
      </p:sp>
      <p:sp>
        <p:nvSpPr>
          <p:cNvPr id="16" name="TextBox 15"/>
          <p:cNvSpPr txBox="1"/>
          <p:nvPr/>
        </p:nvSpPr>
        <p:spPr>
          <a:xfrm>
            <a:off x="6642100" y="2247900"/>
            <a:ext cx="4927600" cy="736600"/>
          </a:xfrm>
          <a:prstGeom prst="rect">
            <a:avLst/>
          </a:prstGeom>
          <a:noFill/>
        </p:spPr>
        <p:txBody>
          <a:bodyPr wrap="square" lIns="45720" rIns="45720" tIns="12700" bIns="12700" anchor="t">
            <a:spAutoFit/>
          </a:bodyPr>
          <a:lstStyle/>
          <a:p>
            <a:pPr algn="l"/>
            <a:r>
              <a:rPr sz="1500" b="1" i="0">
                <a:solidFill>
                  <a:srgbClr val="13263A"/>
                </a:solidFill>
                <a:latin typeface="Arial"/>
              </a:rPr>
              <a:t>Café + water + photo</a:t>
            </a:r>
          </a:p>
          <a:p>
            <a:pPr algn="l"/>
            <a:r>
              <a:rPr sz="1350" b="0" i="0">
                <a:solidFill>
                  <a:srgbClr val="647080"/>
                </a:solidFill>
                <a:latin typeface="Arial"/>
              </a:rPr>
              <a:t>Gemini 3.5 Flash-Lite, 4.3 s → sentence accepted</a:t>
            </a:r>
          </a:p>
        </p:txBody>
      </p:sp>
      <p:sp>
        <p:nvSpPr>
          <p:cNvPr id="17" name="Oval 16"/>
          <p:cNvSpPr/>
          <p:nvPr/>
        </p:nvSpPr>
        <p:spPr>
          <a:xfrm>
            <a:off x="6261100" y="3073400"/>
            <a:ext cx="279400" cy="2794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2</a:t>
            </a:r>
          </a:p>
        </p:txBody>
      </p:sp>
      <p:sp>
        <p:nvSpPr>
          <p:cNvPr id="18" name="TextBox 17"/>
          <p:cNvSpPr txBox="1"/>
          <p:nvPr/>
        </p:nvSpPr>
        <p:spPr>
          <a:xfrm>
            <a:off x="6642100" y="3035300"/>
            <a:ext cx="4927600" cy="736600"/>
          </a:xfrm>
          <a:prstGeom prst="rect">
            <a:avLst/>
          </a:prstGeom>
          <a:noFill/>
        </p:spPr>
        <p:txBody>
          <a:bodyPr wrap="square" lIns="45720" rIns="45720" tIns="12700" bIns="12700" anchor="t">
            <a:spAutoFit/>
          </a:bodyPr>
          <a:lstStyle/>
          <a:p>
            <a:pPr algn="l"/>
            <a:r>
              <a:rPr sz="1500" b="1" i="0">
                <a:solidFill>
                  <a:srgbClr val="13263A"/>
                </a:solidFill>
                <a:latin typeface="Arial"/>
              </a:rPr>
              <a:t>Same request, text only</a:t>
            </a:r>
          </a:p>
          <a:p>
            <a:pPr algn="l"/>
            <a:r>
              <a:rPr sz="1350" b="0" i="0">
                <a:solidFill>
                  <a:srgbClr val="647080"/>
                </a:solidFill>
                <a:latin typeface="Arial"/>
              </a:rPr>
              <a:t>reused from the store: 0 AI calls</a:t>
            </a:r>
          </a:p>
        </p:txBody>
      </p:sp>
      <p:sp>
        <p:nvSpPr>
          <p:cNvPr id="19" name="Oval 18"/>
          <p:cNvSpPr/>
          <p:nvPr/>
        </p:nvSpPr>
        <p:spPr>
          <a:xfrm>
            <a:off x="6261100" y="3860800"/>
            <a:ext cx="279400" cy="2794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3</a:t>
            </a:r>
          </a:p>
        </p:txBody>
      </p:sp>
      <p:sp>
        <p:nvSpPr>
          <p:cNvPr id="20" name="TextBox 19"/>
          <p:cNvSpPr txBox="1"/>
          <p:nvPr/>
        </p:nvSpPr>
        <p:spPr>
          <a:xfrm>
            <a:off x="6642100" y="3822700"/>
            <a:ext cx="4927600" cy="736600"/>
          </a:xfrm>
          <a:prstGeom prst="rect">
            <a:avLst/>
          </a:prstGeom>
          <a:noFill/>
        </p:spPr>
        <p:txBody>
          <a:bodyPr wrap="square" lIns="45720" rIns="45720" tIns="12700" bIns="12700" anchor="t">
            <a:spAutoFit/>
          </a:bodyPr>
          <a:lstStyle/>
          <a:p>
            <a:pPr algn="l"/>
            <a:r>
              <a:rPr sz="1500" b="1" i="0">
                <a:solidFill>
                  <a:srgbClr val="13263A"/>
                </a:solidFill>
                <a:latin typeface="Arial"/>
              </a:rPr>
              <a:t>Bus + water</a:t>
            </a:r>
          </a:p>
          <a:p>
            <a:pPr algn="l"/>
            <a:r>
              <a:rPr sz="1350" b="0" i="0">
                <a:solidFill>
                  <a:srgbClr val="647080"/>
                </a:solidFill>
                <a:latin typeface="Arial"/>
              </a:rPr>
              <a:t>score 0.8: not reused, sent as an example; 1.7 s, 182 tokens</a:t>
            </a:r>
          </a:p>
        </p:txBody>
      </p:sp>
      <p:sp>
        <p:nvSpPr>
          <p:cNvPr id="21" name="Oval 20"/>
          <p:cNvSpPr/>
          <p:nvPr/>
        </p:nvSpPr>
        <p:spPr>
          <a:xfrm>
            <a:off x="6261100" y="4648200"/>
            <a:ext cx="279400" cy="2794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4</a:t>
            </a:r>
          </a:p>
        </p:txBody>
      </p:sp>
      <p:sp>
        <p:nvSpPr>
          <p:cNvPr id="22" name="TextBox 21"/>
          <p:cNvSpPr txBox="1"/>
          <p:nvPr/>
        </p:nvSpPr>
        <p:spPr>
          <a:xfrm>
            <a:off x="6642100" y="4610100"/>
            <a:ext cx="4927600" cy="736600"/>
          </a:xfrm>
          <a:prstGeom prst="rect">
            <a:avLst/>
          </a:prstGeom>
          <a:noFill/>
        </p:spPr>
        <p:txBody>
          <a:bodyPr wrap="square" lIns="45720" rIns="45720" tIns="12700" bIns="12700" anchor="t">
            <a:spAutoFit/>
          </a:bodyPr>
          <a:lstStyle/>
          <a:p>
            <a:pPr algn="l"/>
            <a:r>
              <a:rPr sz="1500" b="1" i="0">
                <a:solidFill>
                  <a:srgbClr val="13263A"/>
                </a:solidFill>
                <a:latin typeface="Arial"/>
              </a:rPr>
              <a:t>Ollama first (not running)</a:t>
            </a:r>
          </a:p>
          <a:p>
            <a:pPr algn="l"/>
            <a:r>
              <a:rPr sz="1350" b="0" i="0">
                <a:solidFill>
                  <a:srgbClr val="647080"/>
                </a:solidFill>
                <a:latin typeface="Arial"/>
              </a:rPr>
              <a:t>"cannot connect" → 3.1 Flash-Lite answered in 6.2 s</a:t>
            </a:r>
          </a:p>
        </p:txBody>
      </p:sp>
      <p:sp>
        <p:nvSpPr>
          <p:cNvPr id="23" name="Rectangle 22"/>
          <p:cNvSpPr/>
          <p:nvPr/>
        </p:nvSpPr>
        <p:spPr>
          <a:xfrm>
            <a:off x="6261100" y="5486400"/>
            <a:ext cx="5308600" cy="5080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88100" y="5486400"/>
            <a:ext cx="5080000" cy="508000"/>
          </a:xfrm>
          <a:prstGeom prst="rect">
            <a:avLst/>
          </a:prstGeom>
          <a:noFill/>
        </p:spPr>
        <p:txBody>
          <a:bodyPr wrap="square" lIns="45720" rIns="45720" tIns="12700" bIns="12700" anchor="ctr">
            <a:spAutoFit/>
          </a:bodyPr>
          <a:lstStyle/>
          <a:p>
            <a:pPr algn="l"/>
            <a:r>
              <a:rPr sz="1350" b="1" i="0">
                <a:solidFill>
                  <a:srgbClr val="255CF0"/>
                </a:solidFill>
                <a:latin typeface="Arial"/>
              </a:rPr>
              <a:t>Next: </a:t>
            </a:r>
            <a:r>
              <a:rPr sz="1350" b="0" i="0">
                <a:solidFill>
                  <a:srgbClr val="13263A"/>
                </a:solidFill>
                <a:latin typeface="Arial"/>
              </a:rPr>
              <a:t>move this scoring into the backend reuse service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5F4F0"/>
        </a:solidFill>
        <a:effectLst/>
      </p:bgPr>
    </p:bg>
    <p:spTree>
      <p:nvGrpSpPr>
        <p:cNvPr id="1" name=""/>
        <p:cNvGrpSpPr/>
        <p:nvPr/>
      </p:nvGrpSpPr>
      <p:grpSpPr/>
      <p:sp>
        <p:nvSpPr>
          <p:cNvPr id="2" name="TextBox 1"/>
          <p:cNvSpPr txBox="1"/>
          <p:nvPr/>
        </p:nvSpPr>
        <p:spPr>
          <a:xfrm>
            <a:off x="609600" y="457200"/>
            <a:ext cx="10960100" cy="558800"/>
          </a:xfrm>
          <a:prstGeom prst="rect">
            <a:avLst/>
          </a:prstGeom>
          <a:noFill/>
        </p:spPr>
        <p:txBody>
          <a:bodyPr wrap="square" lIns="45720" rIns="45720" tIns="12700" bIns="12700" anchor="ctr">
            <a:spAutoFit/>
          </a:bodyPr>
          <a:lstStyle/>
          <a:p>
            <a:pPr algn="l"/>
            <a:r>
              <a:rPr sz="3300" b="1" i="0">
                <a:solidFill>
                  <a:srgbClr val="13263A"/>
                </a:solidFill>
                <a:latin typeface="Arial"/>
              </a:rPr>
              <a:t>Rate limits of every Gemini model we can call</a:t>
            </a:r>
          </a:p>
        </p:txBody>
      </p:sp>
      <p:sp>
        <p:nvSpPr>
          <p:cNvPr id="3" name="TextBox 2"/>
          <p:cNvSpPr txBox="1"/>
          <p:nvPr/>
        </p:nvSpPr>
        <p:spPr>
          <a:xfrm>
            <a:off x="635000" y="1219200"/>
            <a:ext cx="10566400" cy="330200"/>
          </a:xfrm>
          <a:prstGeom prst="rect">
            <a:avLst/>
          </a:prstGeom>
          <a:noFill/>
        </p:spPr>
        <p:txBody>
          <a:bodyPr wrap="square" lIns="45720" rIns="45720" tIns="12700" bIns="12700" anchor="t">
            <a:spAutoFit/>
          </a:bodyPr>
          <a:lstStyle/>
          <a:p>
            <a:pPr algn="l"/>
            <a:r>
              <a:rPr sz="1800" b="0" i="0">
                <a:solidFill>
                  <a:srgbClr val="647080"/>
                </a:solidFill>
                <a:latin typeface="Arial"/>
              </a:rPr>
              <a:t>02  Experimental progress  ·  survey of 20 models, free-tier key, 28 October</a:t>
            </a:r>
          </a:p>
        </p:txBody>
      </p:sp>
      <p:sp>
        <p:nvSpPr>
          <p:cNvPr id="4" name="TextBox 3"/>
          <p:cNvSpPr txBox="1"/>
          <p:nvPr/>
        </p:nvSpPr>
        <p:spPr>
          <a:xfrm>
            <a:off x="11049000" y="6248400"/>
            <a:ext cx="533400" cy="279400"/>
          </a:xfrm>
          <a:prstGeom prst="rect">
            <a:avLst/>
          </a:prstGeom>
          <a:noFill/>
        </p:spPr>
        <p:txBody>
          <a:bodyPr wrap="square" lIns="45720" rIns="45720" tIns="12700" bIns="12700" anchor="t">
            <a:spAutoFit/>
          </a:bodyPr>
          <a:lstStyle/>
          <a:p>
            <a:pPr algn="l"/>
            <a:r>
              <a:rPr sz="1350" b="0" i="0">
                <a:solidFill>
                  <a:srgbClr val="647080"/>
                </a:solidFill>
                <a:latin typeface="Arial"/>
              </a:rPr>
              <a:t>13</a:t>
            </a:r>
          </a:p>
        </p:txBody>
      </p:sp>
      <p:graphicFrame>
        <p:nvGraphicFramePr>
          <p:cNvPr id="5" name="Table 4"/>
          <p:cNvGraphicFramePr>
            <a:graphicFrameLocks noGrp="1"/>
          </p:cNvGraphicFramePr>
          <p:nvPr/>
        </p:nvGraphicFramePr>
        <p:xfrm>
          <a:off x="635000" y="1727200"/>
          <a:ext cx="10922000" cy="3911600"/>
        </p:xfrm>
        <a:graphic>
          <a:graphicData uri="http://schemas.openxmlformats.org/drawingml/2006/table">
            <a:tbl>
              <a:tblPr firstRow="1">
                <a:tableStyleId>{5940675A-B579-460E-94D1-54222C63F5DA}</a:tableStyleId>
              </a:tblPr>
              <a:tblGrid>
                <a:gridCol w="3327400"/>
                <a:gridCol w="3022600"/>
                <a:gridCol w="2260600"/>
                <a:gridCol w="2311400"/>
              </a:tblGrid>
              <a:tr h="355600">
                <a:tc>
                  <a:txBody>
                    <a:bodyPr wrap="square"/>
                    <a:lstStyle/>
                    <a:p>
                      <a:r>
                        <a:rPr sz="1250" b="1">
                          <a:solidFill>
                            <a:srgbClr val="FFFFFF"/>
                          </a:solidFill>
                          <a:latin typeface="Arial"/>
                        </a:rPr>
                        <a:t>Model</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13263A"/>
                    </a:solidFill>
                  </a:tcPr>
                </a:tc>
                <a:tc>
                  <a:txBody>
                    <a:bodyPr wrap="square"/>
                    <a:lstStyle/>
                    <a:p>
                      <a:r>
                        <a:rPr sz="1250" b="1">
                          <a:solidFill>
                            <a:srgbClr val="FFFFFF"/>
                          </a:solidFill>
                          <a:latin typeface="Arial"/>
                        </a:rPr>
                        <a:t>What happened</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13263A"/>
                    </a:solidFill>
                  </a:tcPr>
                </a:tc>
                <a:tc>
                  <a:txBody>
                    <a:bodyPr wrap="square"/>
                    <a:lstStyle/>
                    <a:p>
                      <a:r>
                        <a:rPr sz="1250" b="1">
                          <a:solidFill>
                            <a:srgbClr val="FFFFFF"/>
                          </a:solidFill>
                          <a:latin typeface="Arial"/>
                        </a:rPr>
                        <a:t>Limit in Google's 429</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13263A"/>
                    </a:solidFill>
                  </a:tcPr>
                </a:tc>
                <a:tc>
                  <a:txBody>
                    <a:bodyPr wrap="square"/>
                    <a:lstStyle/>
                    <a:p>
                      <a:r>
                        <a:rPr sz="1250" b="1">
                          <a:solidFill>
                            <a:srgbClr val="FFFFFF"/>
                          </a:solidFill>
                          <a:latin typeface="Arial"/>
                        </a:rPr>
                        <a:t>Quota counted as</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13263A"/>
                    </a:solidFill>
                  </a:tcPr>
                </a:tc>
              </a:tr>
              <a:tr h="355600">
                <a:tc>
                  <a:txBody>
                    <a:bodyPr wrap="square"/>
                    <a:lstStyle/>
                    <a:p>
                      <a:r>
                        <a:rPr sz="1200" b="1">
                          <a:solidFill>
                            <a:srgbClr val="13263A"/>
                          </a:solidFill>
                          <a:latin typeface="Arial"/>
                        </a:rPr>
                        <a:t>gemini-3.5-flash-lite</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8EEFE"/>
                    </a:solidFill>
                  </a:tcPr>
                </a:tc>
                <a:tc>
                  <a:txBody>
                    <a:bodyPr wrap="square"/>
                    <a:lstStyle/>
                    <a:p>
                      <a:r>
                        <a:rPr sz="1200" b="0">
                          <a:solidFill>
                            <a:srgbClr val="13263A"/>
                          </a:solidFill>
                          <a:latin typeface="Arial"/>
                        </a:rPr>
                        <a:t>15 of 15 OK · 1.0 s median</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8EEFE"/>
                    </a:solidFill>
                  </a:tcPr>
                </a:tc>
                <a:tc>
                  <a:txBody>
                    <a:bodyPr wrap="square"/>
                    <a:lstStyle/>
                    <a:p>
                      <a:r>
                        <a:rPr sz="1200" b="0">
                          <a:solidFill>
                            <a:srgbClr val="13263A"/>
                          </a:solidFill>
                          <a:latin typeface="Arial"/>
                        </a:rPr>
                        <a:t>none reached</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8EEFE"/>
                    </a:solidFill>
                  </a:tcPr>
                </a:tc>
                <a:tc>
                  <a:txBody>
                    <a:bodyPr wrap="square"/>
                    <a:lstStyle/>
                    <a:p>
                      <a:r>
                        <a:rPr sz="1200" b="0">
                          <a:solidFill>
                            <a:srgbClr val="13263A"/>
                          </a:solidFill>
                          <a:latin typeface="Arial"/>
                        </a:rPr>
                        <a:t>—</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8EEFE"/>
                    </a:solidFill>
                  </a:tcPr>
                </a:tc>
              </a:tr>
              <a:tr h="355600">
                <a:tc>
                  <a:txBody>
                    <a:bodyPr wrap="square"/>
                    <a:lstStyle/>
                    <a:p>
                      <a:r>
                        <a:rPr sz="1200" b="1">
                          <a:solidFill>
                            <a:srgbClr val="13263A"/>
                          </a:solidFill>
                          <a:latin typeface="Arial"/>
                        </a:rPr>
                        <a:t>gemini-3.1-flash-lite (+ preview)</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8EEFE"/>
                    </a:solidFill>
                  </a:tcPr>
                </a:tc>
                <a:tc>
                  <a:txBody>
                    <a:bodyPr wrap="square"/>
                    <a:lstStyle/>
                    <a:p>
                      <a:r>
                        <a:rPr sz="1200" b="0">
                          <a:solidFill>
                            <a:srgbClr val="13263A"/>
                          </a:solidFill>
                          <a:latin typeface="Arial"/>
                        </a:rPr>
                        <a:t>15 of 15 OK · 3.7–4.0 s</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8EEFE"/>
                    </a:solidFill>
                  </a:tcPr>
                </a:tc>
                <a:tc>
                  <a:txBody>
                    <a:bodyPr wrap="square"/>
                    <a:lstStyle/>
                    <a:p>
                      <a:r>
                        <a:rPr sz="1200" b="0">
                          <a:solidFill>
                            <a:srgbClr val="13263A"/>
                          </a:solidFill>
                          <a:latin typeface="Arial"/>
                        </a:rPr>
                        <a:t>none reached</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8EEFE"/>
                    </a:solidFill>
                  </a:tcPr>
                </a:tc>
                <a:tc>
                  <a:txBody>
                    <a:bodyPr wrap="square"/>
                    <a:lstStyle/>
                    <a:p>
                      <a:r>
                        <a:rPr sz="1200" b="0">
                          <a:solidFill>
                            <a:srgbClr val="13263A"/>
                          </a:solidFill>
                          <a:latin typeface="Arial"/>
                        </a:rPr>
                        <a:t>—</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8EEFE"/>
                    </a:solidFill>
                  </a:tcPr>
                </a:tc>
              </a:tr>
              <a:tr h="355600">
                <a:tc>
                  <a:txBody>
                    <a:bodyPr wrap="square"/>
                    <a:lstStyle/>
                    <a:p>
                      <a:r>
                        <a:rPr sz="1200" b="1">
                          <a:solidFill>
                            <a:srgbClr val="13263A"/>
                          </a:solidFill>
                          <a:latin typeface="Arial"/>
                        </a:rPr>
                        <a:t>gemini-flash-lite-latest</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8EEFE"/>
                    </a:solidFill>
                  </a:tcPr>
                </a:tc>
                <a:tc>
                  <a:txBody>
                    <a:bodyPr wrap="square"/>
                    <a:lstStyle/>
                    <a:p>
                      <a:r>
                        <a:rPr sz="1200" b="0">
                          <a:solidFill>
                            <a:srgbClr val="13263A"/>
                          </a:solidFill>
                          <a:latin typeface="Arial"/>
                        </a:rPr>
                        <a:t>15 of 15 OK · 0.9 s</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8EEFE"/>
                    </a:solidFill>
                  </a:tcPr>
                </a:tc>
                <a:tc>
                  <a:txBody>
                    <a:bodyPr wrap="square"/>
                    <a:lstStyle/>
                    <a:p>
                      <a:r>
                        <a:rPr sz="1200" b="0">
                          <a:solidFill>
                            <a:srgbClr val="13263A"/>
                          </a:solidFill>
                          <a:latin typeface="Arial"/>
                        </a:rPr>
                        <a:t>none reached</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8EEFE"/>
                    </a:solidFill>
                  </a:tcPr>
                </a:tc>
                <a:tc>
                  <a:txBody>
                    <a:bodyPr wrap="square"/>
                    <a:lstStyle/>
                    <a:p>
                      <a:r>
                        <a:rPr sz="1200" b="0">
                          <a:solidFill>
                            <a:srgbClr val="13263A"/>
                          </a:solidFill>
                          <a:latin typeface="Arial"/>
                        </a:rPr>
                        <a:t>—</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8EEFE"/>
                    </a:solidFill>
                  </a:tcPr>
                </a:tc>
              </a:tr>
              <a:tr h="355600">
                <a:tc>
                  <a:txBody>
                    <a:bodyPr wrap="square"/>
                    <a:lstStyle/>
                    <a:p>
                      <a:r>
                        <a:rPr sz="1200" b="1">
                          <a:solidFill>
                            <a:srgbClr val="13263A"/>
                          </a:solidFill>
                          <a:latin typeface="Arial"/>
                        </a:rPr>
                        <a:t>gemma-4-26b-a4b-it</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8EEFE"/>
                    </a:solidFill>
                  </a:tcPr>
                </a:tc>
                <a:tc>
                  <a:txBody>
                    <a:bodyPr wrap="square"/>
                    <a:lstStyle/>
                    <a:p>
                      <a:r>
                        <a:rPr sz="1200" b="0">
                          <a:solidFill>
                            <a:srgbClr val="13263A"/>
                          </a:solidFill>
                          <a:latin typeface="Arial"/>
                        </a:rPr>
                        <a:t>15 OK · 1.1 s, then 429</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8EEFE"/>
                    </a:solidFill>
                  </a:tcPr>
                </a:tc>
                <a:tc>
                  <a:txBody>
                    <a:bodyPr wrap="square"/>
                    <a:lstStyle/>
                    <a:p>
                      <a:r>
                        <a:rPr sz="1200" b="0">
                          <a:solidFill>
                            <a:srgbClr val="13263A"/>
                          </a:solidFill>
                          <a:latin typeface="Arial"/>
                        </a:rPr>
                        <a:t>30 / min</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8EEFE"/>
                    </a:solidFill>
                  </a:tcPr>
                </a:tc>
                <a:tc>
                  <a:txBody>
                    <a:bodyPr wrap="square"/>
                    <a:lstStyle/>
                    <a:p>
                      <a:r>
                        <a:rPr sz="1200" b="0">
                          <a:solidFill>
                            <a:srgbClr val="13263A"/>
                          </a:solidFill>
                          <a:latin typeface="Arial"/>
                        </a:rPr>
                        <a:t>gemma-4-26b</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8EEFE"/>
                    </a:solidFill>
                  </a:tcPr>
                </a:tc>
              </a:tr>
              <a:tr h="355600">
                <a:tc>
                  <a:txBody>
                    <a:bodyPr wrap="square"/>
                    <a:lstStyle/>
                    <a:p>
                      <a:r>
                        <a:rPr sz="1200" b="1">
                          <a:solidFill>
                            <a:srgbClr val="13263A"/>
                          </a:solidFill>
                          <a:latin typeface="Arial"/>
                        </a:rPr>
                        <a:t>gemini-3.5-flash, 3.6-flash</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200" b="0">
                          <a:solidFill>
                            <a:srgbClr val="13263A"/>
                          </a:solidFill>
                          <a:latin typeface="Arial"/>
                        </a:rPr>
                        <a:t>429 per minute</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200" b="0">
                          <a:solidFill>
                            <a:srgbClr val="13263A"/>
                          </a:solidFill>
                          <a:latin typeface="Arial"/>
                        </a:rPr>
                        <a:t>5 / min · 20 / day</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200" b="0">
                          <a:solidFill>
                            <a:srgbClr val="13263A"/>
                          </a:solidFill>
                          <a:latin typeface="Arial"/>
                        </a:rPr>
                        <a:t>gemini-3.6-flash</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r>
              <a:tr h="355600">
                <a:tc>
                  <a:txBody>
                    <a:bodyPr wrap="square"/>
                    <a:lstStyle/>
                    <a:p>
                      <a:r>
                        <a:rPr sz="1200" b="1">
                          <a:solidFill>
                            <a:srgbClr val="13263A"/>
                          </a:solidFill>
                          <a:latin typeface="Arial"/>
                        </a:rPr>
                        <a:t>gemini-3.8-flash, 3.7-flash, flash-latest</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200" b="0">
                          <a:solidFill>
                            <a:srgbClr val="13263A"/>
                          </a:solidFill>
                          <a:latin typeface="Arial"/>
                        </a:rPr>
                        <a:t>503 and timeouts, then 429</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200" b="0">
                          <a:solidFill>
                            <a:srgbClr val="13263A"/>
                          </a:solidFill>
                          <a:latin typeface="Arial"/>
                        </a:rPr>
                        <a:t>20 / day</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200" b="0">
                          <a:solidFill>
                            <a:srgbClr val="13263A"/>
                          </a:solidFill>
                          <a:latin typeface="Arial"/>
                        </a:rPr>
                        <a:t>gemini-3.8-flash</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r>
              <a:tr h="355600">
                <a:tc>
                  <a:txBody>
                    <a:bodyPr wrap="square"/>
                    <a:lstStyle/>
                    <a:p>
                      <a:r>
                        <a:rPr sz="1200" b="1">
                          <a:solidFill>
                            <a:srgbClr val="13263A"/>
                          </a:solidFill>
                          <a:latin typeface="Arial"/>
                        </a:rPr>
                        <a:t>gemini-3-flash-preview</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200" b="0">
                          <a:solidFill>
                            <a:srgbClr val="13263A"/>
                          </a:solidFill>
                          <a:latin typeface="Arial"/>
                        </a:rPr>
                        <a:t>429 per minute</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200" b="0">
                          <a:solidFill>
                            <a:srgbClr val="13263A"/>
                          </a:solidFill>
                          <a:latin typeface="Arial"/>
                        </a:rPr>
                        <a:t>5 / min</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200" b="0">
                          <a:solidFill>
                            <a:srgbClr val="13263A"/>
                          </a:solidFill>
                          <a:latin typeface="Arial"/>
                        </a:rPr>
                        <a:t>gemini-3-flash</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r>
              <a:tr h="355600">
                <a:tc>
                  <a:txBody>
                    <a:bodyPr wrap="square"/>
                    <a:lstStyle/>
                    <a:p>
                      <a:r>
                        <a:rPr sz="1200" b="1">
                          <a:solidFill>
                            <a:srgbClr val="13263A"/>
                          </a:solidFill>
                          <a:latin typeface="Arial"/>
                        </a:rPr>
                        <a:t>gemma-4-31b-it</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200" b="0">
                          <a:solidFill>
                            <a:srgbClr val="13263A"/>
                          </a:solidFill>
                          <a:latin typeface="Arial"/>
                        </a:rPr>
                        <a:t>HTTP 500 internal error</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200" b="0">
                          <a:solidFill>
                            <a:srgbClr val="13263A"/>
                          </a:solidFill>
                          <a:latin typeface="Arial"/>
                        </a:rPr>
                        <a:t>—</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200" b="0">
                          <a:solidFill>
                            <a:srgbClr val="13263A"/>
                          </a:solidFill>
                          <a:latin typeface="Arial"/>
                        </a:rPr>
                        <a:t>—</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r>
              <a:tr h="355600">
                <a:tc>
                  <a:txBody>
                    <a:bodyPr wrap="square"/>
                    <a:lstStyle/>
                    <a:p>
                      <a:r>
                        <a:rPr sz="1200" b="1">
                          <a:solidFill>
                            <a:srgbClr val="13263A"/>
                          </a:solidFill>
                          <a:latin typeface="Arial"/>
                        </a:rPr>
                        <a:t>Pro, Omni and gemini-4-argon</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200" b="0">
                          <a:solidFill>
                            <a:srgbClr val="13263A"/>
                          </a:solidFill>
                          <a:latin typeface="Arial"/>
                        </a:rPr>
                        <a:t>429 at the first call, retry in 22.8 h</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200" b="0">
                          <a:solidFill>
                            <a:srgbClr val="13263A"/>
                          </a:solidFill>
                          <a:latin typeface="Arial"/>
                        </a:rPr>
                        <a:t>no free quota</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200" b="0">
                          <a:solidFill>
                            <a:srgbClr val="13263A"/>
                          </a:solidFill>
                          <a:latin typeface="Arial"/>
                        </a:rPr>
                        <a:t>—</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r>
              <a:tr h="355600">
                <a:tc>
                  <a:txBody>
                    <a:bodyPr wrap="square"/>
                    <a:lstStyle/>
                    <a:p>
                      <a:r>
                        <a:rPr sz="1200" b="1">
                          <a:solidFill>
                            <a:srgbClr val="13263A"/>
                          </a:solidFill>
                          <a:latin typeface="Arial"/>
                        </a:rPr>
                        <a:t>gemini-2.5 (flash, flash-lite, pro)</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200" b="0">
                          <a:solidFill>
                            <a:srgbClr val="13263A"/>
                          </a:solidFill>
                          <a:latin typeface="Arial"/>
                        </a:rPr>
                        <a:t>404: closed to new keys</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200" b="0">
                          <a:solidFill>
                            <a:srgbClr val="13263A"/>
                          </a:solidFill>
                          <a:latin typeface="Arial"/>
                        </a:rPr>
                        <a:t>—</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200" b="0">
                          <a:solidFill>
                            <a:srgbClr val="13263A"/>
                          </a:solidFill>
                          <a:latin typeface="Arial"/>
                        </a:rPr>
                        <a:t>—</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r>
            </a:tbl>
          </a:graphicData>
        </a:graphic>
      </p:graphicFrame>
      <p:sp>
        <p:nvSpPr>
          <p:cNvPr id="6" name="TextBox 5"/>
          <p:cNvSpPr txBox="1"/>
          <p:nvPr/>
        </p:nvSpPr>
        <p:spPr>
          <a:xfrm>
            <a:off x="635000" y="5740400"/>
            <a:ext cx="10668000" cy="457200"/>
          </a:xfrm>
          <a:prstGeom prst="rect">
            <a:avLst/>
          </a:prstGeom>
          <a:noFill/>
        </p:spPr>
        <p:txBody>
          <a:bodyPr wrap="square" lIns="45720" rIns="45720" tIns="12700" bIns="12700" anchor="t">
            <a:spAutoFit/>
          </a:bodyPr>
          <a:lstStyle/>
          <a:p>
            <a:pPr algn="l"/>
            <a:r>
              <a:rPr sz="1350" b="0" i="0">
                <a:solidFill>
                  <a:srgbClr val="647080"/>
                </a:solidFill>
                <a:latin typeface="Arial"/>
              </a:rPr>
              <a:t>Highlighted: usable in the chain. Limits are read from the quota names in Google's 429 answers. Tool: src/ai/gemini_rate_limit.py survey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5F4F0"/>
        </a:solidFill>
        <a:effectLst/>
      </p:bgPr>
    </p:bg>
    <p:spTree>
      <p:nvGrpSpPr>
        <p:cNvPr id="1" name=""/>
        <p:cNvGrpSpPr/>
        <p:nvPr/>
      </p:nvGrpSpPr>
      <p:grpSpPr/>
      <p:sp>
        <p:nvSpPr>
          <p:cNvPr id="2" name="TextBox 1"/>
          <p:cNvSpPr txBox="1"/>
          <p:nvPr/>
        </p:nvSpPr>
        <p:spPr>
          <a:xfrm>
            <a:off x="609600" y="457200"/>
            <a:ext cx="10960100" cy="558800"/>
          </a:xfrm>
          <a:prstGeom prst="rect">
            <a:avLst/>
          </a:prstGeom>
          <a:noFill/>
        </p:spPr>
        <p:txBody>
          <a:bodyPr wrap="square" lIns="45720" rIns="45720" tIns="12700" bIns="12700" anchor="ctr">
            <a:spAutoFit/>
          </a:bodyPr>
          <a:lstStyle/>
          <a:p>
            <a:pPr algn="l"/>
            <a:r>
              <a:rPr sz="3300" b="1" i="0">
                <a:solidFill>
                  <a:srgbClr val="13263A"/>
                </a:solidFill>
                <a:latin typeface="Arial"/>
              </a:rPr>
              <a:t>Gemini survey: what it changes for the chain</a:t>
            </a:r>
          </a:p>
        </p:txBody>
      </p:sp>
      <p:sp>
        <p:nvSpPr>
          <p:cNvPr id="3" name="TextBox 2"/>
          <p:cNvSpPr txBox="1"/>
          <p:nvPr/>
        </p:nvSpPr>
        <p:spPr>
          <a:xfrm>
            <a:off x="635000" y="1219200"/>
            <a:ext cx="10566400" cy="330200"/>
          </a:xfrm>
          <a:prstGeom prst="rect">
            <a:avLst/>
          </a:prstGeom>
          <a:noFill/>
        </p:spPr>
        <p:txBody>
          <a:bodyPr wrap="square" lIns="45720" rIns="45720" tIns="12700" bIns="12700" anchor="t">
            <a:spAutoFit/>
          </a:bodyPr>
          <a:lstStyle/>
          <a:p>
            <a:pPr algn="l"/>
            <a:r>
              <a:rPr sz="1800" b="0" i="0">
                <a:solidFill>
                  <a:srgbClr val="647080"/>
                </a:solidFill>
                <a:latin typeface="Arial"/>
              </a:rPr>
              <a:t>02  Experimental progress  ·  src/ai/README.md, survey of 28 October</a:t>
            </a:r>
          </a:p>
        </p:txBody>
      </p:sp>
      <p:sp>
        <p:nvSpPr>
          <p:cNvPr id="4" name="TextBox 3"/>
          <p:cNvSpPr txBox="1"/>
          <p:nvPr/>
        </p:nvSpPr>
        <p:spPr>
          <a:xfrm>
            <a:off x="11049000" y="6248400"/>
            <a:ext cx="533400" cy="279400"/>
          </a:xfrm>
          <a:prstGeom prst="rect">
            <a:avLst/>
          </a:prstGeom>
          <a:noFill/>
        </p:spPr>
        <p:txBody>
          <a:bodyPr wrap="square" lIns="45720" rIns="45720" tIns="12700" bIns="12700" anchor="t">
            <a:spAutoFit/>
          </a:bodyPr>
          <a:lstStyle/>
          <a:p>
            <a:pPr algn="l"/>
            <a:r>
              <a:rPr sz="1350" b="0" i="0">
                <a:solidFill>
                  <a:srgbClr val="647080"/>
                </a:solidFill>
                <a:latin typeface="Arial"/>
              </a:rPr>
              <a:t>14</a:t>
            </a:r>
          </a:p>
        </p:txBody>
      </p:sp>
      <p:sp>
        <p:nvSpPr>
          <p:cNvPr id="5" name="Rectangle 4"/>
          <p:cNvSpPr/>
          <p:nvPr/>
        </p:nvSpPr>
        <p:spPr>
          <a:xfrm>
            <a:off x="635000" y="1778000"/>
            <a:ext cx="1727200" cy="17526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1879600"/>
            <a:ext cx="1473200" cy="584200"/>
          </a:xfrm>
          <a:prstGeom prst="rect">
            <a:avLst/>
          </a:prstGeom>
          <a:noFill/>
        </p:spPr>
        <p:txBody>
          <a:bodyPr wrap="square" lIns="45720" rIns="45720" tIns="12700" bIns="12700" anchor="t">
            <a:spAutoFit/>
          </a:bodyPr>
          <a:lstStyle/>
          <a:p>
            <a:pPr algn="l"/>
            <a:r>
              <a:rPr sz="2400" b="1" i="0">
                <a:solidFill>
                  <a:srgbClr val="255CF0"/>
                </a:solidFill>
                <a:latin typeface="Arial"/>
              </a:rPr>
              <a:t>≥15/min</a:t>
            </a:r>
          </a:p>
        </p:txBody>
      </p:sp>
      <p:sp>
        <p:nvSpPr>
          <p:cNvPr id="7" name="TextBox 6"/>
          <p:cNvSpPr txBox="1"/>
          <p:nvPr/>
        </p:nvSpPr>
        <p:spPr>
          <a:xfrm>
            <a:off x="762000" y="2438400"/>
            <a:ext cx="1473200" cy="1016000"/>
          </a:xfrm>
          <a:prstGeom prst="rect">
            <a:avLst/>
          </a:prstGeom>
          <a:noFill/>
        </p:spPr>
        <p:txBody>
          <a:bodyPr wrap="square" lIns="45720" rIns="45720" tIns="12700" bIns="12700" anchor="t">
            <a:spAutoFit/>
          </a:bodyPr>
          <a:lstStyle/>
          <a:p>
            <a:pPr algn="l"/>
            <a:r>
              <a:rPr sz="1350" b="0" i="0">
                <a:solidFill>
                  <a:srgbClr val="647080"/>
                </a:solidFill>
                <a:latin typeface="Arial"/>
              </a:rPr>
              <a:t>Flash-Lite models: no 429 in a 15-call burst</a:t>
            </a:r>
          </a:p>
        </p:txBody>
      </p:sp>
      <p:sp>
        <p:nvSpPr>
          <p:cNvPr id="8" name="Rectangle 7"/>
          <p:cNvSpPr/>
          <p:nvPr/>
        </p:nvSpPr>
        <p:spPr>
          <a:xfrm>
            <a:off x="2489200" y="1778000"/>
            <a:ext cx="1727200" cy="17526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16200" y="1879600"/>
            <a:ext cx="1473200" cy="584200"/>
          </a:xfrm>
          <a:prstGeom prst="rect">
            <a:avLst/>
          </a:prstGeom>
          <a:noFill/>
        </p:spPr>
        <p:txBody>
          <a:bodyPr wrap="square" lIns="45720" rIns="45720" tIns="12700" bIns="12700" anchor="t">
            <a:spAutoFit/>
          </a:bodyPr>
          <a:lstStyle/>
          <a:p>
            <a:pPr algn="l"/>
            <a:r>
              <a:rPr sz="2400" b="1" i="0">
                <a:solidFill>
                  <a:srgbClr val="255CF0"/>
                </a:solidFill>
                <a:latin typeface="Arial"/>
              </a:rPr>
              <a:t>30/min</a:t>
            </a:r>
          </a:p>
        </p:txBody>
      </p:sp>
      <p:sp>
        <p:nvSpPr>
          <p:cNvPr id="10" name="TextBox 9"/>
          <p:cNvSpPr txBox="1"/>
          <p:nvPr/>
        </p:nvSpPr>
        <p:spPr>
          <a:xfrm>
            <a:off x="2616200" y="2438400"/>
            <a:ext cx="1473200" cy="1016000"/>
          </a:xfrm>
          <a:prstGeom prst="rect">
            <a:avLst/>
          </a:prstGeom>
          <a:noFill/>
        </p:spPr>
        <p:txBody>
          <a:bodyPr wrap="square" lIns="45720" rIns="45720" tIns="12700" bIns="12700" anchor="t">
            <a:spAutoFit/>
          </a:bodyPr>
          <a:lstStyle/>
          <a:p>
            <a:pPr algn="l"/>
            <a:r>
              <a:rPr sz="1350" b="0" i="0">
                <a:solidFill>
                  <a:srgbClr val="647080"/>
                </a:solidFill>
                <a:latin typeface="Arial"/>
              </a:rPr>
              <a:t>Gemma 4 26B, the highest limit we saw</a:t>
            </a:r>
          </a:p>
        </p:txBody>
      </p:sp>
      <p:sp>
        <p:nvSpPr>
          <p:cNvPr id="11" name="Rectangle 10"/>
          <p:cNvSpPr/>
          <p:nvPr/>
        </p:nvSpPr>
        <p:spPr>
          <a:xfrm>
            <a:off x="4343400" y="1778000"/>
            <a:ext cx="1727200" cy="1752600"/>
          </a:xfrm>
          <a:prstGeom prst="rect">
            <a:avLst/>
          </a:prstGeom>
          <a:solidFill>
            <a:srgbClr val="13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70400" y="1879600"/>
            <a:ext cx="1473200" cy="584200"/>
          </a:xfrm>
          <a:prstGeom prst="rect">
            <a:avLst/>
          </a:prstGeom>
          <a:noFill/>
        </p:spPr>
        <p:txBody>
          <a:bodyPr wrap="square" lIns="45720" rIns="45720" tIns="12700" bIns="12700" anchor="t">
            <a:spAutoFit/>
          </a:bodyPr>
          <a:lstStyle/>
          <a:p>
            <a:pPr algn="l"/>
            <a:r>
              <a:rPr sz="2400" b="1" i="0">
                <a:solidFill>
                  <a:srgbClr val="FFFFFF"/>
                </a:solidFill>
                <a:latin typeface="Arial"/>
              </a:rPr>
              <a:t>3 → 1</a:t>
            </a:r>
          </a:p>
        </p:txBody>
      </p:sp>
      <p:sp>
        <p:nvSpPr>
          <p:cNvPr id="13" name="TextBox 12"/>
          <p:cNvSpPr txBox="1"/>
          <p:nvPr/>
        </p:nvSpPr>
        <p:spPr>
          <a:xfrm>
            <a:off x="4470400" y="2438400"/>
            <a:ext cx="1473200" cy="1016000"/>
          </a:xfrm>
          <a:prstGeom prst="rect">
            <a:avLst/>
          </a:prstGeom>
          <a:noFill/>
        </p:spPr>
        <p:txBody>
          <a:bodyPr wrap="square" lIns="45720" rIns="45720" tIns="12700" bIns="12700" anchor="t">
            <a:spAutoFit/>
          </a:bodyPr>
          <a:lstStyle/>
          <a:p>
            <a:pPr algn="l"/>
            <a:r>
              <a:rPr sz="1350" b="0" i="0">
                <a:solidFill>
                  <a:srgbClr val="D5DCE8"/>
                </a:solidFill>
                <a:latin typeface="Arial"/>
              </a:rPr>
              <a:t>names share one quota: 3.7, 3.8 Flash and flash-latest</a:t>
            </a:r>
          </a:p>
        </p:txBody>
      </p:sp>
      <p:sp>
        <p:nvSpPr>
          <p:cNvPr id="14" name="Rectangle 13"/>
          <p:cNvSpPr/>
          <p:nvPr/>
        </p:nvSpPr>
        <p:spPr>
          <a:xfrm>
            <a:off x="635000" y="3683000"/>
            <a:ext cx="1727200" cy="17526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000" y="3784600"/>
            <a:ext cx="1473200" cy="584200"/>
          </a:xfrm>
          <a:prstGeom prst="rect">
            <a:avLst/>
          </a:prstGeom>
          <a:noFill/>
        </p:spPr>
        <p:txBody>
          <a:bodyPr wrap="square" lIns="45720" rIns="45720" tIns="12700" bIns="12700" anchor="t">
            <a:spAutoFit/>
          </a:bodyPr>
          <a:lstStyle/>
          <a:p>
            <a:pPr algn="l"/>
            <a:r>
              <a:rPr sz="2400" b="1" i="0">
                <a:solidFill>
                  <a:srgbClr val="255CF0"/>
                </a:solidFill>
                <a:latin typeface="Arial"/>
              </a:rPr>
              <a:t>0</a:t>
            </a:r>
          </a:p>
        </p:txBody>
      </p:sp>
      <p:sp>
        <p:nvSpPr>
          <p:cNvPr id="16" name="TextBox 15"/>
          <p:cNvSpPr txBox="1"/>
          <p:nvPr/>
        </p:nvSpPr>
        <p:spPr>
          <a:xfrm>
            <a:off x="762000" y="4343400"/>
            <a:ext cx="1473200" cy="1016000"/>
          </a:xfrm>
          <a:prstGeom prst="rect">
            <a:avLst/>
          </a:prstGeom>
          <a:noFill/>
        </p:spPr>
        <p:txBody>
          <a:bodyPr wrap="square" lIns="45720" rIns="45720" tIns="12700" bIns="12700" anchor="t">
            <a:spAutoFit/>
          </a:bodyPr>
          <a:lstStyle/>
          <a:p>
            <a:pPr algn="l"/>
            <a:r>
              <a:rPr sz="1350" b="0" i="0">
                <a:solidFill>
                  <a:srgbClr val="647080"/>
                </a:solidFill>
                <a:latin typeface="Arial"/>
              </a:rPr>
              <a:t>free calls on Pro, Omni and gemini-4-argon</a:t>
            </a:r>
          </a:p>
        </p:txBody>
      </p:sp>
      <p:sp>
        <p:nvSpPr>
          <p:cNvPr id="17" name="Rectangle 16"/>
          <p:cNvSpPr/>
          <p:nvPr/>
        </p:nvSpPr>
        <p:spPr>
          <a:xfrm>
            <a:off x="2489200" y="3683000"/>
            <a:ext cx="1727200" cy="17526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616200" y="3784600"/>
            <a:ext cx="1473200" cy="584200"/>
          </a:xfrm>
          <a:prstGeom prst="rect">
            <a:avLst/>
          </a:prstGeom>
          <a:noFill/>
        </p:spPr>
        <p:txBody>
          <a:bodyPr wrap="square" lIns="45720" rIns="45720" tIns="12700" bIns="12700" anchor="t">
            <a:spAutoFit/>
          </a:bodyPr>
          <a:lstStyle/>
          <a:p>
            <a:pPr algn="l"/>
            <a:r>
              <a:rPr sz="2400" b="1" i="0">
                <a:solidFill>
                  <a:srgbClr val="255CF0"/>
                </a:solidFill>
                <a:latin typeface="Arial"/>
              </a:rPr>
              <a:t>404</a:t>
            </a:r>
          </a:p>
        </p:txBody>
      </p:sp>
      <p:sp>
        <p:nvSpPr>
          <p:cNvPr id="19" name="TextBox 18"/>
          <p:cNvSpPr txBox="1"/>
          <p:nvPr/>
        </p:nvSpPr>
        <p:spPr>
          <a:xfrm>
            <a:off x="2616200" y="4343400"/>
            <a:ext cx="1473200" cy="1016000"/>
          </a:xfrm>
          <a:prstGeom prst="rect">
            <a:avLst/>
          </a:prstGeom>
          <a:noFill/>
        </p:spPr>
        <p:txBody>
          <a:bodyPr wrap="square" lIns="45720" rIns="45720" tIns="12700" bIns="12700" anchor="t">
            <a:spAutoFit/>
          </a:bodyPr>
          <a:lstStyle/>
          <a:p>
            <a:pPr algn="l"/>
            <a:r>
              <a:rPr sz="1350" b="0" i="0">
                <a:solidFill>
                  <a:srgbClr val="647080"/>
                </a:solidFill>
                <a:latin typeface="Arial"/>
              </a:rPr>
              <a:t>all 2.5 models are closed to new keys</a:t>
            </a:r>
          </a:p>
        </p:txBody>
      </p:sp>
      <p:sp>
        <p:nvSpPr>
          <p:cNvPr id="20" name="Rectangle 19"/>
          <p:cNvSpPr/>
          <p:nvPr/>
        </p:nvSpPr>
        <p:spPr>
          <a:xfrm>
            <a:off x="4343400" y="3683000"/>
            <a:ext cx="1727200" cy="17526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70400" y="3784600"/>
            <a:ext cx="1473200" cy="584200"/>
          </a:xfrm>
          <a:prstGeom prst="rect">
            <a:avLst/>
          </a:prstGeom>
          <a:noFill/>
        </p:spPr>
        <p:txBody>
          <a:bodyPr wrap="square" lIns="45720" rIns="45720" tIns="12700" bIns="12700" anchor="t">
            <a:spAutoFit/>
          </a:bodyPr>
          <a:lstStyle/>
          <a:p>
            <a:pPr algn="l"/>
            <a:r>
              <a:rPr sz="2400" b="1" i="0">
                <a:solidFill>
                  <a:srgbClr val="255CF0"/>
                </a:solidFill>
                <a:latin typeface="Arial"/>
              </a:rPr>
              <a:t>0.9–1.1 s</a:t>
            </a:r>
          </a:p>
        </p:txBody>
      </p:sp>
      <p:sp>
        <p:nvSpPr>
          <p:cNvPr id="22" name="TextBox 21"/>
          <p:cNvSpPr txBox="1"/>
          <p:nvPr/>
        </p:nvSpPr>
        <p:spPr>
          <a:xfrm>
            <a:off x="4470400" y="4343400"/>
            <a:ext cx="1473200" cy="1016000"/>
          </a:xfrm>
          <a:prstGeom prst="rect">
            <a:avLst/>
          </a:prstGeom>
          <a:noFill/>
        </p:spPr>
        <p:txBody>
          <a:bodyPr wrap="square" lIns="45720" rIns="45720" tIns="12700" bIns="12700" anchor="t">
            <a:spAutoFit/>
          </a:bodyPr>
          <a:lstStyle/>
          <a:p>
            <a:pPr algn="l"/>
            <a:r>
              <a:rPr sz="1350" b="0" i="0">
                <a:solidFill>
                  <a:srgbClr val="647080"/>
                </a:solidFill>
                <a:latin typeface="Arial"/>
              </a:rPr>
              <a:t>median latency of the fastest models</a:t>
            </a:r>
          </a:p>
        </p:txBody>
      </p:sp>
      <p:sp>
        <p:nvSpPr>
          <p:cNvPr id="23" name="TextBox 22"/>
          <p:cNvSpPr txBox="1"/>
          <p:nvPr/>
        </p:nvSpPr>
        <p:spPr>
          <a:xfrm>
            <a:off x="6261100" y="1778000"/>
            <a:ext cx="5308600" cy="368300"/>
          </a:xfrm>
          <a:prstGeom prst="rect">
            <a:avLst/>
          </a:prstGeom>
          <a:noFill/>
        </p:spPr>
        <p:txBody>
          <a:bodyPr wrap="square" lIns="45720" rIns="45720" tIns="12700" bIns="12700" anchor="t">
            <a:spAutoFit/>
          </a:bodyPr>
          <a:lstStyle/>
          <a:p>
            <a:pPr algn="l"/>
            <a:r>
              <a:rPr sz="1650" b="1" i="0">
                <a:solidFill>
                  <a:srgbClr val="255CF0"/>
                </a:solidFill>
                <a:latin typeface="Arial"/>
              </a:rPr>
              <a:t>NEXT STEPS</a:t>
            </a:r>
          </a:p>
        </p:txBody>
      </p:sp>
      <p:sp>
        <p:nvSpPr>
          <p:cNvPr id="24" name="Oval 23"/>
          <p:cNvSpPr/>
          <p:nvPr/>
        </p:nvSpPr>
        <p:spPr>
          <a:xfrm>
            <a:off x="6261100" y="2311400"/>
            <a:ext cx="304800" cy="3048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1</a:t>
            </a:r>
          </a:p>
        </p:txBody>
      </p:sp>
      <p:sp>
        <p:nvSpPr>
          <p:cNvPr id="25" name="TextBox 24"/>
          <p:cNvSpPr txBox="1"/>
          <p:nvPr/>
        </p:nvSpPr>
        <p:spPr>
          <a:xfrm>
            <a:off x="6667500" y="2273300"/>
            <a:ext cx="4902200" cy="762000"/>
          </a:xfrm>
          <a:prstGeom prst="rect">
            <a:avLst/>
          </a:prstGeom>
          <a:noFill/>
        </p:spPr>
        <p:txBody>
          <a:bodyPr wrap="square" lIns="45720" rIns="45720" tIns="12700" bIns="12700" anchor="t">
            <a:spAutoFit/>
          </a:bodyPr>
          <a:lstStyle/>
          <a:p>
            <a:pPr algn="l"/>
            <a:r>
              <a:rPr sz="1500" b="1" i="0">
                <a:solidFill>
                  <a:srgbClr val="13263A"/>
                </a:solidFill>
                <a:latin typeface="Arial"/>
              </a:rPr>
              <a:t>Flash-Lite models first</a:t>
            </a:r>
          </a:p>
          <a:p>
            <a:pPr algn="l"/>
            <a:r>
              <a:rPr sz="1350" b="0" i="0">
                <a:solidFill>
                  <a:srgbClr val="647080"/>
                </a:solidFill>
                <a:latin typeface="Arial"/>
              </a:rPr>
              <a:t>drop names that share a quota (3.6, 3.7, latest)</a:t>
            </a:r>
          </a:p>
        </p:txBody>
      </p:sp>
      <p:sp>
        <p:nvSpPr>
          <p:cNvPr id="26" name="Oval 25"/>
          <p:cNvSpPr/>
          <p:nvPr/>
        </p:nvSpPr>
        <p:spPr>
          <a:xfrm>
            <a:off x="6261100" y="3200400"/>
            <a:ext cx="304800" cy="3048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2</a:t>
            </a:r>
          </a:p>
        </p:txBody>
      </p:sp>
      <p:sp>
        <p:nvSpPr>
          <p:cNvPr id="27" name="TextBox 26"/>
          <p:cNvSpPr txBox="1"/>
          <p:nvPr/>
        </p:nvSpPr>
        <p:spPr>
          <a:xfrm>
            <a:off x="6667500" y="3162300"/>
            <a:ext cx="4902200" cy="762000"/>
          </a:xfrm>
          <a:prstGeom prst="rect">
            <a:avLst/>
          </a:prstGeom>
          <a:noFill/>
        </p:spPr>
        <p:txBody>
          <a:bodyPr wrap="square" lIns="45720" rIns="45720" tIns="12700" bIns="12700" anchor="t">
            <a:spAutoFit/>
          </a:bodyPr>
          <a:lstStyle/>
          <a:p>
            <a:pPr algn="l"/>
            <a:r>
              <a:rPr sz="1500" b="1" i="0">
                <a:solidFill>
                  <a:srgbClr val="13263A"/>
                </a:solidFill>
                <a:latin typeface="Arial"/>
              </a:rPr>
              <a:t>Try Gemma 4 26B</a:t>
            </a:r>
          </a:p>
          <a:p>
            <a:pPr algn="l"/>
            <a:r>
              <a:rPr sz="1350" b="0" i="0">
                <a:solidFill>
                  <a:srgbClr val="647080"/>
                </a:solidFill>
                <a:latin typeface="Arial"/>
              </a:rPr>
              <a:t>30 per minute; check photo support first</a:t>
            </a:r>
          </a:p>
        </p:txBody>
      </p:sp>
      <p:sp>
        <p:nvSpPr>
          <p:cNvPr id="28" name="Oval 27"/>
          <p:cNvSpPr/>
          <p:nvPr/>
        </p:nvSpPr>
        <p:spPr>
          <a:xfrm>
            <a:off x="6261100" y="4089400"/>
            <a:ext cx="304800" cy="3048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3</a:t>
            </a:r>
          </a:p>
        </p:txBody>
      </p:sp>
      <p:sp>
        <p:nvSpPr>
          <p:cNvPr id="29" name="TextBox 28"/>
          <p:cNvSpPr txBox="1"/>
          <p:nvPr/>
        </p:nvSpPr>
        <p:spPr>
          <a:xfrm>
            <a:off x="6667500" y="4051300"/>
            <a:ext cx="4902200" cy="762000"/>
          </a:xfrm>
          <a:prstGeom prst="rect">
            <a:avLst/>
          </a:prstGeom>
          <a:noFill/>
        </p:spPr>
        <p:txBody>
          <a:bodyPr wrap="square" lIns="45720" rIns="45720" tIns="12700" bIns="12700" anchor="t">
            <a:spAutoFit/>
          </a:bodyPr>
          <a:lstStyle/>
          <a:p>
            <a:pPr algn="l"/>
            <a:r>
              <a:rPr sz="1500" b="1" i="0">
                <a:solidFill>
                  <a:srgbClr val="13263A"/>
                </a:solidFill>
                <a:latin typeface="Arial"/>
              </a:rPr>
              <a:t>Find the Flash-Lite daily limit</a:t>
            </a:r>
          </a:p>
          <a:p>
            <a:pPr algn="l"/>
            <a:r>
              <a:rPr sz="1350" b="0" i="0">
                <a:solidFill>
                  <a:srgbClr val="647080"/>
                </a:solidFill>
                <a:latin typeface="Arial"/>
              </a:rPr>
              <a:t>paced run over one day</a:t>
            </a:r>
          </a:p>
        </p:txBody>
      </p:sp>
      <p:sp>
        <p:nvSpPr>
          <p:cNvPr id="30" name="Oval 29"/>
          <p:cNvSpPr/>
          <p:nvPr/>
        </p:nvSpPr>
        <p:spPr>
          <a:xfrm>
            <a:off x="6261100" y="4978400"/>
            <a:ext cx="304800" cy="3048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4</a:t>
            </a:r>
          </a:p>
        </p:txBody>
      </p:sp>
      <p:sp>
        <p:nvSpPr>
          <p:cNvPr id="31" name="TextBox 30"/>
          <p:cNvSpPr txBox="1"/>
          <p:nvPr/>
        </p:nvSpPr>
        <p:spPr>
          <a:xfrm>
            <a:off x="6667500" y="4940300"/>
            <a:ext cx="4902200" cy="762000"/>
          </a:xfrm>
          <a:prstGeom prst="rect">
            <a:avLst/>
          </a:prstGeom>
          <a:noFill/>
        </p:spPr>
        <p:txBody>
          <a:bodyPr wrap="square" lIns="45720" rIns="45720" tIns="12700" bIns="12700" anchor="t">
            <a:spAutoFit/>
          </a:bodyPr>
          <a:lstStyle/>
          <a:p>
            <a:pPr algn="l"/>
            <a:r>
              <a:rPr sz="1500" b="1" i="0">
                <a:solidFill>
                  <a:srgbClr val="13263A"/>
                </a:solidFill>
                <a:latin typeface="Arial"/>
              </a:rPr>
              <a:t>Ollama offline backup</a:t>
            </a:r>
          </a:p>
          <a:p>
            <a:pPr algn="l"/>
            <a:r>
              <a:rPr sz="1350" b="0" i="0">
                <a:solidFill>
                  <a:srgbClr val="647080"/>
                </a:solidFill>
                <a:latin typeface="Arial"/>
              </a:rPr>
              <a:t>install and measure next week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5F4F0"/>
        </a:solidFill>
        <a:effectLst/>
      </p:bgPr>
    </p:bg>
    <p:spTree>
      <p:nvGrpSpPr>
        <p:cNvPr id="1" name=""/>
        <p:cNvGrpSpPr/>
        <p:nvPr/>
      </p:nvGrpSpPr>
      <p:grpSpPr/>
      <p:sp>
        <p:nvSpPr>
          <p:cNvPr id="2" name="TextBox 1"/>
          <p:cNvSpPr txBox="1"/>
          <p:nvPr/>
        </p:nvSpPr>
        <p:spPr>
          <a:xfrm>
            <a:off x="609600" y="457200"/>
            <a:ext cx="10960100" cy="558800"/>
          </a:xfrm>
          <a:prstGeom prst="rect">
            <a:avLst/>
          </a:prstGeom>
          <a:noFill/>
        </p:spPr>
        <p:txBody>
          <a:bodyPr wrap="square" lIns="45720" rIns="45720" tIns="12700" bIns="12700" anchor="ctr">
            <a:spAutoFit/>
          </a:bodyPr>
          <a:lstStyle/>
          <a:p>
            <a:pPr algn="l"/>
            <a:r>
              <a:rPr sz="3300" b="1" i="0">
                <a:solidFill>
                  <a:srgbClr val="13263A"/>
                </a:solidFill>
                <a:latin typeface="Arial"/>
              </a:rPr>
              <a:t>Interface: login, context and suggestions</a:t>
            </a:r>
          </a:p>
        </p:txBody>
      </p:sp>
      <p:sp>
        <p:nvSpPr>
          <p:cNvPr id="3" name="TextBox 2"/>
          <p:cNvSpPr txBox="1"/>
          <p:nvPr/>
        </p:nvSpPr>
        <p:spPr>
          <a:xfrm>
            <a:off x="635000" y="1219200"/>
            <a:ext cx="10566400" cy="330200"/>
          </a:xfrm>
          <a:prstGeom prst="rect">
            <a:avLst/>
          </a:prstGeom>
          <a:noFill/>
        </p:spPr>
        <p:txBody>
          <a:bodyPr wrap="square" lIns="45720" rIns="45720" tIns="12700" bIns="12700" anchor="t">
            <a:spAutoFit/>
          </a:bodyPr>
          <a:lstStyle/>
          <a:p>
            <a:pPr algn="l"/>
            <a:r>
              <a:rPr sz="1800" b="0" i="0">
                <a:solidFill>
                  <a:srgbClr val="647080"/>
                </a:solidFill>
                <a:latin typeface="Arial"/>
              </a:rPr>
              <a:t>02  Experimental progress  ·  Thibaut, local version, not on GitHub yet</a:t>
            </a:r>
          </a:p>
        </p:txBody>
      </p:sp>
      <p:sp>
        <p:nvSpPr>
          <p:cNvPr id="4" name="TextBox 3"/>
          <p:cNvSpPr txBox="1"/>
          <p:nvPr/>
        </p:nvSpPr>
        <p:spPr>
          <a:xfrm>
            <a:off x="11049000" y="6248400"/>
            <a:ext cx="533400" cy="279400"/>
          </a:xfrm>
          <a:prstGeom prst="rect">
            <a:avLst/>
          </a:prstGeom>
          <a:noFill/>
        </p:spPr>
        <p:txBody>
          <a:bodyPr wrap="square" lIns="45720" rIns="45720" tIns="12700" bIns="12700" anchor="t">
            <a:spAutoFit/>
          </a:bodyPr>
          <a:lstStyle/>
          <a:p>
            <a:pPr algn="l"/>
            <a:r>
              <a:rPr sz="1350" b="0" i="0">
                <a:solidFill>
                  <a:srgbClr val="647080"/>
                </a:solidFill>
                <a:latin typeface="Arial"/>
              </a:rPr>
              <a:t>15</a:t>
            </a:r>
          </a:p>
        </p:txBody>
      </p:sp>
      <p:pic>
        <p:nvPicPr>
          <p:cNvPr id="5" name="Picture 4" descr="fe_login_crop.png"/>
          <p:cNvPicPr>
            <a:picLocks noChangeAspect="1"/>
          </p:cNvPicPr>
          <p:nvPr/>
        </p:nvPicPr>
        <p:blipFill>
          <a:blip r:embed="rId3"/>
          <a:stretch>
            <a:fillRect/>
          </a:stretch>
        </p:blipFill>
        <p:spPr>
          <a:xfrm>
            <a:off x="635000" y="1778000"/>
            <a:ext cx="2285121" cy="3810000"/>
          </a:xfrm>
          <a:prstGeom prst="rect">
            <a:avLst/>
          </a:prstGeom>
          <a:ln w="9525">
            <a:solidFill>
              <a:srgbClr val="A8B6C7"/>
            </a:solidFill>
          </a:ln>
        </p:spPr>
      </p:pic>
      <p:pic>
        <p:nvPicPr>
          <p:cNvPr id="6" name="Picture 5" descr="fe_context_crop.png"/>
          <p:cNvPicPr>
            <a:picLocks noChangeAspect="1"/>
          </p:cNvPicPr>
          <p:nvPr/>
        </p:nvPicPr>
        <p:blipFill>
          <a:blip r:embed="rId4"/>
          <a:stretch>
            <a:fillRect/>
          </a:stretch>
        </p:blipFill>
        <p:spPr>
          <a:xfrm>
            <a:off x="3175000" y="1778000"/>
            <a:ext cx="4127500" cy="2439285"/>
          </a:xfrm>
          <a:prstGeom prst="rect">
            <a:avLst/>
          </a:prstGeom>
          <a:ln w="9525">
            <a:solidFill>
              <a:srgbClr val="A8B6C7"/>
            </a:solidFill>
          </a:ln>
        </p:spPr>
      </p:pic>
      <p:pic>
        <p:nvPicPr>
          <p:cNvPr id="7" name="Picture 6" descr="fe_suggestions_crop.png"/>
          <p:cNvPicPr>
            <a:picLocks noChangeAspect="1"/>
          </p:cNvPicPr>
          <p:nvPr/>
        </p:nvPicPr>
        <p:blipFill>
          <a:blip r:embed="rId5"/>
          <a:stretch>
            <a:fillRect/>
          </a:stretch>
        </p:blipFill>
        <p:spPr>
          <a:xfrm>
            <a:off x="7442200" y="1778000"/>
            <a:ext cx="4127500" cy="2266742"/>
          </a:xfrm>
          <a:prstGeom prst="rect">
            <a:avLst/>
          </a:prstGeom>
          <a:ln w="9525">
            <a:solidFill>
              <a:srgbClr val="A8B6C7"/>
            </a:solidFill>
          </a:ln>
        </p:spPr>
      </p:pic>
      <p:sp>
        <p:nvSpPr>
          <p:cNvPr id="8" name="TextBox 7"/>
          <p:cNvSpPr txBox="1"/>
          <p:nvPr/>
        </p:nvSpPr>
        <p:spPr>
          <a:xfrm>
            <a:off x="635000" y="5689600"/>
            <a:ext cx="2286000" cy="889000"/>
          </a:xfrm>
          <a:prstGeom prst="rect">
            <a:avLst/>
          </a:prstGeom>
          <a:noFill/>
        </p:spPr>
        <p:txBody>
          <a:bodyPr wrap="square" lIns="45720" rIns="45720" tIns="12700" bIns="12700" anchor="t">
            <a:spAutoFit/>
          </a:bodyPr>
          <a:lstStyle/>
          <a:p>
            <a:pPr algn="l"/>
            <a:r>
              <a:rPr sz="1500" b="1" i="0">
                <a:solidFill>
                  <a:srgbClr val="13263A"/>
                </a:solidFill>
                <a:latin typeface="Arial"/>
              </a:rPr>
              <a:t>Login page</a:t>
            </a:r>
          </a:p>
          <a:p>
            <a:pPr algn="l"/>
            <a:r>
              <a:rPr sz="1350" b="0" i="0">
                <a:solidFill>
                  <a:srgbClr val="647080"/>
                </a:solidFill>
                <a:latin typeface="Arial"/>
              </a:rPr>
              <a:t>email and password, create account</a:t>
            </a:r>
          </a:p>
        </p:txBody>
      </p:sp>
      <p:sp>
        <p:nvSpPr>
          <p:cNvPr id="9" name="TextBox 8"/>
          <p:cNvSpPr txBox="1"/>
          <p:nvPr/>
        </p:nvSpPr>
        <p:spPr>
          <a:xfrm>
            <a:off x="3175000" y="4318000"/>
            <a:ext cx="4127500" cy="889000"/>
          </a:xfrm>
          <a:prstGeom prst="rect">
            <a:avLst/>
          </a:prstGeom>
          <a:noFill/>
        </p:spPr>
        <p:txBody>
          <a:bodyPr wrap="square" lIns="45720" rIns="45720" tIns="12700" bIns="12700" anchor="t">
            <a:spAutoFit/>
          </a:bodyPr>
          <a:lstStyle/>
          <a:p>
            <a:pPr algn="l"/>
            <a:r>
              <a:rPr sz="1500" b="1" i="0">
                <a:solidFill>
                  <a:srgbClr val="13263A"/>
                </a:solidFill>
                <a:latin typeface="Arial"/>
              </a:rPr>
              <a:t>Context page</a:t>
            </a:r>
          </a:p>
          <a:p>
            <a:pPr algn="l"/>
            <a:r>
              <a:rPr sz="1350" b="0" i="0">
                <a:solidFill>
                  <a:srgbClr val="647080"/>
                </a:solidFill>
                <a:latin typeface="Arial"/>
              </a:rPr>
              <a:t>place, café tiles, intention text, photo by camera, gallery or drag and drop</a:t>
            </a:r>
          </a:p>
        </p:txBody>
      </p:sp>
      <p:sp>
        <p:nvSpPr>
          <p:cNvPr id="10" name="TextBox 9"/>
          <p:cNvSpPr txBox="1"/>
          <p:nvPr/>
        </p:nvSpPr>
        <p:spPr>
          <a:xfrm>
            <a:off x="7442200" y="4318000"/>
            <a:ext cx="4127500" cy="889000"/>
          </a:xfrm>
          <a:prstGeom prst="rect">
            <a:avLst/>
          </a:prstGeom>
          <a:noFill/>
        </p:spPr>
        <p:txBody>
          <a:bodyPr wrap="square" lIns="45720" rIns="45720" tIns="12700" bIns="12700" anchor="t">
            <a:spAutoFit/>
          </a:bodyPr>
          <a:lstStyle/>
          <a:p>
            <a:pPr algn="l"/>
            <a:r>
              <a:rPr sz="1500" b="1" i="0">
                <a:solidFill>
                  <a:srgbClr val="13263A"/>
                </a:solidFill>
                <a:latin typeface="Arial"/>
              </a:rPr>
              <a:t>Suggestions page</a:t>
            </a:r>
          </a:p>
          <a:p>
            <a:pPr algn="l"/>
            <a:r>
              <a:rPr sz="1350" b="0" i="0">
                <a:solidFill>
                  <a:srgbClr val="647080"/>
                </a:solidFill>
                <a:latin typeface="Arial"/>
              </a:rPr>
              <a:t>three choices, confirm and speak, reject and try again, stop speaking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5F4F0"/>
        </a:solidFill>
        <a:effectLst/>
      </p:bgPr>
    </p:bg>
    <p:spTree>
      <p:nvGrpSpPr>
        <p:cNvPr id="1" name=""/>
        <p:cNvGrpSpPr/>
        <p:nvPr/>
      </p:nvGrpSpPr>
      <p:grpSpPr/>
      <p:sp>
        <p:nvSpPr>
          <p:cNvPr id="2" name="TextBox 1"/>
          <p:cNvSpPr txBox="1"/>
          <p:nvPr/>
        </p:nvSpPr>
        <p:spPr>
          <a:xfrm>
            <a:off x="609600" y="457200"/>
            <a:ext cx="10960100" cy="558800"/>
          </a:xfrm>
          <a:prstGeom prst="rect">
            <a:avLst/>
          </a:prstGeom>
          <a:noFill/>
        </p:spPr>
        <p:txBody>
          <a:bodyPr wrap="square" lIns="45720" rIns="45720" tIns="12700" bIns="12700" anchor="ctr">
            <a:spAutoFit/>
          </a:bodyPr>
          <a:lstStyle/>
          <a:p>
            <a:pPr algn="l"/>
            <a:r>
              <a:rPr sz="3300" b="1" i="0">
                <a:solidFill>
                  <a:srgbClr val="13263A"/>
                </a:solidFill>
                <a:latin typeface="Arial"/>
              </a:rPr>
              <a:t>Proposal: discover what the user likes</a:t>
            </a:r>
          </a:p>
        </p:txBody>
      </p:sp>
      <p:sp>
        <p:nvSpPr>
          <p:cNvPr id="3" name="TextBox 2"/>
          <p:cNvSpPr txBox="1"/>
          <p:nvPr/>
        </p:nvSpPr>
        <p:spPr>
          <a:xfrm>
            <a:off x="635000" y="1219200"/>
            <a:ext cx="10566400" cy="330200"/>
          </a:xfrm>
          <a:prstGeom prst="rect">
            <a:avLst/>
          </a:prstGeom>
          <a:noFill/>
        </p:spPr>
        <p:txBody>
          <a:bodyPr wrap="square" lIns="45720" rIns="45720" tIns="12700" bIns="12700" anchor="t">
            <a:spAutoFit/>
          </a:bodyPr>
          <a:lstStyle/>
          <a:p>
            <a:pPr algn="l"/>
            <a:r>
              <a:rPr sz="1800" b="0" i="0">
                <a:solidFill>
                  <a:srgbClr val="647080"/>
                </a:solidFill>
                <a:latin typeface="Arial"/>
              </a:rPr>
              <a:t>03  Project progress  ·  docs/design/Interest_Discovery_Proposal.md, for team decision</a:t>
            </a:r>
          </a:p>
        </p:txBody>
      </p:sp>
      <p:sp>
        <p:nvSpPr>
          <p:cNvPr id="4" name="TextBox 3"/>
          <p:cNvSpPr txBox="1"/>
          <p:nvPr/>
        </p:nvSpPr>
        <p:spPr>
          <a:xfrm>
            <a:off x="11049000" y="6248400"/>
            <a:ext cx="533400" cy="279400"/>
          </a:xfrm>
          <a:prstGeom prst="rect">
            <a:avLst/>
          </a:prstGeom>
          <a:noFill/>
        </p:spPr>
        <p:txBody>
          <a:bodyPr wrap="square" lIns="45720" rIns="45720" tIns="12700" bIns="12700" anchor="t">
            <a:spAutoFit/>
          </a:bodyPr>
          <a:lstStyle/>
          <a:p>
            <a:pPr algn="l"/>
            <a:r>
              <a:rPr sz="1350" b="0" i="0">
                <a:solidFill>
                  <a:srgbClr val="647080"/>
                </a:solidFill>
                <a:latin typeface="Arial"/>
              </a:rPr>
              <a:t>16</a:t>
            </a:r>
          </a:p>
        </p:txBody>
      </p:sp>
      <p:sp>
        <p:nvSpPr>
          <p:cNvPr id="5" name="Rectangle 4"/>
          <p:cNvSpPr/>
          <p:nvPr/>
        </p:nvSpPr>
        <p:spPr>
          <a:xfrm>
            <a:off x="635000" y="1778000"/>
            <a:ext cx="3543300" cy="787400"/>
          </a:xfrm>
          <a:prstGeom prst="rect">
            <a:avLst/>
          </a:prstGeom>
          <a:solidFill>
            <a:srgbClr val="13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7400" y="1854200"/>
            <a:ext cx="3238500" cy="635000"/>
          </a:xfrm>
          <a:prstGeom prst="rect">
            <a:avLst/>
          </a:prstGeom>
          <a:noFill/>
        </p:spPr>
        <p:txBody>
          <a:bodyPr wrap="square" lIns="45720" rIns="45720" tIns="12700" bIns="12700" anchor="t">
            <a:spAutoFit/>
          </a:bodyPr>
          <a:lstStyle/>
          <a:p>
            <a:pPr algn="l"/>
            <a:r>
              <a:rPr sz="1650" b="1" i="0">
                <a:solidFill>
                  <a:srgbClr val="FFFFFF"/>
                </a:solidFill>
                <a:latin typeface="Arial"/>
              </a:rPr>
              <a:t>OPEN CHOICE</a:t>
            </a:r>
          </a:p>
          <a:p>
            <a:pPr algn="l"/>
            <a:r>
              <a:rPr sz="1350" b="0" i="0">
                <a:solidFill>
                  <a:srgbClr val="D5DCE8"/>
                </a:solidFill>
                <a:latin typeface="Arial"/>
              </a:rPr>
              <a:t>photo, no wish given</a:t>
            </a:r>
          </a:p>
        </p:txBody>
      </p:sp>
      <p:sp>
        <p:nvSpPr>
          <p:cNvPr id="7" name="Rectangle 6"/>
          <p:cNvSpPr/>
          <p:nvPr/>
        </p:nvSpPr>
        <p:spPr>
          <a:xfrm>
            <a:off x="635000" y="2565400"/>
            <a:ext cx="3543300" cy="26670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7400" y="27432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9" name="TextBox 8"/>
          <p:cNvSpPr txBox="1"/>
          <p:nvPr/>
        </p:nvSpPr>
        <p:spPr>
          <a:xfrm>
            <a:off x="1016000" y="2743200"/>
            <a:ext cx="3048000" cy="558800"/>
          </a:xfrm>
          <a:prstGeom prst="rect">
            <a:avLst/>
          </a:prstGeom>
          <a:noFill/>
        </p:spPr>
        <p:txBody>
          <a:bodyPr wrap="square" lIns="45720" rIns="45720" tIns="12700" bIns="12700" anchor="t">
            <a:spAutoFit/>
          </a:bodyPr>
          <a:lstStyle/>
          <a:p>
            <a:pPr algn="l"/>
            <a:r>
              <a:rPr sz="1400" b="0" i="0">
                <a:solidFill>
                  <a:srgbClr val="13263A"/>
                </a:solidFill>
                <a:latin typeface="Arial"/>
              </a:rPr>
              <a:t>3–4 options from the scene: Water? Juice?</a:t>
            </a:r>
          </a:p>
        </p:txBody>
      </p:sp>
      <p:sp>
        <p:nvSpPr>
          <p:cNvPr id="10" name="TextBox 9"/>
          <p:cNvSpPr txBox="1"/>
          <p:nvPr/>
        </p:nvSpPr>
        <p:spPr>
          <a:xfrm>
            <a:off x="787400" y="33782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11" name="TextBox 10"/>
          <p:cNvSpPr txBox="1"/>
          <p:nvPr/>
        </p:nvSpPr>
        <p:spPr>
          <a:xfrm>
            <a:off x="1016000" y="3378200"/>
            <a:ext cx="3048000" cy="558800"/>
          </a:xfrm>
          <a:prstGeom prst="rect">
            <a:avLst/>
          </a:prstGeom>
          <a:noFill/>
        </p:spPr>
        <p:txBody>
          <a:bodyPr wrap="square" lIns="45720" rIns="45720" tIns="12700" bIns="12700" anchor="t">
            <a:spAutoFit/>
          </a:bodyPr>
          <a:lstStyle/>
          <a:p>
            <a:pPr algn="l"/>
            <a:r>
              <a:rPr sz="1400" b="0" i="0">
                <a:solidFill>
                  <a:srgbClr val="13263A"/>
                </a:solidFill>
                <a:latin typeface="Arial"/>
              </a:rPr>
              <a:t>Options are buttons, not sentences</a:t>
            </a:r>
          </a:p>
        </p:txBody>
      </p:sp>
      <p:sp>
        <p:nvSpPr>
          <p:cNvPr id="12" name="TextBox 11"/>
          <p:cNvSpPr txBox="1"/>
          <p:nvPr/>
        </p:nvSpPr>
        <p:spPr>
          <a:xfrm>
            <a:off x="787400" y="40132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13" name="TextBox 12"/>
          <p:cNvSpPr txBox="1"/>
          <p:nvPr/>
        </p:nvSpPr>
        <p:spPr>
          <a:xfrm>
            <a:off x="1016000" y="4013200"/>
            <a:ext cx="3048000" cy="558800"/>
          </a:xfrm>
          <a:prstGeom prst="rect">
            <a:avLst/>
          </a:prstGeom>
          <a:noFill/>
        </p:spPr>
        <p:txBody>
          <a:bodyPr wrap="square" lIns="45720" rIns="45720" tIns="12700" bIns="12700" anchor="t">
            <a:spAutoFit/>
          </a:bodyPr>
          <a:lstStyle/>
          <a:p>
            <a:pPr algn="l"/>
            <a:r>
              <a:rPr sz="1400" b="0" i="0">
                <a:solidFill>
                  <a:srgbClr val="13263A"/>
                </a:solidFill>
                <a:latin typeface="Arial"/>
              </a:rPr>
              <a:t>The pick becomes the intention</a:t>
            </a:r>
          </a:p>
        </p:txBody>
      </p:sp>
      <p:sp>
        <p:nvSpPr>
          <p:cNvPr id="14" name="TextBox 13"/>
          <p:cNvSpPr txBox="1"/>
          <p:nvPr/>
        </p:nvSpPr>
        <p:spPr>
          <a:xfrm>
            <a:off x="787400" y="4800600"/>
            <a:ext cx="3238500" cy="330200"/>
          </a:xfrm>
          <a:prstGeom prst="rect">
            <a:avLst/>
          </a:prstGeom>
          <a:noFill/>
        </p:spPr>
        <p:txBody>
          <a:bodyPr wrap="square" lIns="45720" rIns="45720" tIns="12700" bIns="12700" anchor="t">
            <a:spAutoFit/>
          </a:bodyPr>
          <a:lstStyle/>
          <a:p>
            <a:pPr algn="l"/>
            <a:r>
              <a:rPr sz="1350" b="1" i="0">
                <a:solidFill>
                  <a:srgbClr val="255CF0"/>
                </a:solidFill>
                <a:latin typeface="Arial"/>
              </a:rPr>
              <a:t>Safer first step</a:t>
            </a:r>
          </a:p>
        </p:txBody>
      </p:sp>
      <p:sp>
        <p:nvSpPr>
          <p:cNvPr id="15" name="Rectangle 14"/>
          <p:cNvSpPr/>
          <p:nvPr/>
        </p:nvSpPr>
        <p:spPr>
          <a:xfrm>
            <a:off x="4330700" y="1778000"/>
            <a:ext cx="3543300" cy="787400"/>
          </a:xfrm>
          <a:prstGeom prst="rect">
            <a:avLst/>
          </a:prstGeom>
          <a:solidFill>
            <a:srgbClr val="13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3100" y="1854200"/>
            <a:ext cx="3238500" cy="635000"/>
          </a:xfrm>
          <a:prstGeom prst="rect">
            <a:avLst/>
          </a:prstGeom>
          <a:noFill/>
        </p:spPr>
        <p:txBody>
          <a:bodyPr wrap="square" lIns="45720" rIns="45720" tIns="12700" bIns="12700" anchor="t">
            <a:spAutoFit/>
          </a:bodyPr>
          <a:lstStyle/>
          <a:p>
            <a:pPr algn="l"/>
            <a:r>
              <a:rPr sz="1650" b="1" i="0">
                <a:solidFill>
                  <a:srgbClr val="FFFFFF"/>
                </a:solidFill>
                <a:latin typeface="Arial"/>
              </a:rPr>
              <a:t>ALTERNATIVE</a:t>
            </a:r>
          </a:p>
          <a:p>
            <a:pPr algn="l"/>
            <a:r>
              <a:rPr sz="1350" b="0" i="0">
                <a:solidFill>
                  <a:srgbClr val="D5DCE8"/>
                </a:solidFill>
                <a:latin typeface="Arial"/>
              </a:rPr>
              <a:t>clear wish given</a:t>
            </a:r>
          </a:p>
        </p:txBody>
      </p:sp>
      <p:sp>
        <p:nvSpPr>
          <p:cNvPr id="17" name="Rectangle 16"/>
          <p:cNvSpPr/>
          <p:nvPr/>
        </p:nvSpPr>
        <p:spPr>
          <a:xfrm>
            <a:off x="4330700" y="2565400"/>
            <a:ext cx="3543300" cy="26670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3100" y="27432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19" name="TextBox 18"/>
          <p:cNvSpPr txBox="1"/>
          <p:nvPr/>
        </p:nvSpPr>
        <p:spPr>
          <a:xfrm>
            <a:off x="4711700" y="2743200"/>
            <a:ext cx="3048000" cy="558800"/>
          </a:xfrm>
          <a:prstGeom prst="rect">
            <a:avLst/>
          </a:prstGeom>
          <a:noFill/>
        </p:spPr>
        <p:txBody>
          <a:bodyPr wrap="square" lIns="45720" rIns="45720" tIns="12700" bIns="12700" anchor="t">
            <a:spAutoFit/>
          </a:bodyPr>
          <a:lstStyle/>
          <a:p>
            <a:pPr algn="l"/>
            <a:r>
              <a:rPr sz="1400" b="0" i="0">
                <a:solidFill>
                  <a:srgbClr val="13263A"/>
                </a:solidFill>
                <a:latin typeface="Arial"/>
              </a:rPr>
              <a:t>Faithful sentences first</a:t>
            </a:r>
          </a:p>
        </p:txBody>
      </p:sp>
      <p:sp>
        <p:nvSpPr>
          <p:cNvPr id="20" name="TextBox 19"/>
          <p:cNvSpPr txBox="1"/>
          <p:nvPr/>
        </p:nvSpPr>
        <p:spPr>
          <a:xfrm>
            <a:off x="4483100" y="33782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21" name="TextBox 20"/>
          <p:cNvSpPr txBox="1"/>
          <p:nvPr/>
        </p:nvSpPr>
        <p:spPr>
          <a:xfrm>
            <a:off x="4711700" y="3378200"/>
            <a:ext cx="3048000" cy="558800"/>
          </a:xfrm>
          <a:prstGeom prst="rect">
            <a:avLst/>
          </a:prstGeom>
          <a:noFill/>
        </p:spPr>
        <p:txBody>
          <a:bodyPr wrap="square" lIns="45720" rIns="45720" tIns="12700" bIns="12700" anchor="t">
            <a:spAutoFit/>
          </a:bodyPr>
          <a:lstStyle/>
          <a:p>
            <a:pPr algn="l"/>
            <a:r>
              <a:rPr sz="1400" b="0" i="0">
                <a:solidFill>
                  <a:srgbClr val="13263A"/>
                </a:solidFill>
                <a:latin typeface="Arial"/>
              </a:rPr>
              <a:t>At most one, labelled "Something else?"</a:t>
            </a:r>
          </a:p>
        </p:txBody>
      </p:sp>
      <p:sp>
        <p:nvSpPr>
          <p:cNvPr id="22" name="TextBox 21"/>
          <p:cNvSpPr txBox="1"/>
          <p:nvPr/>
        </p:nvSpPr>
        <p:spPr>
          <a:xfrm>
            <a:off x="4483100" y="40132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23" name="TextBox 22"/>
          <p:cNvSpPr txBox="1"/>
          <p:nvPr/>
        </p:nvSpPr>
        <p:spPr>
          <a:xfrm>
            <a:off x="4711700" y="4013200"/>
            <a:ext cx="3048000" cy="558800"/>
          </a:xfrm>
          <a:prstGeom prst="rect">
            <a:avLst/>
          </a:prstGeom>
          <a:noFill/>
        </p:spPr>
        <p:txBody>
          <a:bodyPr wrap="square" lIns="45720" rIns="45720" tIns="12700" bIns="12700" anchor="t">
            <a:spAutoFit/>
          </a:bodyPr>
          <a:lstStyle/>
          <a:p>
            <a:pPr algn="l"/>
            <a:r>
              <a:rPr sz="1400" b="0" i="0">
                <a:solidFill>
                  <a:srgbClr val="13263A"/>
                </a:solidFill>
                <a:latin typeface="Arial"/>
              </a:rPr>
              <a:t>Never after a negation or allergy</a:t>
            </a:r>
          </a:p>
        </p:txBody>
      </p:sp>
      <p:sp>
        <p:nvSpPr>
          <p:cNvPr id="24" name="TextBox 23"/>
          <p:cNvSpPr txBox="1"/>
          <p:nvPr/>
        </p:nvSpPr>
        <p:spPr>
          <a:xfrm>
            <a:off x="4483100" y="4800600"/>
            <a:ext cx="3238500" cy="330200"/>
          </a:xfrm>
          <a:prstGeom prst="rect">
            <a:avLst/>
          </a:prstGeom>
          <a:noFill/>
        </p:spPr>
        <p:txBody>
          <a:bodyPr wrap="square" lIns="45720" rIns="45720" tIns="12700" bIns="12700" anchor="t">
            <a:spAutoFit/>
          </a:bodyPr>
          <a:lstStyle/>
          <a:p>
            <a:pPr algn="l"/>
            <a:r>
              <a:rPr sz="1350" b="1" i="0">
                <a:solidFill>
                  <a:srgbClr val="255CF0"/>
                </a:solidFill>
                <a:latin typeface="Arial"/>
              </a:rPr>
              <a:t>Off by default</a:t>
            </a:r>
          </a:p>
        </p:txBody>
      </p:sp>
      <p:sp>
        <p:nvSpPr>
          <p:cNvPr id="25" name="Rectangle 24"/>
          <p:cNvSpPr/>
          <p:nvPr/>
        </p:nvSpPr>
        <p:spPr>
          <a:xfrm>
            <a:off x="8026400" y="1778000"/>
            <a:ext cx="3543300" cy="787400"/>
          </a:xfrm>
          <a:prstGeom prst="rect">
            <a:avLst/>
          </a:prstGeom>
          <a:solidFill>
            <a:srgbClr val="13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78800" y="1854200"/>
            <a:ext cx="3238500" cy="635000"/>
          </a:xfrm>
          <a:prstGeom prst="rect">
            <a:avLst/>
          </a:prstGeom>
          <a:noFill/>
        </p:spPr>
        <p:txBody>
          <a:bodyPr wrap="square" lIns="45720" rIns="45720" tIns="12700" bIns="12700" anchor="t">
            <a:spAutoFit/>
          </a:bodyPr>
          <a:lstStyle/>
          <a:p>
            <a:pPr algn="l"/>
            <a:r>
              <a:rPr sz="1650" b="1" i="0">
                <a:solidFill>
                  <a:srgbClr val="FFFFFF"/>
                </a:solidFill>
                <a:latin typeface="Arial"/>
              </a:rPr>
              <a:t>PREFERENCE PROFILE</a:t>
            </a:r>
          </a:p>
          <a:p>
            <a:pPr algn="l"/>
            <a:r>
              <a:rPr sz="1350" b="0" i="0">
                <a:solidFill>
                  <a:srgbClr val="D5DCE8"/>
                </a:solidFill>
                <a:latin typeface="Arial"/>
              </a:rPr>
              <a:t>learned from picks</a:t>
            </a:r>
          </a:p>
        </p:txBody>
      </p:sp>
      <p:sp>
        <p:nvSpPr>
          <p:cNvPr id="27" name="Rectangle 26"/>
          <p:cNvSpPr/>
          <p:nvPr/>
        </p:nvSpPr>
        <p:spPr>
          <a:xfrm>
            <a:off x="8026400" y="2565400"/>
            <a:ext cx="3543300" cy="26670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78800" y="27432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29" name="TextBox 28"/>
          <p:cNvSpPr txBox="1"/>
          <p:nvPr/>
        </p:nvSpPr>
        <p:spPr>
          <a:xfrm>
            <a:off x="8407400" y="2743200"/>
            <a:ext cx="3048000" cy="558800"/>
          </a:xfrm>
          <a:prstGeom prst="rect">
            <a:avLst/>
          </a:prstGeom>
          <a:noFill/>
        </p:spPr>
        <p:txBody>
          <a:bodyPr wrap="square" lIns="45720" rIns="45720" tIns="12700" bIns="12700" anchor="t">
            <a:spAutoFit/>
          </a:bodyPr>
          <a:lstStyle/>
          <a:p>
            <a:pPr algn="l"/>
            <a:r>
              <a:rPr sz="1400" b="0" i="0">
                <a:solidFill>
                  <a:srgbClr val="13263A"/>
                </a:solidFill>
                <a:latin typeface="Arial"/>
              </a:rPr>
              <a:t>Liked items move up next time</a:t>
            </a:r>
          </a:p>
        </p:txBody>
      </p:sp>
      <p:sp>
        <p:nvSpPr>
          <p:cNvPr id="30" name="TextBox 29"/>
          <p:cNvSpPr txBox="1"/>
          <p:nvPr/>
        </p:nvSpPr>
        <p:spPr>
          <a:xfrm>
            <a:off x="8178800" y="33782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31" name="TextBox 30"/>
          <p:cNvSpPr txBox="1"/>
          <p:nvPr/>
        </p:nvSpPr>
        <p:spPr>
          <a:xfrm>
            <a:off x="8407400" y="3378200"/>
            <a:ext cx="3048000" cy="558800"/>
          </a:xfrm>
          <a:prstGeom prst="rect">
            <a:avLst/>
          </a:prstGeom>
          <a:noFill/>
        </p:spPr>
        <p:txBody>
          <a:bodyPr wrap="square" lIns="45720" rIns="45720" tIns="12700" bIns="12700" anchor="t">
            <a:spAutoFit/>
          </a:bodyPr>
          <a:lstStyle/>
          <a:p>
            <a:pPr algn="l"/>
            <a:r>
              <a:rPr sz="1400" b="0" i="0">
                <a:solidFill>
                  <a:srgbClr val="13263A"/>
                </a:solidFill>
                <a:latin typeface="Arial"/>
              </a:rPr>
              <a:t>One slot always for something new</a:t>
            </a:r>
          </a:p>
        </p:txBody>
      </p:sp>
      <p:sp>
        <p:nvSpPr>
          <p:cNvPr id="32" name="TextBox 31"/>
          <p:cNvSpPr txBox="1"/>
          <p:nvPr/>
        </p:nvSpPr>
        <p:spPr>
          <a:xfrm>
            <a:off x="8178800" y="40132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33" name="TextBox 32"/>
          <p:cNvSpPr txBox="1"/>
          <p:nvPr/>
        </p:nvSpPr>
        <p:spPr>
          <a:xfrm>
            <a:off x="8407400" y="4013200"/>
            <a:ext cx="3048000" cy="558800"/>
          </a:xfrm>
          <a:prstGeom prst="rect">
            <a:avLst/>
          </a:prstGeom>
          <a:noFill/>
        </p:spPr>
        <p:txBody>
          <a:bodyPr wrap="square" lIns="45720" rIns="45720" tIns="12700" bIns="12700" anchor="t">
            <a:spAutoFit/>
          </a:bodyPr>
          <a:lstStyle/>
          <a:p>
            <a:pPr algn="l"/>
            <a:r>
              <a:rPr sz="1400" b="0" i="0">
                <a:solidFill>
                  <a:srgbClr val="13263A"/>
                </a:solidFill>
                <a:latin typeface="Arial"/>
              </a:rPr>
              <a:t>Needs user accounts and consent</a:t>
            </a:r>
          </a:p>
        </p:txBody>
      </p:sp>
      <p:sp>
        <p:nvSpPr>
          <p:cNvPr id="34" name="TextBox 33"/>
          <p:cNvSpPr txBox="1"/>
          <p:nvPr/>
        </p:nvSpPr>
        <p:spPr>
          <a:xfrm>
            <a:off x="8178800" y="4800600"/>
            <a:ext cx="3238500" cy="330200"/>
          </a:xfrm>
          <a:prstGeom prst="rect">
            <a:avLst/>
          </a:prstGeom>
          <a:noFill/>
        </p:spPr>
        <p:txBody>
          <a:bodyPr wrap="square" lIns="45720" rIns="45720" tIns="12700" bIns="12700" anchor="t">
            <a:spAutoFit/>
          </a:bodyPr>
          <a:lstStyle/>
          <a:p>
            <a:pPr algn="l"/>
            <a:r>
              <a:rPr sz="1350" b="1" i="0">
                <a:solidFill>
                  <a:srgbClr val="255CF0"/>
                </a:solidFill>
                <a:latin typeface="Arial"/>
              </a:rPr>
              <a:t>Later: REQ-SEC-005/007</a:t>
            </a:r>
          </a:p>
        </p:txBody>
      </p:sp>
      <p:sp>
        <p:nvSpPr>
          <p:cNvPr id="35" name="Rectangle 34"/>
          <p:cNvSpPr/>
          <p:nvPr/>
        </p:nvSpPr>
        <p:spPr>
          <a:xfrm>
            <a:off x="635000" y="5435600"/>
            <a:ext cx="10934700" cy="5588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87400" y="5435600"/>
            <a:ext cx="10668000" cy="558800"/>
          </a:xfrm>
          <a:prstGeom prst="rect">
            <a:avLst/>
          </a:prstGeom>
          <a:noFill/>
        </p:spPr>
        <p:txBody>
          <a:bodyPr wrap="square" lIns="45720" rIns="45720" tIns="12700" bIns="12700" anchor="ctr">
            <a:spAutoFit/>
          </a:bodyPr>
          <a:lstStyle/>
          <a:p>
            <a:pPr algn="l"/>
            <a:r>
              <a:rPr sz="1400" b="1" i="0">
                <a:solidFill>
                  <a:srgbClr val="255CF0"/>
                </a:solidFill>
                <a:latin typeface="Arial"/>
              </a:rPr>
              <a:t>Decision needed: </a:t>
            </a:r>
            <a:r>
              <a:rPr sz="1400" b="0" i="0">
                <a:solidFill>
                  <a:srgbClr val="13263A"/>
                </a:solidFill>
                <a:latin typeface="Arial"/>
              </a:rPr>
              <a:t>do we add it, and if so only open choice or also alternatives? It changes REQ-ML-003 in the SRS.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5F4F0"/>
        </a:solidFill>
        <a:effectLst/>
      </p:bgPr>
    </p:bg>
    <p:spTree>
      <p:nvGrpSpPr>
        <p:cNvPr id="1" name=""/>
        <p:cNvGrpSpPr/>
        <p:nvPr/>
      </p:nvGrpSpPr>
      <p:grpSpPr/>
      <p:sp>
        <p:nvSpPr>
          <p:cNvPr id="2" name="TextBox 1"/>
          <p:cNvSpPr txBox="1"/>
          <p:nvPr/>
        </p:nvSpPr>
        <p:spPr>
          <a:xfrm>
            <a:off x="609600" y="457200"/>
            <a:ext cx="10960100" cy="558800"/>
          </a:xfrm>
          <a:prstGeom prst="rect">
            <a:avLst/>
          </a:prstGeom>
          <a:noFill/>
        </p:spPr>
        <p:txBody>
          <a:bodyPr wrap="square" lIns="45720" rIns="45720" tIns="12700" bIns="12700" anchor="ctr">
            <a:spAutoFit/>
          </a:bodyPr>
          <a:lstStyle/>
          <a:p>
            <a:pPr algn="l"/>
            <a:r>
              <a:rPr sz="3300" b="1" i="0">
                <a:solidFill>
                  <a:srgbClr val="13263A"/>
                </a:solidFill>
                <a:latin typeface="Arial"/>
              </a:rPr>
              <a:t>Next week: plan</a:t>
            </a:r>
          </a:p>
        </p:txBody>
      </p:sp>
      <p:sp>
        <p:nvSpPr>
          <p:cNvPr id="3" name="TextBox 2"/>
          <p:cNvSpPr txBox="1"/>
          <p:nvPr/>
        </p:nvSpPr>
        <p:spPr>
          <a:xfrm>
            <a:off x="635000" y="1219200"/>
            <a:ext cx="10566400" cy="330200"/>
          </a:xfrm>
          <a:prstGeom prst="rect">
            <a:avLst/>
          </a:prstGeom>
          <a:noFill/>
        </p:spPr>
        <p:txBody>
          <a:bodyPr wrap="square" lIns="45720" rIns="45720" tIns="12700" bIns="12700" anchor="t">
            <a:spAutoFit/>
          </a:bodyPr>
          <a:lstStyle/>
          <a:p>
            <a:pPr algn="l"/>
            <a:r>
              <a:rPr sz="1800" b="0" i="0">
                <a:solidFill>
                  <a:srgbClr val="647080"/>
                </a:solidFill>
                <a:latin typeface="Arial"/>
              </a:rPr>
              <a:t>03  Project progress  ·  week 8, owners as in the README</a:t>
            </a:r>
          </a:p>
        </p:txBody>
      </p:sp>
      <p:sp>
        <p:nvSpPr>
          <p:cNvPr id="4" name="TextBox 3"/>
          <p:cNvSpPr txBox="1"/>
          <p:nvPr/>
        </p:nvSpPr>
        <p:spPr>
          <a:xfrm>
            <a:off x="11049000" y="6248400"/>
            <a:ext cx="533400" cy="279400"/>
          </a:xfrm>
          <a:prstGeom prst="rect">
            <a:avLst/>
          </a:prstGeom>
          <a:noFill/>
        </p:spPr>
        <p:txBody>
          <a:bodyPr wrap="square" lIns="45720" rIns="45720" tIns="12700" bIns="12700" anchor="t">
            <a:spAutoFit/>
          </a:bodyPr>
          <a:lstStyle/>
          <a:p>
            <a:pPr algn="l"/>
            <a:r>
              <a:rPr sz="1350" b="0" i="0">
                <a:solidFill>
                  <a:srgbClr val="647080"/>
                </a:solidFill>
                <a:latin typeface="Arial"/>
              </a:rPr>
              <a:t>17</a:t>
            </a:r>
          </a:p>
        </p:txBody>
      </p:sp>
      <p:graphicFrame>
        <p:nvGraphicFramePr>
          <p:cNvPr id="5" name="Table 4"/>
          <p:cNvGraphicFramePr>
            <a:graphicFrameLocks noGrp="1"/>
          </p:cNvGraphicFramePr>
          <p:nvPr/>
        </p:nvGraphicFramePr>
        <p:xfrm>
          <a:off x="635000" y="1778000"/>
          <a:ext cx="10934700" cy="3657600"/>
        </p:xfrm>
        <a:graphic>
          <a:graphicData uri="http://schemas.openxmlformats.org/drawingml/2006/table">
            <a:tbl>
              <a:tblPr firstRow="1">
                <a:tableStyleId>{5940675A-B579-460E-94D1-54222C63F5DA}</a:tableStyleId>
              </a:tblPr>
              <a:tblGrid>
                <a:gridCol w="3327400"/>
                <a:gridCol w="1422400"/>
                <a:gridCol w="6184900"/>
              </a:tblGrid>
              <a:tr h="457200">
                <a:tc>
                  <a:txBody>
                    <a:bodyPr wrap="square"/>
                    <a:lstStyle/>
                    <a:p>
                      <a:r>
                        <a:rPr sz="1250" b="1">
                          <a:solidFill>
                            <a:srgbClr val="FFFFFF"/>
                          </a:solidFill>
                          <a:latin typeface="Arial"/>
                        </a:rPr>
                        <a:t>Task</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13263A"/>
                    </a:solidFill>
                  </a:tcPr>
                </a:tc>
                <a:tc>
                  <a:txBody>
                    <a:bodyPr wrap="square"/>
                    <a:lstStyle/>
                    <a:p>
                      <a:r>
                        <a:rPr sz="1250" b="1">
                          <a:solidFill>
                            <a:srgbClr val="FFFFFF"/>
                          </a:solidFill>
                          <a:latin typeface="Arial"/>
                        </a:rPr>
                        <a:t>Owner</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13263A"/>
                    </a:solidFill>
                  </a:tcPr>
                </a:tc>
                <a:tc>
                  <a:txBody>
                    <a:bodyPr wrap="square"/>
                    <a:lstStyle/>
                    <a:p>
                      <a:r>
                        <a:rPr sz="1250" b="1">
                          <a:solidFill>
                            <a:srgbClr val="FFFFFF"/>
                          </a:solidFill>
                          <a:latin typeface="Arial"/>
                        </a:rPr>
                        <a:t>Goal</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13263A"/>
                    </a:solidFill>
                  </a:tcPr>
                </a:tc>
              </a:tr>
              <a:tr h="457200">
                <a:tc>
                  <a:txBody>
                    <a:bodyPr wrap="square"/>
                    <a:lstStyle/>
                    <a:p>
                      <a:r>
                        <a:rPr sz="1300" b="1">
                          <a:solidFill>
                            <a:srgbClr val="13263A"/>
                          </a:solidFill>
                          <a:latin typeface="Arial"/>
                        </a:rPr>
                        <a:t>Peer review of the SRS</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300" b="0">
                          <a:solidFill>
                            <a:srgbClr val="13263A"/>
                          </a:solidFill>
                          <a:latin typeface="Arial"/>
                        </a:rPr>
                        <a:t>All</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300" b="0">
                          <a:solidFill>
                            <a:srgbClr val="13263A"/>
                          </a:solidFill>
                          <a:latin typeface="Arial"/>
                        </a:rPr>
                        <a:t>One Issue per document, one comment per finding; answer every comment</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r>
              <a:tr h="457200">
                <a:tc>
                  <a:txBody>
                    <a:bodyPr wrap="square"/>
                    <a:lstStyle/>
                    <a:p>
                      <a:r>
                        <a:rPr sz="1300" b="1">
                          <a:solidFill>
                            <a:srgbClr val="13263A"/>
                          </a:solidFill>
                          <a:latin typeface="Arial"/>
                        </a:rPr>
                        <a:t>SRS v0.3.1</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6EAF0"/>
                    </a:solidFill>
                  </a:tcPr>
                </a:tc>
                <a:tc>
                  <a:txBody>
                    <a:bodyPr wrap="square"/>
                    <a:lstStyle/>
                    <a:p>
                      <a:r>
                        <a:rPr sz="1300" b="0">
                          <a:solidFill>
                            <a:srgbClr val="13263A"/>
                          </a:solidFill>
                          <a:latin typeface="Arial"/>
                        </a:rPr>
                        <a:t>Abid</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6EAF0"/>
                    </a:solidFill>
                  </a:tcPr>
                </a:tc>
                <a:tc>
                  <a:txBody>
                    <a:bodyPr wrap="square"/>
                    <a:lstStyle/>
                    <a:p>
                      <a:r>
                        <a:rPr sz="1300" b="0">
                          <a:solidFill>
                            <a:srgbClr val="13263A"/>
                          </a:solidFill>
                          <a:latin typeface="Arial"/>
                        </a:rPr>
                        <a:t>Apply the review comments and restore the exact limits of v0.2</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6EAF0"/>
                    </a:solidFill>
                  </a:tcPr>
                </a:tc>
              </a:tr>
              <a:tr h="457200">
                <a:tc>
                  <a:txBody>
                    <a:bodyPr wrap="square"/>
                    <a:lstStyle/>
                    <a:p>
                      <a:r>
                        <a:rPr sz="1300" b="1">
                          <a:solidFill>
                            <a:srgbClr val="13263A"/>
                          </a:solidFill>
                          <a:latin typeface="Arial"/>
                        </a:rPr>
                        <a:t>Merge the backend refactor</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300" b="0">
                          <a:solidFill>
                            <a:srgbClr val="13263A"/>
                          </a:solidFill>
                          <a:latin typeface="Arial"/>
                        </a:rPr>
                        <a:t>Veronika</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300" b="0">
                          <a:solidFill>
                            <a:srgbClr val="13263A"/>
                          </a:solidFill>
                          <a:latin typeface="Arial"/>
                        </a:rPr>
                        <a:t>Fix the review findings, merge to main, similarity in the reuse service</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r>
              <a:tr h="457200">
                <a:tc>
                  <a:txBody>
                    <a:bodyPr wrap="square"/>
                    <a:lstStyle/>
                    <a:p>
                      <a:r>
                        <a:rPr sz="1300" b="1">
                          <a:solidFill>
                            <a:srgbClr val="13263A"/>
                          </a:solidFill>
                          <a:latin typeface="Arial"/>
                        </a:rPr>
                        <a:t>Local backup model</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6EAF0"/>
                    </a:solidFill>
                  </a:tcPr>
                </a:tc>
                <a:tc>
                  <a:txBody>
                    <a:bodyPr wrap="square"/>
                    <a:lstStyle/>
                    <a:p>
                      <a:r>
                        <a:rPr sz="1300" b="0">
                          <a:solidFill>
                            <a:srgbClr val="13263A"/>
                          </a:solidFill>
                          <a:latin typeface="Arial"/>
                        </a:rPr>
                        <a:t>Jiahui</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6EAF0"/>
                    </a:solidFill>
                  </a:tcPr>
                </a:tc>
                <a:tc>
                  <a:txBody>
                    <a:bodyPr wrap="square"/>
                    <a:lstStyle/>
                    <a:p>
                      <a:r>
                        <a:rPr sz="1300" b="0">
                          <a:solidFill>
                            <a:srgbClr val="13263A"/>
                          </a:solidFill>
                          <a:latin typeface="Arial"/>
                        </a:rPr>
                        <a:t>Install Ollama, smallest model that fits in RAM, measure it</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6EAF0"/>
                    </a:solidFill>
                  </a:tcPr>
                </a:tc>
              </a:tr>
              <a:tr h="457200">
                <a:tc>
                  <a:txBody>
                    <a:bodyPr wrap="square"/>
                    <a:lstStyle/>
                    <a:p>
                      <a:r>
                        <a:rPr sz="1300" b="1">
                          <a:solidFill>
                            <a:srgbClr val="13263A"/>
                          </a:solidFill>
                          <a:latin typeface="Arial"/>
                        </a:rPr>
                        <a:t>AI chain in the backend</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300" b="0">
                          <a:solidFill>
                            <a:srgbClr val="13263A"/>
                          </a:solidFill>
                          <a:latin typeface="Arial"/>
                        </a:rPr>
                        <a:t>Jiahui</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300" b="0">
                          <a:solidFill>
                            <a:srgbClr val="13263A"/>
                          </a:solidFill>
                          <a:latin typeface="Arial"/>
                        </a:rPr>
                        <a:t>SentenceProvider with the backup chain, after the merge</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r>
              <a:tr h="457200">
                <a:tc>
                  <a:txBody>
                    <a:bodyPr wrap="square"/>
                    <a:lstStyle/>
                    <a:p>
                      <a:r>
                        <a:rPr sz="1300" b="1">
                          <a:solidFill>
                            <a:srgbClr val="13263A"/>
                          </a:solidFill>
                          <a:latin typeface="Arial"/>
                        </a:rPr>
                        <a:t>Push and connect the frontend</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6EAF0"/>
                    </a:solidFill>
                  </a:tcPr>
                </a:tc>
                <a:tc>
                  <a:txBody>
                    <a:bodyPr wrap="square"/>
                    <a:lstStyle/>
                    <a:p>
                      <a:r>
                        <a:rPr sz="1300" b="0">
                          <a:solidFill>
                            <a:srgbClr val="13263A"/>
                          </a:solidFill>
                          <a:latin typeface="Arial"/>
                        </a:rPr>
                        <a:t>Thibaut</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6EAF0"/>
                    </a:solidFill>
                  </a:tcPr>
                </a:tc>
                <a:tc>
                  <a:txBody>
                    <a:bodyPr wrap="square"/>
                    <a:lstStyle/>
                    <a:p>
                      <a:r>
                        <a:rPr sz="1300" b="0">
                          <a:solidFill>
                            <a:srgbClr val="13263A"/>
                          </a:solidFill>
                          <a:latin typeface="Arial"/>
                        </a:rPr>
                        <a:t>Pages on GitHub, calls to the real API</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6EAF0"/>
                    </a:solidFill>
                  </a:tcPr>
                </a:tc>
              </a:tr>
              <a:tr h="457200">
                <a:tc>
                  <a:txBody>
                    <a:bodyPr wrap="square"/>
                    <a:lstStyle/>
                    <a:p>
                      <a:r>
                        <a:rPr sz="1300" b="1">
                          <a:solidFill>
                            <a:srgbClr val="13263A"/>
                          </a:solidFill>
                          <a:latin typeface="Arial"/>
                        </a:rPr>
                        <a:t>Interest-discovery decision</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300" b="0">
                          <a:solidFill>
                            <a:srgbClr val="13263A"/>
                          </a:solidFill>
                          <a:latin typeface="Arial"/>
                        </a:rPr>
                        <a:t>All</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300" b="0">
                          <a:solidFill>
                            <a:srgbClr val="13263A"/>
                          </a:solidFill>
                          <a:latin typeface="Arial"/>
                        </a:rPr>
                        <a:t>Yes or no, and which mode first</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r>
            </a:tbl>
          </a:graphicData>
        </a:graphic>
      </p:graphicFrame>
      <p:sp>
        <p:nvSpPr>
          <p:cNvPr id="6" name="Rectangle 5"/>
          <p:cNvSpPr/>
          <p:nvPr/>
        </p:nvSpPr>
        <p:spPr>
          <a:xfrm>
            <a:off x="635000" y="5638800"/>
            <a:ext cx="10934700" cy="4064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5638800"/>
            <a:ext cx="10668000" cy="406400"/>
          </a:xfrm>
          <a:prstGeom prst="rect">
            <a:avLst/>
          </a:prstGeom>
          <a:noFill/>
        </p:spPr>
        <p:txBody>
          <a:bodyPr wrap="square" lIns="45720" rIns="45720" tIns="12700" bIns="12700" anchor="ctr">
            <a:spAutoFit/>
          </a:bodyPr>
          <a:lstStyle/>
          <a:p>
            <a:pPr algn="l"/>
            <a:r>
              <a:rPr sz="1400" b="1" i="0">
                <a:solidFill>
                  <a:srgbClr val="255CF0"/>
                </a:solidFill>
                <a:latin typeface="Arial"/>
              </a:rPr>
              <a:t>Why the merge matters: </a:t>
            </a:r>
            <a:r>
              <a:rPr sz="1400" b="0" i="0">
                <a:solidFill>
                  <a:srgbClr val="13263A"/>
                </a:solidFill>
                <a:latin typeface="Arial"/>
              </a:rPr>
              <a:t>the AI chain and the frontend both need the new backend structure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5F4F0"/>
        </a:solidFill>
        <a:effectLst/>
      </p:bgPr>
    </p:bg>
    <p:spTree>
      <p:nvGrpSpPr>
        <p:cNvPr id="1" name=""/>
        <p:cNvGrpSpPr/>
        <p:nvPr/>
      </p:nvGrpSpPr>
      <p:grpSpPr/>
      <p:sp>
        <p:nvSpPr>
          <p:cNvPr id="2" name="TextBox 1"/>
          <p:cNvSpPr txBox="1"/>
          <p:nvPr/>
        </p:nvSpPr>
        <p:spPr>
          <a:xfrm>
            <a:off x="609600" y="457200"/>
            <a:ext cx="10960100" cy="558800"/>
          </a:xfrm>
          <a:prstGeom prst="rect">
            <a:avLst/>
          </a:prstGeom>
          <a:noFill/>
        </p:spPr>
        <p:txBody>
          <a:bodyPr wrap="square" lIns="45720" rIns="45720" tIns="12700" bIns="12700" anchor="ctr">
            <a:spAutoFit/>
          </a:bodyPr>
          <a:lstStyle/>
          <a:p>
            <a:pPr algn="l"/>
            <a:r>
              <a:rPr sz="3300" b="1" i="0">
                <a:solidFill>
                  <a:srgbClr val="13263A"/>
                </a:solidFill>
                <a:latin typeface="Arial"/>
              </a:rPr>
              <a:t>Time management</a:t>
            </a:r>
          </a:p>
        </p:txBody>
      </p:sp>
      <p:pic>
        <p:nvPicPr>
          <p:cNvPr id="4" name="Picture 3" descr="gantt_crop.png"/>
          <p:cNvPicPr>
            <a:picLocks noChangeAspect="1"/>
          </p:cNvPicPr>
          <p:nvPr/>
        </p:nvPicPr>
        <p:blipFill>
          <a:blip r:embed="rId3"/>
          <a:stretch>
            <a:fillRect/>
          </a:stretch>
        </p:blipFill>
        <p:spPr>
          <a:xfrm>
            <a:off x="673100" y="1066800"/>
            <a:ext cx="10858500" cy="5833050"/>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2026-09-23T01:37:38Z</dcterms:created>
  <dc:creator>Walnut Exporter</dc:creator>
</cp:coreProperties>
</file>