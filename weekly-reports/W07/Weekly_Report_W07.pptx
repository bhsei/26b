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dEqQHWZBZoljN+kgsKkZZe5Uc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5FFFB9-25ED-488D-912B-DF008DE3E3C8}">
  <a:tblStyle styleId="{965FFFB9-25ED-488D-912B-DF008DE3E3C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21" Type="http://schemas.openxmlformats.org/officeDocument/2006/relationships/slide" Target="slides/slide16.xml"/><Relationship Id="rId22" Type="http://customschemas.google.com/relationships/presentationmetadata" Target="metadata"/><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Week 7 progress report of Team B, The Outliers. This week is the SRS peer-review week.</a:t>
            </a: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Three parts as every week: technical progress with the final SRS, experimental results, and project management.</a:t>
            </a:r>
          </a:p>
        </p:txBody>
      </p:sp>
      <p:sp>
        <p:nvSpPr>
          <p:cNvPr id="24" name="Google Shape;2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62fd3f37f23572d3_3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h62fd3f37f23572d3_3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Thank you. Questions?</a:t>
            </a:r>
          </a:p>
        </p:txBody>
      </p:sp>
      <p:sp>
        <p:nvSpPr>
          <p:cNvPr id="335" name="Google Shape;335;h62fd3f37f23572d3_3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card per member. The SRS and the AI work are on GitHub or ready; the frontend is still local and the backend reuse endpoint is on Veronika's branch.</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Abid turned the Markdown v0.2 into a 48-page Word document following the professor's IEEE template. Same 45 requirement IDs, now with an owner and a status line each, four UML-style diagrams and the frontend screenshots.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Functional requirements are the largest family. Each requirement has one owner or a shared owner; Veronika owns most because the backend carries most of the tested behaviour.</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six requirements protect the user: the person decides what is said, nothing is spoken without confirmation, photos are minimised and the app never pretends to understand more than it does.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counts are the week 6 snapshot written into chapter 4, not a new test run. Appendix B lists ten decisions the team still has to close; peer reviewers will probably ask about them.</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Left: what v0.3 adds. Right: points where v0.3 is less precise than v0.2; we will fix them together with the peer-review comments, so the final version keeps both.</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request first checks whether the same request was accepted before. If not, the chain tries the providers in order. Each Gemini model has its own free quota, so four models on one key give several times the 20 calls a day. Ollama is the offline backup and comes next week.</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calling a model we score the request against sentences the person accepted before. A near-identical request is answered without any AI call; similar ones give the model up to three examples of the person's wording. Veronika's endpoint only finds exact matches; next we move this scoring into her service.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sent a burst of up to 15 tiny requests to each model, 35 for Gemma, and read the limit from Google's 429 answer. Highlighted rows are usable for the chain. A second copy of the survey ran at the same time by mistake, so request counts are higher than one run; the limits come from Google's answers and are not affected.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Flash-Lite models never returned a 429 in the burst, so they go first. Several model names share one quota, so listing them twice gains nothing. Gemma 4 26B allows 30 calls a minute and is the next candidate. Pro models have no free quota at all.</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Thibaut split the flow into separate pages. The login page is interface only: real authentication is still REQ-SEC-005. The suggestion page shows the mock notice, as REQ-ML-004 asks.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Idea: an empty cup in a café; the user wanted water but the app also offers juice and the user likes it. This conflicts with REQ-ML-003, so it needs a team decision. The safe first step is open choice: options, not sentences, and nothing is spoken until the user picks.</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Peer review first: answer the comments on our SRS and review the other team's. Then the integration work: merge the backend refactor, connect the AI chain and the frontend.</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Dark bars are done, blue bars are next week, hatched bars are tentative. The SRS milestone is this week; the design document starts next week.</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15" name="Shape 15"/>
        <p:cNvGrpSpPr/>
        <p:nvPr/>
      </p:nvGrpSpPr>
      <p:grpSpPr>
        <a:xfrm>
          <a:off x="0" y="0"/>
          <a:ext cx="0" cy="0"/>
          <a:chOff x="0" y="0"/>
          <a:chExt cx="0" cy="0"/>
        </a:xfrm>
      </p:grpSpPr>
      <p:sp>
        <p:nvSpPr>
          <p:cNvPr id="16" name="Google Shape;16;p1"/>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300"/>
              <a:buFont typeface="Arial"/>
              <a:buNone/>
            </a:pPr>
            <a:r>
              <a:rPr b="1" i="0" lang="ru-RU" sz="3300" u="none" cap="none" strike="noStrike">
                <a:solidFill>
                  <a:srgbClr val="FFFFFF"/>
                </a:solidFill>
                <a:latin typeface="Arial"/>
                <a:ea typeface="Arial"/>
                <a:cs typeface="Arial"/>
                <a:sym typeface="Arial"/>
              </a:rPr>
              <a:t>B - The Outliers</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8B6C7"/>
              </a:buClr>
              <a:buSzPts val="1350"/>
              <a:buFont typeface="Arial"/>
              <a:buNone/>
            </a:pPr>
            <a:r>
              <a:rPr b="0" i="0" lang="ru-RU" sz="1350" u="none" cap="none" strike="noStrike">
                <a:solidFill>
                  <a:srgbClr val="A8B6C7"/>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647700" y="1638300"/>
            <a:ext cx="9906000" cy="476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9BFFB"/>
              </a:buClr>
              <a:buSzPts val="2100"/>
              <a:buFont typeface="Arial"/>
              <a:buNone/>
            </a:pPr>
            <a:r>
              <a:rPr b="0" i="0" lang="ru-RU" sz="2100" u="none" cap="none" strike="noStrike">
                <a:solidFill>
                  <a:srgbClr val="A9BFFB"/>
                </a:solidFill>
                <a:latin typeface="Arial"/>
                <a:ea typeface="Arial"/>
                <a:cs typeface="Arial"/>
                <a:sym typeface="Arial"/>
              </a:rPr>
              <a:t>Software Engineering Project  ·  Weekly Progress Report W07</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628650" y="2619375"/>
            <a:ext cx="10858500" cy="133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825"/>
              <a:buFont typeface="Arial"/>
              <a:buNone/>
            </a:pPr>
            <a:r>
              <a:rPr b="0" i="0" lang="ru-RU" sz="3825" u="none" cap="none" strike="noStrike">
                <a:solidFill>
                  <a:srgbClr val="FFFFFF"/>
                </a:solidFill>
                <a:latin typeface="Arial"/>
                <a:ea typeface="Arial"/>
                <a:cs typeface="Arial"/>
                <a:sym typeface="Arial"/>
              </a:rPr>
              <a:t>Context-aware AAC board</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647700" y="5629275"/>
            <a:ext cx="10191750" cy="41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8B6C7"/>
              </a:buClr>
              <a:buSzPts val="1725"/>
              <a:buFont typeface="Arial"/>
              <a:buNone/>
            </a:pPr>
            <a:r>
              <a:rPr b="0" i="0" lang="ru-RU" sz="1725" u="none" cap="none" strike="noStrike">
                <a:solidFill>
                  <a:srgbClr val="A8B6C7"/>
                </a:solidFill>
                <a:latin typeface="Arial"/>
                <a:ea typeface="Arial"/>
                <a:cs typeface="Arial"/>
                <a:sym typeface="Arial"/>
              </a:rPr>
              <a:t>Veronika, Jiahui, Thibaut and Abid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25" name="Shape 25"/>
        <p:cNvGrpSpPr/>
        <p:nvPr/>
      </p:nvGrpSpPr>
      <p:grpSpPr>
        <a:xfrm>
          <a:off x="0" y="0"/>
          <a:ext cx="0" cy="0"/>
          <a:chOff x="0" y="0"/>
          <a:chExt cx="0" cy="0"/>
        </a:xfrm>
      </p:grpSpPr>
      <p:sp>
        <p:nvSpPr>
          <p:cNvPr id="26" name="Google Shape;26;p12"/>
          <p:cNvSpPr txBox="1"/>
          <p:nvPr/>
        </p:nvSpPr>
        <p:spPr>
          <a:xfrm>
            <a:off x="612648" y="457200"/>
            <a:ext cx="10954512" cy="758952"/>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Clr>
                <a:srgbClr val="000000"/>
              </a:buClr>
              <a:buSzPts val="3300"/>
              <a:buFont typeface="Arial"/>
              <a:buNone/>
            </a:pPr>
            <a:r>
              <a:rPr b="1" i="0" lang="ru-RU" sz="3300" u="none" cap="none" strike="noStrike">
                <a:solidFill>
                  <a:srgbClr val="13263A"/>
                </a:solidFill>
                <a:latin typeface="Arial"/>
                <a:ea typeface="Arial"/>
                <a:cs typeface="Arial"/>
                <a:sym typeface="Arial"/>
              </a:rPr>
              <a:t>Progress report outline</a:t>
            </a:r>
            <a:endParaRPr b="0" i="0" sz="1400" u="none" cap="none" strike="noStrike">
              <a:solidFill>
                <a:srgbClr val="000000"/>
              </a:solidFill>
              <a:latin typeface="Arial"/>
              <a:ea typeface="Arial"/>
              <a:cs typeface="Arial"/>
              <a:sym typeface="Arial"/>
            </a:endParaRPr>
          </a:p>
        </p:txBody>
      </p:sp>
      <p:sp>
        <p:nvSpPr>
          <p:cNvPr id="27" name="Google Shape;27;p12"/>
          <p:cNvSpPr txBox="1"/>
          <p:nvPr/>
        </p:nvSpPr>
        <p:spPr>
          <a:xfrm>
            <a:off x="11045952" y="6245352"/>
            <a:ext cx="530352" cy="283464"/>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350"/>
              <a:buFont typeface="Arial"/>
              <a:buNone/>
            </a:pPr>
            <a:r>
              <a:rPr b="0" i="0" lang="ru-RU" sz="1350" u="none" cap="none" strike="noStrike">
                <a:solidFill>
                  <a:srgbClr val="64708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8" name="Google Shape;28;p12"/>
          <p:cNvSpPr/>
          <p:nvPr/>
        </p:nvSpPr>
        <p:spPr>
          <a:xfrm>
            <a:off x="630936" y="2103120"/>
            <a:ext cx="3429000" cy="3383280"/>
          </a:xfrm>
          <a:prstGeom prst="rect">
            <a:avLst/>
          </a:prstGeom>
          <a:solidFill>
            <a:srgbClr val="FFFFFF"/>
          </a:solidFill>
          <a:ln cap="flat" cmpd="sng" w="9525">
            <a:solidFill>
              <a:srgbClr val="A8B6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2"/>
          <p:cNvSpPr txBox="1"/>
          <p:nvPr/>
        </p:nvSpPr>
        <p:spPr>
          <a:xfrm>
            <a:off x="859536" y="2286000"/>
            <a:ext cx="137160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4000"/>
              <a:buFont typeface="Arial"/>
              <a:buNone/>
            </a:pPr>
            <a:r>
              <a:rPr b="1" i="0" lang="ru-RU" sz="4000" u="none" cap="none" strike="noStrike">
                <a:solidFill>
                  <a:srgbClr val="255CF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0" name="Google Shape;30;p12"/>
          <p:cNvSpPr txBox="1"/>
          <p:nvPr/>
        </p:nvSpPr>
        <p:spPr>
          <a:xfrm>
            <a:off x="859536" y="3154680"/>
            <a:ext cx="3017520" cy="4114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rgbClr val="13263A"/>
                </a:solidFill>
                <a:latin typeface="Arial"/>
                <a:ea typeface="Arial"/>
                <a:cs typeface="Arial"/>
                <a:sym typeface="Arial"/>
              </a:rPr>
              <a:t>Technical progress</a:t>
            </a:r>
            <a:endParaRPr b="0" i="0" sz="1400" u="none" cap="none" strike="noStrike">
              <a:solidFill>
                <a:srgbClr val="000000"/>
              </a:solidFill>
              <a:latin typeface="Arial"/>
              <a:ea typeface="Arial"/>
              <a:cs typeface="Arial"/>
              <a:sym typeface="Arial"/>
            </a:endParaRPr>
          </a:p>
        </p:txBody>
      </p:sp>
      <p:sp>
        <p:nvSpPr>
          <p:cNvPr id="31" name="Google Shape;31;p12"/>
          <p:cNvSpPr txBox="1"/>
          <p:nvPr/>
        </p:nvSpPr>
        <p:spPr>
          <a:xfrm>
            <a:off x="859536" y="3566160"/>
            <a:ext cx="3017520" cy="3657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500"/>
              <a:buFont typeface="Arial"/>
              <a:buNone/>
            </a:pPr>
            <a:r>
              <a:rPr b="0" i="0" lang="ru-RU" sz="1500" u="none" cap="none" strike="noStrike">
                <a:solidFill>
                  <a:srgbClr val="647080"/>
                </a:solidFill>
                <a:latin typeface="Arial"/>
                <a:ea typeface="Arial"/>
                <a:cs typeface="Arial"/>
                <a:sym typeface="Arial"/>
              </a:rPr>
              <a:t>System development</a:t>
            </a:r>
            <a:endParaRPr b="0" i="0" sz="1400" u="none" cap="none" strike="noStrike">
              <a:solidFill>
                <a:srgbClr val="000000"/>
              </a:solidFill>
              <a:latin typeface="Arial"/>
              <a:ea typeface="Arial"/>
              <a:cs typeface="Arial"/>
              <a:sym typeface="Arial"/>
            </a:endParaRPr>
          </a:p>
        </p:txBody>
      </p:sp>
      <p:sp>
        <p:nvSpPr>
          <p:cNvPr id="32" name="Google Shape;32;p12"/>
          <p:cNvSpPr txBox="1"/>
          <p:nvPr/>
        </p:nvSpPr>
        <p:spPr>
          <a:xfrm>
            <a:off x="859536" y="4069080"/>
            <a:ext cx="3017520" cy="9144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rgbClr val="13263A"/>
                </a:solidFill>
                <a:latin typeface="Arial"/>
                <a:ea typeface="Arial"/>
                <a:cs typeface="Arial"/>
                <a:sym typeface="Arial"/>
              </a:rPr>
              <a:t>SRS v0.3 for peer review, backup AI models and reuse of accepted sentences</a:t>
            </a:r>
            <a:endParaRPr b="0" i="0" sz="1400" u="none" cap="none" strike="noStrike">
              <a:solidFill>
                <a:srgbClr val="000000"/>
              </a:solidFill>
              <a:latin typeface="Arial"/>
              <a:ea typeface="Arial"/>
              <a:cs typeface="Arial"/>
              <a:sym typeface="Arial"/>
            </a:endParaRPr>
          </a:p>
        </p:txBody>
      </p:sp>
      <p:sp>
        <p:nvSpPr>
          <p:cNvPr id="33" name="Google Shape;33;p12"/>
          <p:cNvSpPr txBox="1"/>
          <p:nvPr/>
        </p:nvSpPr>
        <p:spPr>
          <a:xfrm>
            <a:off x="859536" y="5029200"/>
            <a:ext cx="3017520" cy="32004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1" i="0" lang="ru-RU" sz="1400" u="none" cap="none" strike="noStrike">
                <a:solidFill>
                  <a:srgbClr val="255CF0"/>
                </a:solidFill>
                <a:latin typeface="Arial"/>
                <a:ea typeface="Arial"/>
                <a:cs typeface="Arial"/>
                <a:sym typeface="Arial"/>
              </a:rPr>
              <a:t>≈ 4.5 min</a:t>
            </a:r>
            <a:endParaRPr b="0" i="0" sz="1400" u="none" cap="none" strike="noStrike">
              <a:solidFill>
                <a:srgbClr val="000000"/>
              </a:solidFill>
              <a:latin typeface="Arial"/>
              <a:ea typeface="Arial"/>
              <a:cs typeface="Arial"/>
              <a:sym typeface="Arial"/>
            </a:endParaRPr>
          </a:p>
        </p:txBody>
      </p:sp>
      <p:sp>
        <p:nvSpPr>
          <p:cNvPr id="34" name="Google Shape;34;p12"/>
          <p:cNvSpPr/>
          <p:nvPr/>
        </p:nvSpPr>
        <p:spPr>
          <a:xfrm>
            <a:off x="4379975" y="2103120"/>
            <a:ext cx="3429000" cy="3383280"/>
          </a:xfrm>
          <a:prstGeom prst="rect">
            <a:avLst/>
          </a:prstGeom>
          <a:solidFill>
            <a:srgbClr val="FFFFFF"/>
          </a:solidFill>
          <a:ln cap="flat" cmpd="sng" w="9525">
            <a:solidFill>
              <a:srgbClr val="A8B6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2"/>
          <p:cNvSpPr txBox="1"/>
          <p:nvPr/>
        </p:nvSpPr>
        <p:spPr>
          <a:xfrm>
            <a:off x="4608575" y="2286000"/>
            <a:ext cx="137160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4000"/>
              <a:buFont typeface="Arial"/>
              <a:buNone/>
            </a:pPr>
            <a:r>
              <a:rPr b="1" i="0" lang="ru-RU" sz="4000" u="none" cap="none" strike="noStrike">
                <a:solidFill>
                  <a:srgbClr val="255CF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6" name="Google Shape;36;p12"/>
          <p:cNvSpPr txBox="1"/>
          <p:nvPr/>
        </p:nvSpPr>
        <p:spPr>
          <a:xfrm>
            <a:off x="4608575" y="3154680"/>
            <a:ext cx="3017520" cy="4114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rgbClr val="13263A"/>
                </a:solidFill>
                <a:latin typeface="Arial"/>
                <a:ea typeface="Arial"/>
                <a:cs typeface="Arial"/>
                <a:sym typeface="Arial"/>
              </a:rPr>
              <a:t>Experimental progress</a:t>
            </a:r>
            <a:endParaRPr b="0" i="0" sz="1400" u="none" cap="none" strike="noStrike">
              <a:solidFill>
                <a:srgbClr val="000000"/>
              </a:solidFill>
              <a:latin typeface="Arial"/>
              <a:ea typeface="Arial"/>
              <a:cs typeface="Arial"/>
              <a:sym typeface="Arial"/>
            </a:endParaRPr>
          </a:p>
        </p:txBody>
      </p:sp>
      <p:sp>
        <p:nvSpPr>
          <p:cNvPr id="37" name="Google Shape;37;p12"/>
          <p:cNvSpPr txBox="1"/>
          <p:nvPr/>
        </p:nvSpPr>
        <p:spPr>
          <a:xfrm>
            <a:off x="4608575" y="3566160"/>
            <a:ext cx="3017520" cy="3657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500"/>
              <a:buFont typeface="Arial"/>
              <a:buNone/>
            </a:pPr>
            <a:r>
              <a:rPr b="0" i="0" lang="ru-RU" sz="1500" u="none" cap="none" strike="noStrike">
                <a:solidFill>
                  <a:srgbClr val="647080"/>
                </a:solidFill>
                <a:latin typeface="Arial"/>
                <a:ea typeface="Arial"/>
                <a:cs typeface="Arial"/>
                <a:sym typeface="Arial"/>
              </a:rPr>
              <a:t>Deliverables</a:t>
            </a:r>
            <a:endParaRPr b="0" i="0" sz="1400" u="none" cap="none" strike="noStrike">
              <a:solidFill>
                <a:srgbClr val="000000"/>
              </a:solidFill>
              <a:latin typeface="Arial"/>
              <a:ea typeface="Arial"/>
              <a:cs typeface="Arial"/>
              <a:sym typeface="Arial"/>
            </a:endParaRPr>
          </a:p>
        </p:txBody>
      </p:sp>
      <p:sp>
        <p:nvSpPr>
          <p:cNvPr id="38" name="Google Shape;38;p12"/>
          <p:cNvSpPr txBox="1"/>
          <p:nvPr/>
        </p:nvSpPr>
        <p:spPr>
          <a:xfrm>
            <a:off x="4608575" y="4069080"/>
            <a:ext cx="3017520" cy="9144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rgbClr val="13263A"/>
                </a:solidFill>
                <a:latin typeface="Arial"/>
                <a:ea typeface="Arial"/>
                <a:cs typeface="Arial"/>
                <a:sym typeface="Arial"/>
              </a:rPr>
              <a:t>Rate limits of every Gemini model, live checks of the backup chain and the new frontend pages</a:t>
            </a:r>
            <a:endParaRPr b="0" i="0" sz="1400" u="none" cap="none" strike="noStrike">
              <a:solidFill>
                <a:srgbClr val="000000"/>
              </a:solidFill>
              <a:latin typeface="Arial"/>
              <a:ea typeface="Arial"/>
              <a:cs typeface="Arial"/>
              <a:sym typeface="Arial"/>
            </a:endParaRPr>
          </a:p>
        </p:txBody>
      </p:sp>
      <p:sp>
        <p:nvSpPr>
          <p:cNvPr id="39" name="Google Shape;39;p12"/>
          <p:cNvSpPr txBox="1"/>
          <p:nvPr/>
        </p:nvSpPr>
        <p:spPr>
          <a:xfrm>
            <a:off x="4608575" y="5029200"/>
            <a:ext cx="3017520" cy="32004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1" i="0" lang="ru-RU" sz="1400" u="none" cap="none" strike="noStrike">
                <a:solidFill>
                  <a:srgbClr val="255CF0"/>
                </a:solidFill>
                <a:latin typeface="Arial"/>
                <a:ea typeface="Arial"/>
                <a:cs typeface="Arial"/>
                <a:sym typeface="Arial"/>
              </a:rPr>
              <a:t>≈ 3 min</a:t>
            </a:r>
            <a:endParaRPr b="0" i="0" sz="1400" u="none" cap="none" strike="noStrike">
              <a:solidFill>
                <a:srgbClr val="000000"/>
              </a:solidFill>
              <a:latin typeface="Arial"/>
              <a:ea typeface="Arial"/>
              <a:cs typeface="Arial"/>
              <a:sym typeface="Arial"/>
            </a:endParaRPr>
          </a:p>
        </p:txBody>
      </p:sp>
      <p:sp>
        <p:nvSpPr>
          <p:cNvPr id="40" name="Google Shape;40;p12"/>
          <p:cNvSpPr/>
          <p:nvPr/>
        </p:nvSpPr>
        <p:spPr>
          <a:xfrm>
            <a:off x="8129015" y="2103120"/>
            <a:ext cx="3429000" cy="3383280"/>
          </a:xfrm>
          <a:prstGeom prst="rect">
            <a:avLst/>
          </a:prstGeom>
          <a:solidFill>
            <a:srgbClr val="FFFFFF"/>
          </a:solidFill>
          <a:ln cap="flat" cmpd="sng" w="9525">
            <a:solidFill>
              <a:srgbClr val="A8B6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2"/>
          <p:cNvSpPr txBox="1"/>
          <p:nvPr/>
        </p:nvSpPr>
        <p:spPr>
          <a:xfrm>
            <a:off x="8357615" y="2286000"/>
            <a:ext cx="137160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4000"/>
              <a:buFont typeface="Arial"/>
              <a:buNone/>
            </a:pPr>
            <a:r>
              <a:rPr b="1" i="0" lang="ru-RU" sz="4000" u="none" cap="none" strike="noStrike">
                <a:solidFill>
                  <a:srgbClr val="255CF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42" name="Google Shape;42;p12"/>
          <p:cNvSpPr txBox="1"/>
          <p:nvPr/>
        </p:nvSpPr>
        <p:spPr>
          <a:xfrm>
            <a:off x="8357615" y="3154680"/>
            <a:ext cx="3017520" cy="4114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2000"/>
              <a:buFont typeface="Arial"/>
              <a:buNone/>
            </a:pPr>
            <a:r>
              <a:rPr b="1" i="0" lang="ru-RU" sz="2000" u="none" cap="none" strike="noStrike">
                <a:solidFill>
                  <a:srgbClr val="13263A"/>
                </a:solidFill>
                <a:latin typeface="Arial"/>
                <a:ea typeface="Arial"/>
                <a:cs typeface="Arial"/>
                <a:sym typeface="Arial"/>
              </a:rPr>
              <a:t>Project progress</a:t>
            </a:r>
            <a:endParaRPr b="0" i="0" sz="1400" u="none" cap="none" strike="noStrike">
              <a:solidFill>
                <a:srgbClr val="000000"/>
              </a:solidFill>
              <a:latin typeface="Arial"/>
              <a:ea typeface="Arial"/>
              <a:cs typeface="Arial"/>
              <a:sym typeface="Arial"/>
            </a:endParaRPr>
          </a:p>
        </p:txBody>
      </p:sp>
      <p:sp>
        <p:nvSpPr>
          <p:cNvPr id="43" name="Google Shape;43;p12"/>
          <p:cNvSpPr txBox="1"/>
          <p:nvPr/>
        </p:nvSpPr>
        <p:spPr>
          <a:xfrm>
            <a:off x="8357615" y="3566160"/>
            <a:ext cx="3017520" cy="3657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500"/>
              <a:buFont typeface="Arial"/>
              <a:buNone/>
            </a:pPr>
            <a:r>
              <a:rPr b="0" i="0" lang="ru-RU" sz="1500" u="none" cap="none" strike="noStrike">
                <a:solidFill>
                  <a:srgbClr val="647080"/>
                </a:solidFill>
                <a:latin typeface="Arial"/>
                <a:ea typeface="Arial"/>
                <a:cs typeface="Arial"/>
                <a:sym typeface="Arial"/>
              </a:rPr>
              <a:t>Team collaboration and management</a:t>
            </a:r>
            <a:endParaRPr b="0" i="0" sz="1400" u="none" cap="none" strike="noStrike">
              <a:solidFill>
                <a:srgbClr val="000000"/>
              </a:solidFill>
              <a:latin typeface="Arial"/>
              <a:ea typeface="Arial"/>
              <a:cs typeface="Arial"/>
              <a:sym typeface="Arial"/>
            </a:endParaRPr>
          </a:p>
        </p:txBody>
      </p:sp>
      <p:sp>
        <p:nvSpPr>
          <p:cNvPr id="44" name="Google Shape;44;p12"/>
          <p:cNvSpPr txBox="1"/>
          <p:nvPr/>
        </p:nvSpPr>
        <p:spPr>
          <a:xfrm>
            <a:off x="8357615" y="4069080"/>
            <a:ext cx="3017520" cy="9144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rgbClr val="13263A"/>
                </a:solidFill>
                <a:latin typeface="Arial"/>
                <a:ea typeface="Arial"/>
                <a:cs typeface="Arial"/>
                <a:sym typeface="Arial"/>
              </a:rPr>
              <a:t>Interest-discovery proposal, plan for week 8 and time management</a:t>
            </a:r>
            <a:endParaRPr b="0" i="0" sz="1400" u="none" cap="none" strike="noStrike">
              <a:solidFill>
                <a:srgbClr val="000000"/>
              </a:solidFill>
              <a:latin typeface="Arial"/>
              <a:ea typeface="Arial"/>
              <a:cs typeface="Arial"/>
              <a:sym typeface="Arial"/>
            </a:endParaRPr>
          </a:p>
        </p:txBody>
      </p:sp>
      <p:sp>
        <p:nvSpPr>
          <p:cNvPr id="45" name="Google Shape;45;p12"/>
          <p:cNvSpPr txBox="1"/>
          <p:nvPr/>
        </p:nvSpPr>
        <p:spPr>
          <a:xfrm>
            <a:off x="8357615" y="5029200"/>
            <a:ext cx="3017520" cy="32004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400"/>
              <a:buFont typeface="Arial"/>
              <a:buNone/>
            </a:pPr>
            <a:r>
              <a:rPr b="1" i="0" lang="ru-RU" sz="1400" u="none" cap="none" strike="noStrike">
                <a:solidFill>
                  <a:srgbClr val="255CF0"/>
                </a:solidFill>
                <a:latin typeface="Arial"/>
                <a:ea typeface="Arial"/>
                <a:cs typeface="Arial"/>
                <a:sym typeface="Arial"/>
              </a:rPr>
              <a:t>≈ 1.5 min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336" name="Shape 336"/>
        <p:cNvGrpSpPr/>
        <p:nvPr/>
      </p:nvGrpSpPr>
      <p:grpSpPr>
        <a:xfrm>
          <a:off x="0" y="0"/>
          <a:ext cx="0" cy="0"/>
          <a:chOff x="0" y="0"/>
          <a:chExt cx="0" cy="0"/>
        </a:xfrm>
      </p:grpSpPr>
      <p:sp>
        <p:nvSpPr>
          <p:cNvPr id="337" name="Google Shape;337;h62fd3f37f23572d3_3_1"/>
          <p:cNvSpPr/>
          <p:nvPr/>
        </p:nvSpPr>
        <p:spPr>
          <a:xfrm>
            <a:off x="619050" y="2903050"/>
            <a:ext cx="10953900" cy="762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300"/>
              <a:buFont typeface="Arial"/>
              <a:buNone/>
            </a:pPr>
            <a:r>
              <a:rPr b="1" i="0" lang="ru-RU" sz="3300" u="none" cap="none" strike="noStrike">
                <a:solidFill>
                  <a:srgbClr val="FFFFFF"/>
                </a:solidFill>
                <a:latin typeface="Arial"/>
                <a:ea typeface="Arial"/>
                <a:cs typeface="Arial"/>
                <a:sym typeface="Arial"/>
              </a:rPr>
              <a:t>THANK YOU FOR YOUR</a:t>
            </a:r>
            <a:endParaRPr b="1" i="0" sz="33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3300"/>
              <a:buFont typeface="Arial"/>
              <a:buNone/>
            </a:pPr>
            <a:r>
              <a:rPr b="1" i="0" lang="ru-RU" sz="3300" u="none" cap="none" strike="noStrike">
                <a:solidFill>
                  <a:srgbClr val="FFFFFF"/>
                </a:solidFill>
                <a:latin typeface="Arial"/>
                <a:ea typeface="Arial"/>
                <a:cs typeface="Arial"/>
                <a:sym typeface="Arial"/>
              </a:rPr>
              <a:t>ATTENTION!</a:t>
            </a:r>
            <a:endParaRPr b="1" i="0" sz="3300" u="none" cap="none" strike="noStrike">
              <a:solidFill>
                <a:srgbClr val="FFFFFF"/>
              </a:solidFill>
              <a:latin typeface="Arial"/>
              <a:ea typeface="Arial"/>
              <a:cs typeface="Arial"/>
              <a:sym typeface="Arial"/>
            </a:endParaRPr>
          </a:p>
        </p:txBody>
      </p:sp>
      <p:sp>
        <p:nvSpPr>
          <p:cNvPr id="338" name="Google Shape;338;h62fd3f37f23572d3_3_1"/>
          <p:cNvSpPr/>
          <p:nvPr/>
        </p:nvSpPr>
        <p:spPr>
          <a:xfrm>
            <a:off x="647700" y="5629275"/>
            <a:ext cx="10191900" cy="41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8B6C7"/>
              </a:buClr>
              <a:buSzPts val="1725"/>
              <a:buFont typeface="Arial"/>
              <a:buNone/>
            </a:pPr>
            <a:r>
              <a:rPr b="0" i="0" lang="ru-RU" sz="1725" u="none" cap="none" strike="noStrike">
                <a:solidFill>
                  <a:srgbClr val="A8B6C7"/>
                </a:solidFill>
                <a:latin typeface="Arial"/>
                <a:ea typeface="Arial"/>
                <a:cs typeface="Arial"/>
                <a:sym typeface="Arial"/>
              </a:rPr>
              <a:t>Veronika, Jiahui, Thibaut and Abid</a:t>
            </a:r>
            <a:endParaRPr b="0" i="0" sz="1400" u="none" cap="none" strike="noStrike">
              <a:solidFill>
                <a:srgbClr val="000000"/>
              </a:solidFill>
              <a:latin typeface="Arial"/>
              <a:ea typeface="Arial"/>
              <a:cs typeface="Arial"/>
              <a:sym typeface="Arial"/>
            </a:endParaRPr>
          </a:p>
        </p:txBody>
      </p:sp>
      <p:pic>
        <p:nvPicPr>
          <p:cNvPr id="339" name="Google Shape;339;h62fd3f37f23572d3_3_1"/>
          <p:cNvPicPr preferRelativeResize="0"/>
          <p:nvPr/>
        </p:nvPicPr>
        <p:blipFill rotWithShape="1">
          <a:blip r:embed="rId3">
            <a:alphaModFix/>
          </a:blip>
          <a:srcRect b="0" l="0" r="0" t="0"/>
          <a:stretch/>
        </p:blipFill>
        <p:spPr>
          <a:xfrm>
            <a:off x="6819325" y="1430525"/>
            <a:ext cx="3707026" cy="3707026"/>
          </a:xfrm>
          <a:prstGeom prst="rect">
            <a:avLst/>
          </a:prstGeom>
          <a:noFill/>
          <a:ln>
            <a:no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This week: SRS ready for review, AI backups working</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what moved forward in week 7</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03</a:t>
            </a:r>
          </a:p>
        </p:txBody>
      </p:sp>
      <p:sp>
        <p:nvSpPr>
          <p:cNvPr id="5" name="Rectangle 4"/>
          <p:cNvSpPr/>
          <p:nvPr/>
        </p:nvSpPr>
        <p:spPr>
          <a:xfrm>
            <a:off x="635000" y="1778000"/>
            <a:ext cx="2603500" cy="914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879600"/>
            <a:ext cx="2374900" cy="635000"/>
          </a:xfrm>
          <a:prstGeom prst="rect">
            <a:avLst/>
          </a:prstGeom>
          <a:noFill/>
        </p:spPr>
        <p:txBody>
          <a:bodyPr wrap="square" lIns="45720" rIns="45720" tIns="12700" bIns="12700" anchor="t">
            <a:spAutoFit/>
          </a:bodyPr>
          <a:lstStyle/>
          <a:p>
            <a:pPr algn="l"/>
            <a:r>
              <a:rPr sz="1650" b="1" i="0">
                <a:solidFill>
                  <a:srgbClr val="FFFFFF"/>
                </a:solidFill>
                <a:latin typeface="Arial"/>
              </a:rPr>
              <a:t>BACKEND</a:t>
            </a:r>
          </a:p>
          <a:p>
            <a:pPr algn="l"/>
            <a:r>
              <a:rPr sz="1400" b="0" i="0">
                <a:solidFill>
                  <a:srgbClr val="D5DCE8"/>
                </a:solidFill>
                <a:latin typeface="Arial"/>
              </a:rPr>
              <a:t>Veronika</a:t>
            </a:r>
          </a:p>
        </p:txBody>
      </p:sp>
      <p:sp>
        <p:nvSpPr>
          <p:cNvPr id="7" name="Rectangle 6"/>
          <p:cNvSpPr/>
          <p:nvPr/>
        </p:nvSpPr>
        <p:spPr>
          <a:xfrm>
            <a:off x="635000" y="2692400"/>
            <a:ext cx="2603500" cy="32893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832100"/>
            <a:ext cx="2374900" cy="292100"/>
          </a:xfrm>
          <a:prstGeom prst="rect">
            <a:avLst/>
          </a:prstGeom>
          <a:noFill/>
        </p:spPr>
        <p:txBody>
          <a:bodyPr wrap="square" lIns="45720" rIns="45720" tIns="12700" bIns="12700" anchor="t">
            <a:spAutoFit/>
          </a:bodyPr>
          <a:lstStyle/>
          <a:p>
            <a:pPr algn="l"/>
            <a:r>
              <a:rPr sz="1500" b="1" i="0">
                <a:solidFill>
                  <a:srgbClr val="13263A"/>
                </a:solidFill>
                <a:latin typeface="Arial"/>
              </a:rPr>
              <a:t>Reuse endpoint</a:t>
            </a:r>
          </a:p>
        </p:txBody>
      </p:sp>
      <p:sp>
        <p:nvSpPr>
          <p:cNvPr id="9" name="TextBox 8"/>
          <p:cNvSpPr txBox="1"/>
          <p:nvPr/>
        </p:nvSpPr>
        <p:spPr>
          <a:xfrm>
            <a:off x="762000" y="33274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0" name="TextBox 9"/>
          <p:cNvSpPr txBox="1"/>
          <p:nvPr/>
        </p:nvSpPr>
        <p:spPr>
          <a:xfrm>
            <a:off x="965200" y="33274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POST /api/suggestions/reuse</a:t>
            </a:r>
          </a:p>
        </p:txBody>
      </p:sp>
      <p:sp>
        <p:nvSpPr>
          <p:cNvPr id="11" name="TextBox 10"/>
          <p:cNvSpPr txBox="1"/>
          <p:nvPr/>
        </p:nvSpPr>
        <p:spPr>
          <a:xfrm>
            <a:off x="762000" y="39116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2" name="TextBox 11"/>
          <p:cNvSpPr txBox="1"/>
          <p:nvPr/>
        </p:nvSpPr>
        <p:spPr>
          <a:xfrm>
            <a:off x="965200" y="39116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Returns up to 3 accepted sentences</a:t>
            </a:r>
          </a:p>
        </p:txBody>
      </p:sp>
      <p:sp>
        <p:nvSpPr>
          <p:cNvPr id="13" name="TextBox 12"/>
          <p:cNvSpPr txBox="1"/>
          <p:nvPr/>
        </p:nvSpPr>
        <p:spPr>
          <a:xfrm>
            <a:off x="762000" y="44958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4" name="TextBox 13"/>
          <p:cNvSpPr txBox="1"/>
          <p:nvPr/>
        </p:nvSpPr>
        <p:spPr>
          <a:xfrm>
            <a:off x="965200" y="44958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Exact match on symbols, text, scene</a:t>
            </a:r>
          </a:p>
        </p:txBody>
      </p:sp>
      <p:sp>
        <p:nvSpPr>
          <p:cNvPr id="15" name="TextBox 14"/>
          <p:cNvSpPr txBox="1"/>
          <p:nvPr/>
        </p:nvSpPr>
        <p:spPr>
          <a:xfrm>
            <a:off x="762000" y="5486400"/>
            <a:ext cx="2374900" cy="381000"/>
          </a:xfrm>
          <a:prstGeom prst="rect">
            <a:avLst/>
          </a:prstGeom>
          <a:noFill/>
        </p:spPr>
        <p:txBody>
          <a:bodyPr wrap="square" lIns="45720" rIns="45720" tIns="12700" bIns="12700" anchor="t">
            <a:spAutoFit/>
          </a:bodyPr>
          <a:lstStyle/>
          <a:p>
            <a:pPr algn="l"/>
            <a:r>
              <a:rPr sz="1350" b="1" i="0">
                <a:solidFill>
                  <a:srgbClr val="255CF0"/>
                </a:solidFill>
                <a:latin typeface="Arial"/>
              </a:rPr>
              <a:t>On her branch · not merged</a:t>
            </a:r>
          </a:p>
        </p:txBody>
      </p:sp>
      <p:sp>
        <p:nvSpPr>
          <p:cNvPr id="16" name="Rectangle 15"/>
          <p:cNvSpPr/>
          <p:nvPr/>
        </p:nvSpPr>
        <p:spPr>
          <a:xfrm>
            <a:off x="3403600" y="1778000"/>
            <a:ext cx="2603500" cy="914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600" y="1879600"/>
            <a:ext cx="2374900" cy="635000"/>
          </a:xfrm>
          <a:prstGeom prst="rect">
            <a:avLst/>
          </a:prstGeom>
          <a:noFill/>
        </p:spPr>
        <p:txBody>
          <a:bodyPr wrap="square" lIns="45720" rIns="45720" tIns="12700" bIns="12700" anchor="t">
            <a:spAutoFit/>
          </a:bodyPr>
          <a:lstStyle/>
          <a:p>
            <a:pPr algn="l"/>
            <a:r>
              <a:rPr sz="1650" b="1" i="0">
                <a:solidFill>
                  <a:srgbClr val="FFFFFF"/>
                </a:solidFill>
                <a:latin typeface="Arial"/>
              </a:rPr>
              <a:t>FRONTEND</a:t>
            </a:r>
          </a:p>
          <a:p>
            <a:pPr algn="l"/>
            <a:r>
              <a:rPr sz="1400" b="0" i="0">
                <a:solidFill>
                  <a:srgbClr val="D5DCE8"/>
                </a:solidFill>
                <a:latin typeface="Arial"/>
              </a:rPr>
              <a:t>Thibaut</a:t>
            </a:r>
          </a:p>
        </p:txBody>
      </p:sp>
      <p:sp>
        <p:nvSpPr>
          <p:cNvPr id="18" name="Rectangle 17"/>
          <p:cNvSpPr/>
          <p:nvPr/>
        </p:nvSpPr>
        <p:spPr>
          <a:xfrm>
            <a:off x="3403600" y="2692400"/>
            <a:ext cx="2603500" cy="32893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0600" y="2832100"/>
            <a:ext cx="2374900" cy="292100"/>
          </a:xfrm>
          <a:prstGeom prst="rect">
            <a:avLst/>
          </a:prstGeom>
          <a:noFill/>
        </p:spPr>
        <p:txBody>
          <a:bodyPr wrap="square" lIns="45720" rIns="45720" tIns="12700" bIns="12700" anchor="t">
            <a:spAutoFit/>
          </a:bodyPr>
          <a:lstStyle/>
          <a:p>
            <a:pPr algn="l"/>
            <a:r>
              <a:rPr sz="1500" b="1" i="0">
                <a:solidFill>
                  <a:srgbClr val="13263A"/>
                </a:solidFill>
                <a:latin typeface="Arial"/>
              </a:rPr>
              <a:t>Three separate pages</a:t>
            </a:r>
          </a:p>
        </p:txBody>
      </p:sp>
      <p:sp>
        <p:nvSpPr>
          <p:cNvPr id="20" name="TextBox 19"/>
          <p:cNvSpPr txBox="1"/>
          <p:nvPr/>
        </p:nvSpPr>
        <p:spPr>
          <a:xfrm>
            <a:off x="3530600" y="33274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1" name="TextBox 20"/>
          <p:cNvSpPr txBox="1"/>
          <p:nvPr/>
        </p:nvSpPr>
        <p:spPr>
          <a:xfrm>
            <a:off x="3733800" y="33274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Login page</a:t>
            </a:r>
          </a:p>
        </p:txBody>
      </p:sp>
      <p:sp>
        <p:nvSpPr>
          <p:cNvPr id="22" name="TextBox 21"/>
          <p:cNvSpPr txBox="1"/>
          <p:nvPr/>
        </p:nvSpPr>
        <p:spPr>
          <a:xfrm>
            <a:off x="3530600" y="39116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3" name="TextBox 22"/>
          <p:cNvSpPr txBox="1"/>
          <p:nvPr/>
        </p:nvSpPr>
        <p:spPr>
          <a:xfrm>
            <a:off x="3733800" y="39116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Context: place, tiles, photo</a:t>
            </a:r>
          </a:p>
        </p:txBody>
      </p:sp>
      <p:sp>
        <p:nvSpPr>
          <p:cNvPr id="24" name="TextBox 23"/>
          <p:cNvSpPr txBox="1"/>
          <p:nvPr/>
        </p:nvSpPr>
        <p:spPr>
          <a:xfrm>
            <a:off x="3530600" y="44958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5" name="TextBox 24"/>
          <p:cNvSpPr txBox="1"/>
          <p:nvPr/>
        </p:nvSpPr>
        <p:spPr>
          <a:xfrm>
            <a:off x="3733800" y="44958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Suggestions: confirm, reject, stop</a:t>
            </a:r>
          </a:p>
        </p:txBody>
      </p:sp>
      <p:sp>
        <p:nvSpPr>
          <p:cNvPr id="26" name="TextBox 25"/>
          <p:cNvSpPr txBox="1"/>
          <p:nvPr/>
        </p:nvSpPr>
        <p:spPr>
          <a:xfrm>
            <a:off x="3530600" y="5486400"/>
            <a:ext cx="2374900" cy="381000"/>
          </a:xfrm>
          <a:prstGeom prst="rect">
            <a:avLst/>
          </a:prstGeom>
          <a:noFill/>
        </p:spPr>
        <p:txBody>
          <a:bodyPr wrap="square" lIns="45720" rIns="45720" tIns="12700" bIns="12700" anchor="t">
            <a:spAutoFit/>
          </a:bodyPr>
          <a:lstStyle/>
          <a:p>
            <a:pPr algn="l"/>
            <a:r>
              <a:rPr sz="1350" b="1" i="0">
                <a:solidFill>
                  <a:srgbClr val="255CF0"/>
                </a:solidFill>
                <a:latin typeface="Arial"/>
              </a:rPr>
              <a:t>Local · not pushed</a:t>
            </a:r>
          </a:p>
        </p:txBody>
      </p:sp>
      <p:sp>
        <p:nvSpPr>
          <p:cNvPr id="27" name="Rectangle 26"/>
          <p:cNvSpPr/>
          <p:nvPr/>
        </p:nvSpPr>
        <p:spPr>
          <a:xfrm>
            <a:off x="6172200" y="1778000"/>
            <a:ext cx="2603500" cy="914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9200" y="1879600"/>
            <a:ext cx="2374900" cy="635000"/>
          </a:xfrm>
          <a:prstGeom prst="rect">
            <a:avLst/>
          </a:prstGeom>
          <a:noFill/>
        </p:spPr>
        <p:txBody>
          <a:bodyPr wrap="square" lIns="45720" rIns="45720" tIns="12700" bIns="12700" anchor="t">
            <a:spAutoFit/>
          </a:bodyPr>
          <a:lstStyle/>
          <a:p>
            <a:pPr algn="l"/>
            <a:r>
              <a:rPr sz="1650" b="1" i="0">
                <a:solidFill>
                  <a:srgbClr val="FFFFFF"/>
                </a:solidFill>
                <a:latin typeface="Arial"/>
              </a:rPr>
              <a:t>SRS</a:t>
            </a:r>
          </a:p>
          <a:p>
            <a:pPr algn="l"/>
            <a:r>
              <a:rPr sz="1400" b="0" i="0">
                <a:solidFill>
                  <a:srgbClr val="D5DCE8"/>
                </a:solidFill>
                <a:latin typeface="Arial"/>
              </a:rPr>
              <a:t>Abid</a:t>
            </a:r>
          </a:p>
        </p:txBody>
      </p:sp>
      <p:sp>
        <p:nvSpPr>
          <p:cNvPr id="29" name="Rectangle 28"/>
          <p:cNvSpPr/>
          <p:nvPr/>
        </p:nvSpPr>
        <p:spPr>
          <a:xfrm>
            <a:off x="6172200" y="2692400"/>
            <a:ext cx="2603500" cy="32893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99200" y="2832100"/>
            <a:ext cx="2374900" cy="292100"/>
          </a:xfrm>
          <a:prstGeom prst="rect">
            <a:avLst/>
          </a:prstGeom>
          <a:noFill/>
        </p:spPr>
        <p:txBody>
          <a:bodyPr wrap="square" lIns="45720" rIns="45720" tIns="12700" bIns="12700" anchor="t">
            <a:spAutoFit/>
          </a:bodyPr>
          <a:lstStyle/>
          <a:p>
            <a:pPr algn="l"/>
            <a:r>
              <a:rPr sz="1500" b="1" i="0">
                <a:solidFill>
                  <a:srgbClr val="13263A"/>
                </a:solidFill>
                <a:latin typeface="Arial"/>
              </a:rPr>
              <a:t>v0.3 review draft</a:t>
            </a:r>
          </a:p>
        </p:txBody>
      </p:sp>
      <p:sp>
        <p:nvSpPr>
          <p:cNvPr id="31" name="TextBox 30"/>
          <p:cNvSpPr txBox="1"/>
          <p:nvPr/>
        </p:nvSpPr>
        <p:spPr>
          <a:xfrm>
            <a:off x="6299200" y="33274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32" name="TextBox 31"/>
          <p:cNvSpPr txBox="1"/>
          <p:nvPr/>
        </p:nvSpPr>
        <p:spPr>
          <a:xfrm>
            <a:off x="6502400" y="33274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48 pages, written in Word</a:t>
            </a:r>
          </a:p>
        </p:txBody>
      </p:sp>
      <p:sp>
        <p:nvSpPr>
          <p:cNvPr id="33" name="TextBox 32"/>
          <p:cNvSpPr txBox="1"/>
          <p:nvPr/>
        </p:nvSpPr>
        <p:spPr>
          <a:xfrm>
            <a:off x="6299200" y="39116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34" name="TextBox 33"/>
          <p:cNvSpPr txBox="1"/>
          <p:nvPr/>
        </p:nvSpPr>
        <p:spPr>
          <a:xfrm>
            <a:off x="6502400" y="39116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Owner and status per requirement</a:t>
            </a:r>
          </a:p>
        </p:txBody>
      </p:sp>
      <p:sp>
        <p:nvSpPr>
          <p:cNvPr id="35" name="TextBox 34"/>
          <p:cNvSpPr txBox="1"/>
          <p:nvPr/>
        </p:nvSpPr>
        <p:spPr>
          <a:xfrm>
            <a:off x="6299200" y="44958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36" name="TextBox 35"/>
          <p:cNvSpPr txBox="1"/>
          <p:nvPr/>
        </p:nvSpPr>
        <p:spPr>
          <a:xfrm>
            <a:off x="6502400" y="44958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Diagrams and screenshots</a:t>
            </a:r>
          </a:p>
        </p:txBody>
      </p:sp>
      <p:sp>
        <p:nvSpPr>
          <p:cNvPr id="37" name="TextBox 36"/>
          <p:cNvSpPr txBox="1"/>
          <p:nvPr/>
        </p:nvSpPr>
        <p:spPr>
          <a:xfrm>
            <a:off x="6299200" y="5486400"/>
            <a:ext cx="2374900" cy="381000"/>
          </a:xfrm>
          <a:prstGeom prst="rect">
            <a:avLst/>
          </a:prstGeom>
          <a:noFill/>
        </p:spPr>
        <p:txBody>
          <a:bodyPr wrap="square" lIns="45720" rIns="45720" tIns="12700" bIns="12700" anchor="t">
            <a:spAutoFit/>
          </a:bodyPr>
          <a:lstStyle/>
          <a:p>
            <a:pPr algn="l"/>
            <a:r>
              <a:rPr sz="1350" b="1" i="0">
                <a:solidFill>
                  <a:srgbClr val="255CF0"/>
                </a:solidFill>
                <a:latin typeface="Arial"/>
              </a:rPr>
              <a:t>Ready for peer review</a:t>
            </a:r>
          </a:p>
        </p:txBody>
      </p:sp>
      <p:sp>
        <p:nvSpPr>
          <p:cNvPr id="38" name="Rectangle 37"/>
          <p:cNvSpPr/>
          <p:nvPr/>
        </p:nvSpPr>
        <p:spPr>
          <a:xfrm>
            <a:off x="8940800" y="1778000"/>
            <a:ext cx="2603500" cy="914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67800" y="1879600"/>
            <a:ext cx="2374900" cy="635000"/>
          </a:xfrm>
          <a:prstGeom prst="rect">
            <a:avLst/>
          </a:prstGeom>
          <a:noFill/>
        </p:spPr>
        <p:txBody>
          <a:bodyPr wrap="square" lIns="45720" rIns="45720" tIns="12700" bIns="12700" anchor="t">
            <a:spAutoFit/>
          </a:bodyPr>
          <a:lstStyle/>
          <a:p>
            <a:pPr algn="l"/>
            <a:r>
              <a:rPr sz="1650" b="1" i="0">
                <a:solidFill>
                  <a:srgbClr val="FFFFFF"/>
                </a:solidFill>
                <a:latin typeface="Arial"/>
              </a:rPr>
              <a:t>AI PROVIDER</a:t>
            </a:r>
          </a:p>
          <a:p>
            <a:pPr algn="l"/>
            <a:r>
              <a:rPr sz="1400" b="0" i="0">
                <a:solidFill>
                  <a:srgbClr val="D5DCE8"/>
                </a:solidFill>
                <a:latin typeface="Arial"/>
              </a:rPr>
              <a:t>Jiahui</a:t>
            </a:r>
          </a:p>
        </p:txBody>
      </p:sp>
      <p:sp>
        <p:nvSpPr>
          <p:cNvPr id="40" name="Rectangle 39"/>
          <p:cNvSpPr/>
          <p:nvPr/>
        </p:nvSpPr>
        <p:spPr>
          <a:xfrm>
            <a:off x="8940800" y="2692400"/>
            <a:ext cx="2603500" cy="32893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67800" y="2832100"/>
            <a:ext cx="2374900" cy="292100"/>
          </a:xfrm>
          <a:prstGeom prst="rect">
            <a:avLst/>
          </a:prstGeom>
          <a:noFill/>
        </p:spPr>
        <p:txBody>
          <a:bodyPr wrap="square" lIns="45720" rIns="45720" tIns="12700" bIns="12700" anchor="t">
            <a:spAutoFit/>
          </a:bodyPr>
          <a:lstStyle/>
          <a:p>
            <a:pPr algn="l"/>
            <a:r>
              <a:rPr sz="1500" b="1" i="0">
                <a:solidFill>
                  <a:srgbClr val="13263A"/>
                </a:solidFill>
                <a:latin typeface="Arial"/>
              </a:rPr>
              <a:t>Backups and reuse</a:t>
            </a:r>
          </a:p>
        </p:txBody>
      </p:sp>
      <p:sp>
        <p:nvSpPr>
          <p:cNvPr id="42" name="TextBox 41"/>
          <p:cNvSpPr txBox="1"/>
          <p:nvPr/>
        </p:nvSpPr>
        <p:spPr>
          <a:xfrm>
            <a:off x="9067800" y="33274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43" name="TextBox 42"/>
          <p:cNvSpPr txBox="1"/>
          <p:nvPr/>
        </p:nvSpPr>
        <p:spPr>
          <a:xfrm>
            <a:off x="9271000" y="33274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Fallback over Gemini models</a:t>
            </a:r>
          </a:p>
        </p:txBody>
      </p:sp>
      <p:sp>
        <p:nvSpPr>
          <p:cNvPr id="44" name="TextBox 43"/>
          <p:cNvSpPr txBox="1"/>
          <p:nvPr/>
        </p:nvSpPr>
        <p:spPr>
          <a:xfrm>
            <a:off x="9067800" y="39116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45" name="TextBox 44"/>
          <p:cNvSpPr txBox="1"/>
          <p:nvPr/>
        </p:nvSpPr>
        <p:spPr>
          <a:xfrm>
            <a:off x="9271000" y="39116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Reuse of accepted sentences</a:t>
            </a:r>
          </a:p>
        </p:txBody>
      </p:sp>
      <p:sp>
        <p:nvSpPr>
          <p:cNvPr id="46" name="TextBox 45"/>
          <p:cNvSpPr txBox="1"/>
          <p:nvPr/>
        </p:nvSpPr>
        <p:spPr>
          <a:xfrm>
            <a:off x="9067800" y="44958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47" name="TextBox 46"/>
          <p:cNvSpPr txBox="1"/>
          <p:nvPr/>
        </p:nvSpPr>
        <p:spPr>
          <a:xfrm>
            <a:off x="9271000" y="4495800"/>
            <a:ext cx="2184400" cy="533400"/>
          </a:xfrm>
          <a:prstGeom prst="rect">
            <a:avLst/>
          </a:prstGeom>
          <a:noFill/>
        </p:spPr>
        <p:txBody>
          <a:bodyPr wrap="square" lIns="45720" rIns="45720" tIns="12700" bIns="12700" anchor="t">
            <a:spAutoFit/>
          </a:bodyPr>
          <a:lstStyle/>
          <a:p>
            <a:pPr algn="l"/>
            <a:r>
              <a:rPr sz="1400" b="0" i="0">
                <a:solidFill>
                  <a:srgbClr val="13263A"/>
                </a:solidFill>
                <a:latin typeface="Arial"/>
              </a:rPr>
              <a:t>Rate limits of 20 models</a:t>
            </a:r>
          </a:p>
        </p:txBody>
      </p:sp>
      <p:sp>
        <p:nvSpPr>
          <p:cNvPr id="48" name="TextBox 47"/>
          <p:cNvSpPr txBox="1"/>
          <p:nvPr/>
        </p:nvSpPr>
        <p:spPr>
          <a:xfrm>
            <a:off x="9067800" y="5486400"/>
            <a:ext cx="2374900" cy="381000"/>
          </a:xfrm>
          <a:prstGeom prst="rect">
            <a:avLst/>
          </a:prstGeom>
          <a:noFill/>
        </p:spPr>
        <p:txBody>
          <a:bodyPr wrap="square" lIns="45720" rIns="45720" tIns="12700" bIns="12700" anchor="t">
            <a:spAutoFit/>
          </a:bodyPr>
          <a:lstStyle/>
          <a:p>
            <a:pPr algn="l"/>
            <a:r>
              <a:rPr sz="1350" b="1" i="0">
                <a:solidFill>
                  <a:srgbClr val="255CF0"/>
                </a:solidFill>
                <a:latin typeface="Arial"/>
              </a:rPr>
              <a:t>57 tests pass · src/ai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SRS v0.3: the version for peer review</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review draft by Abid, 27 October, based on v0.2</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04</a:t>
            </a:r>
          </a:p>
        </p:txBody>
      </p:sp>
      <p:sp>
        <p:nvSpPr>
          <p:cNvPr id="5" name="Rectangle 4"/>
          <p:cNvSpPr/>
          <p:nvPr/>
        </p:nvSpPr>
        <p:spPr>
          <a:xfrm>
            <a:off x="635000" y="1778000"/>
            <a:ext cx="2603500" cy="17780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879600"/>
            <a:ext cx="2349500" cy="584200"/>
          </a:xfrm>
          <a:prstGeom prst="rect">
            <a:avLst/>
          </a:prstGeom>
          <a:noFill/>
        </p:spPr>
        <p:txBody>
          <a:bodyPr wrap="square" lIns="45720" rIns="45720" tIns="12700" bIns="12700" anchor="t">
            <a:spAutoFit/>
          </a:bodyPr>
          <a:lstStyle/>
          <a:p>
            <a:pPr algn="l"/>
            <a:r>
              <a:rPr sz="3400" b="1" i="0">
                <a:solidFill>
                  <a:srgbClr val="FFFFFF"/>
                </a:solidFill>
                <a:latin typeface="Arial"/>
              </a:rPr>
              <a:t>45</a:t>
            </a:r>
          </a:p>
        </p:txBody>
      </p:sp>
      <p:sp>
        <p:nvSpPr>
          <p:cNvPr id="7" name="TextBox 6"/>
          <p:cNvSpPr txBox="1"/>
          <p:nvPr/>
        </p:nvSpPr>
        <p:spPr>
          <a:xfrm>
            <a:off x="762000" y="2438400"/>
            <a:ext cx="2349500" cy="1041400"/>
          </a:xfrm>
          <a:prstGeom prst="rect">
            <a:avLst/>
          </a:prstGeom>
          <a:noFill/>
        </p:spPr>
        <p:txBody>
          <a:bodyPr wrap="square" lIns="45720" rIns="45720" tIns="12700" bIns="12700" anchor="t">
            <a:spAutoFit/>
          </a:bodyPr>
          <a:lstStyle/>
          <a:p>
            <a:pPr algn="l"/>
            <a:r>
              <a:rPr sz="1350" b="0" i="0">
                <a:solidFill>
                  <a:srgbClr val="D5DCE8"/>
                </a:solidFill>
                <a:latin typeface="Arial"/>
              </a:rPr>
              <a:t>requirements in 16 families, same IDs as v0.2</a:t>
            </a:r>
          </a:p>
        </p:txBody>
      </p:sp>
      <p:sp>
        <p:nvSpPr>
          <p:cNvPr id="8" name="Rectangle 7"/>
          <p:cNvSpPr/>
          <p:nvPr/>
        </p:nvSpPr>
        <p:spPr>
          <a:xfrm>
            <a:off x="3378200" y="1778000"/>
            <a:ext cx="2603500" cy="1778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18796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48</a:t>
            </a:r>
          </a:p>
        </p:txBody>
      </p:sp>
      <p:sp>
        <p:nvSpPr>
          <p:cNvPr id="10" name="TextBox 9"/>
          <p:cNvSpPr txBox="1"/>
          <p:nvPr/>
        </p:nvSpPr>
        <p:spPr>
          <a:xfrm>
            <a:off x="3505200" y="2438400"/>
            <a:ext cx="2349500" cy="1041400"/>
          </a:xfrm>
          <a:prstGeom prst="rect">
            <a:avLst/>
          </a:prstGeom>
          <a:noFill/>
        </p:spPr>
        <p:txBody>
          <a:bodyPr wrap="square" lIns="45720" rIns="45720" tIns="12700" bIns="12700" anchor="t">
            <a:spAutoFit/>
          </a:bodyPr>
          <a:lstStyle/>
          <a:p>
            <a:pPr algn="l"/>
            <a:r>
              <a:rPr sz="1350" b="0" i="0">
                <a:solidFill>
                  <a:srgbClr val="647080"/>
                </a:solidFill>
                <a:latin typeface="Arial"/>
              </a:rPr>
              <a:t>pages: 5 chapters and appendixes A to G</a:t>
            </a:r>
          </a:p>
        </p:txBody>
      </p:sp>
      <p:sp>
        <p:nvSpPr>
          <p:cNvPr id="11" name="Rectangle 10"/>
          <p:cNvSpPr/>
          <p:nvPr/>
        </p:nvSpPr>
        <p:spPr>
          <a:xfrm>
            <a:off x="635000" y="3746500"/>
            <a:ext cx="2603500" cy="1778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38481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7</a:t>
            </a:r>
          </a:p>
        </p:txBody>
      </p:sp>
      <p:sp>
        <p:nvSpPr>
          <p:cNvPr id="13" name="TextBox 12"/>
          <p:cNvSpPr txBox="1"/>
          <p:nvPr/>
        </p:nvSpPr>
        <p:spPr>
          <a:xfrm>
            <a:off x="762000" y="4406900"/>
            <a:ext cx="2349500" cy="1041400"/>
          </a:xfrm>
          <a:prstGeom prst="rect">
            <a:avLst/>
          </a:prstGeom>
          <a:noFill/>
        </p:spPr>
        <p:txBody>
          <a:bodyPr wrap="square" lIns="45720" rIns="45720" tIns="12700" bIns="12700" anchor="t">
            <a:spAutoFit/>
          </a:bodyPr>
          <a:lstStyle/>
          <a:p>
            <a:pPr algn="l"/>
            <a:r>
              <a:rPr sz="1350" b="0" i="0">
                <a:solidFill>
                  <a:srgbClr val="647080"/>
                </a:solidFill>
                <a:latin typeface="Arial"/>
              </a:rPr>
              <a:t>figures: WBS, use case, activity, architecture and 3 screenshots</a:t>
            </a:r>
          </a:p>
        </p:txBody>
      </p:sp>
      <p:sp>
        <p:nvSpPr>
          <p:cNvPr id="14" name="Rectangle 13"/>
          <p:cNvSpPr/>
          <p:nvPr/>
        </p:nvSpPr>
        <p:spPr>
          <a:xfrm>
            <a:off x="3378200" y="3746500"/>
            <a:ext cx="2603500" cy="1778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5200" y="38481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60</a:t>
            </a:r>
          </a:p>
        </p:txBody>
      </p:sp>
      <p:sp>
        <p:nvSpPr>
          <p:cNvPr id="16" name="TextBox 15"/>
          <p:cNvSpPr txBox="1"/>
          <p:nvPr/>
        </p:nvSpPr>
        <p:spPr>
          <a:xfrm>
            <a:off x="3505200" y="4406900"/>
            <a:ext cx="2349500" cy="1041400"/>
          </a:xfrm>
          <a:prstGeom prst="rect">
            <a:avLst/>
          </a:prstGeom>
          <a:noFill/>
        </p:spPr>
        <p:txBody>
          <a:bodyPr wrap="square" lIns="45720" rIns="45720" tIns="12700" bIns="12700" anchor="t">
            <a:spAutoFit/>
          </a:bodyPr>
          <a:lstStyle/>
          <a:p>
            <a:pPr algn="l"/>
            <a:r>
              <a:rPr sz="1350" b="0" i="0">
                <a:solidFill>
                  <a:srgbClr val="647080"/>
                </a:solidFill>
                <a:latin typeface="Arial"/>
              </a:rPr>
              <a:t>tables, 45 of them one per requirement</a:t>
            </a:r>
          </a:p>
        </p:txBody>
      </p:sp>
      <p:sp>
        <p:nvSpPr>
          <p:cNvPr id="17" name="TextBox 16"/>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EVERY REQUIREMENT STATES</a:t>
            </a:r>
          </a:p>
        </p:txBody>
      </p:sp>
      <p:sp>
        <p:nvSpPr>
          <p:cNvPr id="18" name="TextBox 17"/>
          <p:cNvSpPr txBox="1"/>
          <p:nvPr/>
        </p:nvSpPr>
        <p:spPr>
          <a:xfrm>
            <a:off x="6261100" y="22352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19" name="TextBox 18"/>
          <p:cNvSpPr txBox="1"/>
          <p:nvPr/>
        </p:nvSpPr>
        <p:spPr>
          <a:xfrm>
            <a:off x="6616700" y="2235200"/>
            <a:ext cx="4953000" cy="431800"/>
          </a:xfrm>
          <a:prstGeom prst="rect">
            <a:avLst/>
          </a:prstGeom>
          <a:noFill/>
        </p:spPr>
        <p:txBody>
          <a:bodyPr wrap="square" lIns="45720" rIns="45720" tIns="12700" bIns="12700" anchor="t">
            <a:spAutoFit/>
          </a:bodyPr>
          <a:lstStyle/>
          <a:p>
            <a:pPr algn="l"/>
            <a:r>
              <a:rPr sz="1500" b="1" i="0">
                <a:solidFill>
                  <a:srgbClr val="13263A"/>
                </a:solidFill>
                <a:latin typeface="Arial"/>
              </a:rPr>
              <a:t>Statement</a:t>
            </a:r>
            <a:r>
              <a:rPr sz="1400" b="0" i="0">
                <a:solidFill>
                  <a:srgbClr val="13263A"/>
                </a:solidFill>
                <a:latin typeface="Arial"/>
              </a:rPr>
              <a:t>  </a:t>
            </a:r>
            <a:r>
              <a:rPr sz="1350" b="0" i="0">
                <a:solidFill>
                  <a:srgbClr val="647080"/>
                </a:solidFill>
                <a:latin typeface="Arial"/>
              </a:rPr>
              <a:t>what the system shall do</a:t>
            </a:r>
          </a:p>
        </p:txBody>
      </p:sp>
      <p:sp>
        <p:nvSpPr>
          <p:cNvPr id="20" name="TextBox 19"/>
          <p:cNvSpPr txBox="1"/>
          <p:nvPr/>
        </p:nvSpPr>
        <p:spPr>
          <a:xfrm>
            <a:off x="6261100" y="27051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21" name="TextBox 20"/>
          <p:cNvSpPr txBox="1"/>
          <p:nvPr/>
        </p:nvSpPr>
        <p:spPr>
          <a:xfrm>
            <a:off x="6616700" y="2705100"/>
            <a:ext cx="4953000" cy="431800"/>
          </a:xfrm>
          <a:prstGeom prst="rect">
            <a:avLst/>
          </a:prstGeom>
          <a:noFill/>
        </p:spPr>
        <p:txBody>
          <a:bodyPr wrap="square" lIns="45720" rIns="45720" tIns="12700" bIns="12700" anchor="t">
            <a:spAutoFit/>
          </a:bodyPr>
          <a:lstStyle/>
          <a:p>
            <a:pPr algn="l"/>
            <a:r>
              <a:rPr sz="1500" b="1" i="0">
                <a:solidFill>
                  <a:srgbClr val="13263A"/>
                </a:solidFill>
                <a:latin typeface="Arial"/>
              </a:rPr>
              <a:t>Acceptance criteria</a:t>
            </a:r>
            <a:r>
              <a:rPr sz="1400" b="0" i="0">
                <a:solidFill>
                  <a:srgbClr val="13263A"/>
                </a:solidFill>
                <a:latin typeface="Arial"/>
              </a:rPr>
              <a:t>  </a:t>
            </a:r>
            <a:r>
              <a:rPr sz="1350" b="0" i="0">
                <a:solidFill>
                  <a:srgbClr val="647080"/>
                </a:solidFill>
                <a:latin typeface="Arial"/>
              </a:rPr>
              <a:t>the check that decides pass or fail</a:t>
            </a:r>
          </a:p>
        </p:txBody>
      </p:sp>
      <p:sp>
        <p:nvSpPr>
          <p:cNvPr id="22" name="TextBox 21"/>
          <p:cNvSpPr txBox="1"/>
          <p:nvPr/>
        </p:nvSpPr>
        <p:spPr>
          <a:xfrm>
            <a:off x="6261100" y="31750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23" name="TextBox 22"/>
          <p:cNvSpPr txBox="1"/>
          <p:nvPr/>
        </p:nvSpPr>
        <p:spPr>
          <a:xfrm>
            <a:off x="6616700" y="3175000"/>
            <a:ext cx="4953000" cy="431800"/>
          </a:xfrm>
          <a:prstGeom prst="rect">
            <a:avLst/>
          </a:prstGeom>
          <a:noFill/>
        </p:spPr>
        <p:txBody>
          <a:bodyPr wrap="square" lIns="45720" rIns="45720" tIns="12700" bIns="12700" anchor="t">
            <a:spAutoFit/>
          </a:bodyPr>
          <a:lstStyle/>
          <a:p>
            <a:pPr algn="l"/>
            <a:r>
              <a:rPr sz="1500" b="1" i="0">
                <a:solidFill>
                  <a:srgbClr val="13263A"/>
                </a:solidFill>
                <a:latin typeface="Arial"/>
              </a:rPr>
              <a:t>Verification method</a:t>
            </a:r>
            <a:r>
              <a:rPr sz="1400" b="0" i="0">
                <a:solidFill>
                  <a:srgbClr val="13263A"/>
                </a:solidFill>
                <a:latin typeface="Arial"/>
              </a:rPr>
              <a:t>  </a:t>
            </a:r>
            <a:r>
              <a:rPr sz="1350" b="0" i="0">
                <a:solidFill>
                  <a:srgbClr val="647080"/>
                </a:solidFill>
                <a:latin typeface="Arial"/>
              </a:rPr>
              <a:t>test, demonstration, inspection or analysis</a:t>
            </a:r>
          </a:p>
        </p:txBody>
      </p:sp>
      <p:sp>
        <p:nvSpPr>
          <p:cNvPr id="24" name="TextBox 23"/>
          <p:cNvSpPr txBox="1"/>
          <p:nvPr/>
        </p:nvSpPr>
        <p:spPr>
          <a:xfrm>
            <a:off x="6261100" y="36449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25" name="TextBox 24"/>
          <p:cNvSpPr txBox="1"/>
          <p:nvPr/>
        </p:nvSpPr>
        <p:spPr>
          <a:xfrm>
            <a:off x="6616700" y="3644900"/>
            <a:ext cx="4953000" cy="431800"/>
          </a:xfrm>
          <a:prstGeom prst="rect">
            <a:avLst/>
          </a:prstGeom>
          <a:noFill/>
        </p:spPr>
        <p:txBody>
          <a:bodyPr wrap="square" lIns="45720" rIns="45720" tIns="12700" bIns="12700" anchor="t">
            <a:spAutoFit/>
          </a:bodyPr>
          <a:lstStyle/>
          <a:p>
            <a:pPr algn="l"/>
            <a:r>
              <a:rPr sz="1500" b="1" i="0">
                <a:solidFill>
                  <a:srgbClr val="13263A"/>
                </a:solidFill>
                <a:latin typeface="Arial"/>
              </a:rPr>
              <a:t>Evidence / status</a:t>
            </a:r>
            <a:r>
              <a:rPr sz="1400" b="0" i="0">
                <a:solidFill>
                  <a:srgbClr val="13263A"/>
                </a:solidFill>
                <a:latin typeface="Arial"/>
              </a:rPr>
              <a:t>  </a:t>
            </a:r>
            <a:r>
              <a:rPr sz="1350" b="0" i="0">
                <a:solidFill>
                  <a:srgbClr val="647080"/>
                </a:solidFill>
                <a:latin typeface="Arial"/>
              </a:rPr>
              <a:t>what has been shown so far</a:t>
            </a:r>
          </a:p>
        </p:txBody>
      </p:sp>
      <p:sp>
        <p:nvSpPr>
          <p:cNvPr id="26" name="TextBox 25"/>
          <p:cNvSpPr txBox="1"/>
          <p:nvPr/>
        </p:nvSpPr>
        <p:spPr>
          <a:xfrm>
            <a:off x="6261100" y="41148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27" name="TextBox 26"/>
          <p:cNvSpPr txBox="1"/>
          <p:nvPr/>
        </p:nvSpPr>
        <p:spPr>
          <a:xfrm>
            <a:off x="6616700" y="4114800"/>
            <a:ext cx="4953000" cy="431800"/>
          </a:xfrm>
          <a:prstGeom prst="rect">
            <a:avLst/>
          </a:prstGeom>
          <a:noFill/>
        </p:spPr>
        <p:txBody>
          <a:bodyPr wrap="square" lIns="45720" rIns="45720" tIns="12700" bIns="12700" anchor="t">
            <a:spAutoFit/>
          </a:bodyPr>
          <a:lstStyle/>
          <a:p>
            <a:pPr algn="l"/>
            <a:r>
              <a:rPr sz="1500" b="1" i="0">
                <a:solidFill>
                  <a:srgbClr val="13263A"/>
                </a:solidFill>
                <a:latin typeface="Arial"/>
              </a:rPr>
              <a:t>Owner</a:t>
            </a:r>
            <a:r>
              <a:rPr sz="1400" b="0" i="0">
                <a:solidFill>
                  <a:srgbClr val="13263A"/>
                </a:solidFill>
                <a:latin typeface="Arial"/>
              </a:rPr>
              <a:t>  </a:t>
            </a:r>
            <a:r>
              <a:rPr sz="1350" b="0" i="0">
                <a:solidFill>
                  <a:srgbClr val="647080"/>
                </a:solidFill>
                <a:latin typeface="Arial"/>
              </a:rPr>
              <a:t>who answers for it (new in v0.3)</a:t>
            </a:r>
          </a:p>
        </p:txBody>
      </p:sp>
      <p:sp>
        <p:nvSpPr>
          <p:cNvPr id="28" name="TextBox 27"/>
          <p:cNvSpPr txBox="1"/>
          <p:nvPr/>
        </p:nvSpPr>
        <p:spPr>
          <a:xfrm>
            <a:off x="6261100" y="47244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STRUCTURE</a:t>
            </a:r>
          </a:p>
        </p:txBody>
      </p:sp>
      <p:sp>
        <p:nvSpPr>
          <p:cNvPr id="29" name="TextBox 28"/>
          <p:cNvSpPr txBox="1"/>
          <p:nvPr/>
        </p:nvSpPr>
        <p:spPr>
          <a:xfrm>
            <a:off x="6261100" y="5080000"/>
            <a:ext cx="5308600" cy="952500"/>
          </a:xfrm>
          <a:prstGeom prst="rect">
            <a:avLst/>
          </a:prstGeom>
          <a:noFill/>
        </p:spPr>
        <p:txBody>
          <a:bodyPr wrap="square" lIns="45720" rIns="45720" tIns="12700" bIns="12700" anchor="t">
            <a:spAutoFit/>
          </a:bodyPr>
          <a:lstStyle/>
          <a:p>
            <a:pPr algn="l">
              <a:spcAft>
                <a:spcPts val="400"/>
              </a:spcAft>
            </a:pPr>
            <a:r>
              <a:rPr sz="1400" b="1" i="0">
                <a:solidFill>
                  <a:srgbClr val="255CF0"/>
                </a:solidFill>
                <a:latin typeface="Arial"/>
              </a:rPr>
              <a:t>1 </a:t>
            </a:r>
            <a:r>
              <a:rPr sz="1400" b="0" i="0">
                <a:solidFill>
                  <a:srgbClr val="13263A"/>
                </a:solidFill>
                <a:latin typeface="Arial"/>
              </a:rPr>
              <a:t>Introduction   </a:t>
            </a:r>
            <a:r>
              <a:rPr sz="1400" b="1" i="0">
                <a:solidFill>
                  <a:srgbClr val="255CF0"/>
                </a:solidFill>
                <a:latin typeface="Arial"/>
              </a:rPr>
              <a:t>2 </a:t>
            </a:r>
            <a:r>
              <a:rPr sz="1400" b="0" i="0">
                <a:solidFill>
                  <a:srgbClr val="13263A"/>
                </a:solidFill>
                <a:latin typeface="Arial"/>
              </a:rPr>
              <a:t>Product overview   </a:t>
            </a:r>
            <a:r>
              <a:rPr sz="1400" b="1" i="0">
                <a:solidFill>
                  <a:srgbClr val="255CF0"/>
                </a:solidFill>
                <a:latin typeface="Arial"/>
              </a:rPr>
              <a:t>3 </a:t>
            </a:r>
            <a:r>
              <a:rPr sz="1400" b="0" i="0">
                <a:solidFill>
                  <a:srgbClr val="13263A"/>
                </a:solidFill>
                <a:latin typeface="Arial"/>
              </a:rPr>
              <a:t>Requirements</a:t>
            </a:r>
          </a:p>
          <a:p>
            <a:pPr algn="l">
              <a:spcAft>
                <a:spcPts val="400"/>
              </a:spcAft>
            </a:pPr>
            <a:r>
              <a:rPr sz="1400" b="1" i="0">
                <a:solidFill>
                  <a:srgbClr val="255CF0"/>
                </a:solidFill>
                <a:latin typeface="Arial"/>
              </a:rPr>
              <a:t>4 </a:t>
            </a:r>
            <a:r>
              <a:rPr sz="1400" b="0" i="0">
                <a:solidFill>
                  <a:srgbClr val="13263A"/>
                </a:solidFill>
                <a:latin typeface="Arial"/>
              </a:rPr>
              <a:t>Verification   </a:t>
            </a:r>
            <a:r>
              <a:rPr sz="1400" b="1" i="0">
                <a:solidFill>
                  <a:srgbClr val="255CF0"/>
                </a:solidFill>
                <a:latin typeface="Arial"/>
              </a:rPr>
              <a:t>5 </a:t>
            </a:r>
            <a:r>
              <a:rPr sz="1400" b="0" i="0">
                <a:solidFill>
                  <a:srgbClr val="13263A"/>
                </a:solidFill>
                <a:latin typeface="Arial"/>
              </a:rPr>
              <a:t>Appendixes: scenario, open decisions, screenshots, architecture, contributions, literature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SRS v0.3: 45 requirements, who owns them</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counted from the requirement tables of v0.3</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05</a:t>
            </a:r>
          </a:p>
        </p:txBody>
      </p:sp>
      <p:sp>
        <p:nvSpPr>
          <p:cNvPr id="5" name="TextBox 4"/>
          <p:cNvSpPr txBox="1"/>
          <p:nvPr/>
        </p:nvSpPr>
        <p:spPr>
          <a:xfrm>
            <a:off x="635000" y="1778000"/>
            <a:ext cx="5334000" cy="368300"/>
          </a:xfrm>
          <a:prstGeom prst="rect">
            <a:avLst/>
          </a:prstGeom>
          <a:noFill/>
        </p:spPr>
        <p:txBody>
          <a:bodyPr wrap="square" lIns="45720" rIns="45720" tIns="12700" bIns="12700" anchor="t">
            <a:spAutoFit/>
          </a:bodyPr>
          <a:lstStyle/>
          <a:p>
            <a:pPr algn="l"/>
            <a:r>
              <a:rPr sz="1650" b="1" i="0">
                <a:solidFill>
                  <a:srgbClr val="255CF0"/>
                </a:solidFill>
                <a:latin typeface="Arial"/>
              </a:rPr>
              <a:t>REQUIREMENTS PER FAMILY</a:t>
            </a:r>
          </a:p>
        </p:txBody>
      </p:sp>
      <p:sp>
        <p:nvSpPr>
          <p:cNvPr id="6" name="TextBox 5"/>
          <p:cNvSpPr txBox="1"/>
          <p:nvPr/>
        </p:nvSpPr>
        <p:spPr>
          <a:xfrm>
            <a:off x="635000" y="22606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FUNC</a:t>
            </a:r>
          </a:p>
          <a:p>
            <a:pPr algn="l">
              <a:lnSpc>
                <a:spcPct val="95000"/>
              </a:lnSpc>
            </a:pPr>
            <a:r>
              <a:rPr sz="1200" b="0" i="0">
                <a:solidFill>
                  <a:srgbClr val="647080"/>
                </a:solidFill>
                <a:latin typeface="Arial"/>
              </a:rPr>
              <a:t>Functional</a:t>
            </a:r>
          </a:p>
        </p:txBody>
      </p:sp>
      <p:sp>
        <p:nvSpPr>
          <p:cNvPr id="7" name="Rectangle 6"/>
          <p:cNvSpPr/>
          <p:nvPr/>
        </p:nvSpPr>
        <p:spPr>
          <a:xfrm>
            <a:off x="2603500" y="2336800"/>
            <a:ext cx="2603500"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57800" y="23114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11</a:t>
            </a:r>
          </a:p>
        </p:txBody>
      </p:sp>
      <p:sp>
        <p:nvSpPr>
          <p:cNvPr id="9" name="TextBox 8"/>
          <p:cNvSpPr txBox="1"/>
          <p:nvPr/>
        </p:nvSpPr>
        <p:spPr>
          <a:xfrm>
            <a:off x="635000" y="27813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SEC</a:t>
            </a:r>
          </a:p>
          <a:p>
            <a:pPr algn="l">
              <a:lnSpc>
                <a:spcPct val="95000"/>
              </a:lnSpc>
            </a:pPr>
            <a:r>
              <a:rPr sz="1200" b="0" i="0">
                <a:solidFill>
                  <a:srgbClr val="647080"/>
                </a:solidFill>
                <a:latin typeface="Arial"/>
              </a:rPr>
              <a:t>Security</a:t>
            </a:r>
          </a:p>
        </p:txBody>
      </p:sp>
      <p:sp>
        <p:nvSpPr>
          <p:cNvPr id="10" name="Rectangle 9"/>
          <p:cNvSpPr/>
          <p:nvPr/>
        </p:nvSpPr>
        <p:spPr>
          <a:xfrm>
            <a:off x="2603500" y="2857500"/>
            <a:ext cx="1656772"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1072" y="28321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7</a:t>
            </a:r>
          </a:p>
        </p:txBody>
      </p:sp>
      <p:sp>
        <p:nvSpPr>
          <p:cNvPr id="12" name="TextBox 11"/>
          <p:cNvSpPr txBox="1"/>
          <p:nvPr/>
        </p:nvSpPr>
        <p:spPr>
          <a:xfrm>
            <a:off x="635000" y="33020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INT</a:t>
            </a:r>
          </a:p>
          <a:p>
            <a:pPr algn="l">
              <a:lnSpc>
                <a:spcPct val="95000"/>
              </a:lnSpc>
            </a:pPr>
            <a:r>
              <a:rPr sz="1200" b="0" i="0">
                <a:solidFill>
                  <a:srgbClr val="647080"/>
                </a:solidFill>
                <a:latin typeface="Arial"/>
              </a:rPr>
              <a:t>Interfaces</a:t>
            </a:r>
          </a:p>
        </p:txBody>
      </p:sp>
      <p:sp>
        <p:nvSpPr>
          <p:cNvPr id="13" name="Rectangle 12"/>
          <p:cNvSpPr/>
          <p:nvPr/>
        </p:nvSpPr>
        <p:spPr>
          <a:xfrm>
            <a:off x="2603500" y="3378200"/>
            <a:ext cx="1420090"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74390" y="33528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6</a:t>
            </a:r>
          </a:p>
        </p:txBody>
      </p:sp>
      <p:sp>
        <p:nvSpPr>
          <p:cNvPr id="15" name="TextBox 14"/>
          <p:cNvSpPr txBox="1"/>
          <p:nvPr/>
        </p:nvSpPr>
        <p:spPr>
          <a:xfrm>
            <a:off x="635000" y="38227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ML</a:t>
            </a:r>
          </a:p>
          <a:p>
            <a:pPr algn="l">
              <a:lnSpc>
                <a:spcPct val="95000"/>
              </a:lnSpc>
            </a:pPr>
            <a:r>
              <a:rPr sz="1200" b="0" i="0">
                <a:solidFill>
                  <a:srgbClr val="647080"/>
                </a:solidFill>
                <a:latin typeface="Arial"/>
              </a:rPr>
              <a:t>AI / ML</a:t>
            </a:r>
          </a:p>
        </p:txBody>
      </p:sp>
      <p:sp>
        <p:nvSpPr>
          <p:cNvPr id="16" name="Rectangle 15"/>
          <p:cNvSpPr/>
          <p:nvPr/>
        </p:nvSpPr>
        <p:spPr>
          <a:xfrm>
            <a:off x="2603500" y="3898900"/>
            <a:ext cx="1420090"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74390" y="38735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6</a:t>
            </a:r>
          </a:p>
        </p:txBody>
      </p:sp>
      <p:sp>
        <p:nvSpPr>
          <p:cNvPr id="18" name="TextBox 17"/>
          <p:cNvSpPr txBox="1"/>
          <p:nvPr/>
        </p:nvSpPr>
        <p:spPr>
          <a:xfrm>
            <a:off x="635000" y="43434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REL</a:t>
            </a:r>
          </a:p>
          <a:p>
            <a:pPr algn="l">
              <a:lnSpc>
                <a:spcPct val="95000"/>
              </a:lnSpc>
            </a:pPr>
            <a:r>
              <a:rPr sz="1200" b="0" i="0">
                <a:solidFill>
                  <a:srgbClr val="647080"/>
                </a:solidFill>
                <a:latin typeface="Arial"/>
              </a:rPr>
              <a:t>Reliability</a:t>
            </a:r>
          </a:p>
        </p:txBody>
      </p:sp>
      <p:sp>
        <p:nvSpPr>
          <p:cNvPr id="19" name="Rectangle 18"/>
          <p:cNvSpPr/>
          <p:nvPr/>
        </p:nvSpPr>
        <p:spPr>
          <a:xfrm>
            <a:off x="2603500" y="4419600"/>
            <a:ext cx="710045"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345" y="43942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3</a:t>
            </a:r>
          </a:p>
        </p:txBody>
      </p:sp>
      <p:sp>
        <p:nvSpPr>
          <p:cNvPr id="21" name="TextBox 20"/>
          <p:cNvSpPr txBox="1"/>
          <p:nvPr/>
        </p:nvSpPr>
        <p:spPr>
          <a:xfrm>
            <a:off x="635000" y="48641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COMP</a:t>
            </a:r>
          </a:p>
          <a:p>
            <a:pPr algn="l">
              <a:lnSpc>
                <a:spcPct val="95000"/>
              </a:lnSpc>
            </a:pPr>
            <a:r>
              <a:rPr sz="1200" b="0" i="0">
                <a:solidFill>
                  <a:srgbClr val="647080"/>
                </a:solidFill>
                <a:latin typeface="Arial"/>
              </a:rPr>
              <a:t>Compliance</a:t>
            </a:r>
          </a:p>
        </p:txBody>
      </p:sp>
      <p:sp>
        <p:nvSpPr>
          <p:cNvPr id="22" name="Rectangle 21"/>
          <p:cNvSpPr/>
          <p:nvPr/>
        </p:nvSpPr>
        <p:spPr>
          <a:xfrm>
            <a:off x="2603500" y="4940300"/>
            <a:ext cx="473363" cy="279400"/>
          </a:xfrm>
          <a:prstGeom prst="rect">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27663" y="49149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2</a:t>
            </a:r>
          </a:p>
        </p:txBody>
      </p:sp>
      <p:sp>
        <p:nvSpPr>
          <p:cNvPr id="24" name="TextBox 23"/>
          <p:cNvSpPr txBox="1"/>
          <p:nvPr/>
        </p:nvSpPr>
        <p:spPr>
          <a:xfrm>
            <a:off x="635000" y="5384800"/>
            <a:ext cx="1905000" cy="431800"/>
          </a:xfrm>
          <a:prstGeom prst="rect">
            <a:avLst/>
          </a:prstGeom>
          <a:noFill/>
        </p:spPr>
        <p:txBody>
          <a:bodyPr wrap="square" lIns="45720" rIns="45720" tIns="12700" bIns="12700" anchor="t">
            <a:spAutoFit/>
          </a:bodyPr>
          <a:lstStyle/>
          <a:p>
            <a:pPr algn="l">
              <a:lnSpc>
                <a:spcPct val="95000"/>
              </a:lnSpc>
            </a:pPr>
            <a:r>
              <a:rPr sz="1400" b="1" i="0">
                <a:solidFill>
                  <a:srgbClr val="13263A"/>
                </a:solidFill>
                <a:latin typeface="Arial"/>
              </a:rPr>
              <a:t>10 more</a:t>
            </a:r>
          </a:p>
          <a:p>
            <a:pPr algn="l">
              <a:lnSpc>
                <a:spcPct val="95000"/>
              </a:lnSpc>
            </a:pPr>
            <a:r>
              <a:rPr sz="1200" b="0" i="0">
                <a:solidFill>
                  <a:srgbClr val="647080"/>
                </a:solidFill>
                <a:latin typeface="Arial"/>
              </a:rPr>
              <a:t>1 requirement each</a:t>
            </a:r>
          </a:p>
        </p:txBody>
      </p:sp>
      <p:sp>
        <p:nvSpPr>
          <p:cNvPr id="25" name="Rectangle 24"/>
          <p:cNvSpPr/>
          <p:nvPr/>
        </p:nvSpPr>
        <p:spPr>
          <a:xfrm>
            <a:off x="2603500" y="5461000"/>
            <a:ext cx="2366818" cy="279400"/>
          </a:xfrm>
          <a:prstGeom prst="rect">
            <a:avLst/>
          </a:prstGeom>
          <a:solidFill>
            <a:srgbClr val="A8B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1118" y="5435600"/>
            <a:ext cx="508000" cy="330200"/>
          </a:xfrm>
          <a:prstGeom prst="rect">
            <a:avLst/>
          </a:prstGeom>
          <a:noFill/>
        </p:spPr>
        <p:txBody>
          <a:bodyPr wrap="square" lIns="45720" rIns="45720" tIns="12700" bIns="12700" anchor="t">
            <a:spAutoFit/>
          </a:bodyPr>
          <a:lstStyle/>
          <a:p>
            <a:pPr algn="l"/>
            <a:r>
              <a:rPr sz="1500" b="1" i="0">
                <a:solidFill>
                  <a:srgbClr val="13263A"/>
                </a:solidFill>
                <a:latin typeface="Arial"/>
              </a:rPr>
              <a:t>10</a:t>
            </a:r>
          </a:p>
        </p:txBody>
      </p:sp>
      <p:sp>
        <p:nvSpPr>
          <p:cNvPr id="27" name="TextBox 26"/>
          <p:cNvSpPr txBox="1"/>
          <p:nvPr/>
        </p:nvSpPr>
        <p:spPr>
          <a:xfrm>
            <a:off x="635000" y="5918200"/>
            <a:ext cx="5461000" cy="279400"/>
          </a:xfrm>
          <a:prstGeom prst="rect">
            <a:avLst/>
          </a:prstGeom>
          <a:noFill/>
        </p:spPr>
        <p:txBody>
          <a:bodyPr wrap="square" lIns="45720" rIns="45720" tIns="12700" bIns="12700" anchor="t">
            <a:spAutoFit/>
          </a:bodyPr>
          <a:lstStyle/>
          <a:p>
            <a:pPr algn="l"/>
            <a:r>
              <a:rPr sz="1200" b="0" i="0">
                <a:solidFill>
                  <a:srgbClr val="647080"/>
                </a:solidFill>
                <a:latin typeface="Arial"/>
              </a:rPr>
              <a:t>PERF, AVAIL, OBS, INST, BUILD, DIST, MAINT, PORT, POC, CM</a:t>
            </a:r>
          </a:p>
        </p:txBody>
      </p:sp>
      <p:sp>
        <p:nvSpPr>
          <p:cNvPr id="28" name="TextBox 27"/>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OWNER</a:t>
            </a:r>
          </a:p>
        </p:txBody>
      </p:sp>
      <p:sp>
        <p:nvSpPr>
          <p:cNvPr id="29" name="TextBox 28"/>
          <p:cNvSpPr txBox="1"/>
          <p:nvPr/>
        </p:nvSpPr>
        <p:spPr>
          <a:xfrm>
            <a:off x="6261100" y="22352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14</a:t>
            </a:r>
          </a:p>
        </p:txBody>
      </p:sp>
      <p:sp>
        <p:nvSpPr>
          <p:cNvPr id="30" name="TextBox 29"/>
          <p:cNvSpPr txBox="1"/>
          <p:nvPr/>
        </p:nvSpPr>
        <p:spPr>
          <a:xfrm>
            <a:off x="6731000" y="22352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Veronika</a:t>
            </a:r>
          </a:p>
        </p:txBody>
      </p:sp>
      <p:sp>
        <p:nvSpPr>
          <p:cNvPr id="31" name="TextBox 30"/>
          <p:cNvSpPr txBox="1"/>
          <p:nvPr/>
        </p:nvSpPr>
        <p:spPr>
          <a:xfrm>
            <a:off x="6261100" y="25654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8</a:t>
            </a:r>
          </a:p>
        </p:txBody>
      </p:sp>
      <p:sp>
        <p:nvSpPr>
          <p:cNvPr id="32" name="TextBox 31"/>
          <p:cNvSpPr txBox="1"/>
          <p:nvPr/>
        </p:nvSpPr>
        <p:spPr>
          <a:xfrm>
            <a:off x="6731000" y="25654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Abid and Veronika</a:t>
            </a:r>
          </a:p>
        </p:txBody>
      </p:sp>
      <p:sp>
        <p:nvSpPr>
          <p:cNvPr id="33" name="TextBox 32"/>
          <p:cNvSpPr txBox="1"/>
          <p:nvPr/>
        </p:nvSpPr>
        <p:spPr>
          <a:xfrm>
            <a:off x="6261100" y="28956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8</a:t>
            </a:r>
          </a:p>
        </p:txBody>
      </p:sp>
      <p:sp>
        <p:nvSpPr>
          <p:cNvPr id="34" name="TextBox 33"/>
          <p:cNvSpPr txBox="1"/>
          <p:nvPr/>
        </p:nvSpPr>
        <p:spPr>
          <a:xfrm>
            <a:off x="6731000" y="28956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Thibaut (4 with the team)</a:t>
            </a:r>
          </a:p>
        </p:txBody>
      </p:sp>
      <p:sp>
        <p:nvSpPr>
          <p:cNvPr id="35" name="TextBox 34"/>
          <p:cNvSpPr txBox="1"/>
          <p:nvPr/>
        </p:nvSpPr>
        <p:spPr>
          <a:xfrm>
            <a:off x="6261100" y="32258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7</a:t>
            </a:r>
          </a:p>
        </p:txBody>
      </p:sp>
      <p:sp>
        <p:nvSpPr>
          <p:cNvPr id="36" name="TextBox 35"/>
          <p:cNvSpPr txBox="1"/>
          <p:nvPr/>
        </p:nvSpPr>
        <p:spPr>
          <a:xfrm>
            <a:off x="6731000" y="32258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Jiahui</a:t>
            </a:r>
          </a:p>
        </p:txBody>
      </p:sp>
      <p:sp>
        <p:nvSpPr>
          <p:cNvPr id="37" name="TextBox 36"/>
          <p:cNvSpPr txBox="1"/>
          <p:nvPr/>
        </p:nvSpPr>
        <p:spPr>
          <a:xfrm>
            <a:off x="6261100" y="35560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4</a:t>
            </a:r>
          </a:p>
        </p:txBody>
      </p:sp>
      <p:sp>
        <p:nvSpPr>
          <p:cNvPr id="38" name="TextBox 37"/>
          <p:cNvSpPr txBox="1"/>
          <p:nvPr/>
        </p:nvSpPr>
        <p:spPr>
          <a:xfrm>
            <a:off x="6731000" y="35560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Abid</a:t>
            </a:r>
          </a:p>
        </p:txBody>
      </p:sp>
      <p:sp>
        <p:nvSpPr>
          <p:cNvPr id="39" name="TextBox 38"/>
          <p:cNvSpPr txBox="1"/>
          <p:nvPr/>
        </p:nvSpPr>
        <p:spPr>
          <a:xfrm>
            <a:off x="6261100" y="3886200"/>
            <a:ext cx="508000" cy="304800"/>
          </a:xfrm>
          <a:prstGeom prst="rect">
            <a:avLst/>
          </a:prstGeom>
          <a:noFill/>
        </p:spPr>
        <p:txBody>
          <a:bodyPr wrap="square" lIns="45720" rIns="45720" tIns="12700" bIns="12700" anchor="t">
            <a:spAutoFit/>
          </a:bodyPr>
          <a:lstStyle/>
          <a:p>
            <a:pPr algn="l"/>
            <a:r>
              <a:rPr sz="1500" b="1" i="0">
                <a:solidFill>
                  <a:srgbClr val="255CF0"/>
                </a:solidFill>
                <a:latin typeface="Arial"/>
              </a:rPr>
              <a:t>4</a:t>
            </a:r>
          </a:p>
        </p:txBody>
      </p:sp>
      <p:sp>
        <p:nvSpPr>
          <p:cNvPr id="40" name="TextBox 39"/>
          <p:cNvSpPr txBox="1"/>
          <p:nvPr/>
        </p:nvSpPr>
        <p:spPr>
          <a:xfrm>
            <a:off x="6731000" y="3886200"/>
            <a:ext cx="2540000" cy="304800"/>
          </a:xfrm>
          <a:prstGeom prst="rect">
            <a:avLst/>
          </a:prstGeom>
          <a:noFill/>
        </p:spPr>
        <p:txBody>
          <a:bodyPr wrap="square" lIns="45720" rIns="45720" tIns="12700" bIns="12700" anchor="t">
            <a:spAutoFit/>
          </a:bodyPr>
          <a:lstStyle/>
          <a:p>
            <a:pPr algn="l"/>
            <a:r>
              <a:rPr sz="1400" b="0" i="0">
                <a:solidFill>
                  <a:srgbClr val="13263A"/>
                </a:solidFill>
                <a:latin typeface="Arial"/>
              </a:rPr>
              <a:t>All / team</a:t>
            </a:r>
          </a:p>
        </p:txBody>
      </p:sp>
      <p:sp>
        <p:nvSpPr>
          <p:cNvPr id="41" name="TextBox 40"/>
          <p:cNvSpPr txBox="1"/>
          <p:nvPr/>
        </p:nvSpPr>
        <p:spPr>
          <a:xfrm>
            <a:off x="9334500" y="1778000"/>
            <a:ext cx="2235200" cy="368300"/>
          </a:xfrm>
          <a:prstGeom prst="rect">
            <a:avLst/>
          </a:prstGeom>
          <a:noFill/>
        </p:spPr>
        <p:txBody>
          <a:bodyPr wrap="square" lIns="45720" rIns="45720" tIns="12700" bIns="12700" anchor="t">
            <a:spAutoFit/>
          </a:bodyPr>
          <a:lstStyle/>
          <a:p>
            <a:pPr algn="l"/>
            <a:r>
              <a:rPr sz="1650" b="1" i="0">
                <a:solidFill>
                  <a:srgbClr val="255CF0"/>
                </a:solidFill>
                <a:latin typeface="Arial"/>
              </a:rPr>
              <a:t>VERIFIED BY</a:t>
            </a:r>
          </a:p>
        </p:txBody>
      </p:sp>
      <p:sp>
        <p:nvSpPr>
          <p:cNvPr id="42" name="TextBox 41"/>
          <p:cNvSpPr txBox="1"/>
          <p:nvPr/>
        </p:nvSpPr>
        <p:spPr>
          <a:xfrm>
            <a:off x="9334500" y="22352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14</a:t>
            </a:r>
          </a:p>
        </p:txBody>
      </p:sp>
      <p:sp>
        <p:nvSpPr>
          <p:cNvPr id="43" name="TextBox 42"/>
          <p:cNvSpPr txBox="1"/>
          <p:nvPr/>
        </p:nvSpPr>
        <p:spPr>
          <a:xfrm>
            <a:off x="9740900" y="22352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Test</a:t>
            </a:r>
          </a:p>
        </p:txBody>
      </p:sp>
      <p:sp>
        <p:nvSpPr>
          <p:cNvPr id="44" name="TextBox 43"/>
          <p:cNvSpPr txBox="1"/>
          <p:nvPr/>
        </p:nvSpPr>
        <p:spPr>
          <a:xfrm>
            <a:off x="9334500" y="25654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11</a:t>
            </a:r>
          </a:p>
        </p:txBody>
      </p:sp>
      <p:sp>
        <p:nvSpPr>
          <p:cNvPr id="45" name="TextBox 44"/>
          <p:cNvSpPr txBox="1"/>
          <p:nvPr/>
        </p:nvSpPr>
        <p:spPr>
          <a:xfrm>
            <a:off x="9740900" y="25654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Demonstration</a:t>
            </a:r>
          </a:p>
        </p:txBody>
      </p:sp>
      <p:sp>
        <p:nvSpPr>
          <p:cNvPr id="46" name="TextBox 45"/>
          <p:cNvSpPr txBox="1"/>
          <p:nvPr/>
        </p:nvSpPr>
        <p:spPr>
          <a:xfrm>
            <a:off x="9334500" y="28956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7</a:t>
            </a:r>
          </a:p>
        </p:txBody>
      </p:sp>
      <p:sp>
        <p:nvSpPr>
          <p:cNvPr id="47" name="TextBox 46"/>
          <p:cNvSpPr txBox="1"/>
          <p:nvPr/>
        </p:nvSpPr>
        <p:spPr>
          <a:xfrm>
            <a:off x="9740900" y="28956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Test + inspection</a:t>
            </a:r>
          </a:p>
        </p:txBody>
      </p:sp>
      <p:sp>
        <p:nvSpPr>
          <p:cNvPr id="48" name="TextBox 47"/>
          <p:cNvSpPr txBox="1"/>
          <p:nvPr/>
        </p:nvSpPr>
        <p:spPr>
          <a:xfrm>
            <a:off x="9334500" y="32258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6</a:t>
            </a:r>
          </a:p>
        </p:txBody>
      </p:sp>
      <p:sp>
        <p:nvSpPr>
          <p:cNvPr id="49" name="TextBox 48"/>
          <p:cNvSpPr txBox="1"/>
          <p:nvPr/>
        </p:nvSpPr>
        <p:spPr>
          <a:xfrm>
            <a:off x="9740900" y="32258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Inspection</a:t>
            </a:r>
          </a:p>
        </p:txBody>
      </p:sp>
      <p:sp>
        <p:nvSpPr>
          <p:cNvPr id="50" name="TextBox 49"/>
          <p:cNvSpPr txBox="1"/>
          <p:nvPr/>
        </p:nvSpPr>
        <p:spPr>
          <a:xfrm>
            <a:off x="9334500" y="35560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6</a:t>
            </a:r>
          </a:p>
        </p:txBody>
      </p:sp>
      <p:sp>
        <p:nvSpPr>
          <p:cNvPr id="51" name="TextBox 50"/>
          <p:cNvSpPr txBox="1"/>
          <p:nvPr/>
        </p:nvSpPr>
        <p:spPr>
          <a:xfrm>
            <a:off x="9740900" y="35560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Analysis + demo</a:t>
            </a:r>
          </a:p>
        </p:txBody>
      </p:sp>
      <p:sp>
        <p:nvSpPr>
          <p:cNvPr id="52" name="TextBox 51"/>
          <p:cNvSpPr txBox="1"/>
          <p:nvPr/>
        </p:nvSpPr>
        <p:spPr>
          <a:xfrm>
            <a:off x="9334500" y="3886200"/>
            <a:ext cx="431800" cy="304800"/>
          </a:xfrm>
          <a:prstGeom prst="rect">
            <a:avLst/>
          </a:prstGeom>
          <a:noFill/>
        </p:spPr>
        <p:txBody>
          <a:bodyPr wrap="square" lIns="45720" rIns="45720" tIns="12700" bIns="12700" anchor="t">
            <a:spAutoFit/>
          </a:bodyPr>
          <a:lstStyle/>
          <a:p>
            <a:pPr algn="l"/>
            <a:r>
              <a:rPr sz="1500" b="1" i="0">
                <a:solidFill>
                  <a:srgbClr val="255CF0"/>
                </a:solidFill>
                <a:latin typeface="Arial"/>
              </a:rPr>
              <a:t>1</a:t>
            </a:r>
          </a:p>
        </p:txBody>
      </p:sp>
      <p:sp>
        <p:nvSpPr>
          <p:cNvPr id="53" name="TextBox 52"/>
          <p:cNvSpPr txBox="1"/>
          <p:nvPr/>
        </p:nvSpPr>
        <p:spPr>
          <a:xfrm>
            <a:off x="9740900" y="3886200"/>
            <a:ext cx="1905000" cy="304800"/>
          </a:xfrm>
          <a:prstGeom prst="rect">
            <a:avLst/>
          </a:prstGeom>
          <a:noFill/>
        </p:spPr>
        <p:txBody>
          <a:bodyPr wrap="square" lIns="45720" rIns="45720" tIns="12700" bIns="12700" anchor="t">
            <a:spAutoFit/>
          </a:bodyPr>
          <a:lstStyle/>
          <a:p>
            <a:pPr algn="l"/>
            <a:r>
              <a:rPr sz="1400" b="0" i="0">
                <a:solidFill>
                  <a:srgbClr val="13263A"/>
                </a:solidFill>
                <a:latin typeface="Arial"/>
              </a:rPr>
              <a:t>Analysis</a:t>
            </a:r>
          </a:p>
        </p:txBody>
      </p:sp>
      <p:sp>
        <p:nvSpPr>
          <p:cNvPr id="54" name="Rectangle 53"/>
          <p:cNvSpPr/>
          <p:nvPr/>
        </p:nvSpPr>
        <p:spPr>
          <a:xfrm>
            <a:off x="6261100" y="4445000"/>
            <a:ext cx="5308600" cy="1524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13500" y="4546600"/>
            <a:ext cx="5029200" cy="1346200"/>
          </a:xfrm>
          <a:prstGeom prst="rect">
            <a:avLst/>
          </a:prstGeom>
          <a:noFill/>
        </p:spPr>
        <p:txBody>
          <a:bodyPr wrap="square" lIns="45720" rIns="45720" tIns="12700" bIns="12700" anchor="t">
            <a:spAutoFit/>
          </a:bodyPr>
          <a:lstStyle/>
          <a:p>
            <a:pPr algn="l">
              <a:spcAft>
                <a:spcPts val="400"/>
              </a:spcAft>
            </a:pPr>
            <a:r>
              <a:rPr sz="1400" b="1" i="0">
                <a:solidFill>
                  <a:srgbClr val="13263A"/>
                </a:solidFill>
                <a:latin typeface="Arial"/>
              </a:rPr>
              <a:t>Owners split as in SRS 2.6</a:t>
            </a:r>
          </a:p>
          <a:p>
            <a:pPr algn="l">
              <a:spcAft>
                <a:spcPts val="400"/>
              </a:spcAft>
            </a:pPr>
            <a:r>
              <a:rPr sz="1350" b="0" i="0">
                <a:solidFill>
                  <a:srgbClr val="647080"/>
                </a:solidFill>
                <a:latin typeface="Arial"/>
              </a:rPr>
              <a:t>Thibaut: frontend and symbols · Veronika: backend and data · Jiahui: AI provider and evaluation · Abid: CI, deployment and security · All: reviews, consent, licences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SRS v0.3: the rules that shape the product</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six requirements every part of the system follows</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06</a:t>
            </a:r>
          </a:p>
        </p:txBody>
      </p:sp>
      <p:sp>
        <p:nvSpPr>
          <p:cNvPr id="5" name="Rectangle 4"/>
          <p:cNvSpPr/>
          <p:nvPr/>
        </p:nvSpPr>
        <p:spPr>
          <a:xfrm>
            <a:off x="635000" y="1778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12800" y="1981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7" name="TextBox 6"/>
          <p:cNvSpPr txBox="1"/>
          <p:nvPr/>
        </p:nvSpPr>
        <p:spPr>
          <a:xfrm>
            <a:off x="1244600" y="2006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REQ-ML-003</a:t>
            </a:r>
          </a:p>
        </p:txBody>
      </p:sp>
      <p:sp>
        <p:nvSpPr>
          <p:cNvPr id="8" name="TextBox 7"/>
          <p:cNvSpPr txBox="1"/>
          <p:nvPr/>
        </p:nvSpPr>
        <p:spPr>
          <a:xfrm>
            <a:off x="812800" y="2438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Explicit intent</a:t>
            </a:r>
          </a:p>
        </p:txBody>
      </p:sp>
      <p:sp>
        <p:nvSpPr>
          <p:cNvPr id="9" name="TextBox 8"/>
          <p:cNvSpPr txBox="1"/>
          <p:nvPr/>
        </p:nvSpPr>
        <p:spPr>
          <a:xfrm>
            <a:off x="812800" y="2819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Sentences follow the user's symbols or text, never the photo alone.</a:t>
            </a:r>
          </a:p>
        </p:txBody>
      </p:sp>
      <p:sp>
        <p:nvSpPr>
          <p:cNvPr id="10" name="Rectangle 9"/>
          <p:cNvSpPr/>
          <p:nvPr/>
        </p:nvSpPr>
        <p:spPr>
          <a:xfrm>
            <a:off x="4330700" y="1778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08500" y="1981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12" name="TextBox 11"/>
          <p:cNvSpPr txBox="1"/>
          <p:nvPr/>
        </p:nvSpPr>
        <p:spPr>
          <a:xfrm>
            <a:off x="4940300" y="2006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REQ-FUNC-007</a:t>
            </a:r>
          </a:p>
        </p:txBody>
      </p:sp>
      <p:sp>
        <p:nvSpPr>
          <p:cNvPr id="13" name="TextBox 12"/>
          <p:cNvSpPr txBox="1"/>
          <p:nvPr/>
        </p:nvSpPr>
        <p:spPr>
          <a:xfrm>
            <a:off x="4508500" y="2438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Confirmed speech</a:t>
            </a:r>
          </a:p>
        </p:txBody>
      </p:sp>
      <p:sp>
        <p:nvSpPr>
          <p:cNvPr id="14" name="TextBox 13"/>
          <p:cNvSpPr txBox="1"/>
          <p:nvPr/>
        </p:nvSpPr>
        <p:spPr>
          <a:xfrm>
            <a:off x="4508500" y="2819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Nothing is spoken before the user selects and confirms; speech can be stopped.</a:t>
            </a:r>
          </a:p>
        </p:txBody>
      </p:sp>
      <p:sp>
        <p:nvSpPr>
          <p:cNvPr id="15" name="Rectangle 14"/>
          <p:cNvSpPr/>
          <p:nvPr/>
        </p:nvSpPr>
        <p:spPr>
          <a:xfrm>
            <a:off x="8026400" y="1778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04200" y="1981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7" name="TextBox 16"/>
          <p:cNvSpPr txBox="1"/>
          <p:nvPr/>
        </p:nvSpPr>
        <p:spPr>
          <a:xfrm>
            <a:off x="8636000" y="2006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REQ-FUNC-006</a:t>
            </a:r>
          </a:p>
        </p:txBody>
      </p:sp>
      <p:sp>
        <p:nvSpPr>
          <p:cNvPr id="18" name="TextBox 17"/>
          <p:cNvSpPr txBox="1"/>
          <p:nvPr/>
        </p:nvSpPr>
        <p:spPr>
          <a:xfrm>
            <a:off x="8204200" y="2438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Reject and regenerate</a:t>
            </a:r>
          </a:p>
        </p:txBody>
      </p:sp>
      <p:sp>
        <p:nvSpPr>
          <p:cNvPr id="19" name="TextBox 18"/>
          <p:cNvSpPr txBox="1"/>
          <p:nvPr/>
        </p:nvSpPr>
        <p:spPr>
          <a:xfrm>
            <a:off x="8204200" y="2819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New suggestions never repeat earlier ones in the same chain.</a:t>
            </a:r>
          </a:p>
        </p:txBody>
      </p:sp>
      <p:sp>
        <p:nvSpPr>
          <p:cNvPr id="20" name="Rectangle 19"/>
          <p:cNvSpPr/>
          <p:nvPr/>
        </p:nvSpPr>
        <p:spPr>
          <a:xfrm>
            <a:off x="635000" y="3937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2800" y="4140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22" name="TextBox 21"/>
          <p:cNvSpPr txBox="1"/>
          <p:nvPr/>
        </p:nvSpPr>
        <p:spPr>
          <a:xfrm>
            <a:off x="1244600" y="4165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REQ-SEC-001</a:t>
            </a:r>
          </a:p>
        </p:txBody>
      </p:sp>
      <p:sp>
        <p:nvSpPr>
          <p:cNvPr id="23" name="TextBox 22"/>
          <p:cNvSpPr txBox="1"/>
          <p:nvPr/>
        </p:nvSpPr>
        <p:spPr>
          <a:xfrm>
            <a:off x="812800" y="4597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Photo minimisation</a:t>
            </a:r>
          </a:p>
        </p:txBody>
      </p:sp>
      <p:sp>
        <p:nvSpPr>
          <p:cNvPr id="24" name="TextBox 23"/>
          <p:cNvSpPr txBox="1"/>
          <p:nvPr/>
        </p:nvSpPr>
        <p:spPr>
          <a:xfrm>
            <a:off x="812800" y="4978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Resized to 1024 px, re-encoded without EXIF, raw photo never stored.</a:t>
            </a:r>
          </a:p>
        </p:txBody>
      </p:sp>
      <p:sp>
        <p:nvSpPr>
          <p:cNvPr id="25" name="Rectangle 24"/>
          <p:cNvSpPr/>
          <p:nvPr/>
        </p:nvSpPr>
        <p:spPr>
          <a:xfrm>
            <a:off x="4330700" y="3937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08500" y="4140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5</a:t>
            </a:r>
          </a:p>
        </p:txBody>
      </p:sp>
      <p:sp>
        <p:nvSpPr>
          <p:cNvPr id="27" name="TextBox 26"/>
          <p:cNvSpPr txBox="1"/>
          <p:nvPr/>
        </p:nvSpPr>
        <p:spPr>
          <a:xfrm>
            <a:off x="4940300" y="4165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REQ-ML-004</a:t>
            </a:r>
          </a:p>
        </p:txBody>
      </p:sp>
      <p:sp>
        <p:nvSpPr>
          <p:cNvPr id="28" name="TextBox 27"/>
          <p:cNvSpPr txBox="1"/>
          <p:nvPr/>
        </p:nvSpPr>
        <p:spPr>
          <a:xfrm>
            <a:off x="4508500" y="4597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No deception</a:t>
            </a:r>
          </a:p>
        </p:txBody>
      </p:sp>
      <p:sp>
        <p:nvSpPr>
          <p:cNvPr id="29" name="TextBox 28"/>
          <p:cNvSpPr txBox="1"/>
          <p:nvPr/>
        </p:nvSpPr>
        <p:spPr>
          <a:xfrm>
            <a:off x="4508500" y="4978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Mock mode and the image-analysed flag are shown truthfully.</a:t>
            </a:r>
          </a:p>
        </p:txBody>
      </p:sp>
      <p:sp>
        <p:nvSpPr>
          <p:cNvPr id="30" name="Rectangle 29"/>
          <p:cNvSpPr/>
          <p:nvPr/>
        </p:nvSpPr>
        <p:spPr>
          <a:xfrm>
            <a:off x="8026400" y="3937000"/>
            <a:ext cx="3543300" cy="1968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04200" y="4140200"/>
            <a:ext cx="330200" cy="3302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6</a:t>
            </a:r>
          </a:p>
        </p:txBody>
      </p:sp>
      <p:sp>
        <p:nvSpPr>
          <p:cNvPr id="32" name="TextBox 31"/>
          <p:cNvSpPr txBox="1"/>
          <p:nvPr/>
        </p:nvSpPr>
        <p:spPr>
          <a:xfrm>
            <a:off x="8636000" y="4165600"/>
            <a:ext cx="2794000" cy="279400"/>
          </a:xfrm>
          <a:prstGeom prst="rect">
            <a:avLst/>
          </a:prstGeom>
          <a:noFill/>
        </p:spPr>
        <p:txBody>
          <a:bodyPr wrap="square" lIns="45720" rIns="45720" tIns="12700" bIns="12700" anchor="t">
            <a:spAutoFit/>
          </a:bodyPr>
          <a:lstStyle/>
          <a:p>
            <a:pPr algn="l"/>
            <a:r>
              <a:rPr sz="1350" b="1" i="0">
                <a:solidFill>
                  <a:srgbClr val="255CF0"/>
                </a:solidFill>
                <a:latin typeface="Arial"/>
              </a:rPr>
              <a:t>REQ-SEC-005</a:t>
            </a:r>
          </a:p>
        </p:txBody>
      </p:sp>
      <p:sp>
        <p:nvSpPr>
          <p:cNvPr id="33" name="TextBox 32"/>
          <p:cNvSpPr txBox="1"/>
          <p:nvPr/>
        </p:nvSpPr>
        <p:spPr>
          <a:xfrm>
            <a:off x="8204200" y="4597400"/>
            <a:ext cx="3238500" cy="330200"/>
          </a:xfrm>
          <a:prstGeom prst="rect">
            <a:avLst/>
          </a:prstGeom>
          <a:noFill/>
        </p:spPr>
        <p:txBody>
          <a:bodyPr wrap="square" lIns="45720" rIns="45720" tIns="12700" bIns="12700" anchor="t">
            <a:spAutoFit/>
          </a:bodyPr>
          <a:lstStyle/>
          <a:p>
            <a:pPr algn="l"/>
            <a:r>
              <a:rPr sz="1700" b="1" i="0">
                <a:solidFill>
                  <a:srgbClr val="13263A"/>
                </a:solidFill>
                <a:latin typeface="Arial"/>
              </a:rPr>
              <a:t>Ownership</a:t>
            </a:r>
          </a:p>
        </p:txBody>
      </p:sp>
      <p:sp>
        <p:nvSpPr>
          <p:cNvPr id="34" name="TextBox 33"/>
          <p:cNvSpPr txBox="1"/>
          <p:nvPr/>
        </p:nvSpPr>
        <p:spPr>
          <a:xfrm>
            <a:off x="8204200" y="4978400"/>
            <a:ext cx="3238500" cy="838200"/>
          </a:xfrm>
          <a:prstGeom prst="rect">
            <a:avLst/>
          </a:prstGeom>
          <a:noFill/>
        </p:spPr>
        <p:txBody>
          <a:bodyPr wrap="square" lIns="45720" rIns="45720" tIns="12700" bIns="12700" anchor="t">
            <a:spAutoFit/>
          </a:bodyPr>
          <a:lstStyle/>
          <a:p>
            <a:pPr algn="l"/>
            <a:r>
              <a:rPr sz="1400" b="0" i="0">
                <a:solidFill>
                  <a:srgbClr val="647080"/>
                </a:solidFill>
                <a:latin typeface="Arial"/>
              </a:rPr>
              <a:t>Before any public trial, each user sees only their own records.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SRS v0.3: verification status and open decisions</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SRS chapter 4 and appendix B</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07</a:t>
            </a:r>
          </a:p>
        </p:txBody>
      </p:sp>
      <p:sp>
        <p:nvSpPr>
          <p:cNvPr id="5" name="Rectangle 4"/>
          <p:cNvSpPr/>
          <p:nvPr/>
        </p:nvSpPr>
        <p:spPr>
          <a:xfrm>
            <a:off x="635000" y="1778000"/>
            <a:ext cx="2603500" cy="17526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879600"/>
            <a:ext cx="2349500" cy="584200"/>
          </a:xfrm>
          <a:prstGeom prst="rect">
            <a:avLst/>
          </a:prstGeom>
          <a:noFill/>
        </p:spPr>
        <p:txBody>
          <a:bodyPr wrap="square" lIns="45720" rIns="45720" tIns="12700" bIns="12700" anchor="t">
            <a:spAutoFit/>
          </a:bodyPr>
          <a:lstStyle/>
          <a:p>
            <a:pPr algn="l"/>
            <a:r>
              <a:rPr sz="3400" b="1" i="0">
                <a:solidFill>
                  <a:srgbClr val="FFFFFF"/>
                </a:solidFill>
                <a:latin typeface="Arial"/>
              </a:rPr>
              <a:t>19</a:t>
            </a:r>
          </a:p>
        </p:txBody>
      </p:sp>
      <p:sp>
        <p:nvSpPr>
          <p:cNvPr id="7" name="TextBox 6"/>
          <p:cNvSpPr txBox="1"/>
          <p:nvPr/>
        </p:nvSpPr>
        <p:spPr>
          <a:xfrm>
            <a:off x="762000" y="2438400"/>
            <a:ext cx="2349500" cy="1016000"/>
          </a:xfrm>
          <a:prstGeom prst="rect">
            <a:avLst/>
          </a:prstGeom>
          <a:noFill/>
        </p:spPr>
        <p:txBody>
          <a:bodyPr wrap="square" lIns="45720" rIns="45720" tIns="12700" bIns="12700" anchor="t">
            <a:spAutoFit/>
          </a:bodyPr>
          <a:lstStyle/>
          <a:p>
            <a:pPr algn="l"/>
            <a:r>
              <a:rPr sz="1350" b="0" i="0">
                <a:solidFill>
                  <a:srgbClr val="D5DCE8"/>
                </a:solidFill>
                <a:latin typeface="Arial"/>
              </a:rPr>
              <a:t>passed (5 of them partly)</a:t>
            </a:r>
          </a:p>
        </p:txBody>
      </p:sp>
      <p:sp>
        <p:nvSpPr>
          <p:cNvPr id="8" name="Rectangle 7"/>
          <p:cNvSpPr/>
          <p:nvPr/>
        </p:nvSpPr>
        <p:spPr>
          <a:xfrm>
            <a:off x="3378200" y="1778000"/>
            <a:ext cx="26035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18796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8</a:t>
            </a:r>
          </a:p>
        </p:txBody>
      </p:sp>
      <p:sp>
        <p:nvSpPr>
          <p:cNvPr id="10" name="TextBox 9"/>
          <p:cNvSpPr txBox="1"/>
          <p:nvPr/>
        </p:nvSpPr>
        <p:spPr>
          <a:xfrm>
            <a:off x="3505200" y="2438400"/>
            <a:ext cx="2349500" cy="1016000"/>
          </a:xfrm>
          <a:prstGeom prst="rect">
            <a:avLst/>
          </a:prstGeom>
          <a:noFill/>
        </p:spPr>
        <p:txBody>
          <a:bodyPr wrap="square" lIns="45720" rIns="45720" tIns="12700" bIns="12700" anchor="t">
            <a:spAutoFit/>
          </a:bodyPr>
          <a:lstStyle/>
          <a:p>
            <a:pPr algn="l"/>
            <a:r>
              <a:rPr sz="1350" b="0" i="0">
                <a:solidFill>
                  <a:srgbClr val="647080"/>
                </a:solidFill>
                <a:latin typeface="Arial"/>
              </a:rPr>
              <a:t>in progress</a:t>
            </a:r>
          </a:p>
        </p:txBody>
      </p:sp>
      <p:sp>
        <p:nvSpPr>
          <p:cNvPr id="11" name="Rectangle 10"/>
          <p:cNvSpPr/>
          <p:nvPr/>
        </p:nvSpPr>
        <p:spPr>
          <a:xfrm>
            <a:off x="635000" y="3683000"/>
            <a:ext cx="26035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37846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6</a:t>
            </a:r>
          </a:p>
        </p:txBody>
      </p:sp>
      <p:sp>
        <p:nvSpPr>
          <p:cNvPr id="13" name="TextBox 12"/>
          <p:cNvSpPr txBox="1"/>
          <p:nvPr/>
        </p:nvSpPr>
        <p:spPr>
          <a:xfrm>
            <a:off x="762000" y="4343400"/>
            <a:ext cx="2349500" cy="1016000"/>
          </a:xfrm>
          <a:prstGeom prst="rect">
            <a:avLst/>
          </a:prstGeom>
          <a:noFill/>
        </p:spPr>
        <p:txBody>
          <a:bodyPr wrap="square" lIns="45720" rIns="45720" tIns="12700" bIns="12700" anchor="t">
            <a:spAutoFit/>
          </a:bodyPr>
          <a:lstStyle/>
          <a:p>
            <a:pPr algn="l"/>
            <a:r>
              <a:rPr sz="1350" b="0" i="0">
                <a:solidFill>
                  <a:srgbClr val="647080"/>
                </a:solidFill>
                <a:latin typeface="Arial"/>
              </a:rPr>
              <a:t>demonstrations not yet run</a:t>
            </a:r>
          </a:p>
        </p:txBody>
      </p:sp>
      <p:sp>
        <p:nvSpPr>
          <p:cNvPr id="14" name="Rectangle 13"/>
          <p:cNvSpPr/>
          <p:nvPr/>
        </p:nvSpPr>
        <p:spPr>
          <a:xfrm>
            <a:off x="3378200" y="3683000"/>
            <a:ext cx="26035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5200" y="3784600"/>
            <a:ext cx="2349500" cy="584200"/>
          </a:xfrm>
          <a:prstGeom prst="rect">
            <a:avLst/>
          </a:prstGeom>
          <a:noFill/>
        </p:spPr>
        <p:txBody>
          <a:bodyPr wrap="square" lIns="45720" rIns="45720" tIns="12700" bIns="12700" anchor="t">
            <a:spAutoFit/>
          </a:bodyPr>
          <a:lstStyle/>
          <a:p>
            <a:pPr algn="l"/>
            <a:r>
              <a:rPr sz="3400" b="1" i="0">
                <a:solidFill>
                  <a:srgbClr val="255CF0"/>
                </a:solidFill>
                <a:latin typeface="Arial"/>
              </a:rPr>
              <a:t>12</a:t>
            </a:r>
          </a:p>
        </p:txBody>
      </p:sp>
      <p:sp>
        <p:nvSpPr>
          <p:cNvPr id="16" name="TextBox 15"/>
          <p:cNvSpPr txBox="1"/>
          <p:nvPr/>
        </p:nvSpPr>
        <p:spPr>
          <a:xfrm>
            <a:off x="3505200" y="4343400"/>
            <a:ext cx="2349500" cy="1016000"/>
          </a:xfrm>
          <a:prstGeom prst="rect">
            <a:avLst/>
          </a:prstGeom>
          <a:noFill/>
        </p:spPr>
        <p:txBody>
          <a:bodyPr wrap="square" lIns="45720" rIns="45720" tIns="12700" bIns="12700" anchor="t">
            <a:spAutoFit/>
          </a:bodyPr>
          <a:lstStyle/>
          <a:p>
            <a:pPr algn="l"/>
            <a:r>
              <a:rPr sz="1350" b="0" i="0">
                <a:solidFill>
                  <a:srgbClr val="647080"/>
                </a:solidFill>
                <a:latin typeface="Arial"/>
              </a:rPr>
              <a:t>not started</a:t>
            </a:r>
          </a:p>
        </p:txBody>
      </p:sp>
      <p:sp>
        <p:nvSpPr>
          <p:cNvPr id="17" name="TextBox 16"/>
          <p:cNvSpPr txBox="1"/>
          <p:nvPr/>
        </p:nvSpPr>
        <p:spPr>
          <a:xfrm>
            <a:off x="635000" y="5651500"/>
            <a:ext cx="5397500" cy="508000"/>
          </a:xfrm>
          <a:prstGeom prst="rect">
            <a:avLst/>
          </a:prstGeom>
          <a:noFill/>
        </p:spPr>
        <p:txBody>
          <a:bodyPr wrap="square" lIns="45720" rIns="45720" tIns="12700" bIns="12700" anchor="t">
            <a:spAutoFit/>
          </a:bodyPr>
          <a:lstStyle/>
          <a:p>
            <a:pPr algn="l"/>
            <a:r>
              <a:rPr sz="1350" b="0" i="0">
                <a:solidFill>
                  <a:srgbClr val="647080"/>
                </a:solidFill>
                <a:latin typeface="Arial"/>
              </a:rPr>
              <a:t>Of 45 requirements · week 6 snapshot in chapter 4, not a new test run</a:t>
            </a:r>
          </a:p>
        </p:txBody>
      </p:sp>
      <p:sp>
        <p:nvSpPr>
          <p:cNvPr id="18" name="TextBox 17"/>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OPEN DECISIONS (APPENDIX B)</a:t>
            </a:r>
          </a:p>
        </p:txBody>
      </p:sp>
      <p:sp>
        <p:nvSpPr>
          <p:cNvPr id="19" name="Oval 18"/>
          <p:cNvSpPr/>
          <p:nvPr/>
        </p:nvSpPr>
        <p:spPr>
          <a:xfrm>
            <a:off x="6261100" y="2273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20" name="TextBox 19"/>
          <p:cNvSpPr txBox="1"/>
          <p:nvPr/>
        </p:nvSpPr>
        <p:spPr>
          <a:xfrm>
            <a:off x="6629400" y="2260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Accessibility target, keyboard and touch</a:t>
            </a:r>
          </a:p>
        </p:txBody>
      </p:sp>
      <p:sp>
        <p:nvSpPr>
          <p:cNvPr id="21" name="Oval 20"/>
          <p:cNvSpPr/>
          <p:nvPr/>
        </p:nvSpPr>
        <p:spPr>
          <a:xfrm>
            <a:off x="6261100" y="2654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22" name="TextBox 21"/>
          <p:cNvSpPr txBox="1"/>
          <p:nvPr/>
        </p:nvSpPr>
        <p:spPr>
          <a:xfrm>
            <a:off x="6629400" y="2641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Symbol and icon licence</a:t>
            </a:r>
          </a:p>
        </p:txBody>
      </p:sp>
      <p:sp>
        <p:nvSpPr>
          <p:cNvPr id="23" name="Oval 22"/>
          <p:cNvSpPr/>
          <p:nvPr/>
        </p:nvSpPr>
        <p:spPr>
          <a:xfrm>
            <a:off x="6261100" y="3035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24" name="TextBox 23"/>
          <p:cNvSpPr txBox="1"/>
          <p:nvPr/>
        </p:nvSpPr>
        <p:spPr>
          <a:xfrm>
            <a:off x="6629400" y="3022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Real AI provider and evaluation set</a:t>
            </a:r>
          </a:p>
        </p:txBody>
      </p:sp>
      <p:sp>
        <p:nvSpPr>
          <p:cNvPr id="25" name="Oval 24"/>
          <p:cNvSpPr/>
          <p:nvPr/>
        </p:nvSpPr>
        <p:spPr>
          <a:xfrm>
            <a:off x="6261100" y="3416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4</a:t>
            </a:r>
          </a:p>
        </p:txBody>
      </p:sp>
      <p:sp>
        <p:nvSpPr>
          <p:cNvPr id="26" name="TextBox 25"/>
          <p:cNvSpPr txBox="1"/>
          <p:nvPr/>
        </p:nvSpPr>
        <p:spPr>
          <a:xfrm>
            <a:off x="6629400" y="3403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Latency and timeout thresholds</a:t>
            </a:r>
          </a:p>
        </p:txBody>
      </p:sp>
      <p:sp>
        <p:nvSpPr>
          <p:cNvPr id="27" name="Oval 26"/>
          <p:cNvSpPr/>
          <p:nvPr/>
        </p:nvSpPr>
        <p:spPr>
          <a:xfrm>
            <a:off x="6261100" y="3797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5</a:t>
            </a:r>
          </a:p>
        </p:txBody>
      </p:sp>
      <p:sp>
        <p:nvSpPr>
          <p:cNvPr id="28" name="TextBox 27"/>
          <p:cNvSpPr txBox="1"/>
          <p:nvPr/>
        </p:nvSpPr>
        <p:spPr>
          <a:xfrm>
            <a:off x="6629400" y="3784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Hosting and availability target</a:t>
            </a:r>
          </a:p>
        </p:txBody>
      </p:sp>
      <p:sp>
        <p:nvSpPr>
          <p:cNvPr id="29" name="Oval 28"/>
          <p:cNvSpPr/>
          <p:nvPr/>
        </p:nvSpPr>
        <p:spPr>
          <a:xfrm>
            <a:off x="6261100" y="4178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6</a:t>
            </a:r>
          </a:p>
        </p:txBody>
      </p:sp>
      <p:sp>
        <p:nvSpPr>
          <p:cNvPr id="30" name="TextBox 29"/>
          <p:cNvSpPr txBox="1"/>
          <p:nvPr/>
        </p:nvSpPr>
        <p:spPr>
          <a:xfrm>
            <a:off x="6629400" y="4165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Login: authentication and ownership</a:t>
            </a:r>
          </a:p>
        </p:txBody>
      </p:sp>
      <p:sp>
        <p:nvSpPr>
          <p:cNvPr id="31" name="Oval 30"/>
          <p:cNvSpPr/>
          <p:nvPr/>
        </p:nvSpPr>
        <p:spPr>
          <a:xfrm>
            <a:off x="6261100" y="4559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7</a:t>
            </a:r>
          </a:p>
        </p:txBody>
      </p:sp>
      <p:sp>
        <p:nvSpPr>
          <p:cNvPr id="32" name="TextBox 31"/>
          <p:cNvSpPr txBox="1"/>
          <p:nvPr/>
        </p:nvSpPr>
        <p:spPr>
          <a:xfrm>
            <a:off x="6629400" y="4546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Rate and cost budgets</a:t>
            </a:r>
          </a:p>
        </p:txBody>
      </p:sp>
      <p:sp>
        <p:nvSpPr>
          <p:cNvPr id="33" name="Oval 32"/>
          <p:cNvSpPr/>
          <p:nvPr/>
        </p:nvSpPr>
        <p:spPr>
          <a:xfrm>
            <a:off x="6261100" y="4940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8</a:t>
            </a:r>
          </a:p>
        </p:txBody>
      </p:sp>
      <p:sp>
        <p:nvSpPr>
          <p:cNvPr id="34" name="TextBox 33"/>
          <p:cNvSpPr txBox="1"/>
          <p:nvPr/>
        </p:nvSpPr>
        <p:spPr>
          <a:xfrm>
            <a:off x="6629400" y="4927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Consent, retention and deletion</a:t>
            </a:r>
          </a:p>
        </p:txBody>
      </p:sp>
      <p:sp>
        <p:nvSpPr>
          <p:cNvPr id="35" name="Oval 34"/>
          <p:cNvSpPr/>
          <p:nvPr/>
        </p:nvSpPr>
        <p:spPr>
          <a:xfrm>
            <a:off x="6261100" y="5321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9</a:t>
            </a:r>
          </a:p>
        </p:txBody>
      </p:sp>
      <p:sp>
        <p:nvSpPr>
          <p:cNvPr id="36" name="TextBox 35"/>
          <p:cNvSpPr txBox="1"/>
          <p:nvPr/>
        </p:nvSpPr>
        <p:spPr>
          <a:xfrm>
            <a:off x="6629400" y="5308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Speech on browsers and devices</a:t>
            </a:r>
          </a:p>
        </p:txBody>
      </p:sp>
      <p:sp>
        <p:nvSpPr>
          <p:cNvPr id="37" name="Oval 36"/>
          <p:cNvSpPr/>
          <p:nvPr/>
        </p:nvSpPr>
        <p:spPr>
          <a:xfrm>
            <a:off x="6261100" y="5702300"/>
            <a:ext cx="266700" cy="2667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10</a:t>
            </a:r>
          </a:p>
        </p:txBody>
      </p:sp>
      <p:sp>
        <p:nvSpPr>
          <p:cNvPr id="38" name="TextBox 37"/>
          <p:cNvSpPr txBox="1"/>
          <p:nvPr/>
        </p:nvSpPr>
        <p:spPr>
          <a:xfrm>
            <a:off x="6629400" y="5689600"/>
            <a:ext cx="4940300" cy="304800"/>
          </a:xfrm>
          <a:prstGeom prst="rect">
            <a:avLst/>
          </a:prstGeom>
          <a:noFill/>
        </p:spPr>
        <p:txBody>
          <a:bodyPr wrap="square" lIns="45720" rIns="45720" tIns="12700" bIns="12700" anchor="t">
            <a:spAutoFit/>
          </a:bodyPr>
          <a:lstStyle/>
          <a:p>
            <a:pPr algn="l"/>
            <a:r>
              <a:rPr sz="1400" b="0" i="0">
                <a:solidFill>
                  <a:srgbClr val="13263A"/>
                </a:solidFill>
                <a:latin typeface="Arial"/>
              </a:rPr>
              <a:t>Scenario milestones and owners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SRS: what changed from v0.2 to v0.3</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Abid's draft compared with docs/requirements/SRS.md</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08</a:t>
            </a:r>
          </a:p>
        </p:txBody>
      </p:sp>
      <p:sp>
        <p:nvSpPr>
          <p:cNvPr id="5" name="TextBox 4"/>
          <p:cNvSpPr txBox="1"/>
          <p:nvPr/>
        </p:nvSpPr>
        <p:spPr>
          <a:xfrm>
            <a:off x="635000" y="1778000"/>
            <a:ext cx="5397500" cy="368300"/>
          </a:xfrm>
          <a:prstGeom prst="rect">
            <a:avLst/>
          </a:prstGeom>
          <a:noFill/>
        </p:spPr>
        <p:txBody>
          <a:bodyPr wrap="square" lIns="45720" rIns="45720" tIns="12700" bIns="12700" anchor="t">
            <a:spAutoFit/>
          </a:bodyPr>
          <a:lstStyle/>
          <a:p>
            <a:pPr algn="l"/>
            <a:r>
              <a:rPr sz="1650" b="1" i="0">
                <a:solidFill>
                  <a:srgbClr val="255CF0"/>
                </a:solidFill>
                <a:latin typeface="Arial"/>
              </a:rPr>
              <a:t>ADDED IN v0.3</a:t>
            </a:r>
          </a:p>
        </p:txBody>
      </p:sp>
      <p:sp>
        <p:nvSpPr>
          <p:cNvPr id="6" name="TextBox 5"/>
          <p:cNvSpPr txBox="1"/>
          <p:nvPr/>
        </p:nvSpPr>
        <p:spPr>
          <a:xfrm>
            <a:off x="635000" y="22352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7" name="TextBox 6"/>
          <p:cNvSpPr txBox="1"/>
          <p:nvPr/>
        </p:nvSpPr>
        <p:spPr>
          <a:xfrm>
            <a:off x="990600" y="22352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Owner and status</a:t>
            </a:r>
            <a:r>
              <a:rPr sz="1400" b="0" i="0">
                <a:solidFill>
                  <a:srgbClr val="13263A"/>
                </a:solidFill>
                <a:latin typeface="Arial"/>
              </a:rPr>
              <a:t>  </a:t>
            </a:r>
            <a:r>
              <a:rPr sz="1350" b="0" i="0">
                <a:solidFill>
                  <a:srgbClr val="647080"/>
                </a:solidFill>
                <a:latin typeface="Arial"/>
              </a:rPr>
              <a:t>for every requirement</a:t>
            </a:r>
          </a:p>
        </p:txBody>
      </p:sp>
      <p:sp>
        <p:nvSpPr>
          <p:cNvPr id="8" name="TextBox 7"/>
          <p:cNvSpPr txBox="1"/>
          <p:nvPr/>
        </p:nvSpPr>
        <p:spPr>
          <a:xfrm>
            <a:off x="635000" y="28448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9" name="TextBox 8"/>
          <p:cNvSpPr txBox="1"/>
          <p:nvPr/>
        </p:nvSpPr>
        <p:spPr>
          <a:xfrm>
            <a:off x="990600" y="28448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Four diagrams</a:t>
            </a:r>
            <a:r>
              <a:rPr sz="1400" b="0" i="0">
                <a:solidFill>
                  <a:srgbClr val="13263A"/>
                </a:solidFill>
                <a:latin typeface="Arial"/>
              </a:rPr>
              <a:t>  </a:t>
            </a:r>
            <a:r>
              <a:rPr sz="1350" b="0" i="0">
                <a:solidFill>
                  <a:srgbClr val="647080"/>
                </a:solidFill>
                <a:latin typeface="Arial"/>
              </a:rPr>
              <a:t>WBS, use case, activity, architecture</a:t>
            </a:r>
          </a:p>
        </p:txBody>
      </p:sp>
      <p:sp>
        <p:nvSpPr>
          <p:cNvPr id="10" name="TextBox 9"/>
          <p:cNvSpPr txBox="1"/>
          <p:nvPr/>
        </p:nvSpPr>
        <p:spPr>
          <a:xfrm>
            <a:off x="635000" y="34544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11" name="TextBox 10"/>
          <p:cNvSpPr txBox="1"/>
          <p:nvPr/>
        </p:nvSpPr>
        <p:spPr>
          <a:xfrm>
            <a:off x="990600" y="34544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Frontend screenshots</a:t>
            </a:r>
            <a:r>
              <a:rPr sz="1400" b="0" i="0">
                <a:solidFill>
                  <a:srgbClr val="13263A"/>
                </a:solidFill>
                <a:latin typeface="Arial"/>
              </a:rPr>
              <a:t>  </a:t>
            </a:r>
            <a:r>
              <a:rPr sz="1350" b="0" i="0">
                <a:solidFill>
                  <a:srgbClr val="647080"/>
                </a:solidFill>
                <a:latin typeface="Arial"/>
              </a:rPr>
              <a:t>login, context and suggestion pages</a:t>
            </a:r>
          </a:p>
        </p:txBody>
      </p:sp>
      <p:sp>
        <p:nvSpPr>
          <p:cNvPr id="12" name="TextBox 11"/>
          <p:cNvSpPr txBox="1"/>
          <p:nvPr/>
        </p:nvSpPr>
        <p:spPr>
          <a:xfrm>
            <a:off x="635000" y="40640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13" name="TextBox 12"/>
          <p:cNvSpPr txBox="1"/>
          <p:nvPr/>
        </p:nvSpPr>
        <p:spPr>
          <a:xfrm>
            <a:off x="990600" y="40640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Team contributions</a:t>
            </a:r>
            <a:r>
              <a:rPr sz="1400" b="0" i="0">
                <a:solidFill>
                  <a:srgbClr val="13263A"/>
                </a:solidFill>
                <a:latin typeface="Arial"/>
              </a:rPr>
              <a:t>  </a:t>
            </a:r>
            <a:r>
              <a:rPr sz="1350" b="0" i="0">
                <a:solidFill>
                  <a:srgbClr val="647080"/>
                </a:solidFill>
                <a:latin typeface="Arial"/>
              </a:rPr>
              <a:t>evidence per member (appendix E)</a:t>
            </a:r>
          </a:p>
        </p:txBody>
      </p:sp>
      <p:sp>
        <p:nvSpPr>
          <p:cNvPr id="14" name="TextBox 13"/>
          <p:cNvSpPr txBox="1"/>
          <p:nvPr/>
        </p:nvSpPr>
        <p:spPr>
          <a:xfrm>
            <a:off x="635000" y="46736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15" name="TextBox 14"/>
          <p:cNvSpPr txBox="1"/>
          <p:nvPr/>
        </p:nvSpPr>
        <p:spPr>
          <a:xfrm>
            <a:off x="990600" y="46736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Research basis</a:t>
            </a:r>
            <a:r>
              <a:rPr sz="1400" b="0" i="0">
                <a:solidFill>
                  <a:srgbClr val="13263A"/>
                </a:solidFill>
                <a:latin typeface="Arial"/>
              </a:rPr>
              <a:t>  </a:t>
            </a:r>
            <a:r>
              <a:rPr sz="1350" b="0" i="0">
                <a:solidFill>
                  <a:srgbClr val="647080"/>
                </a:solidFill>
                <a:latin typeface="Arial"/>
              </a:rPr>
              <a:t>4 papers on AAC and AI (appendix F)</a:t>
            </a:r>
          </a:p>
        </p:txBody>
      </p:sp>
      <p:sp>
        <p:nvSpPr>
          <p:cNvPr id="16" name="TextBox 15"/>
          <p:cNvSpPr txBox="1"/>
          <p:nvPr/>
        </p:nvSpPr>
        <p:spPr>
          <a:xfrm>
            <a:off x="635000" y="5283200"/>
            <a:ext cx="317500" cy="368300"/>
          </a:xfrm>
          <a:prstGeom prst="rect">
            <a:avLst/>
          </a:prstGeom>
          <a:noFill/>
        </p:spPr>
        <p:txBody>
          <a:bodyPr wrap="square" lIns="45720" rIns="45720" tIns="12700" bIns="12700" anchor="t">
            <a:spAutoFit/>
          </a:bodyPr>
          <a:lstStyle/>
          <a:p>
            <a:pPr algn="l"/>
            <a:r>
              <a:rPr sz="1650" b="1" i="0">
                <a:solidFill>
                  <a:srgbClr val="1F8A5B"/>
                </a:solidFill>
                <a:latin typeface="Arial"/>
              </a:rPr>
              <a:t>✓</a:t>
            </a:r>
          </a:p>
        </p:txBody>
      </p:sp>
      <p:sp>
        <p:nvSpPr>
          <p:cNvPr id="17" name="TextBox 16"/>
          <p:cNvSpPr txBox="1"/>
          <p:nvPr/>
        </p:nvSpPr>
        <p:spPr>
          <a:xfrm>
            <a:off x="990600" y="5283200"/>
            <a:ext cx="5041900" cy="584200"/>
          </a:xfrm>
          <a:prstGeom prst="rect">
            <a:avLst/>
          </a:prstGeom>
          <a:noFill/>
        </p:spPr>
        <p:txBody>
          <a:bodyPr wrap="square" lIns="45720" rIns="45720" tIns="12700" bIns="12700" anchor="t">
            <a:spAutoFit/>
          </a:bodyPr>
          <a:lstStyle/>
          <a:p>
            <a:pPr algn="l"/>
            <a:r>
              <a:rPr sz="1500" b="1" i="0">
                <a:solidFill>
                  <a:srgbClr val="13263A"/>
                </a:solidFill>
                <a:latin typeface="Arial"/>
              </a:rPr>
              <a:t>Reuse endpoint</a:t>
            </a:r>
            <a:r>
              <a:rPr sz="1400" b="0" i="0">
                <a:solidFill>
                  <a:srgbClr val="13263A"/>
                </a:solidFill>
                <a:latin typeface="Arial"/>
              </a:rPr>
              <a:t>  </a:t>
            </a:r>
            <a:r>
              <a:rPr sz="1350" b="0" i="0">
                <a:solidFill>
                  <a:srgbClr val="647080"/>
                </a:solidFill>
                <a:latin typeface="Arial"/>
              </a:rPr>
              <a:t>documented in appendix E.3</a:t>
            </a:r>
          </a:p>
        </p:txBody>
      </p:sp>
      <p:sp>
        <p:nvSpPr>
          <p:cNvPr id="18" name="TextBox 17"/>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TO RECONCILE AFTER THE REVIEW</a:t>
            </a:r>
          </a:p>
        </p:txBody>
      </p:sp>
      <p:sp>
        <p:nvSpPr>
          <p:cNvPr id="19" name="TextBox 18"/>
          <p:cNvSpPr txBox="1"/>
          <p:nvPr/>
        </p:nvSpPr>
        <p:spPr>
          <a:xfrm>
            <a:off x="6261100" y="22352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20" name="TextBox 19"/>
          <p:cNvSpPr txBox="1"/>
          <p:nvPr/>
        </p:nvSpPr>
        <p:spPr>
          <a:xfrm>
            <a:off x="6616700" y="22352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Exact limits</a:t>
            </a:r>
            <a:r>
              <a:rPr sz="1400" b="0" i="0">
                <a:solidFill>
                  <a:srgbClr val="13263A"/>
                </a:solidFill>
                <a:latin typeface="Arial"/>
              </a:rPr>
              <a:t>  </a:t>
            </a:r>
            <a:r>
              <a:rPr sz="1350" b="0" i="0">
                <a:solidFill>
                  <a:srgbClr val="647080"/>
                </a:solidFill>
                <a:latin typeface="Arial"/>
              </a:rPr>
              <a:t>20 symbols, 500 characters, 5 MiB and status codes became general wording</a:t>
            </a:r>
          </a:p>
        </p:txBody>
      </p:sp>
      <p:sp>
        <p:nvSpPr>
          <p:cNvPr id="21" name="TextBox 20"/>
          <p:cNvSpPr txBox="1"/>
          <p:nvPr/>
        </p:nvSpPr>
        <p:spPr>
          <a:xfrm>
            <a:off x="6261100" y="28448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22" name="TextBox 21"/>
          <p:cNvSpPr txBox="1"/>
          <p:nvPr/>
        </p:nvSpPr>
        <p:spPr>
          <a:xfrm>
            <a:off x="6616700" y="28448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REQ-FUNC-004</a:t>
            </a:r>
            <a:r>
              <a:rPr sz="1400" b="0" i="0">
                <a:solidFill>
                  <a:srgbClr val="13263A"/>
                </a:solidFill>
                <a:latin typeface="Arial"/>
              </a:rPr>
              <a:t>  </a:t>
            </a:r>
            <a:r>
              <a:rPr sz="1350" b="0" i="0">
                <a:solidFill>
                  <a:srgbClr val="647080"/>
                </a:solidFill>
                <a:latin typeface="Arial"/>
              </a:rPr>
              <a:t>"no suggestions" case replaced by request identity</a:t>
            </a:r>
          </a:p>
        </p:txBody>
      </p:sp>
      <p:sp>
        <p:nvSpPr>
          <p:cNvPr id="23" name="TextBox 22"/>
          <p:cNvSpPr txBox="1"/>
          <p:nvPr/>
        </p:nvSpPr>
        <p:spPr>
          <a:xfrm>
            <a:off x="6261100" y="34544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24" name="TextBox 23"/>
          <p:cNvSpPr txBox="1"/>
          <p:nvPr/>
        </p:nvSpPr>
        <p:spPr>
          <a:xfrm>
            <a:off x="6616700" y="34544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REQ-ML-003</a:t>
            </a:r>
            <a:r>
              <a:rPr sz="1400" b="0" i="0">
                <a:solidFill>
                  <a:srgbClr val="13263A"/>
                </a:solidFill>
                <a:latin typeface="Arial"/>
              </a:rPr>
              <a:t>  </a:t>
            </a:r>
            <a:r>
              <a:rPr sz="1350" b="0" i="0">
                <a:solidFill>
                  <a:srgbClr val="647080"/>
                </a:solidFill>
                <a:latin typeface="Arial"/>
              </a:rPr>
              <a:t>negation rule no longer in the statement</a:t>
            </a:r>
          </a:p>
        </p:txBody>
      </p:sp>
      <p:sp>
        <p:nvSpPr>
          <p:cNvPr id="25" name="TextBox 24"/>
          <p:cNvSpPr txBox="1"/>
          <p:nvPr/>
        </p:nvSpPr>
        <p:spPr>
          <a:xfrm>
            <a:off x="6261100" y="40640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26" name="TextBox 25"/>
          <p:cNvSpPr txBox="1"/>
          <p:nvPr/>
        </p:nvSpPr>
        <p:spPr>
          <a:xfrm>
            <a:off x="6616700" y="40640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REQ-ML-004</a:t>
            </a:r>
            <a:r>
              <a:rPr sz="1400" b="0" i="0">
                <a:solidFill>
                  <a:srgbClr val="13263A"/>
                </a:solidFill>
                <a:latin typeface="Arial"/>
              </a:rPr>
              <a:t>  </a:t>
            </a:r>
            <a:r>
              <a:rPr sz="1350" b="0" i="0">
                <a:solidFill>
                  <a:srgbClr val="647080"/>
                </a:solidFill>
                <a:latin typeface="Arial"/>
              </a:rPr>
              <a:t>prompt-injection rule replaced by non-deception</a:t>
            </a:r>
          </a:p>
        </p:txBody>
      </p:sp>
      <p:sp>
        <p:nvSpPr>
          <p:cNvPr id="27" name="TextBox 26"/>
          <p:cNvSpPr txBox="1"/>
          <p:nvPr/>
        </p:nvSpPr>
        <p:spPr>
          <a:xfrm>
            <a:off x="6261100" y="46736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28" name="TextBox 27"/>
          <p:cNvSpPr txBox="1"/>
          <p:nvPr/>
        </p:nvSpPr>
        <p:spPr>
          <a:xfrm>
            <a:off x="6616700" y="46736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Traceability</a:t>
            </a:r>
            <a:r>
              <a:rPr sz="1400" b="0" i="0">
                <a:solidFill>
                  <a:srgbClr val="13263A"/>
                </a:solidFill>
                <a:latin typeface="Arial"/>
              </a:rPr>
              <a:t>  </a:t>
            </a:r>
            <a:r>
              <a:rPr sz="1350" b="0" i="0">
                <a:solidFill>
                  <a:srgbClr val="647080"/>
                </a:solidFill>
                <a:latin typeface="Arial"/>
              </a:rPr>
              <a:t>per-test table of v0.2 now per family only</a:t>
            </a:r>
          </a:p>
        </p:txBody>
      </p:sp>
      <p:sp>
        <p:nvSpPr>
          <p:cNvPr id="29" name="TextBox 28"/>
          <p:cNvSpPr txBox="1"/>
          <p:nvPr/>
        </p:nvSpPr>
        <p:spPr>
          <a:xfrm>
            <a:off x="6261100" y="5283200"/>
            <a:ext cx="317500" cy="368300"/>
          </a:xfrm>
          <a:prstGeom prst="rect">
            <a:avLst/>
          </a:prstGeom>
          <a:noFill/>
        </p:spPr>
        <p:txBody>
          <a:bodyPr wrap="square" lIns="45720" rIns="45720" tIns="12700" bIns="12700" anchor="t">
            <a:spAutoFit/>
          </a:bodyPr>
          <a:lstStyle/>
          <a:p>
            <a:pPr algn="l"/>
            <a:r>
              <a:rPr sz="1650" b="1" i="0">
                <a:solidFill>
                  <a:srgbClr val="B42318"/>
                </a:solidFill>
                <a:latin typeface="Arial"/>
              </a:rPr>
              <a:t>!</a:t>
            </a:r>
          </a:p>
        </p:txBody>
      </p:sp>
      <p:sp>
        <p:nvSpPr>
          <p:cNvPr id="30" name="TextBox 29"/>
          <p:cNvSpPr txBox="1"/>
          <p:nvPr/>
        </p:nvSpPr>
        <p:spPr>
          <a:xfrm>
            <a:off x="6616700" y="5283200"/>
            <a:ext cx="4953000" cy="584200"/>
          </a:xfrm>
          <a:prstGeom prst="rect">
            <a:avLst/>
          </a:prstGeom>
          <a:noFill/>
        </p:spPr>
        <p:txBody>
          <a:bodyPr wrap="square" lIns="45720" rIns="45720" tIns="12700" bIns="12700" anchor="t">
            <a:spAutoFit/>
          </a:bodyPr>
          <a:lstStyle/>
          <a:p>
            <a:pPr algn="l"/>
            <a:r>
              <a:rPr sz="1500" b="1" i="0">
                <a:solidFill>
                  <a:srgbClr val="13263A"/>
                </a:solidFill>
                <a:latin typeface="Arial"/>
              </a:rPr>
              <a:t>Rationale</a:t>
            </a:r>
            <a:r>
              <a:rPr sz="1400" b="0" i="0">
                <a:solidFill>
                  <a:srgbClr val="13263A"/>
                </a:solidFill>
                <a:latin typeface="Arial"/>
              </a:rPr>
              <a:t>  </a:t>
            </a:r>
            <a:r>
              <a:rPr sz="1350" b="0" i="0">
                <a:solidFill>
                  <a:srgbClr val="647080"/>
                </a:solidFill>
                <a:latin typeface="Arial"/>
              </a:rPr>
              <a:t>same sentence on all 45 requirements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AI provider: backups when a quota runs out</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src/ai/chain.py and providers.py, 57 offline tests</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09</a:t>
            </a:r>
          </a:p>
        </p:txBody>
      </p:sp>
      <p:sp>
        <p:nvSpPr>
          <p:cNvPr id="5" name="Rectangle 4"/>
          <p:cNvSpPr/>
          <p:nvPr/>
        </p:nvSpPr>
        <p:spPr>
          <a:xfrm>
            <a:off x="635000" y="1778000"/>
            <a:ext cx="5969000" cy="5588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7400" y="1778000"/>
            <a:ext cx="5715000" cy="558800"/>
          </a:xfrm>
          <a:prstGeom prst="rect">
            <a:avLst/>
          </a:prstGeom>
          <a:noFill/>
        </p:spPr>
        <p:txBody>
          <a:bodyPr wrap="square" lIns="45720" rIns="45720" tIns="12700" bIns="12700" anchor="ctr">
            <a:spAutoFit/>
          </a:bodyPr>
          <a:lstStyle/>
          <a:p>
            <a:pPr algn="l"/>
            <a:r>
              <a:rPr sz="1500" b="1" i="0">
                <a:solidFill>
                  <a:srgbClr val="FFFFFF"/>
                </a:solidFill>
                <a:latin typeface="Arial"/>
              </a:rPr>
              <a:t>Request  </a:t>
            </a:r>
            <a:r>
              <a:rPr sz="1350" b="0" i="0">
                <a:solidFill>
                  <a:srgbClr val="D5DCE8"/>
                </a:solidFill>
                <a:latin typeface="Arial"/>
              </a:rPr>
              <a:t>symbols · intention · scene · optional photo</a:t>
            </a:r>
          </a:p>
        </p:txBody>
      </p:sp>
      <p:sp>
        <p:nvSpPr>
          <p:cNvPr id="7" name="TextBox 6"/>
          <p:cNvSpPr txBox="1"/>
          <p:nvPr/>
        </p:nvSpPr>
        <p:spPr>
          <a:xfrm>
            <a:off x="3429000" y="2336800"/>
            <a:ext cx="381000" cy="2286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8" name="Rectangle 7"/>
          <p:cNvSpPr/>
          <p:nvPr/>
        </p:nvSpPr>
        <p:spPr>
          <a:xfrm>
            <a:off x="635000" y="2565400"/>
            <a:ext cx="5969000" cy="508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565400"/>
            <a:ext cx="5715000" cy="508000"/>
          </a:xfrm>
          <a:prstGeom prst="rect">
            <a:avLst/>
          </a:prstGeom>
          <a:noFill/>
        </p:spPr>
        <p:txBody>
          <a:bodyPr wrap="square" lIns="45720" rIns="45720" tIns="12700" bIns="12700" anchor="ctr">
            <a:spAutoFit/>
          </a:bodyPr>
          <a:lstStyle/>
          <a:p>
            <a:pPr algn="l"/>
            <a:r>
              <a:rPr sz="1500" b="1" i="0">
                <a:solidFill>
                  <a:srgbClr val="13263A"/>
                </a:solidFill>
                <a:latin typeface="Arial"/>
              </a:rPr>
              <a:t>Reuse  </a:t>
            </a:r>
            <a:r>
              <a:rPr sz="1350" b="0" i="0">
                <a:solidFill>
                  <a:srgbClr val="647080"/>
                </a:solidFill>
                <a:latin typeface="Arial"/>
              </a:rPr>
              <a:t>accepted before? → shown with no AI call</a:t>
            </a:r>
          </a:p>
        </p:txBody>
      </p:sp>
      <p:sp>
        <p:nvSpPr>
          <p:cNvPr id="10" name="TextBox 9"/>
          <p:cNvSpPr txBox="1"/>
          <p:nvPr/>
        </p:nvSpPr>
        <p:spPr>
          <a:xfrm>
            <a:off x="3429000" y="3073400"/>
            <a:ext cx="381000" cy="2286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1" name="Rectangle 10"/>
          <p:cNvSpPr/>
          <p:nvPr/>
        </p:nvSpPr>
        <p:spPr>
          <a:xfrm>
            <a:off x="635000" y="3302000"/>
            <a:ext cx="5969000" cy="21844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7400" y="3429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13" name="TextBox 12"/>
          <p:cNvSpPr txBox="1"/>
          <p:nvPr/>
        </p:nvSpPr>
        <p:spPr>
          <a:xfrm>
            <a:off x="1193800" y="3403600"/>
            <a:ext cx="3175000" cy="330200"/>
          </a:xfrm>
          <a:prstGeom prst="rect">
            <a:avLst/>
          </a:prstGeom>
          <a:noFill/>
        </p:spPr>
        <p:txBody>
          <a:bodyPr wrap="square" lIns="45720" rIns="45720" tIns="12700" bIns="12700" anchor="t">
            <a:spAutoFit/>
          </a:bodyPr>
          <a:lstStyle/>
          <a:p>
            <a:pPr algn="l"/>
            <a:r>
              <a:rPr sz="1400" b="1" i="0">
                <a:solidFill>
                  <a:srgbClr val="13263A"/>
                </a:solidFill>
                <a:latin typeface="Arial"/>
              </a:rPr>
              <a:t>gemini-3.5-flash-lite</a:t>
            </a:r>
          </a:p>
        </p:txBody>
      </p:sp>
      <p:sp>
        <p:nvSpPr>
          <p:cNvPr id="14" name="TextBox 13"/>
          <p:cNvSpPr txBox="1"/>
          <p:nvPr/>
        </p:nvSpPr>
        <p:spPr>
          <a:xfrm>
            <a:off x="4381500" y="3403600"/>
            <a:ext cx="2095500" cy="330200"/>
          </a:xfrm>
          <a:prstGeom prst="rect">
            <a:avLst/>
          </a:prstGeom>
          <a:noFill/>
        </p:spPr>
        <p:txBody>
          <a:bodyPr wrap="square" lIns="45720" rIns="45720" tIns="12700" bIns="12700" anchor="t">
            <a:spAutoFit/>
          </a:bodyPr>
          <a:lstStyle/>
          <a:p>
            <a:pPr algn="r"/>
            <a:r>
              <a:rPr sz="1350" b="0" i="0">
                <a:solidFill>
                  <a:srgbClr val="647080"/>
                </a:solidFill>
                <a:latin typeface="Arial"/>
              </a:rPr>
              <a:t>own quota</a:t>
            </a:r>
          </a:p>
        </p:txBody>
      </p:sp>
      <p:sp>
        <p:nvSpPr>
          <p:cNvPr id="15" name="Oval 14"/>
          <p:cNvSpPr/>
          <p:nvPr/>
        </p:nvSpPr>
        <p:spPr>
          <a:xfrm>
            <a:off x="787400" y="38354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6" name="TextBox 15"/>
          <p:cNvSpPr txBox="1"/>
          <p:nvPr/>
        </p:nvSpPr>
        <p:spPr>
          <a:xfrm>
            <a:off x="1193800" y="3810000"/>
            <a:ext cx="3175000" cy="330200"/>
          </a:xfrm>
          <a:prstGeom prst="rect">
            <a:avLst/>
          </a:prstGeom>
          <a:noFill/>
        </p:spPr>
        <p:txBody>
          <a:bodyPr wrap="square" lIns="45720" rIns="45720" tIns="12700" bIns="12700" anchor="t">
            <a:spAutoFit/>
          </a:bodyPr>
          <a:lstStyle/>
          <a:p>
            <a:pPr algn="l"/>
            <a:r>
              <a:rPr sz="1400" b="1" i="0">
                <a:solidFill>
                  <a:srgbClr val="13263A"/>
                </a:solidFill>
                <a:latin typeface="Arial"/>
              </a:rPr>
              <a:t>gemini-3.1-flash-lite</a:t>
            </a:r>
          </a:p>
        </p:txBody>
      </p:sp>
      <p:sp>
        <p:nvSpPr>
          <p:cNvPr id="17" name="TextBox 16"/>
          <p:cNvSpPr txBox="1"/>
          <p:nvPr/>
        </p:nvSpPr>
        <p:spPr>
          <a:xfrm>
            <a:off x="4381500" y="3810000"/>
            <a:ext cx="2095500" cy="330200"/>
          </a:xfrm>
          <a:prstGeom prst="rect">
            <a:avLst/>
          </a:prstGeom>
          <a:noFill/>
        </p:spPr>
        <p:txBody>
          <a:bodyPr wrap="square" lIns="45720" rIns="45720" tIns="12700" bIns="12700" anchor="t">
            <a:spAutoFit/>
          </a:bodyPr>
          <a:lstStyle/>
          <a:p>
            <a:pPr algn="r"/>
            <a:r>
              <a:rPr sz="1350" b="0" i="0">
                <a:solidFill>
                  <a:srgbClr val="647080"/>
                </a:solidFill>
                <a:latin typeface="Arial"/>
              </a:rPr>
              <a:t>own quota</a:t>
            </a:r>
          </a:p>
        </p:txBody>
      </p:sp>
      <p:sp>
        <p:nvSpPr>
          <p:cNvPr id="18" name="Oval 17"/>
          <p:cNvSpPr/>
          <p:nvPr/>
        </p:nvSpPr>
        <p:spPr>
          <a:xfrm>
            <a:off x="787400" y="42418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9" name="TextBox 18"/>
          <p:cNvSpPr txBox="1"/>
          <p:nvPr/>
        </p:nvSpPr>
        <p:spPr>
          <a:xfrm>
            <a:off x="1193800" y="4216400"/>
            <a:ext cx="3175000" cy="330200"/>
          </a:xfrm>
          <a:prstGeom prst="rect">
            <a:avLst/>
          </a:prstGeom>
          <a:noFill/>
        </p:spPr>
        <p:txBody>
          <a:bodyPr wrap="square" lIns="45720" rIns="45720" tIns="12700" bIns="12700" anchor="t">
            <a:spAutoFit/>
          </a:bodyPr>
          <a:lstStyle/>
          <a:p>
            <a:pPr algn="l"/>
            <a:r>
              <a:rPr sz="1400" b="1" i="0">
                <a:solidFill>
                  <a:srgbClr val="13263A"/>
                </a:solidFill>
                <a:latin typeface="Arial"/>
              </a:rPr>
              <a:t>gemini-3.5-flash</a:t>
            </a:r>
          </a:p>
        </p:txBody>
      </p:sp>
      <p:sp>
        <p:nvSpPr>
          <p:cNvPr id="20" name="TextBox 19"/>
          <p:cNvSpPr txBox="1"/>
          <p:nvPr/>
        </p:nvSpPr>
        <p:spPr>
          <a:xfrm>
            <a:off x="4381500" y="4216400"/>
            <a:ext cx="2095500" cy="330200"/>
          </a:xfrm>
          <a:prstGeom prst="rect">
            <a:avLst/>
          </a:prstGeom>
          <a:noFill/>
        </p:spPr>
        <p:txBody>
          <a:bodyPr wrap="square" lIns="45720" rIns="45720" tIns="12700" bIns="12700" anchor="t">
            <a:spAutoFit/>
          </a:bodyPr>
          <a:lstStyle/>
          <a:p>
            <a:pPr algn="r"/>
            <a:r>
              <a:rPr sz="1350" b="0" i="0">
                <a:solidFill>
                  <a:srgbClr val="647080"/>
                </a:solidFill>
                <a:latin typeface="Arial"/>
              </a:rPr>
              <a:t>5 / min · 20 / day</a:t>
            </a:r>
          </a:p>
        </p:txBody>
      </p:sp>
      <p:sp>
        <p:nvSpPr>
          <p:cNvPr id="21" name="Oval 20"/>
          <p:cNvSpPr/>
          <p:nvPr/>
        </p:nvSpPr>
        <p:spPr>
          <a:xfrm>
            <a:off x="787400" y="46482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22" name="TextBox 21"/>
          <p:cNvSpPr txBox="1"/>
          <p:nvPr/>
        </p:nvSpPr>
        <p:spPr>
          <a:xfrm>
            <a:off x="1193800" y="4622800"/>
            <a:ext cx="3175000" cy="330200"/>
          </a:xfrm>
          <a:prstGeom prst="rect">
            <a:avLst/>
          </a:prstGeom>
          <a:noFill/>
        </p:spPr>
        <p:txBody>
          <a:bodyPr wrap="square" lIns="45720" rIns="45720" tIns="12700" bIns="12700" anchor="t">
            <a:spAutoFit/>
          </a:bodyPr>
          <a:lstStyle/>
          <a:p>
            <a:pPr algn="l"/>
            <a:r>
              <a:rPr sz="1400" b="1" i="0">
                <a:solidFill>
                  <a:srgbClr val="13263A"/>
                </a:solidFill>
                <a:latin typeface="Arial"/>
              </a:rPr>
              <a:t>gemini-3.8-flash</a:t>
            </a:r>
          </a:p>
        </p:txBody>
      </p:sp>
      <p:sp>
        <p:nvSpPr>
          <p:cNvPr id="23" name="TextBox 22"/>
          <p:cNvSpPr txBox="1"/>
          <p:nvPr/>
        </p:nvSpPr>
        <p:spPr>
          <a:xfrm>
            <a:off x="4381500" y="4622800"/>
            <a:ext cx="2095500" cy="330200"/>
          </a:xfrm>
          <a:prstGeom prst="rect">
            <a:avLst/>
          </a:prstGeom>
          <a:noFill/>
        </p:spPr>
        <p:txBody>
          <a:bodyPr wrap="square" lIns="45720" rIns="45720" tIns="12700" bIns="12700" anchor="t">
            <a:spAutoFit/>
          </a:bodyPr>
          <a:lstStyle/>
          <a:p>
            <a:pPr algn="r"/>
            <a:r>
              <a:rPr sz="1350" b="0" i="0">
                <a:solidFill>
                  <a:srgbClr val="647080"/>
                </a:solidFill>
                <a:latin typeface="Arial"/>
              </a:rPr>
              <a:t>20 / day</a:t>
            </a:r>
          </a:p>
        </p:txBody>
      </p:sp>
      <p:sp>
        <p:nvSpPr>
          <p:cNvPr id="24" name="Oval 23"/>
          <p:cNvSpPr/>
          <p:nvPr/>
        </p:nvSpPr>
        <p:spPr>
          <a:xfrm>
            <a:off x="787400" y="5054600"/>
            <a:ext cx="279400" cy="279400"/>
          </a:xfrm>
          <a:prstGeom prst="ellipse">
            <a:avLst/>
          </a:prstGeom>
          <a:solidFill>
            <a:srgbClr val="A8B6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5</a:t>
            </a:r>
          </a:p>
        </p:txBody>
      </p:sp>
      <p:sp>
        <p:nvSpPr>
          <p:cNvPr id="25" name="TextBox 24"/>
          <p:cNvSpPr txBox="1"/>
          <p:nvPr/>
        </p:nvSpPr>
        <p:spPr>
          <a:xfrm>
            <a:off x="1193800" y="5029200"/>
            <a:ext cx="3175000" cy="330200"/>
          </a:xfrm>
          <a:prstGeom prst="rect">
            <a:avLst/>
          </a:prstGeom>
          <a:noFill/>
        </p:spPr>
        <p:txBody>
          <a:bodyPr wrap="square" lIns="45720" rIns="45720" tIns="12700" bIns="12700" anchor="t">
            <a:spAutoFit/>
          </a:bodyPr>
          <a:lstStyle/>
          <a:p>
            <a:pPr algn="l"/>
            <a:r>
              <a:rPr sz="1400" b="1" i="0">
                <a:solidFill>
                  <a:srgbClr val="647080"/>
                </a:solidFill>
                <a:latin typeface="Arial"/>
              </a:rPr>
              <a:t>ollama · qwen3-vl:2b</a:t>
            </a:r>
          </a:p>
        </p:txBody>
      </p:sp>
      <p:sp>
        <p:nvSpPr>
          <p:cNvPr id="26" name="TextBox 25"/>
          <p:cNvSpPr txBox="1"/>
          <p:nvPr/>
        </p:nvSpPr>
        <p:spPr>
          <a:xfrm>
            <a:off x="4381500" y="5029200"/>
            <a:ext cx="2095500" cy="330200"/>
          </a:xfrm>
          <a:prstGeom prst="rect">
            <a:avLst/>
          </a:prstGeom>
          <a:noFill/>
        </p:spPr>
        <p:txBody>
          <a:bodyPr wrap="square" lIns="45720" rIns="45720" tIns="12700" bIns="12700" anchor="t">
            <a:spAutoFit/>
          </a:bodyPr>
          <a:lstStyle/>
          <a:p>
            <a:pPr algn="r"/>
            <a:r>
              <a:rPr sz="1350" b="0" i="0">
                <a:solidFill>
                  <a:srgbClr val="647080"/>
                </a:solidFill>
                <a:latin typeface="Arial"/>
              </a:rPr>
              <a:t>local · next week</a:t>
            </a:r>
          </a:p>
        </p:txBody>
      </p:sp>
      <p:sp>
        <p:nvSpPr>
          <p:cNvPr id="27" name="TextBox 26"/>
          <p:cNvSpPr txBox="1"/>
          <p:nvPr/>
        </p:nvSpPr>
        <p:spPr>
          <a:xfrm>
            <a:off x="3429000" y="5486400"/>
            <a:ext cx="381000" cy="2286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8" name="TextBox 27"/>
          <p:cNvSpPr txBox="1"/>
          <p:nvPr/>
        </p:nvSpPr>
        <p:spPr>
          <a:xfrm>
            <a:off x="635000" y="5715000"/>
            <a:ext cx="5969000" cy="330200"/>
          </a:xfrm>
          <a:prstGeom prst="rect">
            <a:avLst/>
          </a:prstGeom>
          <a:noFill/>
        </p:spPr>
        <p:txBody>
          <a:bodyPr wrap="square" lIns="45720" rIns="45720" tIns="12700" bIns="12700" anchor="t">
            <a:spAutoFit/>
          </a:bodyPr>
          <a:lstStyle/>
          <a:p>
            <a:pPr algn="l"/>
            <a:r>
              <a:rPr sz="1400" b="1" i="0">
                <a:solidFill>
                  <a:srgbClr val="13263A"/>
                </a:solidFill>
                <a:latin typeface="Arial"/>
              </a:rPr>
              <a:t>All failed → </a:t>
            </a:r>
            <a:r>
              <a:rPr sz="1350" b="0" i="0">
                <a:solidFill>
                  <a:srgbClr val="647080"/>
                </a:solidFill>
                <a:latin typeface="Arial"/>
              </a:rPr>
              <a:t>503 "try again later", never a mock answer</a:t>
            </a:r>
          </a:p>
        </p:txBody>
      </p:sp>
      <p:sp>
        <p:nvSpPr>
          <p:cNvPr id="29" name="TextBox 28"/>
          <p:cNvSpPr txBox="1"/>
          <p:nvPr/>
        </p:nvSpPr>
        <p:spPr>
          <a:xfrm>
            <a:off x="6959600" y="1778000"/>
            <a:ext cx="4610100" cy="368300"/>
          </a:xfrm>
          <a:prstGeom prst="rect">
            <a:avLst/>
          </a:prstGeom>
          <a:noFill/>
        </p:spPr>
        <p:txBody>
          <a:bodyPr wrap="square" lIns="45720" rIns="45720" tIns="12700" bIns="12700" anchor="t">
            <a:spAutoFit/>
          </a:bodyPr>
          <a:lstStyle/>
          <a:p>
            <a:pPr algn="l"/>
            <a:r>
              <a:rPr sz="1650" b="1" i="0">
                <a:solidFill>
                  <a:srgbClr val="255CF0"/>
                </a:solidFill>
                <a:latin typeface="Arial"/>
              </a:rPr>
              <a:t>RULES</a:t>
            </a:r>
          </a:p>
        </p:txBody>
      </p:sp>
      <p:sp>
        <p:nvSpPr>
          <p:cNvPr id="30" name="Oval 29"/>
          <p:cNvSpPr/>
          <p:nvPr/>
        </p:nvSpPr>
        <p:spPr>
          <a:xfrm>
            <a:off x="6959600" y="2286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31" name="TextBox 30"/>
          <p:cNvSpPr txBox="1"/>
          <p:nvPr/>
        </p:nvSpPr>
        <p:spPr>
          <a:xfrm>
            <a:off x="7340600" y="2247900"/>
            <a:ext cx="4229100" cy="736600"/>
          </a:xfrm>
          <a:prstGeom prst="rect">
            <a:avLst/>
          </a:prstGeom>
          <a:noFill/>
        </p:spPr>
        <p:txBody>
          <a:bodyPr wrap="square" lIns="45720" rIns="45720" tIns="12700" bIns="12700" anchor="t">
            <a:spAutoFit/>
          </a:bodyPr>
          <a:lstStyle/>
          <a:p>
            <a:pPr algn="l"/>
            <a:r>
              <a:rPr sz="1500" b="1" i="0">
                <a:solidFill>
                  <a:srgbClr val="13263A"/>
                </a:solidFill>
                <a:latin typeface="Arial"/>
              </a:rPr>
              <a:t>Daily cap</a:t>
            </a:r>
          </a:p>
          <a:p>
            <a:pPr algn="l"/>
            <a:r>
              <a:rPr sz="1350" b="0" i="0">
                <a:solidFill>
                  <a:srgbClr val="647080"/>
                </a:solidFill>
                <a:latin typeface="Arial"/>
              </a:rPr>
              <a:t>16 calls per model, 80 % of the measured 20</a:t>
            </a:r>
          </a:p>
        </p:txBody>
      </p:sp>
      <p:sp>
        <p:nvSpPr>
          <p:cNvPr id="32" name="Oval 31"/>
          <p:cNvSpPr/>
          <p:nvPr/>
        </p:nvSpPr>
        <p:spPr>
          <a:xfrm>
            <a:off x="6959600" y="3048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33" name="TextBox 32"/>
          <p:cNvSpPr txBox="1"/>
          <p:nvPr/>
        </p:nvSpPr>
        <p:spPr>
          <a:xfrm>
            <a:off x="7340600" y="3009900"/>
            <a:ext cx="4229100" cy="736600"/>
          </a:xfrm>
          <a:prstGeom prst="rect">
            <a:avLst/>
          </a:prstGeom>
          <a:noFill/>
        </p:spPr>
        <p:txBody>
          <a:bodyPr wrap="square" lIns="45720" rIns="45720" tIns="12700" bIns="12700" anchor="t">
            <a:spAutoFit/>
          </a:bodyPr>
          <a:lstStyle/>
          <a:p>
            <a:pPr algn="l"/>
            <a:r>
              <a:rPr sz="1500" b="1" i="0">
                <a:solidFill>
                  <a:srgbClr val="13263A"/>
                </a:solidFill>
                <a:latin typeface="Arial"/>
              </a:rPr>
              <a:t>429 answer</a:t>
            </a:r>
          </a:p>
          <a:p>
            <a:pPr algn="l"/>
            <a:r>
              <a:rPr sz="1350" b="0" i="0">
                <a:solidFill>
                  <a:srgbClr val="647080"/>
                </a:solidFill>
                <a:latin typeface="Arial"/>
              </a:rPr>
              <a:t>no retry: wait Google's delay or the next quota day, use the next model at once</a:t>
            </a:r>
          </a:p>
        </p:txBody>
      </p:sp>
      <p:sp>
        <p:nvSpPr>
          <p:cNvPr id="34" name="Oval 33"/>
          <p:cNvSpPr/>
          <p:nvPr/>
        </p:nvSpPr>
        <p:spPr>
          <a:xfrm>
            <a:off x="6959600" y="3810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35" name="TextBox 34"/>
          <p:cNvSpPr txBox="1"/>
          <p:nvPr/>
        </p:nvSpPr>
        <p:spPr>
          <a:xfrm>
            <a:off x="7340600" y="3771900"/>
            <a:ext cx="4229100" cy="736600"/>
          </a:xfrm>
          <a:prstGeom prst="rect">
            <a:avLst/>
          </a:prstGeom>
          <a:noFill/>
        </p:spPr>
        <p:txBody>
          <a:bodyPr wrap="square" lIns="45720" rIns="45720" tIns="12700" bIns="12700" anchor="t">
            <a:spAutoFit/>
          </a:bodyPr>
          <a:lstStyle/>
          <a:p>
            <a:pPr algn="l"/>
            <a:r>
              <a:rPr sz="1500" b="1" i="0">
                <a:solidFill>
                  <a:srgbClr val="13263A"/>
                </a:solidFill>
                <a:latin typeface="Arial"/>
              </a:rPr>
              <a:t>3 failures in a row</a:t>
            </a:r>
          </a:p>
          <a:p>
            <a:pPr algn="l"/>
            <a:r>
              <a:rPr sz="1350" b="0" i="0">
                <a:solidFill>
                  <a:srgbClr val="647080"/>
                </a:solidFill>
                <a:latin typeface="Arial"/>
              </a:rPr>
              <a:t>model paused for 5 minutes</a:t>
            </a:r>
          </a:p>
        </p:txBody>
      </p:sp>
      <p:sp>
        <p:nvSpPr>
          <p:cNvPr id="36" name="Oval 35"/>
          <p:cNvSpPr/>
          <p:nvPr/>
        </p:nvSpPr>
        <p:spPr>
          <a:xfrm>
            <a:off x="6959600" y="4572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37" name="TextBox 36"/>
          <p:cNvSpPr txBox="1"/>
          <p:nvPr/>
        </p:nvSpPr>
        <p:spPr>
          <a:xfrm>
            <a:off x="7340600" y="4533900"/>
            <a:ext cx="4229100" cy="736600"/>
          </a:xfrm>
          <a:prstGeom prst="rect">
            <a:avLst/>
          </a:prstGeom>
          <a:noFill/>
        </p:spPr>
        <p:txBody>
          <a:bodyPr wrap="square" lIns="45720" rIns="45720" tIns="12700" bIns="12700" anchor="t">
            <a:spAutoFit/>
          </a:bodyPr>
          <a:lstStyle/>
          <a:p>
            <a:pPr algn="l"/>
            <a:r>
              <a:rPr sz="1500" b="1" i="0">
                <a:solidFill>
                  <a:srgbClr val="13263A"/>
                </a:solidFill>
                <a:latin typeface="Arial"/>
              </a:rPr>
              <a:t>Shared counts</a:t>
            </a:r>
          </a:p>
          <a:p>
            <a:pPr algn="l"/>
            <a:r>
              <a:rPr sz="1350" b="0" i="0">
                <a:solidFill>
                  <a:srgbClr val="647080"/>
                </a:solidFill>
                <a:latin typeface="Arial"/>
              </a:rPr>
              <a:t>ai_data/usage.json, so separate runs agree</a:t>
            </a:r>
          </a:p>
        </p:txBody>
      </p:sp>
      <p:sp>
        <p:nvSpPr>
          <p:cNvPr id="38" name="Oval 37"/>
          <p:cNvSpPr/>
          <p:nvPr/>
        </p:nvSpPr>
        <p:spPr>
          <a:xfrm>
            <a:off x="6959600" y="5334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5</a:t>
            </a:r>
          </a:p>
        </p:txBody>
      </p:sp>
      <p:sp>
        <p:nvSpPr>
          <p:cNvPr id="39" name="TextBox 38"/>
          <p:cNvSpPr txBox="1"/>
          <p:nvPr/>
        </p:nvSpPr>
        <p:spPr>
          <a:xfrm>
            <a:off x="7340600" y="5295900"/>
            <a:ext cx="4229100" cy="736600"/>
          </a:xfrm>
          <a:prstGeom prst="rect">
            <a:avLst/>
          </a:prstGeom>
          <a:noFill/>
        </p:spPr>
        <p:txBody>
          <a:bodyPr wrap="square" lIns="45720" rIns="45720" tIns="12700" bIns="12700" anchor="t">
            <a:spAutoFit/>
          </a:bodyPr>
          <a:lstStyle/>
          <a:p>
            <a:pPr algn="l"/>
            <a:r>
              <a:rPr sz="1500" b="1" i="0">
                <a:solidFill>
                  <a:srgbClr val="13263A"/>
                </a:solidFill>
                <a:latin typeface="Arial"/>
              </a:rPr>
              <a:t>Prompt fix</a:t>
            </a:r>
          </a:p>
          <a:p>
            <a:pPr algn="l"/>
            <a:r>
              <a:rPr sz="1350" b="0" i="0">
                <a:solidFill>
                  <a:srgbClr val="647080"/>
                </a:solidFill>
                <a:latin typeface="Arial"/>
              </a:rPr>
              <a:t>"up to three" gave 1 sentence on Flash-Lite; now asks for three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Reuse and RAG: accepted sentences first</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01  Technical progress  ·  src/ai/retrieval.py, word overlap, no embeddings</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10</a:t>
            </a:r>
          </a:p>
        </p:txBody>
      </p:sp>
      <p:sp>
        <p:nvSpPr>
          <p:cNvPr id="5" name="TextBox 4"/>
          <p:cNvSpPr txBox="1"/>
          <p:nvPr/>
        </p:nvSpPr>
        <p:spPr>
          <a:xfrm>
            <a:off x="635000" y="1778000"/>
            <a:ext cx="5334000" cy="368300"/>
          </a:xfrm>
          <a:prstGeom prst="rect">
            <a:avLst/>
          </a:prstGeom>
          <a:noFill/>
        </p:spPr>
        <p:txBody>
          <a:bodyPr wrap="square" lIns="45720" rIns="45720" tIns="12700" bIns="12700" anchor="t">
            <a:spAutoFit/>
          </a:bodyPr>
          <a:lstStyle/>
          <a:p>
            <a:pPr algn="l"/>
            <a:r>
              <a:rPr sz="1650" b="1" i="0">
                <a:solidFill>
                  <a:srgbClr val="255CF0"/>
                </a:solidFill>
                <a:latin typeface="Arial"/>
              </a:rPr>
              <a:t>HOW A PAST SENTENCE IS SCORED</a:t>
            </a:r>
          </a:p>
        </p:txBody>
      </p:sp>
      <p:graphicFrame>
        <p:nvGraphicFramePr>
          <p:cNvPr id="6" name="Table 5"/>
          <p:cNvGraphicFramePr>
            <a:graphicFrameLocks noGrp="1"/>
          </p:cNvGraphicFramePr>
          <p:nvPr/>
        </p:nvGraphicFramePr>
        <p:xfrm>
          <a:off x="635000" y="2235200"/>
          <a:ext cx="5397500" cy="1524000"/>
        </p:xfrm>
        <a:graphic>
          <a:graphicData uri="http://schemas.openxmlformats.org/drawingml/2006/table">
            <a:tbl>
              <a:tblPr firstRow="1">
                <a:tableStyleId>{5940675A-B579-460E-94D1-54222C63F5DA}</a:tableStyleId>
              </a:tblPr>
              <a:tblGrid>
                <a:gridCol w="1206500"/>
                <a:gridCol w="889000"/>
                <a:gridCol w="3302000"/>
              </a:tblGrid>
              <a:tr h="381000">
                <a:tc>
                  <a:txBody>
                    <a:bodyPr wrap="square"/>
                    <a:lstStyle/>
                    <a:p>
                      <a:r>
                        <a:rPr sz="1250" b="1">
                          <a:solidFill>
                            <a:srgbClr val="FFFFFF"/>
                          </a:solidFill>
                          <a:latin typeface="Arial"/>
                        </a:rPr>
                        <a:t>Field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Weight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Comparison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r>
              <a:tr h="381000">
                <a:tc>
                  <a:txBody>
                    <a:bodyPr wrap="square"/>
                    <a:lstStyle/>
                    <a:p>
                      <a:r>
                        <a:rPr sz="1300" b="1">
                          <a:solidFill>
                            <a:srgbClr val="13263A"/>
                          </a:solidFill>
                          <a:latin typeface="Arial"/>
                        </a:rPr>
                        <a:t>Symbols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0.5</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same set, any order or case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81000">
                <a:tc>
                  <a:txBody>
                    <a:bodyPr wrap="square"/>
                    <a:lstStyle/>
                    <a:p>
                      <a:r>
                        <a:rPr sz="1300" b="1">
                          <a:solidFill>
                            <a:srgbClr val="13263A"/>
                          </a:solidFill>
                          <a:latin typeface="Arial"/>
                        </a:rPr>
                        <a:t>Words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0.3</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overlap of symbol and intention words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81000">
                <a:tc>
                  <a:txBody>
                    <a:bodyPr wrap="square"/>
                    <a:lstStyle/>
                    <a:p>
                      <a:r>
                        <a:rPr sz="1300" b="1">
                          <a:solidFill>
                            <a:srgbClr val="13263A"/>
                          </a:solidFill>
                          <a:latin typeface="Arial"/>
                        </a:rPr>
                        <a:t>Scene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0.2</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overlap of scene-hint words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bl>
          </a:graphicData>
        </a:graphic>
      </p:graphicFrame>
      <p:sp>
        <p:nvSpPr>
          <p:cNvPr id="7" name="Rectangle 6"/>
          <p:cNvSpPr/>
          <p:nvPr/>
        </p:nvSpPr>
        <p:spPr>
          <a:xfrm>
            <a:off x="635000" y="3962400"/>
            <a:ext cx="2603500" cy="14605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064000"/>
            <a:ext cx="2349500" cy="584200"/>
          </a:xfrm>
          <a:prstGeom prst="rect">
            <a:avLst/>
          </a:prstGeom>
          <a:noFill/>
        </p:spPr>
        <p:txBody>
          <a:bodyPr wrap="square" lIns="45720" rIns="45720" tIns="12700" bIns="12700" anchor="t">
            <a:spAutoFit/>
          </a:bodyPr>
          <a:lstStyle/>
          <a:p>
            <a:pPr algn="l"/>
            <a:r>
              <a:rPr sz="3000" b="1" i="0">
                <a:solidFill>
                  <a:srgbClr val="FFFFFF"/>
                </a:solidFill>
                <a:latin typeface="Arial"/>
              </a:rPr>
              <a:t>≥ 0.9</a:t>
            </a:r>
          </a:p>
        </p:txBody>
      </p:sp>
      <p:sp>
        <p:nvSpPr>
          <p:cNvPr id="9" name="TextBox 8"/>
          <p:cNvSpPr txBox="1"/>
          <p:nvPr/>
        </p:nvSpPr>
        <p:spPr>
          <a:xfrm>
            <a:off x="762000" y="4622800"/>
            <a:ext cx="2349500" cy="723900"/>
          </a:xfrm>
          <a:prstGeom prst="rect">
            <a:avLst/>
          </a:prstGeom>
          <a:noFill/>
        </p:spPr>
        <p:txBody>
          <a:bodyPr wrap="square" lIns="45720" rIns="45720" tIns="12700" bIns="12700" anchor="t">
            <a:spAutoFit/>
          </a:bodyPr>
          <a:lstStyle/>
          <a:p>
            <a:pPr algn="l"/>
            <a:r>
              <a:rPr sz="1350" b="0" i="0">
                <a:solidFill>
                  <a:srgbClr val="D5DCE8"/>
                </a:solidFill>
                <a:latin typeface="Arial"/>
              </a:rPr>
              <a:t>reuse: shown with no AI call (text-only requests)</a:t>
            </a:r>
          </a:p>
        </p:txBody>
      </p:sp>
      <p:sp>
        <p:nvSpPr>
          <p:cNvPr id="10" name="Rectangle 9"/>
          <p:cNvSpPr/>
          <p:nvPr/>
        </p:nvSpPr>
        <p:spPr>
          <a:xfrm>
            <a:off x="3378200" y="3962400"/>
            <a:ext cx="2603500" cy="14605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5200" y="4064000"/>
            <a:ext cx="2349500" cy="584200"/>
          </a:xfrm>
          <a:prstGeom prst="rect">
            <a:avLst/>
          </a:prstGeom>
          <a:noFill/>
        </p:spPr>
        <p:txBody>
          <a:bodyPr wrap="square" lIns="45720" rIns="45720" tIns="12700" bIns="12700" anchor="t">
            <a:spAutoFit/>
          </a:bodyPr>
          <a:lstStyle/>
          <a:p>
            <a:pPr algn="l"/>
            <a:r>
              <a:rPr sz="3000" b="1" i="0">
                <a:solidFill>
                  <a:srgbClr val="255CF0"/>
                </a:solidFill>
                <a:latin typeface="Arial"/>
              </a:rPr>
              <a:t>≥ 0.4</a:t>
            </a:r>
          </a:p>
        </p:txBody>
      </p:sp>
      <p:sp>
        <p:nvSpPr>
          <p:cNvPr id="12" name="TextBox 11"/>
          <p:cNvSpPr txBox="1"/>
          <p:nvPr/>
        </p:nvSpPr>
        <p:spPr>
          <a:xfrm>
            <a:off x="3505200" y="4622800"/>
            <a:ext cx="2349500" cy="723900"/>
          </a:xfrm>
          <a:prstGeom prst="rect">
            <a:avLst/>
          </a:prstGeom>
          <a:noFill/>
        </p:spPr>
        <p:txBody>
          <a:bodyPr wrap="square" lIns="45720" rIns="45720" tIns="12700" bIns="12700" anchor="t">
            <a:spAutoFit/>
          </a:bodyPr>
          <a:lstStyle/>
          <a:p>
            <a:pPr algn="l"/>
            <a:r>
              <a:rPr sz="1350" b="0" i="0">
                <a:solidFill>
                  <a:srgbClr val="647080"/>
                </a:solidFill>
                <a:latin typeface="Arial"/>
              </a:rPr>
              <a:t>up to 3 sentences sent as examples in the prompt</a:t>
            </a:r>
          </a:p>
        </p:txBody>
      </p:sp>
      <p:sp>
        <p:nvSpPr>
          <p:cNvPr id="13" name="TextBox 12"/>
          <p:cNvSpPr txBox="1"/>
          <p:nvPr/>
        </p:nvSpPr>
        <p:spPr>
          <a:xfrm>
            <a:off x="635000" y="5588000"/>
            <a:ext cx="5397500" cy="508000"/>
          </a:xfrm>
          <a:prstGeom prst="rect">
            <a:avLst/>
          </a:prstGeom>
          <a:noFill/>
        </p:spPr>
        <p:txBody>
          <a:bodyPr wrap="square" lIns="45720" rIns="45720" tIns="12700" bIns="12700" anchor="t">
            <a:spAutoFit/>
          </a:bodyPr>
          <a:lstStyle/>
          <a:p>
            <a:pPr algn="l"/>
            <a:r>
              <a:rPr sz="1350" b="1" i="0">
                <a:solidFill>
                  <a:srgbClr val="13263A"/>
                </a:solidFill>
                <a:latin typeface="Arial"/>
              </a:rPr>
              <a:t>Negation: </a:t>
            </a:r>
            <a:r>
              <a:rPr sz="1350" b="0" i="0">
                <a:solidFill>
                  <a:srgbClr val="647080"/>
                </a:solidFill>
                <a:latin typeface="Arial"/>
              </a:rPr>
              <a:t>"no sugar" never matches "sugar"</a:t>
            </a:r>
          </a:p>
        </p:txBody>
      </p:sp>
      <p:sp>
        <p:nvSpPr>
          <p:cNvPr id="14" name="TextBox 13"/>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LIVE CHECK, 28 OCTOBER</a:t>
            </a:r>
          </a:p>
        </p:txBody>
      </p:sp>
      <p:sp>
        <p:nvSpPr>
          <p:cNvPr id="15" name="Oval 14"/>
          <p:cNvSpPr/>
          <p:nvPr/>
        </p:nvSpPr>
        <p:spPr>
          <a:xfrm>
            <a:off x="6261100" y="22860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16" name="TextBox 15"/>
          <p:cNvSpPr txBox="1"/>
          <p:nvPr/>
        </p:nvSpPr>
        <p:spPr>
          <a:xfrm>
            <a:off x="6642100" y="2247900"/>
            <a:ext cx="4927600" cy="736600"/>
          </a:xfrm>
          <a:prstGeom prst="rect">
            <a:avLst/>
          </a:prstGeom>
          <a:noFill/>
        </p:spPr>
        <p:txBody>
          <a:bodyPr wrap="square" lIns="45720" rIns="45720" tIns="12700" bIns="12700" anchor="t">
            <a:spAutoFit/>
          </a:bodyPr>
          <a:lstStyle/>
          <a:p>
            <a:pPr algn="l"/>
            <a:r>
              <a:rPr sz="1500" b="1" i="0">
                <a:solidFill>
                  <a:srgbClr val="13263A"/>
                </a:solidFill>
                <a:latin typeface="Arial"/>
              </a:rPr>
              <a:t>Café + water + photo</a:t>
            </a:r>
          </a:p>
          <a:p>
            <a:pPr algn="l"/>
            <a:r>
              <a:rPr sz="1350" b="0" i="0">
                <a:solidFill>
                  <a:srgbClr val="647080"/>
                </a:solidFill>
                <a:latin typeface="Arial"/>
              </a:rPr>
              <a:t>Gemini 3.5 Flash-Lite, 4.3 s → sentence accepted</a:t>
            </a:r>
          </a:p>
        </p:txBody>
      </p:sp>
      <p:sp>
        <p:nvSpPr>
          <p:cNvPr id="17" name="Oval 16"/>
          <p:cNvSpPr/>
          <p:nvPr/>
        </p:nvSpPr>
        <p:spPr>
          <a:xfrm>
            <a:off x="6261100" y="30734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8" name="TextBox 17"/>
          <p:cNvSpPr txBox="1"/>
          <p:nvPr/>
        </p:nvSpPr>
        <p:spPr>
          <a:xfrm>
            <a:off x="6642100" y="3035300"/>
            <a:ext cx="4927600" cy="736600"/>
          </a:xfrm>
          <a:prstGeom prst="rect">
            <a:avLst/>
          </a:prstGeom>
          <a:noFill/>
        </p:spPr>
        <p:txBody>
          <a:bodyPr wrap="square" lIns="45720" rIns="45720" tIns="12700" bIns="12700" anchor="t">
            <a:spAutoFit/>
          </a:bodyPr>
          <a:lstStyle/>
          <a:p>
            <a:pPr algn="l"/>
            <a:r>
              <a:rPr sz="1500" b="1" i="0">
                <a:solidFill>
                  <a:srgbClr val="13263A"/>
                </a:solidFill>
                <a:latin typeface="Arial"/>
              </a:rPr>
              <a:t>Same request, text only</a:t>
            </a:r>
          </a:p>
          <a:p>
            <a:pPr algn="l"/>
            <a:r>
              <a:rPr sz="1350" b="0" i="0">
                <a:solidFill>
                  <a:srgbClr val="647080"/>
                </a:solidFill>
                <a:latin typeface="Arial"/>
              </a:rPr>
              <a:t>reused from the store: 0 AI calls</a:t>
            </a:r>
          </a:p>
        </p:txBody>
      </p:sp>
      <p:sp>
        <p:nvSpPr>
          <p:cNvPr id="19" name="Oval 18"/>
          <p:cNvSpPr/>
          <p:nvPr/>
        </p:nvSpPr>
        <p:spPr>
          <a:xfrm>
            <a:off x="6261100" y="38608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20" name="TextBox 19"/>
          <p:cNvSpPr txBox="1"/>
          <p:nvPr/>
        </p:nvSpPr>
        <p:spPr>
          <a:xfrm>
            <a:off x="6642100" y="3822700"/>
            <a:ext cx="4927600" cy="736600"/>
          </a:xfrm>
          <a:prstGeom prst="rect">
            <a:avLst/>
          </a:prstGeom>
          <a:noFill/>
        </p:spPr>
        <p:txBody>
          <a:bodyPr wrap="square" lIns="45720" rIns="45720" tIns="12700" bIns="12700" anchor="t">
            <a:spAutoFit/>
          </a:bodyPr>
          <a:lstStyle/>
          <a:p>
            <a:pPr algn="l"/>
            <a:r>
              <a:rPr sz="1500" b="1" i="0">
                <a:solidFill>
                  <a:srgbClr val="13263A"/>
                </a:solidFill>
                <a:latin typeface="Arial"/>
              </a:rPr>
              <a:t>Bus + water</a:t>
            </a:r>
          </a:p>
          <a:p>
            <a:pPr algn="l"/>
            <a:r>
              <a:rPr sz="1350" b="0" i="0">
                <a:solidFill>
                  <a:srgbClr val="647080"/>
                </a:solidFill>
                <a:latin typeface="Arial"/>
              </a:rPr>
              <a:t>score 0.8: not reused, sent as an example; 1.7 s, 182 tokens</a:t>
            </a:r>
          </a:p>
        </p:txBody>
      </p:sp>
      <p:sp>
        <p:nvSpPr>
          <p:cNvPr id="21" name="Oval 20"/>
          <p:cNvSpPr/>
          <p:nvPr/>
        </p:nvSpPr>
        <p:spPr>
          <a:xfrm>
            <a:off x="6261100" y="4648200"/>
            <a:ext cx="279400" cy="2794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22" name="TextBox 21"/>
          <p:cNvSpPr txBox="1"/>
          <p:nvPr/>
        </p:nvSpPr>
        <p:spPr>
          <a:xfrm>
            <a:off x="6642100" y="4610100"/>
            <a:ext cx="4927600" cy="736600"/>
          </a:xfrm>
          <a:prstGeom prst="rect">
            <a:avLst/>
          </a:prstGeom>
          <a:noFill/>
        </p:spPr>
        <p:txBody>
          <a:bodyPr wrap="square" lIns="45720" rIns="45720" tIns="12700" bIns="12700" anchor="t">
            <a:spAutoFit/>
          </a:bodyPr>
          <a:lstStyle/>
          <a:p>
            <a:pPr algn="l"/>
            <a:r>
              <a:rPr sz="1500" b="1" i="0">
                <a:solidFill>
                  <a:srgbClr val="13263A"/>
                </a:solidFill>
                <a:latin typeface="Arial"/>
              </a:rPr>
              <a:t>Ollama first (not running)</a:t>
            </a:r>
          </a:p>
          <a:p>
            <a:pPr algn="l"/>
            <a:r>
              <a:rPr sz="1350" b="0" i="0">
                <a:solidFill>
                  <a:srgbClr val="647080"/>
                </a:solidFill>
                <a:latin typeface="Arial"/>
              </a:rPr>
              <a:t>"cannot connect" → 3.1 Flash-Lite answered in 6.2 s</a:t>
            </a:r>
          </a:p>
        </p:txBody>
      </p:sp>
      <p:sp>
        <p:nvSpPr>
          <p:cNvPr id="23" name="Rectangle 22"/>
          <p:cNvSpPr/>
          <p:nvPr/>
        </p:nvSpPr>
        <p:spPr>
          <a:xfrm>
            <a:off x="6261100" y="5486400"/>
            <a:ext cx="5308600" cy="508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8100" y="5486400"/>
            <a:ext cx="5080000" cy="508000"/>
          </a:xfrm>
          <a:prstGeom prst="rect">
            <a:avLst/>
          </a:prstGeom>
          <a:noFill/>
        </p:spPr>
        <p:txBody>
          <a:bodyPr wrap="square" lIns="45720" rIns="45720" tIns="12700" bIns="12700" anchor="ctr">
            <a:spAutoFit/>
          </a:bodyPr>
          <a:lstStyle/>
          <a:p>
            <a:pPr algn="l"/>
            <a:r>
              <a:rPr sz="1350" b="1" i="0">
                <a:solidFill>
                  <a:srgbClr val="255CF0"/>
                </a:solidFill>
                <a:latin typeface="Arial"/>
              </a:rPr>
              <a:t>Next: </a:t>
            </a:r>
            <a:r>
              <a:rPr sz="1350" b="0" i="0">
                <a:solidFill>
                  <a:srgbClr val="13263A"/>
                </a:solidFill>
                <a:latin typeface="Arial"/>
              </a:rPr>
              <a:t>move this scoring into the backend reuse service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Rate limits of every Gemini model we can call</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02  Experimental progress  ·  survey of 20 models, free-tier key, 28 October</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11</a:t>
            </a:r>
          </a:p>
        </p:txBody>
      </p:sp>
      <p:graphicFrame>
        <p:nvGraphicFramePr>
          <p:cNvPr id="5" name="Table 4"/>
          <p:cNvGraphicFramePr>
            <a:graphicFrameLocks noGrp="1"/>
          </p:cNvGraphicFramePr>
          <p:nvPr/>
        </p:nvGraphicFramePr>
        <p:xfrm>
          <a:off x="635000" y="1727200"/>
          <a:ext cx="10922000" cy="3911600"/>
        </p:xfrm>
        <a:graphic>
          <a:graphicData uri="http://schemas.openxmlformats.org/drawingml/2006/table">
            <a:tbl>
              <a:tblPr firstRow="1">
                <a:tableStyleId>{5940675A-B579-460E-94D1-54222C63F5DA}</a:tableStyleId>
              </a:tblPr>
              <a:tblGrid>
                <a:gridCol w="3327400"/>
                <a:gridCol w="3022600"/>
                <a:gridCol w="2260600"/>
                <a:gridCol w="2311400"/>
              </a:tblGrid>
              <a:tr h="355600">
                <a:tc>
                  <a:txBody>
                    <a:bodyPr wrap="square"/>
                    <a:lstStyle/>
                    <a:p>
                      <a:r>
                        <a:rPr sz="1250" b="1">
                          <a:solidFill>
                            <a:srgbClr val="FFFFFF"/>
                          </a:solidFill>
                          <a:latin typeface="Arial"/>
                        </a:rPr>
                        <a:t>Model</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What happened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Limit in Google's 429</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Quota counted as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r>
              <a:tr h="355600">
                <a:tc>
                  <a:txBody>
                    <a:bodyPr wrap="square"/>
                    <a:lstStyle/>
                    <a:p>
                      <a:r>
                        <a:rPr sz="1200" b="1">
                          <a:solidFill>
                            <a:srgbClr val="13263A"/>
                          </a:solidFill>
                          <a:latin typeface="Arial"/>
                        </a:rPr>
                        <a:t>gemini-3.5-flash-lite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15 of 15 OK · 1.0 s median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none reached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r>
              <a:tr h="355600">
                <a:tc>
                  <a:txBody>
                    <a:bodyPr wrap="square"/>
                    <a:lstStyle/>
                    <a:p>
                      <a:r>
                        <a:rPr sz="1200" b="1">
                          <a:solidFill>
                            <a:srgbClr val="13263A"/>
                          </a:solidFill>
                          <a:latin typeface="Arial"/>
                        </a:rPr>
                        <a:t>gemini-3.1-flash-lite (+ preview)</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15 of 15 OK · 3.7–4.0 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none reached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r>
              <a:tr h="355600">
                <a:tc>
                  <a:txBody>
                    <a:bodyPr wrap="square"/>
                    <a:lstStyle/>
                    <a:p>
                      <a:r>
                        <a:rPr sz="1200" b="1">
                          <a:solidFill>
                            <a:srgbClr val="13263A"/>
                          </a:solidFill>
                          <a:latin typeface="Arial"/>
                        </a:rPr>
                        <a:t>gemini-flash-lite-latest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15 of 15 OK · 0.9 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none reached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r>
              <a:tr h="355600">
                <a:tc>
                  <a:txBody>
                    <a:bodyPr wrap="square"/>
                    <a:lstStyle/>
                    <a:p>
                      <a:r>
                        <a:rPr sz="1200" b="1">
                          <a:solidFill>
                            <a:srgbClr val="13263A"/>
                          </a:solidFill>
                          <a:latin typeface="Arial"/>
                        </a:rPr>
                        <a:t>gemma-4-26b-a4b-it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15 OK · 1.1 s, then 429</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30 / min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c>
                  <a:txBody>
                    <a:bodyPr wrap="square"/>
                    <a:lstStyle/>
                    <a:p>
                      <a:r>
                        <a:rPr sz="1200" b="0">
                          <a:solidFill>
                            <a:srgbClr val="13263A"/>
                          </a:solidFill>
                          <a:latin typeface="Arial"/>
                        </a:rPr>
                        <a:t>gemma-4-26b</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8EEFE"/>
                    </a:solidFill>
                  </a:tcPr>
                </a:tc>
              </a:tr>
              <a:tr h="355600">
                <a:tc>
                  <a:txBody>
                    <a:bodyPr wrap="square"/>
                    <a:lstStyle/>
                    <a:p>
                      <a:r>
                        <a:rPr sz="1200" b="1">
                          <a:solidFill>
                            <a:srgbClr val="13263A"/>
                          </a:solidFill>
                          <a:latin typeface="Arial"/>
                        </a:rPr>
                        <a:t>gemini-3.5-flash, 3.6-flash</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429 per minute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5 / min · 20 / day</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gemini-3.6-flash</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55600">
                <a:tc>
                  <a:txBody>
                    <a:bodyPr wrap="square"/>
                    <a:lstStyle/>
                    <a:p>
                      <a:r>
                        <a:rPr sz="1200" b="1">
                          <a:solidFill>
                            <a:srgbClr val="13263A"/>
                          </a:solidFill>
                          <a:latin typeface="Arial"/>
                        </a:rPr>
                        <a:t>gemini-3.8-flash, 3.7-flash, flash-latest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503 and timeouts, then 429</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20 / day</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gemini-3.8-flash</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55600">
                <a:tc>
                  <a:txBody>
                    <a:bodyPr wrap="square"/>
                    <a:lstStyle/>
                    <a:p>
                      <a:r>
                        <a:rPr sz="1200" b="1">
                          <a:solidFill>
                            <a:srgbClr val="13263A"/>
                          </a:solidFill>
                          <a:latin typeface="Arial"/>
                        </a:rPr>
                        <a:t>gemini-3-flash-preview</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429 per minute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5 / min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gemini-3-flash</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55600">
                <a:tc>
                  <a:txBody>
                    <a:bodyPr wrap="square"/>
                    <a:lstStyle/>
                    <a:p>
                      <a:r>
                        <a:rPr sz="1200" b="1">
                          <a:solidFill>
                            <a:srgbClr val="13263A"/>
                          </a:solidFill>
                          <a:latin typeface="Arial"/>
                        </a:rPr>
                        <a:t>gemma-4-31b-it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HTTP 500 internal error</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55600">
                <a:tc>
                  <a:txBody>
                    <a:bodyPr wrap="square"/>
                    <a:lstStyle/>
                    <a:p>
                      <a:r>
                        <a:rPr sz="1200" b="1">
                          <a:solidFill>
                            <a:srgbClr val="13263A"/>
                          </a:solidFill>
                          <a:latin typeface="Arial"/>
                        </a:rPr>
                        <a:t>Pro, Omni and gemini-4-argon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429 at the first call, retry in 22.8 h</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no free quota</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355600">
                <a:tc>
                  <a:txBody>
                    <a:bodyPr wrap="square"/>
                    <a:lstStyle/>
                    <a:p>
                      <a:r>
                        <a:rPr sz="1200" b="1">
                          <a:solidFill>
                            <a:srgbClr val="13263A"/>
                          </a:solidFill>
                          <a:latin typeface="Arial"/>
                        </a:rPr>
                        <a:t>gemini-2.5 (flash, flash-lite, pro)</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404: closed to new keys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200" b="0">
                          <a:solidFill>
                            <a:srgbClr val="13263A"/>
                          </a:solidFill>
                          <a:latin typeface="Arial"/>
                        </a:rPr>
                        <a: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bl>
          </a:graphicData>
        </a:graphic>
      </p:graphicFrame>
      <p:sp>
        <p:nvSpPr>
          <p:cNvPr id="6" name="TextBox 5"/>
          <p:cNvSpPr txBox="1"/>
          <p:nvPr/>
        </p:nvSpPr>
        <p:spPr>
          <a:xfrm>
            <a:off x="635000" y="5740400"/>
            <a:ext cx="10668000" cy="457200"/>
          </a:xfrm>
          <a:prstGeom prst="rect">
            <a:avLst/>
          </a:prstGeom>
          <a:noFill/>
        </p:spPr>
        <p:txBody>
          <a:bodyPr wrap="square" lIns="45720" rIns="45720" tIns="12700" bIns="12700" anchor="t">
            <a:spAutoFit/>
          </a:bodyPr>
          <a:lstStyle/>
          <a:p>
            <a:pPr algn="l"/>
            <a:r>
              <a:rPr sz="1350" b="0" i="0">
                <a:solidFill>
                  <a:srgbClr val="647080"/>
                </a:solidFill>
                <a:latin typeface="Arial"/>
              </a:rPr>
              <a:t>Highlighted: usable in the chain. Limits are read from the quota names in Google's 429 answers. Tool: src/ai/gemini_rate_limit.py survey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Gemini survey: what it changes for the chain</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02  Experimental progress  ·  src/ai/README.md, survey of 28 October</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12</a:t>
            </a:r>
          </a:p>
        </p:txBody>
      </p:sp>
      <p:sp>
        <p:nvSpPr>
          <p:cNvPr id="5" name="Rectangle 4"/>
          <p:cNvSpPr/>
          <p:nvPr/>
        </p:nvSpPr>
        <p:spPr>
          <a:xfrm>
            <a:off x="635000" y="1778000"/>
            <a:ext cx="17272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879600"/>
            <a:ext cx="1473200" cy="584200"/>
          </a:xfrm>
          <a:prstGeom prst="rect">
            <a:avLst/>
          </a:prstGeom>
          <a:noFill/>
        </p:spPr>
        <p:txBody>
          <a:bodyPr wrap="square" lIns="45720" rIns="45720" tIns="12700" bIns="12700" anchor="t">
            <a:spAutoFit/>
          </a:bodyPr>
          <a:lstStyle/>
          <a:p>
            <a:pPr algn="l"/>
            <a:r>
              <a:rPr sz="2400" b="1" i="0">
                <a:solidFill>
                  <a:srgbClr val="255CF0"/>
                </a:solidFill>
                <a:latin typeface="Arial"/>
              </a:rPr>
              <a:t>≥15/min</a:t>
            </a:r>
          </a:p>
        </p:txBody>
      </p:sp>
      <p:sp>
        <p:nvSpPr>
          <p:cNvPr id="7" name="TextBox 6"/>
          <p:cNvSpPr txBox="1"/>
          <p:nvPr/>
        </p:nvSpPr>
        <p:spPr>
          <a:xfrm>
            <a:off x="762000" y="2438400"/>
            <a:ext cx="1473200" cy="1016000"/>
          </a:xfrm>
          <a:prstGeom prst="rect">
            <a:avLst/>
          </a:prstGeom>
          <a:noFill/>
        </p:spPr>
        <p:txBody>
          <a:bodyPr wrap="square" lIns="45720" rIns="45720" tIns="12700" bIns="12700" anchor="t">
            <a:spAutoFit/>
          </a:bodyPr>
          <a:lstStyle/>
          <a:p>
            <a:pPr algn="l"/>
            <a:r>
              <a:rPr sz="1350" b="0" i="0">
                <a:solidFill>
                  <a:srgbClr val="647080"/>
                </a:solidFill>
                <a:latin typeface="Arial"/>
              </a:rPr>
              <a:t>Flash-Lite models: no 429 in a 15-call burst</a:t>
            </a:r>
          </a:p>
        </p:txBody>
      </p:sp>
      <p:sp>
        <p:nvSpPr>
          <p:cNvPr id="8" name="Rectangle 7"/>
          <p:cNvSpPr/>
          <p:nvPr/>
        </p:nvSpPr>
        <p:spPr>
          <a:xfrm>
            <a:off x="2489200" y="1778000"/>
            <a:ext cx="17272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6200" y="1879600"/>
            <a:ext cx="1473200" cy="584200"/>
          </a:xfrm>
          <a:prstGeom prst="rect">
            <a:avLst/>
          </a:prstGeom>
          <a:noFill/>
        </p:spPr>
        <p:txBody>
          <a:bodyPr wrap="square" lIns="45720" rIns="45720" tIns="12700" bIns="12700" anchor="t">
            <a:spAutoFit/>
          </a:bodyPr>
          <a:lstStyle/>
          <a:p>
            <a:pPr algn="l"/>
            <a:r>
              <a:rPr sz="2400" b="1" i="0">
                <a:solidFill>
                  <a:srgbClr val="255CF0"/>
                </a:solidFill>
                <a:latin typeface="Arial"/>
              </a:rPr>
              <a:t>30/min</a:t>
            </a:r>
          </a:p>
        </p:txBody>
      </p:sp>
      <p:sp>
        <p:nvSpPr>
          <p:cNvPr id="10" name="TextBox 9"/>
          <p:cNvSpPr txBox="1"/>
          <p:nvPr/>
        </p:nvSpPr>
        <p:spPr>
          <a:xfrm>
            <a:off x="2616200" y="2438400"/>
            <a:ext cx="1473200" cy="1016000"/>
          </a:xfrm>
          <a:prstGeom prst="rect">
            <a:avLst/>
          </a:prstGeom>
          <a:noFill/>
        </p:spPr>
        <p:txBody>
          <a:bodyPr wrap="square" lIns="45720" rIns="45720" tIns="12700" bIns="12700" anchor="t">
            <a:spAutoFit/>
          </a:bodyPr>
          <a:lstStyle/>
          <a:p>
            <a:pPr algn="l"/>
            <a:r>
              <a:rPr sz="1350" b="0" i="0">
                <a:solidFill>
                  <a:srgbClr val="647080"/>
                </a:solidFill>
                <a:latin typeface="Arial"/>
              </a:rPr>
              <a:t>Gemma 4 26B, the highest limit we saw</a:t>
            </a:r>
          </a:p>
        </p:txBody>
      </p:sp>
      <p:sp>
        <p:nvSpPr>
          <p:cNvPr id="11" name="Rectangle 10"/>
          <p:cNvSpPr/>
          <p:nvPr/>
        </p:nvSpPr>
        <p:spPr>
          <a:xfrm>
            <a:off x="4343400" y="1778000"/>
            <a:ext cx="1727200" cy="17526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0400" y="1879600"/>
            <a:ext cx="1473200" cy="584200"/>
          </a:xfrm>
          <a:prstGeom prst="rect">
            <a:avLst/>
          </a:prstGeom>
          <a:noFill/>
        </p:spPr>
        <p:txBody>
          <a:bodyPr wrap="square" lIns="45720" rIns="45720" tIns="12700" bIns="12700" anchor="t">
            <a:spAutoFit/>
          </a:bodyPr>
          <a:lstStyle/>
          <a:p>
            <a:pPr algn="l"/>
            <a:r>
              <a:rPr sz="2400" b="1" i="0">
                <a:solidFill>
                  <a:srgbClr val="FFFFFF"/>
                </a:solidFill>
                <a:latin typeface="Arial"/>
              </a:rPr>
              <a:t>3 → 1</a:t>
            </a:r>
          </a:p>
        </p:txBody>
      </p:sp>
      <p:sp>
        <p:nvSpPr>
          <p:cNvPr id="13" name="TextBox 12"/>
          <p:cNvSpPr txBox="1"/>
          <p:nvPr/>
        </p:nvSpPr>
        <p:spPr>
          <a:xfrm>
            <a:off x="4470400" y="2438400"/>
            <a:ext cx="1473200" cy="1016000"/>
          </a:xfrm>
          <a:prstGeom prst="rect">
            <a:avLst/>
          </a:prstGeom>
          <a:noFill/>
        </p:spPr>
        <p:txBody>
          <a:bodyPr wrap="square" lIns="45720" rIns="45720" tIns="12700" bIns="12700" anchor="t">
            <a:spAutoFit/>
          </a:bodyPr>
          <a:lstStyle/>
          <a:p>
            <a:pPr algn="l"/>
            <a:r>
              <a:rPr sz="1350" b="0" i="0">
                <a:solidFill>
                  <a:srgbClr val="D5DCE8"/>
                </a:solidFill>
                <a:latin typeface="Arial"/>
              </a:rPr>
              <a:t>names share one quota: 3.7, 3.8 Flash and flash-latest</a:t>
            </a:r>
          </a:p>
        </p:txBody>
      </p:sp>
      <p:sp>
        <p:nvSpPr>
          <p:cNvPr id="14" name="Rectangle 13"/>
          <p:cNvSpPr/>
          <p:nvPr/>
        </p:nvSpPr>
        <p:spPr>
          <a:xfrm>
            <a:off x="635000" y="3683000"/>
            <a:ext cx="17272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3784600"/>
            <a:ext cx="1473200" cy="584200"/>
          </a:xfrm>
          <a:prstGeom prst="rect">
            <a:avLst/>
          </a:prstGeom>
          <a:noFill/>
        </p:spPr>
        <p:txBody>
          <a:bodyPr wrap="square" lIns="45720" rIns="45720" tIns="12700" bIns="12700" anchor="t">
            <a:spAutoFit/>
          </a:bodyPr>
          <a:lstStyle/>
          <a:p>
            <a:pPr algn="l"/>
            <a:r>
              <a:rPr sz="2400" b="1" i="0">
                <a:solidFill>
                  <a:srgbClr val="255CF0"/>
                </a:solidFill>
                <a:latin typeface="Arial"/>
              </a:rPr>
              <a:t>0</a:t>
            </a:r>
          </a:p>
        </p:txBody>
      </p:sp>
      <p:sp>
        <p:nvSpPr>
          <p:cNvPr id="16" name="TextBox 15"/>
          <p:cNvSpPr txBox="1"/>
          <p:nvPr/>
        </p:nvSpPr>
        <p:spPr>
          <a:xfrm>
            <a:off x="762000" y="4343400"/>
            <a:ext cx="1473200" cy="1016000"/>
          </a:xfrm>
          <a:prstGeom prst="rect">
            <a:avLst/>
          </a:prstGeom>
          <a:noFill/>
        </p:spPr>
        <p:txBody>
          <a:bodyPr wrap="square" lIns="45720" rIns="45720" tIns="12700" bIns="12700" anchor="t">
            <a:spAutoFit/>
          </a:bodyPr>
          <a:lstStyle/>
          <a:p>
            <a:pPr algn="l"/>
            <a:r>
              <a:rPr sz="1350" b="0" i="0">
                <a:solidFill>
                  <a:srgbClr val="647080"/>
                </a:solidFill>
                <a:latin typeface="Arial"/>
              </a:rPr>
              <a:t>free calls on Pro, Omni and gemini-4-argon</a:t>
            </a:r>
          </a:p>
        </p:txBody>
      </p:sp>
      <p:sp>
        <p:nvSpPr>
          <p:cNvPr id="17" name="Rectangle 16"/>
          <p:cNvSpPr/>
          <p:nvPr/>
        </p:nvSpPr>
        <p:spPr>
          <a:xfrm>
            <a:off x="2489200" y="3683000"/>
            <a:ext cx="17272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6200" y="3784600"/>
            <a:ext cx="1473200" cy="584200"/>
          </a:xfrm>
          <a:prstGeom prst="rect">
            <a:avLst/>
          </a:prstGeom>
          <a:noFill/>
        </p:spPr>
        <p:txBody>
          <a:bodyPr wrap="square" lIns="45720" rIns="45720" tIns="12700" bIns="12700" anchor="t">
            <a:spAutoFit/>
          </a:bodyPr>
          <a:lstStyle/>
          <a:p>
            <a:pPr algn="l"/>
            <a:r>
              <a:rPr sz="2400" b="1" i="0">
                <a:solidFill>
                  <a:srgbClr val="255CF0"/>
                </a:solidFill>
                <a:latin typeface="Arial"/>
              </a:rPr>
              <a:t>404</a:t>
            </a:r>
          </a:p>
        </p:txBody>
      </p:sp>
      <p:sp>
        <p:nvSpPr>
          <p:cNvPr id="19" name="TextBox 18"/>
          <p:cNvSpPr txBox="1"/>
          <p:nvPr/>
        </p:nvSpPr>
        <p:spPr>
          <a:xfrm>
            <a:off x="2616200" y="4343400"/>
            <a:ext cx="1473200" cy="1016000"/>
          </a:xfrm>
          <a:prstGeom prst="rect">
            <a:avLst/>
          </a:prstGeom>
          <a:noFill/>
        </p:spPr>
        <p:txBody>
          <a:bodyPr wrap="square" lIns="45720" rIns="45720" tIns="12700" bIns="12700" anchor="t">
            <a:spAutoFit/>
          </a:bodyPr>
          <a:lstStyle/>
          <a:p>
            <a:pPr algn="l"/>
            <a:r>
              <a:rPr sz="1350" b="0" i="0">
                <a:solidFill>
                  <a:srgbClr val="647080"/>
                </a:solidFill>
                <a:latin typeface="Arial"/>
              </a:rPr>
              <a:t>all 2.5 models are closed to new keys</a:t>
            </a:r>
          </a:p>
        </p:txBody>
      </p:sp>
      <p:sp>
        <p:nvSpPr>
          <p:cNvPr id="20" name="Rectangle 19"/>
          <p:cNvSpPr/>
          <p:nvPr/>
        </p:nvSpPr>
        <p:spPr>
          <a:xfrm>
            <a:off x="4343400" y="3683000"/>
            <a:ext cx="1727200" cy="17526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70400" y="3784600"/>
            <a:ext cx="1473200" cy="584200"/>
          </a:xfrm>
          <a:prstGeom prst="rect">
            <a:avLst/>
          </a:prstGeom>
          <a:noFill/>
        </p:spPr>
        <p:txBody>
          <a:bodyPr wrap="square" lIns="45720" rIns="45720" tIns="12700" bIns="12700" anchor="t">
            <a:spAutoFit/>
          </a:bodyPr>
          <a:lstStyle/>
          <a:p>
            <a:pPr algn="l"/>
            <a:r>
              <a:rPr sz="2400" b="1" i="0">
                <a:solidFill>
                  <a:srgbClr val="255CF0"/>
                </a:solidFill>
                <a:latin typeface="Arial"/>
              </a:rPr>
              <a:t>0.9–1.1 s</a:t>
            </a:r>
          </a:p>
        </p:txBody>
      </p:sp>
      <p:sp>
        <p:nvSpPr>
          <p:cNvPr id="22" name="TextBox 21"/>
          <p:cNvSpPr txBox="1"/>
          <p:nvPr/>
        </p:nvSpPr>
        <p:spPr>
          <a:xfrm>
            <a:off x="4470400" y="4343400"/>
            <a:ext cx="1473200" cy="1016000"/>
          </a:xfrm>
          <a:prstGeom prst="rect">
            <a:avLst/>
          </a:prstGeom>
          <a:noFill/>
        </p:spPr>
        <p:txBody>
          <a:bodyPr wrap="square" lIns="45720" rIns="45720" tIns="12700" bIns="12700" anchor="t">
            <a:spAutoFit/>
          </a:bodyPr>
          <a:lstStyle/>
          <a:p>
            <a:pPr algn="l"/>
            <a:r>
              <a:rPr sz="1350" b="0" i="0">
                <a:solidFill>
                  <a:srgbClr val="647080"/>
                </a:solidFill>
                <a:latin typeface="Arial"/>
              </a:rPr>
              <a:t>median latency of the fastest models</a:t>
            </a:r>
          </a:p>
        </p:txBody>
      </p:sp>
      <p:sp>
        <p:nvSpPr>
          <p:cNvPr id="23" name="TextBox 22"/>
          <p:cNvSpPr txBox="1"/>
          <p:nvPr/>
        </p:nvSpPr>
        <p:spPr>
          <a:xfrm>
            <a:off x="6261100" y="1778000"/>
            <a:ext cx="5308600" cy="368300"/>
          </a:xfrm>
          <a:prstGeom prst="rect">
            <a:avLst/>
          </a:prstGeom>
          <a:noFill/>
        </p:spPr>
        <p:txBody>
          <a:bodyPr wrap="square" lIns="45720" rIns="45720" tIns="12700" bIns="12700" anchor="t">
            <a:spAutoFit/>
          </a:bodyPr>
          <a:lstStyle/>
          <a:p>
            <a:pPr algn="l"/>
            <a:r>
              <a:rPr sz="1650" b="1" i="0">
                <a:solidFill>
                  <a:srgbClr val="255CF0"/>
                </a:solidFill>
                <a:latin typeface="Arial"/>
              </a:rPr>
              <a:t>NEXT STEPS</a:t>
            </a:r>
          </a:p>
        </p:txBody>
      </p:sp>
      <p:sp>
        <p:nvSpPr>
          <p:cNvPr id="24" name="Oval 23"/>
          <p:cNvSpPr/>
          <p:nvPr/>
        </p:nvSpPr>
        <p:spPr>
          <a:xfrm>
            <a:off x="6261100" y="2311400"/>
            <a:ext cx="304800" cy="3048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25" name="TextBox 24"/>
          <p:cNvSpPr txBox="1"/>
          <p:nvPr/>
        </p:nvSpPr>
        <p:spPr>
          <a:xfrm>
            <a:off x="6667500" y="2273300"/>
            <a:ext cx="4902200" cy="762000"/>
          </a:xfrm>
          <a:prstGeom prst="rect">
            <a:avLst/>
          </a:prstGeom>
          <a:noFill/>
        </p:spPr>
        <p:txBody>
          <a:bodyPr wrap="square" lIns="45720" rIns="45720" tIns="12700" bIns="12700" anchor="t">
            <a:spAutoFit/>
          </a:bodyPr>
          <a:lstStyle/>
          <a:p>
            <a:pPr algn="l"/>
            <a:r>
              <a:rPr sz="1500" b="1" i="0">
                <a:solidFill>
                  <a:srgbClr val="13263A"/>
                </a:solidFill>
                <a:latin typeface="Arial"/>
              </a:rPr>
              <a:t>Flash-Lite models first</a:t>
            </a:r>
          </a:p>
          <a:p>
            <a:pPr algn="l"/>
            <a:r>
              <a:rPr sz="1350" b="0" i="0">
                <a:solidFill>
                  <a:srgbClr val="647080"/>
                </a:solidFill>
                <a:latin typeface="Arial"/>
              </a:rPr>
              <a:t>drop names that share a quota (3.6, 3.7, latest)</a:t>
            </a:r>
          </a:p>
        </p:txBody>
      </p:sp>
      <p:sp>
        <p:nvSpPr>
          <p:cNvPr id="26" name="Oval 25"/>
          <p:cNvSpPr/>
          <p:nvPr/>
        </p:nvSpPr>
        <p:spPr>
          <a:xfrm>
            <a:off x="6261100" y="3200400"/>
            <a:ext cx="304800" cy="3048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27" name="TextBox 26"/>
          <p:cNvSpPr txBox="1"/>
          <p:nvPr/>
        </p:nvSpPr>
        <p:spPr>
          <a:xfrm>
            <a:off x="6667500" y="3162300"/>
            <a:ext cx="4902200" cy="762000"/>
          </a:xfrm>
          <a:prstGeom prst="rect">
            <a:avLst/>
          </a:prstGeom>
          <a:noFill/>
        </p:spPr>
        <p:txBody>
          <a:bodyPr wrap="square" lIns="45720" rIns="45720" tIns="12700" bIns="12700" anchor="t">
            <a:spAutoFit/>
          </a:bodyPr>
          <a:lstStyle/>
          <a:p>
            <a:pPr algn="l"/>
            <a:r>
              <a:rPr sz="1500" b="1" i="0">
                <a:solidFill>
                  <a:srgbClr val="13263A"/>
                </a:solidFill>
                <a:latin typeface="Arial"/>
              </a:rPr>
              <a:t>Try Gemma 4 26B</a:t>
            </a:r>
          </a:p>
          <a:p>
            <a:pPr algn="l"/>
            <a:r>
              <a:rPr sz="1350" b="0" i="0">
                <a:solidFill>
                  <a:srgbClr val="647080"/>
                </a:solidFill>
                <a:latin typeface="Arial"/>
              </a:rPr>
              <a:t>30 per minute; check photo support first</a:t>
            </a:r>
          </a:p>
        </p:txBody>
      </p:sp>
      <p:sp>
        <p:nvSpPr>
          <p:cNvPr id="28" name="Oval 27"/>
          <p:cNvSpPr/>
          <p:nvPr/>
        </p:nvSpPr>
        <p:spPr>
          <a:xfrm>
            <a:off x="6261100" y="4089400"/>
            <a:ext cx="304800" cy="3048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9" name="TextBox 28"/>
          <p:cNvSpPr txBox="1"/>
          <p:nvPr/>
        </p:nvSpPr>
        <p:spPr>
          <a:xfrm>
            <a:off x="6667500" y="4051300"/>
            <a:ext cx="4902200" cy="762000"/>
          </a:xfrm>
          <a:prstGeom prst="rect">
            <a:avLst/>
          </a:prstGeom>
          <a:noFill/>
        </p:spPr>
        <p:txBody>
          <a:bodyPr wrap="square" lIns="45720" rIns="45720" tIns="12700" bIns="12700" anchor="t">
            <a:spAutoFit/>
          </a:bodyPr>
          <a:lstStyle/>
          <a:p>
            <a:pPr algn="l"/>
            <a:r>
              <a:rPr sz="1500" b="1" i="0">
                <a:solidFill>
                  <a:srgbClr val="13263A"/>
                </a:solidFill>
                <a:latin typeface="Arial"/>
              </a:rPr>
              <a:t>Find the Flash-Lite daily limit</a:t>
            </a:r>
          </a:p>
          <a:p>
            <a:pPr algn="l"/>
            <a:r>
              <a:rPr sz="1350" b="0" i="0">
                <a:solidFill>
                  <a:srgbClr val="647080"/>
                </a:solidFill>
                <a:latin typeface="Arial"/>
              </a:rPr>
              <a:t>paced run over one day</a:t>
            </a:r>
          </a:p>
        </p:txBody>
      </p:sp>
      <p:sp>
        <p:nvSpPr>
          <p:cNvPr id="30" name="Oval 29"/>
          <p:cNvSpPr/>
          <p:nvPr/>
        </p:nvSpPr>
        <p:spPr>
          <a:xfrm>
            <a:off x="6261100" y="4978400"/>
            <a:ext cx="304800" cy="304800"/>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31" name="TextBox 30"/>
          <p:cNvSpPr txBox="1"/>
          <p:nvPr/>
        </p:nvSpPr>
        <p:spPr>
          <a:xfrm>
            <a:off x="6667500" y="4940300"/>
            <a:ext cx="4902200" cy="762000"/>
          </a:xfrm>
          <a:prstGeom prst="rect">
            <a:avLst/>
          </a:prstGeom>
          <a:noFill/>
        </p:spPr>
        <p:txBody>
          <a:bodyPr wrap="square" lIns="45720" rIns="45720" tIns="12700" bIns="12700" anchor="t">
            <a:spAutoFit/>
          </a:bodyPr>
          <a:lstStyle/>
          <a:p>
            <a:pPr algn="l"/>
            <a:r>
              <a:rPr sz="1500" b="1" i="0">
                <a:solidFill>
                  <a:srgbClr val="13263A"/>
                </a:solidFill>
                <a:latin typeface="Arial"/>
              </a:rPr>
              <a:t>Ollama offline backup</a:t>
            </a:r>
          </a:p>
          <a:p>
            <a:pPr algn="l"/>
            <a:r>
              <a:rPr sz="1350" b="0" i="0">
                <a:solidFill>
                  <a:srgbClr val="647080"/>
                </a:solidFill>
                <a:latin typeface="Arial"/>
              </a:rPr>
              <a:t>install and measure next week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Interface: login, context and suggestions</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02  Experimental progress  ·  Thibaut, local version, not on GitHub yet</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13</a:t>
            </a:r>
          </a:p>
        </p:txBody>
      </p:sp>
      <p:pic>
        <p:nvPicPr>
          <p:cNvPr id="5" name="Picture 4" descr="fe_login_crop.png"/>
          <p:cNvPicPr>
            <a:picLocks noChangeAspect="1"/>
          </p:cNvPicPr>
          <p:nvPr/>
        </p:nvPicPr>
        <p:blipFill>
          <a:blip r:embed="rId3"/>
          <a:stretch>
            <a:fillRect/>
          </a:stretch>
        </p:blipFill>
        <p:spPr>
          <a:xfrm>
            <a:off x="635000" y="1778000"/>
            <a:ext cx="2285121" cy="3810000"/>
          </a:xfrm>
          <a:prstGeom prst="rect">
            <a:avLst/>
          </a:prstGeom>
          <a:ln w="9525">
            <a:solidFill>
              <a:srgbClr val="A8B6C7"/>
            </a:solidFill>
          </a:ln>
        </p:spPr>
      </p:pic>
      <p:pic>
        <p:nvPicPr>
          <p:cNvPr id="6" name="Picture 5" descr="fe_context_crop.png"/>
          <p:cNvPicPr>
            <a:picLocks noChangeAspect="1"/>
          </p:cNvPicPr>
          <p:nvPr/>
        </p:nvPicPr>
        <p:blipFill>
          <a:blip r:embed="rId4"/>
          <a:stretch>
            <a:fillRect/>
          </a:stretch>
        </p:blipFill>
        <p:spPr>
          <a:xfrm>
            <a:off x="3175000" y="1778000"/>
            <a:ext cx="4127500" cy="2439285"/>
          </a:xfrm>
          <a:prstGeom prst="rect">
            <a:avLst/>
          </a:prstGeom>
          <a:ln w="9525">
            <a:solidFill>
              <a:srgbClr val="A8B6C7"/>
            </a:solidFill>
          </a:ln>
        </p:spPr>
      </p:pic>
      <p:pic>
        <p:nvPicPr>
          <p:cNvPr id="7" name="Picture 6" descr="fe_suggestions_crop.png"/>
          <p:cNvPicPr>
            <a:picLocks noChangeAspect="1"/>
          </p:cNvPicPr>
          <p:nvPr/>
        </p:nvPicPr>
        <p:blipFill>
          <a:blip r:embed="rId5"/>
          <a:stretch>
            <a:fillRect/>
          </a:stretch>
        </p:blipFill>
        <p:spPr>
          <a:xfrm>
            <a:off x="7442200" y="1778000"/>
            <a:ext cx="4127500" cy="2266742"/>
          </a:xfrm>
          <a:prstGeom prst="rect">
            <a:avLst/>
          </a:prstGeom>
          <a:ln w="9525">
            <a:solidFill>
              <a:srgbClr val="A8B6C7"/>
            </a:solidFill>
          </a:ln>
        </p:spPr>
      </p:pic>
      <p:sp>
        <p:nvSpPr>
          <p:cNvPr id="8" name="TextBox 7"/>
          <p:cNvSpPr txBox="1"/>
          <p:nvPr/>
        </p:nvSpPr>
        <p:spPr>
          <a:xfrm>
            <a:off x="635000" y="5689600"/>
            <a:ext cx="2286000" cy="889000"/>
          </a:xfrm>
          <a:prstGeom prst="rect">
            <a:avLst/>
          </a:prstGeom>
          <a:noFill/>
        </p:spPr>
        <p:txBody>
          <a:bodyPr wrap="square" lIns="45720" rIns="45720" tIns="12700" bIns="12700" anchor="t">
            <a:spAutoFit/>
          </a:bodyPr>
          <a:lstStyle/>
          <a:p>
            <a:pPr algn="l"/>
            <a:r>
              <a:rPr sz="1500" b="1" i="0">
                <a:solidFill>
                  <a:srgbClr val="13263A"/>
                </a:solidFill>
                <a:latin typeface="Arial"/>
              </a:rPr>
              <a:t>Login page</a:t>
            </a:r>
          </a:p>
          <a:p>
            <a:pPr algn="l"/>
            <a:r>
              <a:rPr sz="1350" b="0" i="0">
                <a:solidFill>
                  <a:srgbClr val="647080"/>
                </a:solidFill>
                <a:latin typeface="Arial"/>
              </a:rPr>
              <a:t>email and password, create account</a:t>
            </a:r>
          </a:p>
        </p:txBody>
      </p:sp>
      <p:sp>
        <p:nvSpPr>
          <p:cNvPr id="9" name="TextBox 8"/>
          <p:cNvSpPr txBox="1"/>
          <p:nvPr/>
        </p:nvSpPr>
        <p:spPr>
          <a:xfrm>
            <a:off x="3175000" y="4318000"/>
            <a:ext cx="4127500" cy="889000"/>
          </a:xfrm>
          <a:prstGeom prst="rect">
            <a:avLst/>
          </a:prstGeom>
          <a:noFill/>
        </p:spPr>
        <p:txBody>
          <a:bodyPr wrap="square" lIns="45720" rIns="45720" tIns="12700" bIns="12700" anchor="t">
            <a:spAutoFit/>
          </a:bodyPr>
          <a:lstStyle/>
          <a:p>
            <a:pPr algn="l"/>
            <a:r>
              <a:rPr sz="1500" b="1" i="0">
                <a:solidFill>
                  <a:srgbClr val="13263A"/>
                </a:solidFill>
                <a:latin typeface="Arial"/>
              </a:rPr>
              <a:t>Context page</a:t>
            </a:r>
          </a:p>
          <a:p>
            <a:pPr algn="l"/>
            <a:r>
              <a:rPr sz="1350" b="0" i="0">
                <a:solidFill>
                  <a:srgbClr val="647080"/>
                </a:solidFill>
                <a:latin typeface="Arial"/>
              </a:rPr>
              <a:t>place, café tiles, intention text, photo by camera, gallery or drag and drop</a:t>
            </a:r>
          </a:p>
        </p:txBody>
      </p:sp>
      <p:sp>
        <p:nvSpPr>
          <p:cNvPr id="10" name="TextBox 9"/>
          <p:cNvSpPr txBox="1"/>
          <p:nvPr/>
        </p:nvSpPr>
        <p:spPr>
          <a:xfrm>
            <a:off x="7442200" y="4318000"/>
            <a:ext cx="4127500" cy="889000"/>
          </a:xfrm>
          <a:prstGeom prst="rect">
            <a:avLst/>
          </a:prstGeom>
          <a:noFill/>
        </p:spPr>
        <p:txBody>
          <a:bodyPr wrap="square" lIns="45720" rIns="45720" tIns="12700" bIns="12700" anchor="t">
            <a:spAutoFit/>
          </a:bodyPr>
          <a:lstStyle/>
          <a:p>
            <a:pPr algn="l"/>
            <a:r>
              <a:rPr sz="1500" b="1" i="0">
                <a:solidFill>
                  <a:srgbClr val="13263A"/>
                </a:solidFill>
                <a:latin typeface="Arial"/>
              </a:rPr>
              <a:t>Suggestions page</a:t>
            </a:r>
          </a:p>
          <a:p>
            <a:pPr algn="l"/>
            <a:r>
              <a:rPr sz="1350" b="0" i="0">
                <a:solidFill>
                  <a:srgbClr val="647080"/>
                </a:solidFill>
                <a:latin typeface="Arial"/>
              </a:rPr>
              <a:t>three choices, confirm and speak, reject and try again, stop speaking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Proposal: discover what the user likes</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03  Project progress  ·  docs/design/Interest_Discovery_Proposal.md, for team decision</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14</a:t>
            </a:r>
          </a:p>
        </p:txBody>
      </p:sp>
      <p:sp>
        <p:nvSpPr>
          <p:cNvPr id="5" name="Rectangle 4"/>
          <p:cNvSpPr/>
          <p:nvPr/>
        </p:nvSpPr>
        <p:spPr>
          <a:xfrm>
            <a:off x="635000" y="1778000"/>
            <a:ext cx="3543300" cy="787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7400" y="1854200"/>
            <a:ext cx="3238500" cy="635000"/>
          </a:xfrm>
          <a:prstGeom prst="rect">
            <a:avLst/>
          </a:prstGeom>
          <a:noFill/>
        </p:spPr>
        <p:txBody>
          <a:bodyPr wrap="square" lIns="45720" rIns="45720" tIns="12700" bIns="12700" anchor="t">
            <a:spAutoFit/>
          </a:bodyPr>
          <a:lstStyle/>
          <a:p>
            <a:pPr algn="l"/>
            <a:r>
              <a:rPr sz="1650" b="1" i="0">
                <a:solidFill>
                  <a:srgbClr val="FFFFFF"/>
                </a:solidFill>
                <a:latin typeface="Arial"/>
              </a:rPr>
              <a:t>OPEN CHOICE</a:t>
            </a:r>
          </a:p>
          <a:p>
            <a:pPr algn="l"/>
            <a:r>
              <a:rPr sz="1350" b="0" i="0">
                <a:solidFill>
                  <a:srgbClr val="D5DCE8"/>
                </a:solidFill>
                <a:latin typeface="Arial"/>
              </a:rPr>
              <a:t>photo, no wish given</a:t>
            </a:r>
          </a:p>
        </p:txBody>
      </p:sp>
      <p:sp>
        <p:nvSpPr>
          <p:cNvPr id="7" name="Rectangle 6"/>
          <p:cNvSpPr/>
          <p:nvPr/>
        </p:nvSpPr>
        <p:spPr>
          <a:xfrm>
            <a:off x="635000" y="2565400"/>
            <a:ext cx="3543300" cy="2667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274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9" name="TextBox 8"/>
          <p:cNvSpPr txBox="1"/>
          <p:nvPr/>
        </p:nvSpPr>
        <p:spPr>
          <a:xfrm>
            <a:off x="1016000" y="274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3–4 options from the scene: Water? Juice?</a:t>
            </a:r>
          </a:p>
        </p:txBody>
      </p:sp>
      <p:sp>
        <p:nvSpPr>
          <p:cNvPr id="10" name="TextBox 9"/>
          <p:cNvSpPr txBox="1"/>
          <p:nvPr/>
        </p:nvSpPr>
        <p:spPr>
          <a:xfrm>
            <a:off x="787400" y="3378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1" name="TextBox 10"/>
          <p:cNvSpPr txBox="1"/>
          <p:nvPr/>
        </p:nvSpPr>
        <p:spPr>
          <a:xfrm>
            <a:off x="1016000" y="3378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Options are buttons, not sentences</a:t>
            </a:r>
          </a:p>
        </p:txBody>
      </p:sp>
      <p:sp>
        <p:nvSpPr>
          <p:cNvPr id="12" name="TextBox 11"/>
          <p:cNvSpPr txBox="1"/>
          <p:nvPr/>
        </p:nvSpPr>
        <p:spPr>
          <a:xfrm>
            <a:off x="787400" y="401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3" name="TextBox 12"/>
          <p:cNvSpPr txBox="1"/>
          <p:nvPr/>
        </p:nvSpPr>
        <p:spPr>
          <a:xfrm>
            <a:off x="1016000" y="401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The pick becomes the intention</a:t>
            </a:r>
          </a:p>
        </p:txBody>
      </p:sp>
      <p:sp>
        <p:nvSpPr>
          <p:cNvPr id="14" name="TextBox 13"/>
          <p:cNvSpPr txBox="1"/>
          <p:nvPr/>
        </p:nvSpPr>
        <p:spPr>
          <a:xfrm>
            <a:off x="787400" y="4800600"/>
            <a:ext cx="3238500" cy="330200"/>
          </a:xfrm>
          <a:prstGeom prst="rect">
            <a:avLst/>
          </a:prstGeom>
          <a:noFill/>
        </p:spPr>
        <p:txBody>
          <a:bodyPr wrap="square" lIns="45720" rIns="45720" tIns="12700" bIns="12700" anchor="t">
            <a:spAutoFit/>
          </a:bodyPr>
          <a:lstStyle/>
          <a:p>
            <a:pPr algn="l"/>
            <a:r>
              <a:rPr sz="1350" b="1" i="0">
                <a:solidFill>
                  <a:srgbClr val="255CF0"/>
                </a:solidFill>
                <a:latin typeface="Arial"/>
              </a:rPr>
              <a:t>Safer first step</a:t>
            </a:r>
          </a:p>
        </p:txBody>
      </p:sp>
      <p:sp>
        <p:nvSpPr>
          <p:cNvPr id="15" name="Rectangle 14"/>
          <p:cNvSpPr/>
          <p:nvPr/>
        </p:nvSpPr>
        <p:spPr>
          <a:xfrm>
            <a:off x="4330700" y="1778000"/>
            <a:ext cx="3543300" cy="787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3100" y="1854200"/>
            <a:ext cx="3238500" cy="635000"/>
          </a:xfrm>
          <a:prstGeom prst="rect">
            <a:avLst/>
          </a:prstGeom>
          <a:noFill/>
        </p:spPr>
        <p:txBody>
          <a:bodyPr wrap="square" lIns="45720" rIns="45720" tIns="12700" bIns="12700" anchor="t">
            <a:spAutoFit/>
          </a:bodyPr>
          <a:lstStyle/>
          <a:p>
            <a:pPr algn="l"/>
            <a:r>
              <a:rPr sz="1650" b="1" i="0">
                <a:solidFill>
                  <a:srgbClr val="FFFFFF"/>
                </a:solidFill>
                <a:latin typeface="Arial"/>
              </a:rPr>
              <a:t>ALTERNATIVE</a:t>
            </a:r>
          </a:p>
          <a:p>
            <a:pPr algn="l"/>
            <a:r>
              <a:rPr sz="1350" b="0" i="0">
                <a:solidFill>
                  <a:srgbClr val="D5DCE8"/>
                </a:solidFill>
                <a:latin typeface="Arial"/>
              </a:rPr>
              <a:t>clear wish given</a:t>
            </a:r>
          </a:p>
        </p:txBody>
      </p:sp>
      <p:sp>
        <p:nvSpPr>
          <p:cNvPr id="17" name="Rectangle 16"/>
          <p:cNvSpPr/>
          <p:nvPr/>
        </p:nvSpPr>
        <p:spPr>
          <a:xfrm>
            <a:off x="4330700" y="2565400"/>
            <a:ext cx="3543300" cy="2667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3100" y="274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19" name="TextBox 18"/>
          <p:cNvSpPr txBox="1"/>
          <p:nvPr/>
        </p:nvSpPr>
        <p:spPr>
          <a:xfrm>
            <a:off x="4711700" y="274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Faithful sentences first</a:t>
            </a:r>
          </a:p>
        </p:txBody>
      </p:sp>
      <p:sp>
        <p:nvSpPr>
          <p:cNvPr id="20" name="TextBox 19"/>
          <p:cNvSpPr txBox="1"/>
          <p:nvPr/>
        </p:nvSpPr>
        <p:spPr>
          <a:xfrm>
            <a:off x="4483100" y="3378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1" name="TextBox 20"/>
          <p:cNvSpPr txBox="1"/>
          <p:nvPr/>
        </p:nvSpPr>
        <p:spPr>
          <a:xfrm>
            <a:off x="4711700" y="3378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At most one, labelled "Something else?"</a:t>
            </a:r>
          </a:p>
        </p:txBody>
      </p:sp>
      <p:sp>
        <p:nvSpPr>
          <p:cNvPr id="22" name="TextBox 21"/>
          <p:cNvSpPr txBox="1"/>
          <p:nvPr/>
        </p:nvSpPr>
        <p:spPr>
          <a:xfrm>
            <a:off x="4483100" y="401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3" name="TextBox 22"/>
          <p:cNvSpPr txBox="1"/>
          <p:nvPr/>
        </p:nvSpPr>
        <p:spPr>
          <a:xfrm>
            <a:off x="4711700" y="401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Never after a negation or allergy</a:t>
            </a:r>
          </a:p>
        </p:txBody>
      </p:sp>
      <p:sp>
        <p:nvSpPr>
          <p:cNvPr id="24" name="TextBox 23"/>
          <p:cNvSpPr txBox="1"/>
          <p:nvPr/>
        </p:nvSpPr>
        <p:spPr>
          <a:xfrm>
            <a:off x="4483100" y="4800600"/>
            <a:ext cx="3238500" cy="330200"/>
          </a:xfrm>
          <a:prstGeom prst="rect">
            <a:avLst/>
          </a:prstGeom>
          <a:noFill/>
        </p:spPr>
        <p:txBody>
          <a:bodyPr wrap="square" lIns="45720" rIns="45720" tIns="12700" bIns="12700" anchor="t">
            <a:spAutoFit/>
          </a:bodyPr>
          <a:lstStyle/>
          <a:p>
            <a:pPr algn="l"/>
            <a:r>
              <a:rPr sz="1350" b="1" i="0">
                <a:solidFill>
                  <a:srgbClr val="255CF0"/>
                </a:solidFill>
                <a:latin typeface="Arial"/>
              </a:rPr>
              <a:t>Off by default</a:t>
            </a:r>
          </a:p>
        </p:txBody>
      </p:sp>
      <p:sp>
        <p:nvSpPr>
          <p:cNvPr id="25" name="Rectangle 24"/>
          <p:cNvSpPr/>
          <p:nvPr/>
        </p:nvSpPr>
        <p:spPr>
          <a:xfrm>
            <a:off x="8026400" y="1778000"/>
            <a:ext cx="3543300" cy="78740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78800" y="1854200"/>
            <a:ext cx="3238500" cy="635000"/>
          </a:xfrm>
          <a:prstGeom prst="rect">
            <a:avLst/>
          </a:prstGeom>
          <a:noFill/>
        </p:spPr>
        <p:txBody>
          <a:bodyPr wrap="square" lIns="45720" rIns="45720" tIns="12700" bIns="12700" anchor="t">
            <a:spAutoFit/>
          </a:bodyPr>
          <a:lstStyle/>
          <a:p>
            <a:pPr algn="l"/>
            <a:r>
              <a:rPr sz="1650" b="1" i="0">
                <a:solidFill>
                  <a:srgbClr val="FFFFFF"/>
                </a:solidFill>
                <a:latin typeface="Arial"/>
              </a:rPr>
              <a:t>PREFERENCE PROFILE</a:t>
            </a:r>
          </a:p>
          <a:p>
            <a:pPr algn="l"/>
            <a:r>
              <a:rPr sz="1350" b="0" i="0">
                <a:solidFill>
                  <a:srgbClr val="D5DCE8"/>
                </a:solidFill>
                <a:latin typeface="Arial"/>
              </a:rPr>
              <a:t>learned from picks</a:t>
            </a:r>
          </a:p>
        </p:txBody>
      </p:sp>
      <p:sp>
        <p:nvSpPr>
          <p:cNvPr id="27" name="Rectangle 26"/>
          <p:cNvSpPr/>
          <p:nvPr/>
        </p:nvSpPr>
        <p:spPr>
          <a:xfrm>
            <a:off x="8026400" y="2565400"/>
            <a:ext cx="3543300" cy="2667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8800" y="274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29" name="TextBox 28"/>
          <p:cNvSpPr txBox="1"/>
          <p:nvPr/>
        </p:nvSpPr>
        <p:spPr>
          <a:xfrm>
            <a:off x="8407400" y="274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Liked items move up next time</a:t>
            </a:r>
          </a:p>
        </p:txBody>
      </p:sp>
      <p:sp>
        <p:nvSpPr>
          <p:cNvPr id="30" name="TextBox 29"/>
          <p:cNvSpPr txBox="1"/>
          <p:nvPr/>
        </p:nvSpPr>
        <p:spPr>
          <a:xfrm>
            <a:off x="8178800" y="3378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31" name="TextBox 30"/>
          <p:cNvSpPr txBox="1"/>
          <p:nvPr/>
        </p:nvSpPr>
        <p:spPr>
          <a:xfrm>
            <a:off x="8407400" y="3378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One slot always for something new</a:t>
            </a:r>
          </a:p>
        </p:txBody>
      </p:sp>
      <p:sp>
        <p:nvSpPr>
          <p:cNvPr id="32" name="TextBox 31"/>
          <p:cNvSpPr txBox="1"/>
          <p:nvPr/>
        </p:nvSpPr>
        <p:spPr>
          <a:xfrm>
            <a:off x="8178800" y="4013200"/>
            <a:ext cx="228600" cy="266700"/>
          </a:xfrm>
          <a:prstGeom prst="rect">
            <a:avLst/>
          </a:prstGeom>
          <a:noFill/>
        </p:spPr>
        <p:txBody>
          <a:bodyPr wrap="square" lIns="45720" rIns="45720" tIns="12700" bIns="12700" anchor="t">
            <a:spAutoFit/>
          </a:bodyPr>
          <a:lstStyle/>
          <a:p>
            <a:pPr algn="l"/>
            <a:r>
              <a:rPr sz="1400" b="1" i="0">
                <a:solidFill>
                  <a:srgbClr val="255CF0"/>
                </a:solidFill>
                <a:latin typeface="Arial"/>
              </a:rPr>
              <a:t>•</a:t>
            </a:r>
          </a:p>
        </p:txBody>
      </p:sp>
      <p:sp>
        <p:nvSpPr>
          <p:cNvPr id="33" name="TextBox 32"/>
          <p:cNvSpPr txBox="1"/>
          <p:nvPr/>
        </p:nvSpPr>
        <p:spPr>
          <a:xfrm>
            <a:off x="8407400" y="4013200"/>
            <a:ext cx="3048000" cy="558800"/>
          </a:xfrm>
          <a:prstGeom prst="rect">
            <a:avLst/>
          </a:prstGeom>
          <a:noFill/>
        </p:spPr>
        <p:txBody>
          <a:bodyPr wrap="square" lIns="45720" rIns="45720" tIns="12700" bIns="12700" anchor="t">
            <a:spAutoFit/>
          </a:bodyPr>
          <a:lstStyle/>
          <a:p>
            <a:pPr algn="l"/>
            <a:r>
              <a:rPr sz="1400" b="0" i="0">
                <a:solidFill>
                  <a:srgbClr val="13263A"/>
                </a:solidFill>
                <a:latin typeface="Arial"/>
              </a:rPr>
              <a:t>Needs user accounts and consent</a:t>
            </a:r>
          </a:p>
        </p:txBody>
      </p:sp>
      <p:sp>
        <p:nvSpPr>
          <p:cNvPr id="34" name="TextBox 33"/>
          <p:cNvSpPr txBox="1"/>
          <p:nvPr/>
        </p:nvSpPr>
        <p:spPr>
          <a:xfrm>
            <a:off x="8178800" y="4800600"/>
            <a:ext cx="3238500" cy="330200"/>
          </a:xfrm>
          <a:prstGeom prst="rect">
            <a:avLst/>
          </a:prstGeom>
          <a:noFill/>
        </p:spPr>
        <p:txBody>
          <a:bodyPr wrap="square" lIns="45720" rIns="45720" tIns="12700" bIns="12700" anchor="t">
            <a:spAutoFit/>
          </a:bodyPr>
          <a:lstStyle/>
          <a:p>
            <a:pPr algn="l"/>
            <a:r>
              <a:rPr sz="1350" b="1" i="0">
                <a:solidFill>
                  <a:srgbClr val="255CF0"/>
                </a:solidFill>
                <a:latin typeface="Arial"/>
              </a:rPr>
              <a:t>Later: REQ-SEC-005/007</a:t>
            </a:r>
          </a:p>
        </p:txBody>
      </p:sp>
      <p:sp>
        <p:nvSpPr>
          <p:cNvPr id="35" name="Rectangle 34"/>
          <p:cNvSpPr/>
          <p:nvPr/>
        </p:nvSpPr>
        <p:spPr>
          <a:xfrm>
            <a:off x="635000" y="5435600"/>
            <a:ext cx="10934700" cy="5588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7400" y="5435600"/>
            <a:ext cx="10668000" cy="558800"/>
          </a:xfrm>
          <a:prstGeom prst="rect">
            <a:avLst/>
          </a:prstGeom>
          <a:noFill/>
        </p:spPr>
        <p:txBody>
          <a:bodyPr wrap="square" lIns="45720" rIns="45720" tIns="12700" bIns="12700" anchor="ctr">
            <a:spAutoFit/>
          </a:bodyPr>
          <a:lstStyle/>
          <a:p>
            <a:pPr algn="l"/>
            <a:r>
              <a:rPr sz="1400" b="1" i="0">
                <a:solidFill>
                  <a:srgbClr val="255CF0"/>
                </a:solidFill>
                <a:latin typeface="Arial"/>
              </a:rPr>
              <a:t>Decision needed: </a:t>
            </a:r>
            <a:r>
              <a:rPr sz="1400" b="0" i="0">
                <a:solidFill>
                  <a:srgbClr val="13263A"/>
                </a:solidFill>
                <a:latin typeface="Arial"/>
              </a:rPr>
              <a:t>do we add it, and if so only open choice or also alternatives? It changes REQ-ML-003 in the SRS.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Next week: plan</a:t>
            </a:r>
          </a:p>
        </p:txBody>
      </p:sp>
      <p:sp>
        <p:nvSpPr>
          <p:cNvPr id="3" name="TextBox 2"/>
          <p:cNvSpPr txBox="1"/>
          <p:nvPr/>
        </p:nvSpPr>
        <p:spPr>
          <a:xfrm>
            <a:off x="635000" y="1219200"/>
            <a:ext cx="10566400" cy="330200"/>
          </a:xfrm>
          <a:prstGeom prst="rect">
            <a:avLst/>
          </a:prstGeom>
          <a:noFill/>
        </p:spPr>
        <p:txBody>
          <a:bodyPr wrap="square" lIns="45720" rIns="45720" tIns="12700" bIns="12700" anchor="t">
            <a:spAutoFit/>
          </a:bodyPr>
          <a:lstStyle/>
          <a:p>
            <a:pPr algn="l"/>
            <a:r>
              <a:rPr sz="1800" b="0" i="0">
                <a:solidFill>
                  <a:srgbClr val="647080"/>
                </a:solidFill>
                <a:latin typeface="Arial"/>
              </a:rPr>
              <a:t>03  Project progress  ·  week 8, owners as in the README</a:t>
            </a:r>
          </a:p>
        </p:txBody>
      </p:sp>
      <p:sp>
        <p:nvSpPr>
          <p:cNvPr id="4" name="TextBox 3"/>
          <p:cNvSpPr txBox="1"/>
          <p:nvPr/>
        </p:nvSpPr>
        <p:spPr>
          <a:xfrm>
            <a:off x="11049000" y="6248400"/>
            <a:ext cx="533400" cy="279400"/>
          </a:xfrm>
          <a:prstGeom prst="rect">
            <a:avLst/>
          </a:prstGeom>
          <a:noFill/>
        </p:spPr>
        <p:txBody>
          <a:bodyPr wrap="square" lIns="45720" rIns="45720" tIns="12700" bIns="12700" anchor="t">
            <a:spAutoFit/>
          </a:bodyPr>
          <a:lstStyle/>
          <a:p>
            <a:pPr algn="l"/>
            <a:r>
              <a:rPr sz="1350" b="0" i="0">
                <a:solidFill>
                  <a:srgbClr val="647080"/>
                </a:solidFill>
                <a:latin typeface="Arial"/>
              </a:rPr>
              <a:t>15</a:t>
            </a:r>
          </a:p>
        </p:txBody>
      </p:sp>
      <p:graphicFrame>
        <p:nvGraphicFramePr>
          <p:cNvPr id="5" name="Table 4"/>
          <p:cNvGraphicFramePr>
            <a:graphicFrameLocks noGrp="1"/>
          </p:cNvGraphicFramePr>
          <p:nvPr/>
        </p:nvGraphicFramePr>
        <p:xfrm>
          <a:off x="635000" y="1778000"/>
          <a:ext cx="10934700" cy="3657600"/>
        </p:xfrm>
        <a:graphic>
          <a:graphicData uri="http://schemas.openxmlformats.org/drawingml/2006/table">
            <a:tbl>
              <a:tblPr firstRow="1">
                <a:tableStyleId>{5940675A-B579-460E-94D1-54222C63F5DA}</a:tableStyleId>
              </a:tblPr>
              <a:tblGrid>
                <a:gridCol w="3327400"/>
                <a:gridCol w="1422400"/>
                <a:gridCol w="6184900"/>
              </a:tblGrid>
              <a:tr h="457200">
                <a:tc>
                  <a:txBody>
                    <a:bodyPr wrap="square"/>
                    <a:lstStyle/>
                    <a:p>
                      <a:r>
                        <a:rPr sz="1250" b="1">
                          <a:solidFill>
                            <a:srgbClr val="FFFFFF"/>
                          </a:solidFill>
                          <a:latin typeface="Arial"/>
                        </a:rPr>
                        <a:t>Task</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Owner</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c>
                  <a:txBody>
                    <a:bodyPr wrap="square"/>
                    <a:lstStyle/>
                    <a:p>
                      <a:r>
                        <a:rPr sz="1250" b="1">
                          <a:solidFill>
                            <a:srgbClr val="FFFFFF"/>
                          </a:solidFill>
                          <a:latin typeface="Arial"/>
                        </a:rPr>
                        <a:t>Goal</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13263A"/>
                    </a:solidFill>
                  </a:tcPr>
                </a:tc>
              </a:tr>
              <a:tr h="457200">
                <a:tc>
                  <a:txBody>
                    <a:bodyPr wrap="square"/>
                    <a:lstStyle/>
                    <a:p>
                      <a:r>
                        <a:rPr sz="1300" b="1">
                          <a:solidFill>
                            <a:srgbClr val="13263A"/>
                          </a:solidFill>
                          <a:latin typeface="Arial"/>
                        </a:rPr>
                        <a:t>Peer review of the SRS</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All</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One Issue per document, one comment per finding; answer every comment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457200">
                <a:tc>
                  <a:txBody>
                    <a:bodyPr wrap="square"/>
                    <a:lstStyle/>
                    <a:p>
                      <a:r>
                        <a:rPr sz="1300" b="1">
                          <a:solidFill>
                            <a:srgbClr val="13263A"/>
                          </a:solidFill>
                          <a:latin typeface="Arial"/>
                        </a:rPr>
                        <a:t>SRS v0.3.1</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Abid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Apply the review comments and restore the exact limits of v0.2</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r>
              <a:tr h="457200">
                <a:tc>
                  <a:txBody>
                    <a:bodyPr wrap="square"/>
                    <a:lstStyle/>
                    <a:p>
                      <a:r>
                        <a:rPr sz="1300" b="1">
                          <a:solidFill>
                            <a:srgbClr val="13263A"/>
                          </a:solidFill>
                          <a:latin typeface="Arial"/>
                        </a:rPr>
                        <a:t>Merge the backend refactor</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Veronika</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Fix the review findings, merge to main, similarity in the reuse service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457200">
                <a:tc>
                  <a:txBody>
                    <a:bodyPr wrap="square"/>
                    <a:lstStyle/>
                    <a:p>
                      <a:r>
                        <a:rPr sz="1300" b="1">
                          <a:solidFill>
                            <a:srgbClr val="13263A"/>
                          </a:solidFill>
                          <a:latin typeface="Arial"/>
                        </a:rPr>
                        <a:t>Local backup model</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Jiahui</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Install Ollama, smallest model that fits in RAM, measure it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r>
              <a:tr h="457200">
                <a:tc>
                  <a:txBody>
                    <a:bodyPr wrap="square"/>
                    <a:lstStyle/>
                    <a:p>
                      <a:r>
                        <a:rPr sz="1300" b="1">
                          <a:solidFill>
                            <a:srgbClr val="13263A"/>
                          </a:solidFill>
                          <a:latin typeface="Arial"/>
                        </a:rPr>
                        <a:t>AI chain in the backend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Jiahui</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SentenceProvider with the backup chain, after the merge</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r h="457200">
                <a:tc>
                  <a:txBody>
                    <a:bodyPr wrap="square"/>
                    <a:lstStyle/>
                    <a:p>
                      <a:r>
                        <a:rPr sz="1300" b="1">
                          <a:solidFill>
                            <a:srgbClr val="13263A"/>
                          </a:solidFill>
                          <a:latin typeface="Arial"/>
                        </a:rPr>
                        <a:t>Push and connect the frontend</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Thibaut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c>
                  <a:txBody>
                    <a:bodyPr wrap="square"/>
                    <a:lstStyle/>
                    <a:p>
                      <a:r>
                        <a:rPr sz="1300" b="0">
                          <a:solidFill>
                            <a:srgbClr val="13263A"/>
                          </a:solidFill>
                          <a:latin typeface="Arial"/>
                        </a:rPr>
                        <a:t>Pages on GitHub, calls to the real API</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E6EAF0"/>
                    </a:solidFill>
                  </a:tcPr>
                </a:tc>
              </a:tr>
              <a:tr h="457200">
                <a:tc>
                  <a:txBody>
                    <a:bodyPr wrap="square"/>
                    <a:lstStyle/>
                    <a:p>
                      <a:r>
                        <a:rPr sz="1300" b="1">
                          <a:solidFill>
                            <a:srgbClr val="13263A"/>
                          </a:solidFill>
                          <a:latin typeface="Arial"/>
                        </a:rPr>
                        <a:t>Interest-discovery decision</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All</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c>
                  <a:txBody>
                    <a:bodyPr wrap="square"/>
                    <a:lstStyle/>
                    <a:p>
                      <a:r>
                        <a:rPr sz="1300" b="0">
                          <a:solidFill>
                            <a:srgbClr val="13263A"/>
                          </a:solidFill>
                          <a:latin typeface="Arial"/>
                        </a:rPr>
                        <a:t>Yes or no, and which mode first</a:t>
                      </a:r>
                    </a:p>
                  </a:txBody>
                  <a:tcPr marL="63500" marR="63500" marT="25400" marB="25400" anchor="ctr">
                    <a:lnL w="9525" cap="flat" cmpd="sng" algn="ctr">
                      <a:solidFill>
                        <a:srgbClr val="A8B6C7"/>
                      </a:solidFill>
                      <a:prstDash val="solid"/>
                    </a:lnL>
                    <a:lnR w="9525" cap="flat" cmpd="sng" algn="ctr">
                      <a:solidFill>
                        <a:srgbClr val="A8B6C7"/>
                      </a:solidFill>
                      <a:prstDash val="solid"/>
                    </a:lnR>
                    <a:lnT w="9525" cap="flat" cmpd="sng" algn="ctr">
                      <a:solidFill>
                        <a:srgbClr val="A8B6C7"/>
                      </a:solidFill>
                      <a:prstDash val="solid"/>
                    </a:lnT>
                    <a:lnB w="9525" cap="flat" cmpd="sng" algn="ctr">
                      <a:solidFill>
                        <a:srgbClr val="A8B6C7"/>
                      </a:solidFill>
                      <a:prstDash val="solid"/>
                    </a:lnB>
                    <a:solidFill>
                      <a:srgbClr val="FFFFFF"/>
                    </a:solidFill>
                  </a:tcPr>
                </a:tc>
              </a:tr>
            </a:tbl>
          </a:graphicData>
        </a:graphic>
      </p:graphicFrame>
      <p:sp>
        <p:nvSpPr>
          <p:cNvPr id="6" name="Rectangle 5"/>
          <p:cNvSpPr/>
          <p:nvPr/>
        </p:nvSpPr>
        <p:spPr>
          <a:xfrm>
            <a:off x="635000" y="5638800"/>
            <a:ext cx="10934700" cy="4064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638800"/>
            <a:ext cx="10668000" cy="406400"/>
          </a:xfrm>
          <a:prstGeom prst="rect">
            <a:avLst/>
          </a:prstGeom>
          <a:noFill/>
        </p:spPr>
        <p:txBody>
          <a:bodyPr wrap="square" lIns="45720" rIns="45720" tIns="12700" bIns="12700" anchor="ctr">
            <a:spAutoFit/>
          </a:bodyPr>
          <a:lstStyle/>
          <a:p>
            <a:pPr algn="l"/>
            <a:r>
              <a:rPr sz="1400" b="1" i="0">
                <a:solidFill>
                  <a:srgbClr val="255CF0"/>
                </a:solidFill>
                <a:latin typeface="Arial"/>
              </a:rPr>
              <a:t>Why the merge matters: </a:t>
            </a:r>
            <a:r>
              <a:rPr sz="1400" b="0" i="0">
                <a:solidFill>
                  <a:srgbClr val="13263A"/>
                </a:solidFill>
                <a:latin typeface="Arial"/>
              </a:rPr>
              <a:t>the AI chain and the frontend both need the new backend structure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09600" y="457200"/>
            <a:ext cx="10960100" cy="558800"/>
          </a:xfrm>
          <a:prstGeom prst="rect">
            <a:avLst/>
          </a:prstGeom>
          <a:noFill/>
        </p:spPr>
        <p:txBody>
          <a:bodyPr wrap="square" lIns="45720" rIns="45720" tIns="12700" bIns="12700" anchor="ctr">
            <a:spAutoFit/>
          </a:bodyPr>
          <a:lstStyle/>
          <a:p>
            <a:pPr algn="l"/>
            <a:r>
              <a:rPr sz="3300" b="1" i="0">
                <a:solidFill>
                  <a:srgbClr val="13263A"/>
                </a:solidFill>
                <a:latin typeface="Arial"/>
              </a:rPr>
              <a:t>Time management</a:t>
            </a:r>
          </a:p>
        </p:txBody>
      </p:sp>
      <p:pic>
        <p:nvPicPr>
          <p:cNvPr id="4" name="Picture 3" descr="gantt_crop.png"/>
          <p:cNvPicPr>
            <a:picLocks noChangeAspect="1"/>
          </p:cNvPicPr>
          <p:nvPr/>
        </p:nvPicPr>
        <p:blipFill>
          <a:blip r:embed="rId3"/>
          <a:stretch>
            <a:fillRect/>
          </a:stretch>
        </p:blipFill>
        <p:spPr>
          <a:xfrm>
            <a:off x="673100" y="1066800"/>
            <a:ext cx="10858500" cy="583305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2026-09-23T01:37:38Z</dcterms:created>
  <dc:creator>Walnut Exporter</dc:creator>
</cp:coreProperties>
</file>